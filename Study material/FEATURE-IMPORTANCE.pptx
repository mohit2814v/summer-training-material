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016"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9ABF47-15FB-472D-B33B-8DCC02C028D7}" type="datetimeFigureOut">
              <a:rPr lang="en-IN" smtClean="0"/>
              <a:t>01-07-2026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CF3CDA-65CF-4983-9BBF-18AC59990AAD}" type="slidenum">
              <a:rPr lang="en-IN" smtClean="0"/>
              <a:t>‹#›</a:t>
            </a:fld>
            <a:endParaRPr lang="en-IN"/>
          </a:p>
        </p:txBody>
      </p:sp>
    </p:spTree>
    <p:extLst>
      <p:ext uri="{BB962C8B-B14F-4D97-AF65-F5344CB8AC3E}">
        <p14:creationId xmlns:p14="http://schemas.microsoft.com/office/powerpoint/2010/main" val="27540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2CF3CDA-65CF-4983-9BBF-18AC59990AAD}" type="slidenum">
              <a:rPr lang="en-IN" smtClean="0"/>
              <a:t>2</a:t>
            </a:fld>
            <a:endParaRPr lang="en-IN"/>
          </a:p>
        </p:txBody>
      </p:sp>
    </p:spTree>
    <p:extLst>
      <p:ext uri="{BB962C8B-B14F-4D97-AF65-F5344CB8AC3E}">
        <p14:creationId xmlns:p14="http://schemas.microsoft.com/office/powerpoint/2010/main" val="373392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9F1F814-3DE5-4D9C-ACCB-5C37334DA728}"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3432864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F1F814-3DE5-4D9C-ACCB-5C37334DA728}"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300482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F1F814-3DE5-4D9C-ACCB-5C37334DA728}"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2526406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9F1F814-3DE5-4D9C-ACCB-5C37334DA728}"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1521128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9F1F814-3DE5-4D9C-ACCB-5C37334DA728}"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207938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9F1F814-3DE5-4D9C-ACCB-5C37334DA728}"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650060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F1F814-3DE5-4D9C-ACCB-5C37334DA728}" type="datetimeFigureOut">
              <a:rPr lang="en-IN" smtClean="0"/>
              <a:t>01-07-2026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2482300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F1F814-3DE5-4D9C-ACCB-5C37334DA728}"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1403321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F1F814-3DE5-4D9C-ACCB-5C37334DA728}"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119318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F1F814-3DE5-4D9C-ACCB-5C37334DA728}"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959219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F1F814-3DE5-4D9C-ACCB-5C37334DA728}"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B3C3E9C-781B-4062-AA9A-B59716F44E25}" type="slidenum">
              <a:rPr lang="en-IN" smtClean="0"/>
              <a:t>‹#›</a:t>
            </a:fld>
            <a:endParaRPr lang="en-IN"/>
          </a:p>
        </p:txBody>
      </p:sp>
    </p:spTree>
    <p:extLst>
      <p:ext uri="{BB962C8B-B14F-4D97-AF65-F5344CB8AC3E}">
        <p14:creationId xmlns:p14="http://schemas.microsoft.com/office/powerpoint/2010/main" val="406776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1F814-3DE5-4D9C-ACCB-5C37334DA728}" type="datetimeFigureOut">
              <a:rPr lang="en-IN" smtClean="0"/>
              <a:t>01-07-2026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3C3E9C-781B-4062-AA9A-B59716F44E25}" type="slidenum">
              <a:rPr lang="en-IN" smtClean="0"/>
              <a:t>‹#›</a:t>
            </a:fld>
            <a:endParaRPr lang="en-IN"/>
          </a:p>
        </p:txBody>
      </p:sp>
    </p:spTree>
    <p:extLst>
      <p:ext uri="{BB962C8B-B14F-4D97-AF65-F5344CB8AC3E}">
        <p14:creationId xmlns:p14="http://schemas.microsoft.com/office/powerpoint/2010/main" val="906675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6064" y="2564904"/>
            <a:ext cx="8892480" cy="1077218"/>
          </a:xfrm>
          <a:prstGeom prst="rect">
            <a:avLst/>
          </a:prstGeom>
        </p:spPr>
        <p:txBody>
          <a:bodyPr wrap="square">
            <a:spAutoFit/>
          </a:bodyPr>
          <a:lstStyle/>
          <a:p>
            <a:r>
              <a:rPr lang="en-US" sz="3200" b="1" dirty="0" smtClean="0"/>
              <a:t>Understanding Feature Importance in Machine Learning</a:t>
            </a:r>
            <a:endParaRPr lang="en-US" sz="3200" b="1" dirty="0"/>
          </a:p>
        </p:txBody>
      </p:sp>
    </p:spTree>
    <p:extLst>
      <p:ext uri="{BB962C8B-B14F-4D97-AF65-F5344CB8AC3E}">
        <p14:creationId xmlns:p14="http://schemas.microsoft.com/office/powerpoint/2010/main" val="664356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16632"/>
            <a:ext cx="8856984" cy="2862322"/>
          </a:xfrm>
          <a:prstGeom prst="rect">
            <a:avLst/>
          </a:prstGeom>
        </p:spPr>
        <p:txBody>
          <a:bodyPr wrap="square">
            <a:spAutoFit/>
          </a:bodyPr>
          <a:lstStyle/>
          <a:p>
            <a:r>
              <a:rPr lang="en-US" sz="2000" dirty="0" smtClean="0"/>
              <a:t>Feature importance tells us which features are most useful for making predictions in a machine learning model. Some features have a bigger effect on the model's predictions, while others have very little effect. Knowing the importance of each feature helps us understand the model better and focus on the most useful features.</a:t>
            </a:r>
          </a:p>
          <a:p>
            <a:r>
              <a:rPr lang="en-US" sz="2000" dirty="0" smtClean="0"/>
              <a:t>In this blog, we will learn what feature importance is, why it is important, and how to find it using different methods such as Decision Trees, Random Forests, and SHAP values. We will also see how to implement feature importance in Python using the </a:t>
            </a:r>
            <a:r>
              <a:rPr lang="en-US" sz="2000" b="1" dirty="0" err="1" smtClean="0"/>
              <a:t>scikit</a:t>
            </a:r>
            <a:r>
              <a:rPr lang="en-US" sz="2000" b="1" dirty="0" smtClean="0"/>
              <a:t>-learn</a:t>
            </a:r>
            <a:r>
              <a:rPr lang="en-US" sz="2000" dirty="0" smtClean="0"/>
              <a:t> and </a:t>
            </a:r>
            <a:r>
              <a:rPr lang="en-US" sz="2000" b="1" dirty="0" err="1" smtClean="0"/>
              <a:t>shap</a:t>
            </a:r>
            <a:r>
              <a:rPr lang="en-US" sz="2000" dirty="0" smtClean="0"/>
              <a:t> libraries.</a:t>
            </a:r>
            <a:endParaRPr lang="en-US" sz="2000" dirty="0"/>
          </a:p>
        </p:txBody>
      </p:sp>
      <p:sp>
        <p:nvSpPr>
          <p:cNvPr id="5" name="Rectangle 4"/>
          <p:cNvSpPr/>
          <p:nvPr/>
        </p:nvSpPr>
        <p:spPr>
          <a:xfrm>
            <a:off x="162083" y="3068960"/>
            <a:ext cx="8712968" cy="3170099"/>
          </a:xfrm>
          <a:prstGeom prst="rect">
            <a:avLst/>
          </a:prstGeom>
        </p:spPr>
        <p:txBody>
          <a:bodyPr wrap="square">
            <a:spAutoFit/>
          </a:bodyPr>
          <a:lstStyle/>
          <a:p>
            <a:r>
              <a:rPr lang="en-US" sz="2000" b="1" u="sng" dirty="0"/>
              <a:t>What is Feature Importance</a:t>
            </a:r>
            <a:r>
              <a:rPr lang="en-US" sz="2000" b="1" u="sng" dirty="0" smtClean="0"/>
              <a:t>?</a:t>
            </a:r>
            <a:br>
              <a:rPr lang="en-US" sz="2000" b="1" u="sng" dirty="0" smtClean="0"/>
            </a:br>
            <a:endParaRPr lang="en-US" sz="2000" b="1" u="sng" dirty="0"/>
          </a:p>
          <a:p>
            <a:r>
              <a:rPr lang="en-US" sz="2000" dirty="0"/>
              <a:t>Feature importance is a technique that determines the contribution of each feature (or variable) in a dataset toward a machine learning model’s predictions. It answers the question:</a:t>
            </a:r>
          </a:p>
          <a:p>
            <a:r>
              <a:rPr lang="en-US" sz="2000" b="1" dirty="0"/>
              <a:t>“Which features have the most influence on the model’s predictions?”</a:t>
            </a:r>
            <a:endParaRPr lang="en-US" sz="2000" dirty="0"/>
          </a:p>
          <a:p>
            <a:r>
              <a:rPr lang="en-US" sz="2000" dirty="0"/>
              <a:t>For example, in a loan approval prediction model, feature importance helps determine whether factors like </a:t>
            </a:r>
            <a:r>
              <a:rPr lang="en-US" sz="2000" b="1" dirty="0"/>
              <a:t>income, credit score, or employment history</a:t>
            </a:r>
            <a:r>
              <a:rPr lang="en-US" sz="2000" dirty="0"/>
              <a:t> are more significant in decision-making than other attributes like ZIP code or phone number.</a:t>
            </a:r>
          </a:p>
        </p:txBody>
      </p:sp>
    </p:spTree>
    <p:extLst>
      <p:ext uri="{BB962C8B-B14F-4D97-AF65-F5344CB8AC3E}">
        <p14:creationId xmlns:p14="http://schemas.microsoft.com/office/powerpoint/2010/main" val="376959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784976" cy="4708981"/>
          </a:xfrm>
          <a:prstGeom prst="rect">
            <a:avLst/>
          </a:prstGeom>
        </p:spPr>
        <p:txBody>
          <a:bodyPr wrap="square">
            <a:spAutoFit/>
          </a:bodyPr>
          <a:lstStyle/>
          <a:p>
            <a:r>
              <a:rPr lang="en-US" sz="2000" b="1" u="sng" dirty="0"/>
              <a:t>Benefits of Feature Importance</a:t>
            </a:r>
          </a:p>
          <a:p>
            <a:r>
              <a:rPr lang="en-US" sz="2000" b="1" dirty="0"/>
              <a:t>Model Interpretability</a:t>
            </a:r>
            <a:r>
              <a:rPr lang="en-US" sz="2000" dirty="0"/>
              <a:t> — Helps us understand why the model makes certain decisions</a:t>
            </a:r>
            <a:r>
              <a:rPr lang="en-US" sz="2000" dirty="0" smtClean="0"/>
              <a:t>.</a:t>
            </a:r>
            <a:br>
              <a:rPr lang="en-US" sz="2000" dirty="0" smtClean="0"/>
            </a:br>
            <a:endParaRPr lang="en-US" sz="2000" dirty="0"/>
          </a:p>
          <a:p>
            <a:r>
              <a:rPr lang="en-US" sz="2000" b="1" dirty="0"/>
              <a:t>Feature Selection</a:t>
            </a:r>
            <a:r>
              <a:rPr lang="en-US" sz="2000" dirty="0"/>
              <a:t> — Improves model performance by removing redundant or unimportant features</a:t>
            </a:r>
            <a:r>
              <a:rPr lang="en-US" sz="2000" dirty="0" smtClean="0"/>
              <a:t>.</a:t>
            </a:r>
            <a:br>
              <a:rPr lang="en-US" sz="2000" dirty="0" smtClean="0"/>
            </a:br>
            <a:endParaRPr lang="en-US" sz="2000" dirty="0"/>
          </a:p>
          <a:p>
            <a:r>
              <a:rPr lang="en-US" sz="2000" b="1" dirty="0"/>
              <a:t>Reducing </a:t>
            </a:r>
            <a:r>
              <a:rPr lang="en-US" sz="2000" b="1" dirty="0" err="1"/>
              <a:t>Overfitting</a:t>
            </a:r>
            <a:r>
              <a:rPr lang="en-US" sz="2000" dirty="0"/>
              <a:t> — Eliminates unnecessary features, preventing the model from learning noise</a:t>
            </a:r>
            <a:r>
              <a:rPr lang="en-US" sz="2000" dirty="0" smtClean="0"/>
              <a:t>.</a:t>
            </a:r>
            <a:br>
              <a:rPr lang="en-US" sz="2000" dirty="0" smtClean="0"/>
            </a:br>
            <a:endParaRPr lang="en-US" sz="2000" dirty="0"/>
          </a:p>
          <a:p>
            <a:r>
              <a:rPr lang="en-US" sz="2000" b="1" dirty="0"/>
              <a:t>Computational Efficiency</a:t>
            </a:r>
            <a:r>
              <a:rPr lang="en-US" sz="2000" dirty="0"/>
              <a:t> — Reducing the number of features speeds up model training</a:t>
            </a:r>
            <a:r>
              <a:rPr lang="en-US" sz="2000" dirty="0" smtClean="0"/>
              <a:t>.</a:t>
            </a:r>
            <a:br>
              <a:rPr lang="en-US" sz="2000" dirty="0" smtClean="0"/>
            </a:br>
            <a:endParaRPr lang="en-US" sz="2000" dirty="0"/>
          </a:p>
          <a:p>
            <a:r>
              <a:rPr lang="en-US" sz="2000" b="1" dirty="0"/>
              <a:t>Better Data Insights</a:t>
            </a:r>
            <a:r>
              <a:rPr lang="en-US" sz="2000" dirty="0"/>
              <a:t> — Provides valuable business and research insights by highlighting the most relevant factors.</a:t>
            </a:r>
          </a:p>
        </p:txBody>
      </p:sp>
    </p:spTree>
    <p:extLst>
      <p:ext uri="{BB962C8B-B14F-4D97-AF65-F5344CB8AC3E}">
        <p14:creationId xmlns:p14="http://schemas.microsoft.com/office/powerpoint/2010/main" val="175461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8749480" cy="5632311"/>
          </a:xfrm>
          <a:prstGeom prst="rect">
            <a:avLst/>
          </a:prstGeom>
        </p:spPr>
        <p:txBody>
          <a:bodyPr wrap="square">
            <a:spAutoFit/>
          </a:bodyPr>
          <a:lstStyle/>
          <a:p>
            <a:r>
              <a:rPr lang="en-US" b="1" u="sng" dirty="0" smtClean="0"/>
              <a:t>Methods to Calculate Feature Importance</a:t>
            </a:r>
          </a:p>
          <a:p>
            <a:r>
              <a:rPr lang="en-US" dirty="0" smtClean="0"/>
              <a:t>There are different methods to calculate feature importance. Each method measures the importance of features in a different way.</a:t>
            </a:r>
            <a:br>
              <a:rPr lang="en-US" dirty="0" smtClean="0"/>
            </a:br>
            <a:endParaRPr lang="en-US" dirty="0" smtClean="0"/>
          </a:p>
          <a:p>
            <a:r>
              <a:rPr lang="en-US" b="1" dirty="0" smtClean="0"/>
              <a:t>1.Decision Tree Feature Importance</a:t>
            </a:r>
            <a:r>
              <a:rPr lang="en-US" dirty="0" smtClean="0"/>
              <a:t/>
            </a:r>
            <a:br>
              <a:rPr lang="en-US" dirty="0" smtClean="0"/>
            </a:br>
            <a:r>
              <a:rPr lang="en-US" dirty="0" smtClean="0"/>
              <a:t>Decision Trees calculate feature importance based on how well each feature splits the data. Features that create better splits are considered more important.</a:t>
            </a:r>
            <a:br>
              <a:rPr lang="en-US" dirty="0" smtClean="0"/>
            </a:br>
            <a:endParaRPr lang="en-US" dirty="0" smtClean="0"/>
          </a:p>
          <a:p>
            <a:r>
              <a:rPr lang="en-US" b="1" dirty="0" smtClean="0"/>
              <a:t>2. Random Forest Feature Importance</a:t>
            </a:r>
            <a:r>
              <a:rPr lang="en-US" dirty="0" smtClean="0"/>
              <a:t/>
            </a:r>
            <a:br>
              <a:rPr lang="en-US" dirty="0" smtClean="0"/>
            </a:br>
            <a:r>
              <a:rPr lang="en-US" dirty="0" smtClean="0"/>
              <a:t>Random Forest calculates feature importance by combining the importance scores from all the Decision Trees in the forest. This makes the results more reliable.</a:t>
            </a:r>
            <a:br>
              <a:rPr lang="en-US" dirty="0" smtClean="0"/>
            </a:br>
            <a:endParaRPr lang="en-US" dirty="0" smtClean="0"/>
          </a:p>
          <a:p>
            <a:r>
              <a:rPr lang="en-US" b="1" dirty="0" smtClean="0"/>
              <a:t>3. Permutation Importance</a:t>
            </a:r>
            <a:r>
              <a:rPr lang="en-US" dirty="0" smtClean="0"/>
              <a:t/>
            </a:r>
            <a:br>
              <a:rPr lang="en-US" dirty="0" smtClean="0"/>
            </a:br>
            <a:r>
              <a:rPr lang="en-US" dirty="0" smtClean="0"/>
              <a:t>Permutation importance measures a feature's importance by randomly shuffling its values and checking how much the model's accuracy changes. A larger drop in accuracy means the feature is more important.</a:t>
            </a:r>
            <a:br>
              <a:rPr lang="en-US" dirty="0" smtClean="0"/>
            </a:br>
            <a:endParaRPr lang="en-US" dirty="0" smtClean="0"/>
          </a:p>
          <a:p>
            <a:r>
              <a:rPr lang="en-US" b="1" dirty="0" smtClean="0"/>
              <a:t>4. SHAP (</a:t>
            </a:r>
            <a:r>
              <a:rPr lang="en-US" b="1" dirty="0" err="1" smtClean="0"/>
              <a:t>SHapley</a:t>
            </a:r>
            <a:r>
              <a:rPr lang="en-US" b="1" dirty="0" smtClean="0"/>
              <a:t> Additive Explanations)</a:t>
            </a:r>
            <a:r>
              <a:rPr lang="en-US" dirty="0" smtClean="0"/>
              <a:t/>
            </a:r>
            <a:br>
              <a:rPr lang="en-US" dirty="0" smtClean="0"/>
            </a:br>
            <a:r>
              <a:rPr lang="en-US" dirty="0" smtClean="0"/>
              <a:t>SHAP values explain how much each feature contributes to the model's predictions. It helps understand the effect of each feature on individual predictions.</a:t>
            </a:r>
            <a:endParaRPr lang="en-US" dirty="0"/>
          </a:p>
        </p:txBody>
      </p:sp>
    </p:spTree>
    <p:extLst>
      <p:ext uri="{BB962C8B-B14F-4D97-AF65-F5344CB8AC3E}">
        <p14:creationId xmlns:p14="http://schemas.microsoft.com/office/powerpoint/2010/main" val="175461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8784976" cy="923330"/>
          </a:xfrm>
          <a:prstGeom prst="rect">
            <a:avLst/>
          </a:prstGeom>
        </p:spPr>
        <p:txBody>
          <a:bodyPr wrap="square">
            <a:spAutoFit/>
          </a:bodyPr>
          <a:lstStyle/>
          <a:p>
            <a:r>
              <a:rPr lang="en-US" b="1" dirty="0" smtClean="0"/>
              <a:t>Implementing Feature Importance in Python</a:t>
            </a:r>
          </a:p>
          <a:p>
            <a:r>
              <a:rPr lang="en-US" dirty="0" smtClean="0"/>
              <a:t>Let's use Python to calculate feature importance with different methods.</a:t>
            </a:r>
          </a:p>
          <a:p>
            <a:r>
              <a:rPr lang="en-US" b="1" dirty="0" smtClean="0"/>
              <a:t>1. </a:t>
            </a:r>
            <a:r>
              <a:rPr lang="en-US" b="1" u="sng" dirty="0" smtClean="0"/>
              <a:t>Feature Importance using Decision Trees</a:t>
            </a:r>
            <a:endParaRPr lang="en-US" u="sng" dirty="0"/>
          </a:p>
        </p:txBody>
      </p:sp>
      <p:sp>
        <p:nvSpPr>
          <p:cNvPr id="3" name="Rectangle 2"/>
          <p:cNvSpPr/>
          <p:nvPr/>
        </p:nvSpPr>
        <p:spPr>
          <a:xfrm>
            <a:off x="251520" y="1049398"/>
            <a:ext cx="4572000" cy="954107"/>
          </a:xfrm>
          <a:prstGeom prst="rect">
            <a:avLst/>
          </a:prstGeom>
        </p:spPr>
        <p:txBody>
          <a:bodyPr>
            <a:spAutoFit/>
          </a:bodyPr>
          <a:lstStyle/>
          <a:p>
            <a:r>
              <a:rPr lang="en-IN" sz="1400" dirty="0">
                <a:solidFill>
                  <a:srgbClr val="FF0000"/>
                </a:solidFill>
              </a:rPr>
              <a:t>from </a:t>
            </a:r>
            <a:r>
              <a:rPr lang="en-IN" sz="1400" dirty="0" err="1">
                <a:solidFill>
                  <a:srgbClr val="FF0000"/>
                </a:solidFill>
              </a:rPr>
              <a:t>sklearn.datasets</a:t>
            </a:r>
            <a:r>
              <a:rPr lang="en-IN" sz="1400" dirty="0">
                <a:solidFill>
                  <a:srgbClr val="FF0000"/>
                </a:solidFill>
              </a:rPr>
              <a:t> import </a:t>
            </a:r>
            <a:r>
              <a:rPr lang="en-IN" sz="1400" dirty="0" err="1">
                <a:solidFill>
                  <a:srgbClr val="FF0000"/>
                </a:solidFill>
              </a:rPr>
              <a:t>load_digits</a:t>
            </a:r>
            <a:r>
              <a:rPr lang="en-IN" sz="1400" dirty="0" smtClean="0">
                <a:solidFill>
                  <a:srgbClr val="FF0000"/>
                </a:solidFill>
              </a:rPr>
              <a:t/>
            </a:r>
            <a:br>
              <a:rPr lang="en-IN" sz="1400" dirty="0" smtClean="0">
                <a:solidFill>
                  <a:srgbClr val="FF0000"/>
                </a:solidFill>
              </a:rPr>
            </a:br>
            <a:r>
              <a:rPr lang="en-IN" sz="1400" dirty="0">
                <a:solidFill>
                  <a:srgbClr val="FF0000"/>
                </a:solidFill>
              </a:rPr>
              <a:t>from </a:t>
            </a:r>
            <a:r>
              <a:rPr lang="en-IN" sz="1400" dirty="0" err="1">
                <a:solidFill>
                  <a:srgbClr val="FF0000"/>
                </a:solidFill>
              </a:rPr>
              <a:t>sklearn.tree</a:t>
            </a:r>
            <a:r>
              <a:rPr lang="en-IN" sz="1400" dirty="0">
                <a:solidFill>
                  <a:srgbClr val="FF0000"/>
                </a:solidFill>
              </a:rPr>
              <a:t> import </a:t>
            </a:r>
            <a:r>
              <a:rPr lang="en-IN" sz="1400" dirty="0" err="1">
                <a:solidFill>
                  <a:srgbClr val="FF0000"/>
                </a:solidFill>
              </a:rPr>
              <a:t>DecisionTreeClassifier</a:t>
            </a:r>
            <a:r>
              <a:rPr lang="en-IN" sz="1400" dirty="0" smtClean="0">
                <a:solidFill>
                  <a:srgbClr val="FF0000"/>
                </a:solidFill>
              </a:rPr>
              <a:t/>
            </a:r>
            <a:br>
              <a:rPr lang="en-IN" sz="1400" dirty="0" smtClean="0">
                <a:solidFill>
                  <a:srgbClr val="FF0000"/>
                </a:solidFill>
              </a:rPr>
            </a:br>
            <a:r>
              <a:rPr lang="en-IN" sz="1400" dirty="0">
                <a:solidFill>
                  <a:srgbClr val="FF0000"/>
                </a:solidFill>
              </a:rPr>
              <a:t>import </a:t>
            </a:r>
            <a:r>
              <a:rPr lang="en-IN" sz="1400" dirty="0" err="1">
                <a:solidFill>
                  <a:srgbClr val="FF0000"/>
                </a:solidFill>
              </a:rPr>
              <a:t>matplotlib.pyplot</a:t>
            </a:r>
            <a:r>
              <a:rPr lang="en-IN" sz="1400" dirty="0">
                <a:solidFill>
                  <a:srgbClr val="FF0000"/>
                </a:solidFill>
              </a:rPr>
              <a:t> as </a:t>
            </a:r>
            <a:r>
              <a:rPr lang="en-IN" sz="1400" dirty="0" err="1">
                <a:solidFill>
                  <a:srgbClr val="FF0000"/>
                </a:solidFill>
              </a:rPr>
              <a:t>plt</a:t>
            </a:r>
            <a:r>
              <a:rPr lang="en-IN" sz="1400" dirty="0" smtClean="0">
                <a:solidFill>
                  <a:srgbClr val="FF0000"/>
                </a:solidFill>
              </a:rPr>
              <a:t/>
            </a:r>
            <a:br>
              <a:rPr lang="en-IN" sz="1400" dirty="0" smtClean="0">
                <a:solidFill>
                  <a:srgbClr val="FF0000"/>
                </a:solidFill>
              </a:rPr>
            </a:br>
            <a:r>
              <a:rPr lang="en-IN" sz="1400" dirty="0">
                <a:solidFill>
                  <a:srgbClr val="FF0000"/>
                </a:solidFill>
              </a:rPr>
              <a:t>import </a:t>
            </a:r>
            <a:r>
              <a:rPr lang="en-IN" sz="1400" dirty="0" err="1">
                <a:solidFill>
                  <a:srgbClr val="FF0000"/>
                </a:solidFill>
              </a:rPr>
              <a:t>numpy</a:t>
            </a:r>
            <a:r>
              <a:rPr lang="en-IN" sz="1400" dirty="0">
                <a:solidFill>
                  <a:srgbClr val="FF0000"/>
                </a:solidFill>
              </a:rPr>
              <a:t> as </a:t>
            </a:r>
            <a:r>
              <a:rPr lang="en-IN" sz="1400" dirty="0" err="1">
                <a:solidFill>
                  <a:srgbClr val="FF0000"/>
                </a:solidFill>
              </a:rPr>
              <a:t>np</a:t>
            </a:r>
            <a:endParaRPr lang="en-IN" sz="1400" dirty="0">
              <a:solidFill>
                <a:srgbClr val="FF0000"/>
              </a:solidFill>
            </a:endParaRPr>
          </a:p>
        </p:txBody>
      </p:sp>
      <p:sp>
        <p:nvSpPr>
          <p:cNvPr id="4" name="Rectangle 1"/>
          <p:cNvSpPr>
            <a:spLocks noChangeArrowheads="1"/>
          </p:cNvSpPr>
          <p:nvPr/>
        </p:nvSpPr>
        <p:spPr bwMode="auto">
          <a:xfrm>
            <a:off x="326776" y="2132856"/>
            <a:ext cx="4496744" cy="3109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2046"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FF0000"/>
                </a:solidFill>
                <a:effectLst/>
                <a:cs typeface="Arial" pitchFamily="34" charset="0"/>
              </a:rPr>
              <a:t># Load dataset</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smtClean="0">
                <a:ln>
                  <a:noFill/>
                </a:ln>
                <a:solidFill>
                  <a:srgbClr val="FF0000"/>
                </a:solidFill>
                <a:effectLst/>
                <a:cs typeface="Arial" pitchFamily="34" charset="0"/>
              </a:rPr>
              <a:t>digits = </a:t>
            </a:r>
            <a:r>
              <a:rPr kumimoji="0" lang="en-US" sz="1400" b="0" i="0" u="none" strike="noStrike" cap="none" normalizeH="0" baseline="0" dirty="0" err="1" smtClean="0">
                <a:ln>
                  <a:noFill/>
                </a:ln>
                <a:solidFill>
                  <a:srgbClr val="FF0000"/>
                </a:solidFill>
                <a:effectLst/>
                <a:cs typeface="Arial" pitchFamily="34" charset="0"/>
              </a:rPr>
              <a:t>load_digits</a:t>
            </a:r>
            <a:r>
              <a:rPr kumimoji="0" lang="en-US" sz="1400" b="0" i="0" u="none" strike="noStrike" cap="none" normalizeH="0" baseline="0" dirty="0" smtClean="0">
                <a:ln>
                  <a:noFill/>
                </a:ln>
                <a:solidFill>
                  <a:srgbClr val="FF0000"/>
                </a:solidFill>
                <a:effectLst/>
                <a:cs typeface="Arial" pitchFamily="34" charset="0"/>
              </a:rPr>
              <a:t>()</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smtClean="0">
                <a:ln>
                  <a:noFill/>
                </a:ln>
                <a:solidFill>
                  <a:srgbClr val="FF0000"/>
                </a:solidFill>
                <a:effectLst/>
                <a:cs typeface="Arial" pitchFamily="34" charset="0"/>
              </a:rPr>
              <a:t>X, y = </a:t>
            </a:r>
            <a:r>
              <a:rPr kumimoji="0" lang="en-US" sz="1400" b="0" i="0" u="none" strike="noStrike" cap="none" normalizeH="0" baseline="0" dirty="0" err="1" smtClean="0">
                <a:ln>
                  <a:noFill/>
                </a:ln>
                <a:solidFill>
                  <a:srgbClr val="FF0000"/>
                </a:solidFill>
                <a:effectLst/>
                <a:cs typeface="Arial" pitchFamily="34" charset="0"/>
              </a:rPr>
              <a:t>digits.data</a:t>
            </a:r>
            <a:r>
              <a:rPr kumimoji="0" lang="en-US" sz="1400" b="0" i="0" u="none" strike="noStrike" cap="none" normalizeH="0" baseline="0" dirty="0" smtClean="0">
                <a:ln>
                  <a:noFill/>
                </a:ln>
                <a:solidFill>
                  <a:srgbClr val="FF0000"/>
                </a:solidFill>
                <a:effectLst/>
                <a:cs typeface="Arial" pitchFamily="34" charset="0"/>
              </a:rPr>
              <a:t>, </a:t>
            </a:r>
            <a:r>
              <a:rPr kumimoji="0" lang="en-US" sz="1400" b="0" i="0" u="none" strike="noStrike" cap="none" normalizeH="0" baseline="0" dirty="0" err="1" smtClean="0">
                <a:ln>
                  <a:noFill/>
                </a:ln>
                <a:solidFill>
                  <a:srgbClr val="FF0000"/>
                </a:solidFill>
                <a:effectLst/>
                <a:cs typeface="Arial" pitchFamily="34" charset="0"/>
              </a:rPr>
              <a:t>digits.target</a:t>
            </a:r>
            <a:r>
              <a:rPr kumimoji="0" lang="en-US" sz="1400" b="0" i="0" u="none" strike="noStrike" cap="none" normalizeH="0" baseline="0" dirty="0" smtClean="0">
                <a:ln>
                  <a:noFill/>
                </a:ln>
                <a:solidFill>
                  <a:srgbClr val="FF0000"/>
                </a:solidFill>
                <a:effectLst/>
                <a:cs typeface="Arial" pitchFamily="34" charset="0"/>
              </a:rPr>
              <a:t># Train a Decision Tree model</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smtClean="0">
                <a:ln>
                  <a:noFill/>
                </a:ln>
                <a:solidFill>
                  <a:srgbClr val="FF0000"/>
                </a:solidFill>
                <a:effectLst/>
                <a:cs typeface="Arial" pitchFamily="34" charset="0"/>
              </a:rPr>
              <a:t>tree = </a:t>
            </a:r>
            <a:r>
              <a:rPr kumimoji="0" lang="en-US" sz="1400" b="0" i="0" u="none" strike="noStrike" cap="none" normalizeH="0" baseline="0" dirty="0" err="1" smtClean="0">
                <a:ln>
                  <a:noFill/>
                </a:ln>
                <a:solidFill>
                  <a:srgbClr val="FF0000"/>
                </a:solidFill>
                <a:effectLst/>
                <a:cs typeface="Arial" pitchFamily="34" charset="0"/>
              </a:rPr>
              <a:t>DecisionTreeClassifier</a:t>
            </a:r>
            <a:r>
              <a:rPr kumimoji="0" lang="en-US" sz="1400" b="0" i="0" u="none" strike="noStrike" cap="none" normalizeH="0" baseline="0" dirty="0" smtClean="0">
                <a:ln>
                  <a:noFill/>
                </a:ln>
                <a:solidFill>
                  <a:srgbClr val="FF0000"/>
                </a:solidFill>
                <a:effectLst/>
                <a:cs typeface="Arial" pitchFamily="34" charset="0"/>
              </a:rPr>
              <a:t>()</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tree.fit</a:t>
            </a:r>
            <a:r>
              <a:rPr kumimoji="0" lang="en-US" sz="1400" b="0" i="0" u="none" strike="noStrike" cap="none" normalizeH="0" baseline="0" dirty="0" smtClean="0">
                <a:ln>
                  <a:noFill/>
                </a:ln>
                <a:solidFill>
                  <a:srgbClr val="FF0000"/>
                </a:solidFill>
                <a:effectLst/>
                <a:cs typeface="Arial" pitchFamily="34" charset="0"/>
              </a:rPr>
              <a:t>(X, y</a:t>
            </a:r>
            <a:r>
              <a:rPr kumimoji="0" lang="en-US" sz="1400" b="0" i="0" u="none" strike="noStrike" cap="none" normalizeH="0" baseline="0" dirty="0" smtClean="0">
                <a:ln>
                  <a:noFill/>
                </a:ln>
                <a:solidFill>
                  <a:srgbClr val="FF0000"/>
                </a:solidFill>
                <a:effectLst/>
                <a:cs typeface="Arial" pitchFamily="34" charset="0"/>
              </a:rPr>
              <a:t>)</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smtClean="0">
                <a:ln>
                  <a:noFill/>
                </a:ln>
                <a:solidFill>
                  <a:srgbClr val="FF0000"/>
                </a:solidFill>
                <a:effectLst/>
                <a:cs typeface="Arial" pitchFamily="34" charset="0"/>
              </a:rPr>
              <a:t># </a:t>
            </a:r>
            <a:r>
              <a:rPr kumimoji="0" lang="en-US" sz="1400" b="0" i="0" u="none" strike="noStrike" cap="none" normalizeH="0" baseline="0" dirty="0" smtClean="0">
                <a:ln>
                  <a:noFill/>
                </a:ln>
                <a:solidFill>
                  <a:srgbClr val="FF0000"/>
                </a:solidFill>
                <a:effectLst/>
                <a:cs typeface="Arial" pitchFamily="34" charset="0"/>
              </a:rPr>
              <a:t>Get feature </a:t>
            </a:r>
            <a:r>
              <a:rPr kumimoji="0" lang="en-US" sz="1400" b="0" i="0" u="none" strike="noStrike" cap="none" normalizeH="0" baseline="0" dirty="0" err="1" smtClean="0">
                <a:ln>
                  <a:noFill/>
                </a:ln>
                <a:solidFill>
                  <a:srgbClr val="FF0000"/>
                </a:solidFill>
                <a:effectLst/>
                <a:cs typeface="Arial" pitchFamily="34" charset="0"/>
              </a:rPr>
              <a:t>importances</a:t>
            </a:r>
            <a:r>
              <a:rPr kumimoji="0" lang="en-US" sz="1400" b="0" i="0" u="none" strike="noStrike" cap="none" normalizeH="0" baseline="0" dirty="0" smtClean="0">
                <a:ln>
                  <a:noFill/>
                </a:ln>
                <a:solidFill>
                  <a:srgbClr val="FF0000"/>
                </a:solidFill>
                <a:effectLst/>
                <a:cs typeface="Arial" pitchFamily="34" charset="0"/>
              </a:rPr>
              <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importances</a:t>
            </a:r>
            <a:r>
              <a:rPr kumimoji="0" lang="en-US" sz="1400" b="0" i="0" u="none" strike="noStrike" cap="none" normalizeH="0" baseline="0" dirty="0" smtClean="0">
                <a:ln>
                  <a:noFill/>
                </a:ln>
                <a:solidFill>
                  <a:srgbClr val="FF0000"/>
                </a:solidFill>
                <a:effectLst/>
                <a:cs typeface="Arial" pitchFamily="34" charset="0"/>
              </a:rPr>
              <a:t> = </a:t>
            </a:r>
            <a:r>
              <a:rPr kumimoji="0" lang="en-US" sz="1400" b="0" i="0" u="none" strike="noStrike" cap="none" normalizeH="0" baseline="0" dirty="0" err="1" smtClean="0">
                <a:ln>
                  <a:noFill/>
                </a:ln>
                <a:solidFill>
                  <a:srgbClr val="FF0000"/>
                </a:solidFill>
                <a:effectLst/>
                <a:cs typeface="Arial" pitchFamily="34" charset="0"/>
              </a:rPr>
              <a:t>tree.feature_importances</a:t>
            </a:r>
            <a:r>
              <a:rPr kumimoji="0" lang="en-US" sz="1400" b="0" i="0" u="none" strike="noStrike" cap="none" normalizeH="0" baseline="0" dirty="0" smtClean="0">
                <a:ln>
                  <a:noFill/>
                </a:ln>
                <a:solidFill>
                  <a:srgbClr val="FF0000"/>
                </a:solidFill>
                <a:effectLst/>
                <a:cs typeface="Arial" pitchFamily="34" charset="0"/>
              </a:rPr>
              <a:t>_</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smtClean="0">
                <a:ln>
                  <a:noFill/>
                </a:ln>
                <a:solidFill>
                  <a:srgbClr val="FF0000"/>
                </a:solidFill>
                <a:effectLst/>
                <a:cs typeface="Arial" pitchFamily="34" charset="0"/>
              </a:rPr>
              <a:t># </a:t>
            </a:r>
            <a:r>
              <a:rPr kumimoji="0" lang="en-US" sz="1400" b="0" i="0" u="none" strike="noStrike" cap="none" normalizeH="0" baseline="0" dirty="0" smtClean="0">
                <a:ln>
                  <a:noFill/>
                </a:ln>
                <a:solidFill>
                  <a:srgbClr val="FF0000"/>
                </a:solidFill>
                <a:effectLst/>
                <a:cs typeface="Arial" pitchFamily="34" charset="0"/>
              </a:rPr>
              <a:t>Reshape and visualize feature importance</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importances</a:t>
            </a:r>
            <a:r>
              <a:rPr kumimoji="0" lang="en-US" sz="1400" b="0" i="0" u="none" strike="noStrike" cap="none" normalizeH="0" baseline="0" dirty="0" smtClean="0">
                <a:ln>
                  <a:noFill/>
                </a:ln>
                <a:solidFill>
                  <a:srgbClr val="FF0000"/>
                </a:solidFill>
                <a:effectLst/>
                <a:cs typeface="Arial" pitchFamily="34" charset="0"/>
              </a:rPr>
              <a:t> = </a:t>
            </a:r>
            <a:r>
              <a:rPr kumimoji="0" lang="en-US" sz="1400" b="0" i="0" u="none" strike="noStrike" cap="none" normalizeH="0" baseline="0" dirty="0" err="1" smtClean="0">
                <a:ln>
                  <a:noFill/>
                </a:ln>
                <a:solidFill>
                  <a:srgbClr val="FF0000"/>
                </a:solidFill>
                <a:effectLst/>
                <a:cs typeface="Arial" pitchFamily="34" charset="0"/>
              </a:rPr>
              <a:t>importances.reshape</a:t>
            </a:r>
            <a:r>
              <a:rPr kumimoji="0" lang="en-US" sz="1400" b="0" i="0" u="none" strike="noStrike" cap="none" normalizeH="0" baseline="0" dirty="0" smtClean="0">
                <a:ln>
                  <a:noFill/>
                </a:ln>
                <a:solidFill>
                  <a:srgbClr val="FF0000"/>
                </a:solidFill>
                <a:effectLst/>
                <a:cs typeface="Arial" pitchFamily="34" charset="0"/>
              </a:rPr>
              <a:t>(8, 8)</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plt.imshow</a:t>
            </a:r>
            <a:r>
              <a:rPr kumimoji="0" lang="en-US" sz="1400" b="0" i="0" u="none" strike="noStrike" cap="none" normalizeH="0" baseline="0" dirty="0" smtClean="0">
                <a:ln>
                  <a:noFill/>
                </a:ln>
                <a:solidFill>
                  <a:srgbClr val="FF0000"/>
                </a:solidFill>
                <a:effectLst/>
                <a:cs typeface="Arial" pitchFamily="34" charset="0"/>
              </a:rPr>
              <a:t>(</a:t>
            </a:r>
            <a:r>
              <a:rPr kumimoji="0" lang="en-US" sz="1400" b="0" i="0" u="none" strike="noStrike" cap="none" normalizeH="0" baseline="0" dirty="0" err="1" smtClean="0">
                <a:ln>
                  <a:noFill/>
                </a:ln>
                <a:solidFill>
                  <a:srgbClr val="FF0000"/>
                </a:solidFill>
                <a:effectLst/>
                <a:cs typeface="Arial" pitchFamily="34" charset="0"/>
              </a:rPr>
              <a:t>importances</a:t>
            </a:r>
            <a:r>
              <a:rPr kumimoji="0" lang="en-US" sz="1400" b="0" i="0" u="none" strike="noStrike" cap="none" normalizeH="0" baseline="0" dirty="0" smtClean="0">
                <a:ln>
                  <a:noFill/>
                </a:ln>
                <a:solidFill>
                  <a:srgbClr val="FF0000"/>
                </a:solidFill>
                <a:effectLst/>
                <a:cs typeface="Arial" pitchFamily="34" charset="0"/>
              </a:rPr>
              <a:t>, </a:t>
            </a:r>
            <a:r>
              <a:rPr kumimoji="0" lang="en-US" sz="1400" b="0" i="0" u="none" strike="noStrike" cap="none" normalizeH="0" baseline="0" dirty="0" err="1" smtClean="0">
                <a:ln>
                  <a:noFill/>
                </a:ln>
                <a:solidFill>
                  <a:srgbClr val="FF0000"/>
                </a:solidFill>
                <a:effectLst/>
                <a:cs typeface="Arial" pitchFamily="34" charset="0"/>
              </a:rPr>
              <a:t>cmap</a:t>
            </a:r>
            <a:r>
              <a:rPr kumimoji="0" lang="en-US" sz="1400" b="0" i="0" u="none" strike="noStrike" cap="none" normalizeH="0" baseline="0" dirty="0" smtClean="0">
                <a:ln>
                  <a:noFill/>
                </a:ln>
                <a:solidFill>
                  <a:srgbClr val="FF0000"/>
                </a:solidFill>
                <a:effectLst/>
                <a:cs typeface="Arial" pitchFamily="34" charset="0"/>
              </a:rPr>
              <a:t>='hot', interpolation='nearest')</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plt.colorbar</a:t>
            </a:r>
            <a:r>
              <a:rPr kumimoji="0" lang="en-US" sz="1400" b="0" i="0" u="none" strike="noStrike" cap="none" normalizeH="0" baseline="0" dirty="0" smtClean="0">
                <a:ln>
                  <a:noFill/>
                </a:ln>
                <a:solidFill>
                  <a:srgbClr val="FF0000"/>
                </a:solidFill>
                <a:effectLst/>
                <a:cs typeface="Arial" pitchFamily="34" charset="0"/>
              </a:rPr>
              <a:t>()</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plt.title</a:t>
            </a:r>
            <a:r>
              <a:rPr kumimoji="0" lang="en-US" sz="1400" b="0" i="0" u="none" strike="noStrike" cap="none" normalizeH="0" baseline="0" dirty="0" smtClean="0">
                <a:ln>
                  <a:noFill/>
                </a:ln>
                <a:solidFill>
                  <a:srgbClr val="FF0000"/>
                </a:solidFill>
                <a:effectLst/>
                <a:cs typeface="Arial" pitchFamily="34" charset="0"/>
              </a:rPr>
              <a:t>("Feature Importance - Decision Tree")</a:t>
            </a:r>
            <a:br>
              <a:rPr kumimoji="0" lang="en-US" sz="1400" b="0" i="0" u="none" strike="noStrike" cap="none" normalizeH="0" baseline="0" dirty="0" smtClean="0">
                <a:ln>
                  <a:noFill/>
                </a:ln>
                <a:solidFill>
                  <a:srgbClr val="FF0000"/>
                </a:solidFill>
                <a:effectLst/>
                <a:cs typeface="Arial" pitchFamily="34" charset="0"/>
              </a:rPr>
            </a:br>
            <a:r>
              <a:rPr kumimoji="0" lang="en-US" sz="1400" b="0" i="0" u="none" strike="noStrike" cap="none" normalizeH="0" baseline="0" dirty="0" err="1" smtClean="0">
                <a:ln>
                  <a:noFill/>
                </a:ln>
                <a:solidFill>
                  <a:srgbClr val="FF0000"/>
                </a:solidFill>
                <a:effectLst/>
                <a:cs typeface="Arial" pitchFamily="34" charset="0"/>
              </a:rPr>
              <a:t>plt.show</a:t>
            </a:r>
            <a:r>
              <a:rPr kumimoji="0" lang="en-US" sz="1400" b="0" i="0" u="none" strike="noStrike" cap="none" normalizeH="0" baseline="0" dirty="0" smtClean="0">
                <a:ln>
                  <a:noFill/>
                </a:ln>
                <a:solidFill>
                  <a:srgbClr val="FF0000"/>
                </a:solidFill>
                <a:effectLst/>
                <a:cs typeface="Arial" pitchFamily="34" charset="0"/>
              </a:rPr>
              <a:t>()</a:t>
            </a:r>
            <a:r>
              <a:rPr kumimoji="0" lang="en-US" sz="1400" b="0" i="0" u="none" strike="noStrike" cap="none" normalizeH="0" baseline="0" dirty="0" smtClean="0">
                <a:ln>
                  <a:noFill/>
                </a:ln>
                <a:solidFill>
                  <a:srgbClr val="FF0000"/>
                </a:solidFill>
                <a:effectLst/>
                <a:latin typeface="Arial" pitchFamily="34" charset="0"/>
                <a:cs typeface="Arial" pitchFamily="34" charset="0"/>
              </a:rPr>
              <a:t/>
            </a:r>
            <a:br>
              <a:rPr kumimoji="0" lang="en-US" sz="1400" b="0" i="0" u="none" strike="noStrike" cap="none" normalizeH="0" baseline="0" dirty="0" smtClean="0">
                <a:ln>
                  <a:noFill/>
                </a:ln>
                <a:solidFill>
                  <a:srgbClr val="FF0000"/>
                </a:solidFill>
                <a:effectLst/>
                <a:latin typeface="Arial" pitchFamily="34" charset="0"/>
                <a:cs typeface="Arial" pitchFamily="34" charset="0"/>
              </a:rPr>
            </a:br>
            <a:endParaRPr kumimoji="0" lang="en-US" sz="1400" b="0" i="0" u="none" strike="noStrike" cap="none" normalizeH="0" baseline="0" dirty="0" smtClean="0">
              <a:ln>
                <a:noFill/>
              </a:ln>
              <a:solidFill>
                <a:srgbClr val="FF0000"/>
              </a:solidFill>
              <a:effectLst/>
              <a:latin typeface="Arial" pitchFamily="34" charset="0"/>
              <a:cs typeface="Arial" pitchFamily="34" charset="0"/>
            </a:endParaRPr>
          </a:p>
        </p:txBody>
      </p:sp>
      <p:sp>
        <p:nvSpPr>
          <p:cNvPr id="5" name="Rectangle 4"/>
          <p:cNvSpPr/>
          <p:nvPr/>
        </p:nvSpPr>
        <p:spPr>
          <a:xfrm>
            <a:off x="179512" y="5560240"/>
            <a:ext cx="8784976" cy="646331"/>
          </a:xfrm>
          <a:prstGeom prst="rect">
            <a:avLst/>
          </a:prstGeom>
        </p:spPr>
        <p:txBody>
          <a:bodyPr wrap="square">
            <a:spAutoFit/>
          </a:bodyPr>
          <a:lstStyle/>
          <a:p>
            <a:r>
              <a:rPr lang="en-US" dirty="0" smtClean="0"/>
              <a:t>This </a:t>
            </a:r>
            <a:r>
              <a:rPr lang="en-US" dirty="0" err="1" smtClean="0"/>
              <a:t>heatmap</a:t>
            </a:r>
            <a:r>
              <a:rPr lang="en-US" dirty="0" smtClean="0"/>
              <a:t> highlights the most important features in the dataset, showing which features have the greatest impact on the model's predictions.</a:t>
            </a:r>
            <a:endParaRPr lang="en-IN" dirty="0"/>
          </a:p>
        </p:txBody>
      </p:sp>
    </p:spTree>
    <p:extLst>
      <p:ext uri="{BB962C8B-B14F-4D97-AF65-F5344CB8AC3E}">
        <p14:creationId xmlns:p14="http://schemas.microsoft.com/office/powerpoint/2010/main" val="1754614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4213974" cy="369332"/>
          </a:xfrm>
          <a:prstGeom prst="rect">
            <a:avLst/>
          </a:prstGeom>
        </p:spPr>
        <p:txBody>
          <a:bodyPr wrap="none">
            <a:spAutoFit/>
          </a:bodyPr>
          <a:lstStyle/>
          <a:p>
            <a:r>
              <a:rPr lang="en-US" b="1" u="sng" dirty="0"/>
              <a:t>Feature Importance using Random Forests</a:t>
            </a:r>
          </a:p>
        </p:txBody>
      </p:sp>
      <p:sp>
        <p:nvSpPr>
          <p:cNvPr id="3" name="Rectangle 1"/>
          <p:cNvSpPr>
            <a:spLocks noChangeArrowheads="1"/>
          </p:cNvSpPr>
          <p:nvPr/>
        </p:nvSpPr>
        <p:spPr bwMode="auto">
          <a:xfrm>
            <a:off x="162992" y="510608"/>
            <a:ext cx="5774017" cy="3416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2046"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from </a:t>
            </a:r>
            <a:r>
              <a:rPr kumimoji="0" lang="en-US" b="0" i="0" u="none" strike="noStrike" cap="none" normalizeH="0" baseline="0" dirty="0" err="1" smtClean="0">
                <a:ln>
                  <a:noFill/>
                </a:ln>
                <a:solidFill>
                  <a:srgbClr val="FF0000"/>
                </a:solidFill>
                <a:effectLst/>
                <a:latin typeface="+mj-lt"/>
                <a:cs typeface="Arial" pitchFamily="34" charset="0"/>
              </a:rPr>
              <a:t>sklearn.ensemble</a:t>
            </a:r>
            <a:r>
              <a:rPr kumimoji="0" lang="en-US" b="0" i="0" u="none" strike="noStrike" cap="none" normalizeH="0" baseline="0" dirty="0" smtClean="0">
                <a:ln>
                  <a:noFill/>
                </a:ln>
                <a:solidFill>
                  <a:srgbClr val="FF0000"/>
                </a:solidFill>
                <a:effectLst/>
                <a:latin typeface="+mj-lt"/>
                <a:cs typeface="Arial" pitchFamily="34" charset="0"/>
              </a:rPr>
              <a:t> import </a:t>
            </a:r>
            <a:r>
              <a:rPr kumimoji="0" lang="en-US" b="0" i="0" u="none" strike="noStrike" cap="none" normalizeH="0" baseline="0" dirty="0" err="1" smtClean="0">
                <a:ln>
                  <a:noFill/>
                </a:ln>
                <a:solidFill>
                  <a:srgbClr val="FF0000"/>
                </a:solidFill>
                <a:effectLst/>
                <a:latin typeface="+mj-lt"/>
                <a:cs typeface="Arial" pitchFamily="34" charset="0"/>
              </a:rPr>
              <a:t>RandomForestClassifier</a:t>
            </a:r>
            <a:endParaRPr kumimoji="0" lang="en-US" b="0" i="0" u="none" strike="noStrike" cap="none" normalizeH="0" baseline="0" dirty="0" smtClean="0">
              <a:ln>
                <a:noFill/>
              </a:ln>
              <a:solidFill>
                <a:srgbClr val="FF0000"/>
              </a:solidFill>
              <a:effectLst/>
              <a:latin typeface="+mj-l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 </a:t>
            </a:r>
            <a:r>
              <a:rPr kumimoji="0" lang="en-US" b="0" i="0" u="none" strike="noStrike" cap="none" normalizeH="0" baseline="0" dirty="0" smtClean="0">
                <a:ln>
                  <a:noFill/>
                </a:ln>
                <a:solidFill>
                  <a:srgbClr val="FF0000"/>
                </a:solidFill>
                <a:effectLst/>
                <a:latin typeface="+mj-lt"/>
                <a:cs typeface="Arial" pitchFamily="34" charset="0"/>
              </a:rPr>
              <a:t>Train a Random Forest model</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smtClean="0">
                <a:ln>
                  <a:noFill/>
                </a:ln>
                <a:solidFill>
                  <a:srgbClr val="FF0000"/>
                </a:solidFill>
                <a:effectLst/>
                <a:latin typeface="+mj-lt"/>
                <a:cs typeface="Arial" pitchFamily="34" charset="0"/>
              </a:rPr>
              <a:t>forest = </a:t>
            </a:r>
            <a:r>
              <a:rPr kumimoji="0" lang="en-US" b="0" i="0" u="none" strike="noStrike" cap="none" normalizeH="0" baseline="0" dirty="0" err="1" smtClean="0">
                <a:ln>
                  <a:noFill/>
                </a:ln>
                <a:solidFill>
                  <a:srgbClr val="FF0000"/>
                </a:solidFill>
                <a:effectLst/>
                <a:latin typeface="+mj-lt"/>
                <a:cs typeface="Arial" pitchFamily="34" charset="0"/>
              </a:rPr>
              <a:t>RandomForestClassifier</a:t>
            </a:r>
            <a:r>
              <a:rPr kumimoji="0" lang="en-US" b="0" i="0" u="none" strike="noStrike" cap="none" normalizeH="0" baseline="0" dirty="0" smtClean="0">
                <a:ln>
                  <a:noFill/>
                </a:ln>
                <a:solidFill>
                  <a:srgbClr val="FF0000"/>
                </a:solidFill>
                <a:effectLst/>
                <a:latin typeface="+mj-lt"/>
                <a:cs typeface="Arial" pitchFamily="34" charset="0"/>
              </a:rPr>
              <a:t>(</a:t>
            </a:r>
            <a:r>
              <a:rPr kumimoji="0" lang="en-US" b="0" i="0" u="none" strike="noStrike" cap="none" normalizeH="0" baseline="0" dirty="0" err="1" smtClean="0">
                <a:ln>
                  <a:noFill/>
                </a:ln>
                <a:solidFill>
                  <a:srgbClr val="FF0000"/>
                </a:solidFill>
                <a:effectLst/>
                <a:latin typeface="+mj-lt"/>
                <a:cs typeface="Arial" pitchFamily="34" charset="0"/>
              </a:rPr>
              <a:t>n_estimators</a:t>
            </a:r>
            <a:r>
              <a:rPr kumimoji="0" lang="en-US" b="0" i="0" u="none" strike="noStrike" cap="none" normalizeH="0" baseline="0" dirty="0" smtClean="0">
                <a:ln>
                  <a:noFill/>
                </a:ln>
                <a:solidFill>
                  <a:srgbClr val="FF0000"/>
                </a:solidFill>
                <a:effectLst/>
                <a:latin typeface="+mj-lt"/>
                <a:cs typeface="Arial" pitchFamily="34" charset="0"/>
              </a:rPr>
              <a:t>=100)</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forest.fit</a:t>
            </a:r>
            <a:r>
              <a:rPr kumimoji="0" lang="en-US" b="0" i="0" u="none" strike="noStrike" cap="none" normalizeH="0" baseline="0" dirty="0" smtClean="0">
                <a:ln>
                  <a:noFill/>
                </a:ln>
                <a:solidFill>
                  <a:srgbClr val="FF0000"/>
                </a:solidFill>
                <a:effectLst/>
                <a:latin typeface="+mj-lt"/>
                <a:cs typeface="Arial" pitchFamily="34" charset="0"/>
              </a:rPr>
              <a:t>(X, y</a:t>
            </a:r>
            <a:r>
              <a:rPr kumimoji="0" lang="en-US" b="0" i="0" u="none" strike="noStrike" cap="none" normalizeH="0" baseline="0" dirty="0" smtClean="0">
                <a:ln>
                  <a:noFill/>
                </a:ln>
                <a:solidFill>
                  <a:srgbClr val="FF0000"/>
                </a:solidFill>
                <a:effectLst/>
                <a:latin typeface="+mj-lt"/>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 </a:t>
            </a:r>
            <a:r>
              <a:rPr kumimoji="0" lang="en-US" b="0" i="0" u="none" strike="noStrike" cap="none" normalizeH="0" baseline="0" dirty="0" smtClean="0">
                <a:ln>
                  <a:noFill/>
                </a:ln>
                <a:solidFill>
                  <a:srgbClr val="FF0000"/>
                </a:solidFill>
                <a:effectLst/>
                <a:latin typeface="+mj-lt"/>
                <a:cs typeface="Arial" pitchFamily="34" charset="0"/>
              </a:rPr>
              <a:t>Get feature </a:t>
            </a:r>
            <a:r>
              <a:rPr kumimoji="0" lang="en-US" b="0" i="0" u="none" strike="noStrike" cap="none" normalizeH="0" baseline="0" dirty="0" err="1" smtClean="0">
                <a:ln>
                  <a:noFill/>
                </a:ln>
                <a:solidFill>
                  <a:srgbClr val="FF0000"/>
                </a:solidFill>
                <a:effectLst/>
                <a:latin typeface="+mj-lt"/>
                <a:cs typeface="Arial" pitchFamily="34" charset="0"/>
              </a:rPr>
              <a:t>importances</a:t>
            </a:r>
            <a:r>
              <a:rPr kumimoji="0" lang="en-US" b="0" i="0" u="none" strike="noStrike" cap="none" normalizeH="0" baseline="0" dirty="0" smtClean="0">
                <a:ln>
                  <a:noFill/>
                </a:ln>
                <a:solidFill>
                  <a:srgbClr val="FF0000"/>
                </a:solidFill>
                <a:effectLst/>
                <a:latin typeface="+mj-lt"/>
                <a:cs typeface="Arial" pitchFamily="34" charset="0"/>
              </a:rPr>
              <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importances</a:t>
            </a:r>
            <a:r>
              <a:rPr kumimoji="0" lang="en-US" b="0" i="0" u="none" strike="noStrike" cap="none" normalizeH="0" baseline="0" dirty="0" smtClean="0">
                <a:ln>
                  <a:noFill/>
                </a:ln>
                <a:solidFill>
                  <a:srgbClr val="FF0000"/>
                </a:solidFill>
                <a:effectLst/>
                <a:latin typeface="+mj-lt"/>
                <a:cs typeface="Arial" pitchFamily="34" charset="0"/>
              </a:rPr>
              <a:t> = </a:t>
            </a:r>
            <a:r>
              <a:rPr kumimoji="0" lang="en-US" b="0" i="0" u="none" strike="noStrike" cap="none" normalizeH="0" baseline="0" dirty="0" err="1" smtClean="0">
                <a:ln>
                  <a:noFill/>
                </a:ln>
                <a:solidFill>
                  <a:srgbClr val="FF0000"/>
                </a:solidFill>
                <a:effectLst/>
                <a:latin typeface="+mj-lt"/>
                <a:cs typeface="Arial" pitchFamily="34" charset="0"/>
              </a:rPr>
              <a:t>forest.feature_importances</a:t>
            </a:r>
            <a:r>
              <a:rPr kumimoji="0" lang="en-US" b="0" i="0" u="none" strike="noStrike" cap="none" normalizeH="0" baseline="0" dirty="0" smtClean="0">
                <a:ln>
                  <a:noFill/>
                </a:ln>
                <a:solidFill>
                  <a:srgbClr val="FF0000"/>
                </a:solidFill>
                <a:effectLst/>
                <a:latin typeface="+mj-lt"/>
                <a:cs typeface="Arial" pitchFamily="34" charset="0"/>
              </a:rPr>
              <a:t>_</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importances</a:t>
            </a:r>
            <a:r>
              <a:rPr kumimoji="0" lang="en-US" b="0" i="0" u="none" strike="noStrike" cap="none" normalizeH="0" baseline="0" dirty="0" smtClean="0">
                <a:ln>
                  <a:noFill/>
                </a:ln>
                <a:solidFill>
                  <a:srgbClr val="FF0000"/>
                </a:solidFill>
                <a:effectLst/>
                <a:latin typeface="+mj-lt"/>
                <a:cs typeface="Arial" pitchFamily="34" charset="0"/>
              </a:rPr>
              <a:t> = </a:t>
            </a:r>
            <a:r>
              <a:rPr kumimoji="0" lang="en-US" b="0" i="0" u="none" strike="noStrike" cap="none" normalizeH="0" baseline="0" dirty="0" err="1" smtClean="0">
                <a:ln>
                  <a:noFill/>
                </a:ln>
                <a:solidFill>
                  <a:srgbClr val="FF0000"/>
                </a:solidFill>
                <a:effectLst/>
                <a:latin typeface="+mj-lt"/>
                <a:cs typeface="Arial" pitchFamily="34" charset="0"/>
              </a:rPr>
              <a:t>importances.reshape</a:t>
            </a:r>
            <a:r>
              <a:rPr kumimoji="0" lang="en-US" b="0" i="0" u="none" strike="noStrike" cap="none" normalizeH="0" baseline="0" dirty="0" smtClean="0">
                <a:ln>
                  <a:noFill/>
                </a:ln>
                <a:solidFill>
                  <a:srgbClr val="FF0000"/>
                </a:solidFill>
                <a:effectLst/>
                <a:latin typeface="+mj-lt"/>
                <a:cs typeface="Arial" pitchFamily="34" charset="0"/>
              </a:rPr>
              <a:t>(8, 8</a:t>
            </a:r>
            <a:r>
              <a:rPr kumimoji="0" lang="en-US" b="0" i="0" u="none" strike="noStrike" cap="none" normalizeH="0" baseline="0" dirty="0" smtClean="0">
                <a:ln>
                  <a:noFill/>
                </a:ln>
                <a:solidFill>
                  <a:srgbClr val="FF0000"/>
                </a:solidFill>
                <a:effectLst/>
                <a:latin typeface="+mj-lt"/>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 </a:t>
            </a:r>
            <a:r>
              <a:rPr kumimoji="0" lang="en-US" b="0" i="0" u="none" strike="noStrike" cap="none" normalizeH="0" baseline="0" dirty="0" smtClean="0">
                <a:ln>
                  <a:noFill/>
                </a:ln>
                <a:solidFill>
                  <a:srgbClr val="FF0000"/>
                </a:solidFill>
                <a:effectLst/>
                <a:latin typeface="+mj-lt"/>
                <a:cs typeface="Arial" pitchFamily="34" charset="0"/>
              </a:rPr>
              <a:t>Visualize feature importance</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plt.imshow</a:t>
            </a:r>
            <a:r>
              <a:rPr kumimoji="0" lang="en-US" b="0" i="0" u="none" strike="noStrike" cap="none" normalizeH="0" baseline="0" dirty="0" smtClean="0">
                <a:ln>
                  <a:noFill/>
                </a:ln>
                <a:solidFill>
                  <a:srgbClr val="FF0000"/>
                </a:solidFill>
                <a:effectLst/>
                <a:latin typeface="+mj-lt"/>
                <a:cs typeface="Arial" pitchFamily="34" charset="0"/>
              </a:rPr>
              <a:t>(</a:t>
            </a:r>
            <a:r>
              <a:rPr kumimoji="0" lang="en-US" b="0" i="0" u="none" strike="noStrike" cap="none" normalizeH="0" baseline="0" dirty="0" err="1" smtClean="0">
                <a:ln>
                  <a:noFill/>
                </a:ln>
                <a:solidFill>
                  <a:srgbClr val="FF0000"/>
                </a:solidFill>
                <a:effectLst/>
                <a:latin typeface="+mj-lt"/>
                <a:cs typeface="Arial" pitchFamily="34" charset="0"/>
              </a:rPr>
              <a:t>importances</a:t>
            </a:r>
            <a:r>
              <a:rPr kumimoji="0" lang="en-US" b="0" i="0" u="none" strike="noStrike" cap="none" normalizeH="0" baseline="0" dirty="0" smtClean="0">
                <a:ln>
                  <a:noFill/>
                </a:ln>
                <a:solidFill>
                  <a:srgbClr val="FF0000"/>
                </a:solidFill>
                <a:effectLst/>
                <a:latin typeface="+mj-lt"/>
                <a:cs typeface="Arial" pitchFamily="34" charset="0"/>
              </a:rPr>
              <a:t>, </a:t>
            </a:r>
            <a:r>
              <a:rPr kumimoji="0" lang="en-US" b="0" i="0" u="none" strike="noStrike" cap="none" normalizeH="0" baseline="0" dirty="0" err="1" smtClean="0">
                <a:ln>
                  <a:noFill/>
                </a:ln>
                <a:solidFill>
                  <a:srgbClr val="FF0000"/>
                </a:solidFill>
                <a:effectLst/>
                <a:latin typeface="+mj-lt"/>
                <a:cs typeface="Arial" pitchFamily="34" charset="0"/>
              </a:rPr>
              <a:t>cmap</a:t>
            </a:r>
            <a:r>
              <a:rPr kumimoji="0" lang="en-US" b="0" i="0" u="none" strike="noStrike" cap="none" normalizeH="0" baseline="0" dirty="0" smtClean="0">
                <a:ln>
                  <a:noFill/>
                </a:ln>
                <a:solidFill>
                  <a:srgbClr val="FF0000"/>
                </a:solidFill>
                <a:effectLst/>
                <a:latin typeface="+mj-lt"/>
                <a:cs typeface="Arial" pitchFamily="34" charset="0"/>
              </a:rPr>
              <a:t>='hot', interpolation='nearest')</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plt.colorbar</a:t>
            </a:r>
            <a:r>
              <a:rPr kumimoji="0" lang="en-US" b="0" i="0" u="none" strike="noStrike" cap="none" normalizeH="0" baseline="0" dirty="0" smtClean="0">
                <a:ln>
                  <a:noFill/>
                </a:ln>
                <a:solidFill>
                  <a:srgbClr val="FF0000"/>
                </a:solidFill>
                <a:effectLst/>
                <a:latin typeface="+mj-lt"/>
                <a:cs typeface="Arial" pitchFamily="34" charset="0"/>
              </a:rPr>
              <a:t>()</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plt.title</a:t>
            </a:r>
            <a:r>
              <a:rPr kumimoji="0" lang="en-US" b="0" i="0" u="none" strike="noStrike" cap="none" normalizeH="0" baseline="0" dirty="0" smtClean="0">
                <a:ln>
                  <a:noFill/>
                </a:ln>
                <a:solidFill>
                  <a:srgbClr val="FF0000"/>
                </a:solidFill>
                <a:effectLst/>
                <a:latin typeface="+mj-lt"/>
                <a:cs typeface="Arial" pitchFamily="34" charset="0"/>
              </a:rPr>
              <a:t>("Feature Importance - Random Forest")</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plt.show</a:t>
            </a:r>
            <a:r>
              <a:rPr kumimoji="0" lang="en-US" b="0" i="0" u="none" strike="noStrike" cap="none" normalizeH="0" baseline="0" dirty="0" smtClean="0">
                <a:ln>
                  <a:noFill/>
                </a:ln>
                <a:solidFill>
                  <a:srgbClr val="FF0000"/>
                </a:solidFill>
                <a:effectLst/>
                <a:latin typeface="+mj-lt"/>
                <a:cs typeface="Arial" pitchFamily="34" charset="0"/>
              </a:rPr>
              <a:t>() </a:t>
            </a:r>
          </a:p>
        </p:txBody>
      </p:sp>
      <p:sp>
        <p:nvSpPr>
          <p:cNvPr id="4" name="Rectangle 3"/>
          <p:cNvSpPr/>
          <p:nvPr/>
        </p:nvSpPr>
        <p:spPr>
          <a:xfrm>
            <a:off x="107504" y="3934797"/>
            <a:ext cx="8784976" cy="646331"/>
          </a:xfrm>
          <a:prstGeom prst="rect">
            <a:avLst/>
          </a:prstGeom>
        </p:spPr>
        <p:txBody>
          <a:bodyPr wrap="square">
            <a:spAutoFit/>
          </a:bodyPr>
          <a:lstStyle/>
          <a:p>
            <a:r>
              <a:rPr lang="en-US" dirty="0"/>
              <a:t>Random Forest aggregates importance scores from multiple trees, providing more stable and accurate rankings.</a:t>
            </a:r>
            <a:endParaRPr lang="en-IN" dirty="0"/>
          </a:p>
        </p:txBody>
      </p:sp>
    </p:spTree>
    <p:extLst>
      <p:ext uri="{BB962C8B-B14F-4D97-AF65-F5344CB8AC3E}">
        <p14:creationId xmlns:p14="http://schemas.microsoft.com/office/powerpoint/2010/main" val="1754614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784976" cy="923330"/>
          </a:xfrm>
          <a:prstGeom prst="rect">
            <a:avLst/>
          </a:prstGeom>
        </p:spPr>
        <p:txBody>
          <a:bodyPr wrap="square">
            <a:spAutoFit/>
          </a:bodyPr>
          <a:lstStyle/>
          <a:p>
            <a:r>
              <a:rPr lang="en-US" b="1" dirty="0"/>
              <a:t> Feature Importance using SHAP</a:t>
            </a:r>
          </a:p>
          <a:p>
            <a:r>
              <a:rPr lang="en-US" dirty="0"/>
              <a:t>SHAP values provide a more interpretable and accurate method to measure feature importance.</a:t>
            </a:r>
          </a:p>
        </p:txBody>
      </p:sp>
      <p:sp>
        <p:nvSpPr>
          <p:cNvPr id="3" name="Rectangle 1"/>
          <p:cNvSpPr>
            <a:spLocks noChangeArrowheads="1"/>
          </p:cNvSpPr>
          <p:nvPr/>
        </p:nvSpPr>
        <p:spPr bwMode="auto">
          <a:xfrm>
            <a:off x="191592" y="1412776"/>
            <a:ext cx="8869891" cy="203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2046"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import </a:t>
            </a:r>
            <a:r>
              <a:rPr kumimoji="0" lang="en-US" b="0" i="0" u="none" strike="noStrike" cap="none" normalizeH="0" baseline="0" dirty="0" err="1" smtClean="0">
                <a:ln>
                  <a:noFill/>
                </a:ln>
                <a:solidFill>
                  <a:srgbClr val="FF0000"/>
                </a:solidFill>
                <a:effectLst/>
                <a:latin typeface="+mj-lt"/>
                <a:cs typeface="Arial" pitchFamily="34" charset="0"/>
              </a:rPr>
              <a:t>shap</a:t>
            </a:r>
            <a:r>
              <a:rPr kumimoji="0" lang="en-US" b="0" i="0" u="none" strike="noStrike" cap="none" normalizeH="0" baseline="0" dirty="0" smtClean="0">
                <a:ln>
                  <a:noFill/>
                </a:ln>
                <a:solidFill>
                  <a:srgbClr val="FF0000"/>
                </a:solidFill>
                <a:effectLst/>
                <a:latin typeface="+mj-lt"/>
                <a:cs typeface="Arial" pitchFamily="34" charset="0"/>
              </a:rPr>
              <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smtClean="0">
                <a:ln>
                  <a:noFill/>
                </a:ln>
                <a:solidFill>
                  <a:srgbClr val="FF0000"/>
                </a:solidFill>
                <a:effectLst/>
                <a:latin typeface="+mj-lt"/>
                <a:cs typeface="Arial" pitchFamily="34" charset="0"/>
              </a:rPr>
              <a:t>import pandas as </a:t>
            </a:r>
            <a:r>
              <a:rPr kumimoji="0" lang="en-US" b="0" i="0" u="none" strike="noStrike" cap="none" normalizeH="0" baseline="0" dirty="0" err="1" smtClean="0">
                <a:ln>
                  <a:noFill/>
                </a:ln>
                <a:solidFill>
                  <a:srgbClr val="FF0000"/>
                </a:solidFill>
                <a:effectLst/>
                <a:latin typeface="+mj-lt"/>
                <a:cs typeface="Arial" pitchFamily="34" charset="0"/>
              </a:rPr>
              <a:t>pd</a:t>
            </a:r>
            <a:endParaRPr kumimoji="0" lang="en-US" b="0" i="0" u="none" strike="noStrike" cap="none" normalizeH="0" baseline="0" dirty="0" smtClean="0">
              <a:ln>
                <a:noFill/>
              </a:ln>
              <a:solidFill>
                <a:srgbClr val="FF0000"/>
              </a:solidFill>
              <a:effectLst/>
              <a:latin typeface="+mj-l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 </a:t>
            </a:r>
            <a:r>
              <a:rPr kumimoji="0" lang="en-US" b="0" i="0" u="none" strike="noStrike" cap="none" normalizeH="0" baseline="0" dirty="0" smtClean="0">
                <a:ln>
                  <a:noFill/>
                </a:ln>
                <a:solidFill>
                  <a:srgbClr val="FF0000"/>
                </a:solidFill>
                <a:effectLst/>
                <a:latin typeface="+mj-lt"/>
                <a:cs typeface="Arial" pitchFamily="34" charset="0"/>
              </a:rPr>
              <a:t>Train a Random Forest model</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smtClean="0">
                <a:ln>
                  <a:noFill/>
                </a:ln>
                <a:solidFill>
                  <a:srgbClr val="FF0000"/>
                </a:solidFill>
                <a:effectLst/>
                <a:latin typeface="+mj-lt"/>
                <a:cs typeface="Arial" pitchFamily="34" charset="0"/>
              </a:rPr>
              <a:t>explainer = </a:t>
            </a:r>
            <a:r>
              <a:rPr kumimoji="0" lang="en-US" b="0" i="0" u="none" strike="noStrike" cap="none" normalizeH="0" baseline="0" dirty="0" err="1" smtClean="0">
                <a:ln>
                  <a:noFill/>
                </a:ln>
                <a:solidFill>
                  <a:srgbClr val="FF0000"/>
                </a:solidFill>
                <a:effectLst/>
                <a:latin typeface="+mj-lt"/>
                <a:cs typeface="Arial" pitchFamily="34" charset="0"/>
              </a:rPr>
              <a:t>shap.Explainer</a:t>
            </a:r>
            <a:r>
              <a:rPr kumimoji="0" lang="en-US" b="0" i="0" u="none" strike="noStrike" cap="none" normalizeH="0" baseline="0" dirty="0" smtClean="0">
                <a:ln>
                  <a:noFill/>
                </a:ln>
                <a:solidFill>
                  <a:srgbClr val="FF0000"/>
                </a:solidFill>
                <a:effectLst/>
                <a:latin typeface="+mj-lt"/>
                <a:cs typeface="Arial" pitchFamily="34" charset="0"/>
              </a:rPr>
              <a:t>(forest, X)</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shap_values</a:t>
            </a:r>
            <a:r>
              <a:rPr kumimoji="0" lang="en-US" b="0" i="0" u="none" strike="noStrike" cap="none" normalizeH="0" baseline="0" dirty="0" smtClean="0">
                <a:ln>
                  <a:noFill/>
                </a:ln>
                <a:solidFill>
                  <a:srgbClr val="FF0000"/>
                </a:solidFill>
                <a:effectLst/>
                <a:latin typeface="+mj-lt"/>
                <a:cs typeface="Arial" pitchFamily="34" charset="0"/>
              </a:rPr>
              <a:t> = explainer(X</a:t>
            </a:r>
            <a:r>
              <a:rPr kumimoji="0" lang="en-US" b="0" i="0" u="none" strike="noStrike" cap="none" normalizeH="0" baseline="0" dirty="0" smtClean="0">
                <a:ln>
                  <a:noFill/>
                </a:ln>
                <a:solidFill>
                  <a:srgbClr val="FF0000"/>
                </a:solidFill>
                <a:effectLst/>
                <a:latin typeface="+mj-lt"/>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mj-lt"/>
                <a:cs typeface="Arial" pitchFamily="34" charset="0"/>
              </a:rPr>
              <a:t># </a:t>
            </a:r>
            <a:r>
              <a:rPr kumimoji="0" lang="en-US" b="0" i="0" u="none" strike="noStrike" cap="none" normalizeH="0" baseline="0" dirty="0" smtClean="0">
                <a:ln>
                  <a:noFill/>
                </a:ln>
                <a:solidFill>
                  <a:srgbClr val="FF0000"/>
                </a:solidFill>
                <a:effectLst/>
                <a:latin typeface="+mj-lt"/>
                <a:cs typeface="Arial" pitchFamily="34" charset="0"/>
              </a:rPr>
              <a:t>Visualizing SHAP Summary Plot</a:t>
            </a:r>
            <a:br>
              <a:rPr kumimoji="0" lang="en-US" b="0" i="0" u="none" strike="noStrike" cap="none" normalizeH="0" baseline="0" dirty="0" smtClean="0">
                <a:ln>
                  <a:noFill/>
                </a:ln>
                <a:solidFill>
                  <a:srgbClr val="FF0000"/>
                </a:solidFill>
                <a:effectLst/>
                <a:latin typeface="+mj-lt"/>
                <a:cs typeface="Arial" pitchFamily="34" charset="0"/>
              </a:rPr>
            </a:br>
            <a:r>
              <a:rPr kumimoji="0" lang="en-US" b="0" i="0" u="none" strike="noStrike" cap="none" normalizeH="0" baseline="0" dirty="0" err="1" smtClean="0">
                <a:ln>
                  <a:noFill/>
                </a:ln>
                <a:solidFill>
                  <a:srgbClr val="FF0000"/>
                </a:solidFill>
                <a:effectLst/>
                <a:latin typeface="+mj-lt"/>
                <a:cs typeface="Arial" pitchFamily="34" charset="0"/>
              </a:rPr>
              <a:t>shap.summary_plot</a:t>
            </a:r>
            <a:r>
              <a:rPr kumimoji="0" lang="en-US" b="0" i="0" u="none" strike="noStrike" cap="none" normalizeH="0" baseline="0" dirty="0" smtClean="0">
                <a:ln>
                  <a:noFill/>
                </a:ln>
                <a:solidFill>
                  <a:srgbClr val="FF0000"/>
                </a:solidFill>
                <a:effectLst/>
                <a:latin typeface="+mj-lt"/>
                <a:cs typeface="Arial" pitchFamily="34" charset="0"/>
              </a:rPr>
              <a:t>(</a:t>
            </a:r>
            <a:r>
              <a:rPr kumimoji="0" lang="en-US" b="0" i="0" u="none" strike="noStrike" cap="none" normalizeH="0" baseline="0" dirty="0" err="1" smtClean="0">
                <a:ln>
                  <a:noFill/>
                </a:ln>
                <a:solidFill>
                  <a:srgbClr val="FF0000"/>
                </a:solidFill>
                <a:effectLst/>
                <a:latin typeface="+mj-lt"/>
                <a:cs typeface="Arial" pitchFamily="34" charset="0"/>
              </a:rPr>
              <a:t>shap_values</a:t>
            </a:r>
            <a:r>
              <a:rPr kumimoji="0" lang="en-US" b="0" i="0" u="none" strike="noStrike" cap="none" normalizeH="0" baseline="0" dirty="0" smtClean="0">
                <a:ln>
                  <a:noFill/>
                </a:ln>
                <a:solidFill>
                  <a:srgbClr val="FF0000"/>
                </a:solidFill>
                <a:effectLst/>
                <a:latin typeface="+mj-lt"/>
                <a:cs typeface="Arial" pitchFamily="34" charset="0"/>
              </a:rPr>
              <a:t>, X) </a:t>
            </a:r>
          </a:p>
        </p:txBody>
      </p:sp>
      <p:sp>
        <p:nvSpPr>
          <p:cNvPr id="4" name="Rectangle 3"/>
          <p:cNvSpPr/>
          <p:nvPr/>
        </p:nvSpPr>
        <p:spPr>
          <a:xfrm>
            <a:off x="166604" y="4149080"/>
            <a:ext cx="8797884" cy="646331"/>
          </a:xfrm>
          <a:prstGeom prst="rect">
            <a:avLst/>
          </a:prstGeom>
        </p:spPr>
        <p:txBody>
          <a:bodyPr wrap="square">
            <a:spAutoFit/>
          </a:bodyPr>
          <a:lstStyle/>
          <a:p>
            <a:r>
              <a:rPr lang="en-US" dirty="0"/>
              <a:t>SHAP’s summary plot visually represents how each feature impacts model predictions, making it an excellent tool for understanding model behavior.</a:t>
            </a:r>
            <a:endParaRPr lang="en-IN" dirty="0"/>
          </a:p>
        </p:txBody>
      </p:sp>
    </p:spTree>
    <p:extLst>
      <p:ext uri="{BB962C8B-B14F-4D97-AF65-F5344CB8AC3E}">
        <p14:creationId xmlns:p14="http://schemas.microsoft.com/office/powerpoint/2010/main" val="1754614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5846"/>
            <a:ext cx="8712968" cy="3970318"/>
          </a:xfrm>
          <a:prstGeom prst="rect">
            <a:avLst/>
          </a:prstGeom>
        </p:spPr>
        <p:txBody>
          <a:bodyPr wrap="square">
            <a:spAutoFit/>
          </a:bodyPr>
          <a:lstStyle/>
          <a:p>
            <a:r>
              <a:rPr lang="en-US" b="1" u="sng" dirty="0" smtClean="0"/>
              <a:t>Limitations of Feature Importance</a:t>
            </a:r>
          </a:p>
          <a:p>
            <a:r>
              <a:rPr lang="en-US" dirty="0" smtClean="0"/>
              <a:t>Feature importance is useful, but it also has some limitations:</a:t>
            </a:r>
          </a:p>
          <a:p>
            <a:r>
              <a:rPr lang="en-US" b="1" dirty="0" smtClean="0"/>
              <a:t>Correlated Features</a:t>
            </a:r>
            <a:r>
              <a:rPr lang="en-US" dirty="0" smtClean="0"/>
              <a:t> – If two or more features are similar, the importance may be shared between them. </a:t>
            </a:r>
          </a:p>
          <a:p>
            <a:r>
              <a:rPr lang="en-US" b="1" dirty="0" smtClean="0"/>
              <a:t>Features with Many Unique Values</a:t>
            </a:r>
            <a:r>
              <a:rPr lang="en-US" dirty="0" smtClean="0"/>
              <a:t> – Features with many unique values may appear more important than they really are. </a:t>
            </a:r>
          </a:p>
          <a:p>
            <a:r>
              <a:rPr lang="en-US" b="1" dirty="0" smtClean="0"/>
              <a:t>Model-Specific</a:t>
            </a:r>
            <a:r>
              <a:rPr lang="en-US" dirty="0" smtClean="0"/>
              <a:t> – Feature importance can be different for different machine learning models. </a:t>
            </a:r>
          </a:p>
          <a:p>
            <a:r>
              <a:rPr lang="en-US" b="1" dirty="0" smtClean="0"/>
              <a:t>Depends on the Data</a:t>
            </a:r>
            <a:r>
              <a:rPr lang="en-US" dirty="0" smtClean="0"/>
              <a:t> – Feature importance may change when the dataset changes. </a:t>
            </a:r>
          </a:p>
          <a:p>
            <a:r>
              <a:rPr lang="en-US" b="1" dirty="0" smtClean="0"/>
              <a:t>Conclusion</a:t>
            </a:r>
          </a:p>
          <a:p>
            <a:r>
              <a:rPr lang="en-US" dirty="0" smtClean="0"/>
              <a:t>Feature importance helps us understand which features have the biggest effect on a machine learning model's predictions. Methods like </a:t>
            </a:r>
            <a:r>
              <a:rPr lang="en-US" b="1" dirty="0" smtClean="0"/>
              <a:t>Decision Trees</a:t>
            </a:r>
            <a:r>
              <a:rPr lang="en-US" dirty="0" smtClean="0"/>
              <a:t>, </a:t>
            </a:r>
            <a:r>
              <a:rPr lang="en-US" b="1" dirty="0" smtClean="0"/>
              <a:t>Random Forests</a:t>
            </a:r>
            <a:r>
              <a:rPr lang="en-US" dirty="0" smtClean="0"/>
              <a:t>, and </a:t>
            </a:r>
            <a:r>
              <a:rPr lang="en-US" b="1" dirty="0" smtClean="0"/>
              <a:t>SHAP</a:t>
            </a:r>
            <a:r>
              <a:rPr lang="en-US" dirty="0" smtClean="0"/>
              <a:t> can be used to find the importance of different features and better understand how the model makes predictions.</a:t>
            </a:r>
            <a:endParaRPr lang="en-US" dirty="0"/>
          </a:p>
        </p:txBody>
      </p:sp>
    </p:spTree>
    <p:extLst>
      <p:ext uri="{BB962C8B-B14F-4D97-AF65-F5344CB8AC3E}">
        <p14:creationId xmlns:p14="http://schemas.microsoft.com/office/powerpoint/2010/main" val="175461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393</Words>
  <Application>Microsoft Office PowerPoint</Application>
  <PresentationFormat>On-screen Show (4:3)</PresentationFormat>
  <Paragraphs>46</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13</cp:revision>
  <dcterms:created xsi:type="dcterms:W3CDTF">2026-07-01T08:42:46Z</dcterms:created>
  <dcterms:modified xsi:type="dcterms:W3CDTF">2026-07-01T11:39:25Z</dcterms:modified>
</cp:coreProperties>
</file>