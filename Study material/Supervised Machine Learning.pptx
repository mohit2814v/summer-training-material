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9144000" cy="6858000" type="screen4x3"/>
  <p:notesSz cx="6858000" cy="9144000"/>
  <p:embeddedFontLst>
    <p:embeddedFont>
      <p:font typeface="Roboto Mono" charset="0"/>
      <p:regular r:id="rId69"/>
      <p:bold r:id="rId70"/>
      <p:italic r:id="rId71"/>
      <p:boldItalic r:id="rId72"/>
    </p:embeddedFont>
    <p:embeddedFont>
      <p:font typeface="Calibri" pitchFamily="34"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7" roundtripDataSignature="AMtx7mjjZFA3JzL19zmtEYS8KyUlM0EM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2" d="100"/>
          <a:sy n="82" d="100"/>
        </p:scale>
        <p:origin x="-816" y="2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6"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6.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5.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1.fntdata"/><Relationship Id="rId77"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4.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2.fntdata"/><Relationship Id="rId75"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865130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c8e70b66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g3c8e70b6676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c8e70b6676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g3c8e70b6676_0_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c8e70b667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g3c8e70b6676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c8e70b667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g3c8e70b6676_0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c8e70b667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g3c8e70b6676_0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c8e70b667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g3c8e70b6676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c8e70b667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g3c8e70b6676_0_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c8e70b6676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3c8e70b6676_0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c8e70b6676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g3c8e70b6676_0_8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c8e70b667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g3c8e70b6676_0_8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c8e70b6676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g3c8e70b6676_0_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c8e70b6676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g3c8e70b6676_0_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c8e70b6676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g3c8e70b6676_0_9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c8e70b6676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g3c8e70b6676_0_10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c8e70b6676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g3c8e70b6676_0_1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c8e70b6676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g3c8e70b6676_0_1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c8e70b6676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g3c8e70b6676_0_1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c8e70b6676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3c8e70b6676_0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c8e70b6676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g3c8e70b6676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c95a66d9ab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3c95a66d9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c8e70b6676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g3c8e70b6676_0_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c8e70b6676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 name="Google Shape;363;g3c8e70b6676_0_1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c8e70b667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9" name="Google Shape;369;g3c8e70b6676_0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c8f57bf6c1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g3c8f57bf6c1_0_3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c8f57bf6c1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 name="Google Shape;381;g3c8f57bf6c1_0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c8f57bf6c1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g3c8f57bf6c1_0_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c8f57bf6c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1" name="Google Shape;391;g3c8f57bf6c1_0_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c8f57bf6c1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g3c8f57bf6c1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c8f57bf6c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g3c8f57bf6c1_0_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c8f57bf6c1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g3c8f57bf6c1_0_8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ca4195e846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ca4195e84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c8f57bf6c1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9" name="Google Shape;419;g3c8f57bf6c1_0_6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c8f57bf6c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g3c8f57bf6c1_0_6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c557cd45b1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c557cd45b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c557cd45b1_0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3c557cd45b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c557cd45b1_0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c557cd45b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c557cd45b1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3c557cd45b1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3c557cd45b1_0_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3c557cd45b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3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3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3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3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3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8"/>
          <p:cNvSpPr>
            <a:spLocks noGrp="1"/>
          </p:cNvSpPr>
          <p:nvPr>
            <p:ph type="pic" idx="2"/>
          </p:nvPr>
        </p:nvSpPr>
        <p:spPr>
          <a:xfrm>
            <a:off x="1792288" y="612775"/>
            <a:ext cx="5486400" cy="4114800"/>
          </a:xfrm>
          <a:prstGeom prst="rect">
            <a:avLst/>
          </a:prstGeom>
          <a:noFill/>
          <a:ln>
            <a:noFill/>
          </a:ln>
        </p:spPr>
      </p:sp>
      <p:sp>
        <p:nvSpPr>
          <p:cNvPr id="64" name="Google Shape;64;p3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machine-learning/getting-started-with-classification/"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geeksforgeeks.org/machine-learning/regression-in-machine-learnin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6300" b="1"/>
              <a:t>Machine Learning</a:t>
            </a:r>
            <a:endParaRPr sz="63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a:spLocks noGrp="1"/>
          </p:cNvSpPr>
          <p:nvPr>
            <p:ph type="body" idx="1"/>
          </p:nvPr>
        </p:nvSpPr>
        <p:spPr>
          <a:xfrm>
            <a:off x="152400" y="152400"/>
            <a:ext cx="8686800" cy="640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r>
              <a:rPr lang="en-US" sz="2400"/>
              <a:t>Machine Learning (ML) is a part of Artificial Intelligence (AI) that focuses on creating algorithms and models that allow computers to learn from data.</a:t>
            </a:r>
            <a:endParaRPr/>
          </a:p>
          <a:p>
            <a:pPr marL="0" lvl="0" indent="0" algn="l" rtl="0">
              <a:spcBef>
                <a:spcPts val="480"/>
              </a:spcBef>
              <a:spcAft>
                <a:spcPts val="0"/>
              </a:spcAft>
              <a:buClr>
                <a:schemeClr val="dk1"/>
              </a:buClr>
              <a:buSzPts val="2400"/>
              <a:buNone/>
            </a:pPr>
            <a:endParaRPr sz="2400"/>
          </a:p>
          <a:p>
            <a:pPr marL="0" lvl="0" indent="0" algn="l" rtl="0">
              <a:spcBef>
                <a:spcPts val="480"/>
              </a:spcBef>
              <a:spcAft>
                <a:spcPts val="0"/>
              </a:spcAft>
              <a:buClr>
                <a:schemeClr val="dk1"/>
              </a:buClr>
              <a:buSzPts val="2400"/>
              <a:buNone/>
            </a:pPr>
            <a:r>
              <a:rPr lang="en-US" sz="2400"/>
              <a:t> Instead of writing separate code for every task, we train the computer with data so it can improve its performance through experience.</a:t>
            </a:r>
            <a:endParaRPr/>
          </a:p>
          <a:p>
            <a:pPr marL="0" lvl="0" indent="0" algn="l" rtl="0">
              <a:spcBef>
                <a:spcPts val="480"/>
              </a:spcBef>
              <a:spcAft>
                <a:spcPts val="0"/>
              </a:spcAft>
              <a:buClr>
                <a:schemeClr val="dk1"/>
              </a:buClr>
              <a:buSzPts val="2400"/>
              <a:buNone/>
            </a:pPr>
            <a:endParaRPr sz="2400"/>
          </a:p>
          <a:p>
            <a:pPr marL="0" lvl="0" indent="0" algn="l" rtl="0">
              <a:spcBef>
                <a:spcPts val="480"/>
              </a:spcBef>
              <a:spcAft>
                <a:spcPts val="0"/>
              </a:spcAft>
              <a:buClr>
                <a:schemeClr val="dk1"/>
              </a:buClr>
              <a:buSzPts val="2400"/>
              <a:buNone/>
            </a:pPr>
            <a:r>
              <a:rPr lang="en-US" sz="2400"/>
              <a:t>In simple words, Machine Learning helps computers learn patterns from data and make decisions similar to humans.</a:t>
            </a:r>
            <a:endParaRPr/>
          </a:p>
          <a:p>
            <a:pPr marL="0" lvl="0" indent="0" algn="l" rtl="0">
              <a:spcBef>
                <a:spcPts val="480"/>
              </a:spcBef>
              <a:spcAft>
                <a:spcPts val="0"/>
              </a:spcAft>
              <a:buClr>
                <a:schemeClr val="dk1"/>
              </a:buClr>
              <a:buSzPts val="2400"/>
              <a:buNone/>
            </a:pPr>
            <a:r>
              <a:rPr lang="en-US" sz="2400"/>
              <a:t>There are different types of machine learning, and each type has its own features and uses. The main types of machine learning are:</a:t>
            </a:r>
            <a:endParaRPr/>
          </a:p>
          <a:p>
            <a:pPr marL="0" lvl="0" indent="0" algn="l" rtl="0">
              <a:spcBef>
                <a:spcPts val="480"/>
              </a:spcBef>
              <a:spcAft>
                <a:spcPts val="0"/>
              </a:spcAft>
              <a:buClr>
                <a:schemeClr val="dk1"/>
              </a:buClr>
              <a:buSzPts val="2400"/>
              <a:buNone/>
            </a:pPr>
            <a:r>
              <a:rPr lang="en-US" sz="2400" b="1"/>
              <a:t>1. Supervised Machine Learning</a:t>
            </a:r>
            <a:br>
              <a:rPr lang="en-US" sz="2400" b="1"/>
            </a:br>
            <a:r>
              <a:rPr lang="en-US" sz="2400" b="1"/>
              <a:t>2. Unsupervised Machine Learning</a:t>
            </a:r>
            <a:br>
              <a:rPr lang="en-US" sz="2400" b="1"/>
            </a:br>
            <a:r>
              <a:rPr lang="en-US" sz="2400" b="1"/>
              <a:t>3. Reinforcement Learning</a:t>
            </a:r>
            <a:endParaRPr/>
          </a:p>
          <a:p>
            <a:pPr marL="0" lvl="0" indent="0" algn="l" rtl="0">
              <a:spcBef>
                <a:spcPts val="480"/>
              </a:spcBef>
              <a:spcAft>
                <a:spcPts val="0"/>
              </a:spcAft>
              <a:buClr>
                <a:schemeClr val="dk1"/>
              </a:buClr>
              <a:buSzPts val="2400"/>
              <a:buNone/>
            </a:pP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descr="types_of_machine_learnin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3" descr="types_of_machine_learning"/>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6" name="Google Shape;96;p3"/>
          <p:cNvPicPr preferRelativeResize="0"/>
          <p:nvPr/>
        </p:nvPicPr>
        <p:blipFill rotWithShape="1">
          <a:blip r:embed="rId3">
            <a:alphaModFix/>
          </a:blip>
          <a:srcRect/>
          <a:stretch/>
        </p:blipFill>
        <p:spPr>
          <a:xfrm>
            <a:off x="307975" y="1295400"/>
            <a:ext cx="8683625" cy="4341813"/>
          </a:xfrm>
          <a:prstGeom prst="rect">
            <a:avLst/>
          </a:prstGeom>
          <a:noFill/>
          <a:ln w="28575" cap="flat" cmpd="sng">
            <a:solidFill>
              <a:schemeClr val="dk1"/>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4"/>
          <p:cNvSpPr txBox="1">
            <a:spLocks noGrp="1"/>
          </p:cNvSpPr>
          <p:nvPr>
            <p:ph type="body" idx="1"/>
          </p:nvPr>
        </p:nvSpPr>
        <p:spPr>
          <a:xfrm>
            <a:off x="152400" y="228600"/>
            <a:ext cx="8839200" cy="6248400"/>
          </a:xfrm>
          <a:prstGeom prst="rect">
            <a:avLst/>
          </a:prstGeom>
          <a:noFill/>
          <a:ln>
            <a:noFill/>
          </a:ln>
        </p:spPr>
        <p:txBody>
          <a:bodyPr spcFirstLastPara="1" wrap="square" lIns="91425" tIns="45700" rIns="91425" bIns="45700" anchor="t" anchorCtr="0">
            <a:normAutofit lnSpcReduction="10000"/>
          </a:bodyPr>
          <a:lstStyle/>
          <a:p>
            <a:pPr marL="0" lvl="0" indent="0" algn="ctr" rtl="0">
              <a:spcBef>
                <a:spcPts val="0"/>
              </a:spcBef>
              <a:spcAft>
                <a:spcPts val="0"/>
              </a:spcAft>
              <a:buClr>
                <a:schemeClr val="dk1"/>
              </a:buClr>
              <a:buSzPts val="3200"/>
              <a:buNone/>
            </a:pPr>
            <a:r>
              <a:rPr lang="en-US" b="1"/>
              <a:t>Supervised Machine Learning</a:t>
            </a:r>
            <a:endParaRPr/>
          </a:p>
          <a:p>
            <a:pPr marL="342900" lvl="0" indent="-342900" algn="l" rtl="0">
              <a:spcBef>
                <a:spcPts val="640"/>
              </a:spcBef>
              <a:spcAft>
                <a:spcPts val="0"/>
              </a:spcAft>
              <a:buClr>
                <a:schemeClr val="dk1"/>
              </a:buClr>
              <a:buSzPts val="3200"/>
              <a:buChar char="•"/>
            </a:pPr>
            <a:r>
              <a:rPr lang="en-US"/>
              <a:t>Supervised learning is a type of machine learning where the model is trained using a </a:t>
            </a:r>
            <a:r>
              <a:rPr lang="en-US" b="1"/>
              <a:t>labeled dataset</a:t>
            </a:r>
            <a:r>
              <a:rPr lang="en-US"/>
              <a:t>. </a:t>
            </a:r>
            <a:br>
              <a:rPr lang="en-US"/>
            </a:br>
            <a:r>
              <a:rPr lang="en-US"/>
              <a:t>A labeled dataset means the data includes both input values and their correct output values.</a:t>
            </a:r>
            <a:endParaRPr/>
          </a:p>
          <a:p>
            <a:pPr marL="342900" lvl="0" indent="-342900" algn="l" rtl="0">
              <a:spcBef>
                <a:spcPts val="640"/>
              </a:spcBef>
              <a:spcAft>
                <a:spcPts val="0"/>
              </a:spcAft>
              <a:buClr>
                <a:schemeClr val="dk1"/>
              </a:buClr>
              <a:buSzPts val="3200"/>
              <a:buChar char="•"/>
            </a:pPr>
            <a:r>
              <a:rPr lang="en-US"/>
              <a:t>In supervised learning, the algorithm learns the relationship between the input and the correct output. It studies the training data and tries to predict the correct output for new data.</a:t>
            </a:r>
            <a:endParaRPr/>
          </a:p>
          <a:p>
            <a:pPr marL="342900" lvl="0" indent="-342900" algn="l" rtl="0">
              <a:spcBef>
                <a:spcPts val="640"/>
              </a:spcBef>
              <a:spcAft>
                <a:spcPts val="0"/>
              </a:spcAft>
              <a:buClr>
                <a:schemeClr val="dk1"/>
              </a:buClr>
              <a:buSzPts val="3200"/>
              <a:buChar char="•"/>
            </a:pPr>
            <a:r>
              <a:rPr lang="en-US"/>
              <a:t>Both the training dataset and the validation dataset contain labeled data, so the model can learn and then be tested for accuracy.</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p:nvPr/>
        </p:nvSpPr>
        <p:spPr>
          <a:xfrm>
            <a:off x="304800" y="5715000"/>
            <a:ext cx="8382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chemeClr val="dk1"/>
                </a:solidFill>
                <a:latin typeface="Calibri"/>
                <a:ea typeface="Calibri"/>
                <a:cs typeface="Calibri"/>
                <a:sym typeface="Calibri"/>
              </a:rPr>
              <a:t>Example: </a:t>
            </a:r>
            <a:r>
              <a:rPr lang="en-US" sz="1800" u="sng">
                <a:solidFill>
                  <a:schemeClr val="dk1"/>
                </a:solidFill>
                <a:latin typeface="Calibri"/>
                <a:ea typeface="Calibri"/>
                <a:cs typeface="Calibri"/>
                <a:sym typeface="Calibri"/>
              </a:rPr>
              <a:t>If you train a model using labeled images of cats and dogs, it learns the features of each. When shown a new image, it predicts whether it’s a cat or a dog.</a:t>
            </a:r>
            <a:endParaRPr/>
          </a:p>
        </p:txBody>
      </p:sp>
      <p:pic>
        <p:nvPicPr>
          <p:cNvPr id="107" name="Google Shape;107;p5"/>
          <p:cNvPicPr preferRelativeResize="0"/>
          <p:nvPr/>
        </p:nvPicPr>
        <p:blipFill rotWithShape="1">
          <a:blip r:embed="rId3">
            <a:alphaModFix/>
          </a:blip>
          <a:srcRect/>
          <a:stretch/>
        </p:blipFill>
        <p:spPr>
          <a:xfrm>
            <a:off x="304800" y="152400"/>
            <a:ext cx="8458200" cy="5433833"/>
          </a:xfrm>
          <a:prstGeom prst="rect">
            <a:avLst/>
          </a:prstGeom>
          <a:noFill/>
          <a:ln w="28575" cap="flat" cmpd="sng">
            <a:solidFill>
              <a:srgbClr val="FF99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a:spLocks noGrp="1"/>
          </p:cNvSpPr>
          <p:nvPr>
            <p:ph type="body" idx="1"/>
          </p:nvPr>
        </p:nvSpPr>
        <p:spPr>
          <a:xfrm>
            <a:off x="304800" y="533400"/>
            <a:ext cx="8382000" cy="5943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t>The model makes predictions and compares them with the true outputs, adjusting itself to reduce errors and improve accuracy over time. </a:t>
            </a:r>
            <a:br>
              <a:rPr lang="en-US"/>
            </a:br>
            <a:endParaRPr/>
          </a:p>
          <a:p>
            <a:pPr marL="0" lvl="0" indent="0" algn="l" rtl="0">
              <a:spcBef>
                <a:spcPts val="640"/>
              </a:spcBef>
              <a:spcAft>
                <a:spcPts val="0"/>
              </a:spcAft>
              <a:buClr>
                <a:schemeClr val="dk1"/>
              </a:buClr>
              <a:buSzPts val="3200"/>
              <a:buNone/>
            </a:pPr>
            <a:r>
              <a:rPr lang="en-US"/>
              <a:t>The goal is to make accurate predictions on new, unseen data. </a:t>
            </a:r>
            <a:endParaRPr/>
          </a:p>
          <a:p>
            <a:pPr marL="0" lvl="0" indent="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r>
              <a:rPr lang="en-US"/>
              <a:t>For example, a model trained on images of handwritten digits can recognize new digits it has never seen before.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7"/>
          <p:cNvSpPr/>
          <p:nvPr/>
        </p:nvSpPr>
        <p:spPr>
          <a:xfrm>
            <a:off x="304800" y="685800"/>
            <a:ext cx="8458200" cy="31085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dk1"/>
                </a:solidFill>
                <a:latin typeface="Calibri"/>
                <a:ea typeface="Calibri"/>
                <a:cs typeface="Calibri"/>
                <a:sym typeface="Calibri"/>
              </a:rPr>
              <a:t>Types of Supervised Learning in Machine Learning</a:t>
            </a:r>
            <a:endParaRPr/>
          </a:p>
          <a:p>
            <a:pPr marL="0" marR="0" lvl="0" indent="0" algn="l" rtl="0">
              <a:spcBef>
                <a:spcPts val="0"/>
              </a:spcBef>
              <a:spcAft>
                <a:spcPts val="0"/>
              </a:spcAft>
              <a:buNone/>
            </a:pPr>
            <a:endParaRPr sz="2800" b="1" u="sng">
              <a:solidFill>
                <a:schemeClr val="dk1"/>
              </a:solidFill>
              <a:latin typeface="Calibri"/>
              <a:ea typeface="Calibri"/>
              <a:cs typeface="Calibri"/>
              <a:sym typeface="Calibri"/>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endParaRPr>
          </a:p>
          <a:p>
            <a:pPr marL="0" marR="0" lvl="0" indent="0" algn="l" rtl="0">
              <a:spcBef>
                <a:spcPts val="0"/>
              </a:spcBef>
              <a:spcAft>
                <a:spcPts val="0"/>
              </a:spcAft>
              <a:buNone/>
            </a:pPr>
            <a:r>
              <a:rPr lang="en-US" sz="2800" b="1" u="sng">
                <a:solidFill>
                  <a:schemeClr val="dk1"/>
                </a:solidFill>
                <a:latin typeface="Calibri"/>
                <a:ea typeface="Calibri"/>
                <a:cs typeface="Calibri"/>
                <a:sym typeface="Calibri"/>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Classification</a:t>
            </a:r>
            <a:r>
              <a:rPr lang="en-US" sz="2800" b="1">
                <a:solidFill>
                  <a:schemeClr val="dk1"/>
                </a:solidFill>
                <a:latin typeface="Calibri"/>
                <a:ea typeface="Calibri"/>
                <a:cs typeface="Calibri"/>
                <a:sym typeface="Calibri"/>
              </a:rPr>
              <a:t>:</a:t>
            </a:r>
            <a:r>
              <a:rPr lang="en-US" sz="2800">
                <a:solidFill>
                  <a:schemeClr val="dk1"/>
                </a:solidFill>
                <a:latin typeface="Calibri"/>
                <a:ea typeface="Calibri"/>
                <a:cs typeface="Calibri"/>
                <a:sym typeface="Calibri"/>
              </a:rPr>
              <a:t> Where the output is a categorical variable (spam vs. non-spam emails, yes vs. no).</a:t>
            </a:r>
            <a:endParaRPr/>
          </a:p>
          <a:p>
            <a:pPr marL="0" marR="0" lvl="0" indent="0" algn="l" rtl="0">
              <a:spcBef>
                <a:spcPts val="0"/>
              </a:spcBef>
              <a:spcAft>
                <a:spcPts val="0"/>
              </a:spcAft>
              <a:buNone/>
            </a:pP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b="1" u="sng">
                <a:solidFill>
                  <a:schemeClr val="dk1"/>
                </a:solidFill>
                <a:latin typeface="Calibri"/>
                <a:ea typeface="Calibri"/>
                <a:cs typeface="Calibri"/>
                <a:sym typeface="Calibri"/>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Regression</a:t>
            </a:r>
            <a:r>
              <a:rPr lang="en-US" sz="2800" b="1">
                <a:solidFill>
                  <a:schemeClr val="dk1"/>
                </a:solidFill>
                <a:latin typeface="Calibri"/>
                <a:ea typeface="Calibri"/>
                <a:cs typeface="Calibri"/>
                <a:sym typeface="Calibri"/>
              </a:rPr>
              <a:t>:</a:t>
            </a:r>
            <a:r>
              <a:rPr lang="en-US" sz="2800">
                <a:solidFill>
                  <a:schemeClr val="dk1"/>
                </a:solidFill>
                <a:latin typeface="Calibri"/>
                <a:ea typeface="Calibri"/>
                <a:cs typeface="Calibri"/>
                <a:sym typeface="Calibri"/>
              </a:rPr>
              <a:t> Where the output is a continuous variable </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 predicting house prices, stock prices).</a:t>
            </a:r>
            <a:endParaRPr/>
          </a:p>
        </p:txBody>
      </p:sp>
      <p:sp>
        <p:nvSpPr>
          <p:cNvPr id="118" name="Google Shape;118;p7" descr="difff"/>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9" name="Google Shape;119;p7"/>
          <p:cNvPicPr preferRelativeResize="0"/>
          <p:nvPr/>
        </p:nvPicPr>
        <p:blipFill rotWithShape="1">
          <a:blip r:embed="rId5">
            <a:alphaModFix/>
          </a:blip>
          <a:srcRect/>
          <a:stretch/>
        </p:blipFill>
        <p:spPr>
          <a:xfrm>
            <a:off x="1676400" y="4267200"/>
            <a:ext cx="5410200" cy="1924050"/>
          </a:xfrm>
          <a:prstGeom prst="rect">
            <a:avLst/>
          </a:prstGeom>
          <a:noFill/>
          <a:ln w="28575" cap="flat" cmpd="sng">
            <a:solidFill>
              <a:srgbClr val="000000"/>
            </a:solidFill>
            <a:prstDash val="solid"/>
            <a:round/>
            <a:headEnd type="none" w="sm" len="sm"/>
            <a:tailEnd type="none" w="sm" len="sm"/>
          </a:ln>
          <a:effectLst>
            <a:outerShdw blurRad="107950" dist="12700" dir="5400000" algn="ctr">
              <a:srgbClr val="000000"/>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8"/>
          <p:cNvPicPr preferRelativeResize="0"/>
          <p:nvPr/>
        </p:nvPicPr>
        <p:blipFill rotWithShape="1">
          <a:blip r:embed="rId3">
            <a:alphaModFix/>
          </a:blip>
          <a:srcRect t="10673" b="18420"/>
          <a:stretch/>
        </p:blipFill>
        <p:spPr>
          <a:xfrm>
            <a:off x="304800" y="152400"/>
            <a:ext cx="8416090" cy="3890211"/>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3137"/>
              </a:srgbClr>
            </a:outerShdw>
          </a:effectLst>
        </p:spPr>
      </p:pic>
      <p:sp>
        <p:nvSpPr>
          <p:cNvPr id="125" name="Google Shape;125;p8"/>
          <p:cNvSpPr/>
          <p:nvPr/>
        </p:nvSpPr>
        <p:spPr>
          <a:xfrm>
            <a:off x="76200" y="4196477"/>
            <a:ext cx="8991600"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Figure A: CLASSIFICATION (Medical Diagnosis)</a:t>
            </a:r>
            <a:r>
              <a:rPr lang="en-US" sz="1800">
                <a:solidFill>
                  <a:schemeClr val="dk1"/>
                </a:solidFill>
                <a:latin typeface="Calibri"/>
                <a:ea typeface="Calibri"/>
                <a:cs typeface="Calibri"/>
                <a:sym typeface="Calibri"/>
              </a:rPr>
              <a:t> predicting if a patient has diabetes or not based on age, BP, and cholesterol levels.</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Input</a:t>
            </a:r>
            <a:r>
              <a:rPr lang="en-US" sz="1800">
                <a:solidFill>
                  <a:schemeClr val="dk1"/>
                </a:solidFill>
                <a:latin typeface="Calibri"/>
                <a:ea typeface="Calibri"/>
                <a:cs typeface="Calibri"/>
                <a:sym typeface="Calibri"/>
              </a:rPr>
              <a:t>: Patient ID, Age, Blood Pressure, Cholesterol</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Output</a:t>
            </a:r>
            <a:r>
              <a:rPr lang="en-US" sz="1800">
                <a:solidFill>
                  <a:schemeClr val="dk1"/>
                </a:solidFill>
                <a:latin typeface="Calibri"/>
                <a:ea typeface="Calibri"/>
                <a:cs typeface="Calibri"/>
                <a:sym typeface="Calibri"/>
              </a:rPr>
              <a:t>: Diabetes (Yes/No); 'Yes' means the patient has diabetes, and 'No' means the patient does not have diabetes.</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Figure B: REGRESSION (Real Estate Pricing)</a:t>
            </a:r>
            <a:r>
              <a:rPr lang="en-US" sz="1800">
                <a:solidFill>
                  <a:schemeClr val="dk1"/>
                </a:solidFill>
                <a:latin typeface="Calibri"/>
                <a:ea typeface="Calibri"/>
                <a:cs typeface="Calibri"/>
                <a:sym typeface="Calibri"/>
              </a:rPr>
              <a:t> predicting price of a house based on different parameters.</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Input</a:t>
            </a:r>
            <a:r>
              <a:rPr lang="en-US" sz="1800">
                <a:solidFill>
                  <a:schemeClr val="dk1"/>
                </a:solidFill>
                <a:latin typeface="Calibri"/>
                <a:ea typeface="Calibri"/>
                <a:cs typeface="Calibri"/>
                <a:sym typeface="Calibri"/>
              </a:rPr>
              <a:t>: House ID, Square Feet, Bedrooms, Year Built</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Output</a:t>
            </a:r>
            <a:r>
              <a:rPr lang="en-US" sz="1800">
                <a:solidFill>
                  <a:schemeClr val="dk1"/>
                </a:solidFill>
                <a:latin typeface="Calibri"/>
                <a:ea typeface="Calibri"/>
                <a:cs typeface="Calibri"/>
                <a:sym typeface="Calibri"/>
              </a:rPr>
              <a:t>: Price ($); a continuous numerical value representing the estimated price of the house.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9"/>
          <p:cNvPicPr preferRelativeResize="0">
            <a:picLocks noGrp="1"/>
          </p:cNvPicPr>
          <p:nvPr>
            <p:ph type="body" idx="1"/>
          </p:nvPr>
        </p:nvPicPr>
        <p:blipFill rotWithShape="1">
          <a:blip r:embed="rId3">
            <a:alphaModFix/>
          </a:blip>
          <a:srcRect/>
          <a:stretch/>
        </p:blipFill>
        <p:spPr>
          <a:xfrm>
            <a:off x="990600" y="1219200"/>
            <a:ext cx="6788944" cy="4525963"/>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3137"/>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10"/>
          <p:cNvPicPr preferRelativeResize="0"/>
          <p:nvPr/>
        </p:nvPicPr>
        <p:blipFill rotWithShape="1">
          <a:blip r:embed="rId3">
            <a:alphaModFix/>
          </a:blip>
          <a:srcRect/>
          <a:stretch/>
        </p:blipFill>
        <p:spPr>
          <a:xfrm>
            <a:off x="192211" y="609600"/>
            <a:ext cx="8687094" cy="5795162"/>
          </a:xfrm>
          <a:prstGeom prst="rect">
            <a:avLst/>
          </a:prstGeom>
          <a:noFill/>
          <a:ln w="88900" cap="sq" cmpd="thickThin">
            <a:solidFill>
              <a:srgbClr val="000000"/>
            </a:solidFill>
            <a:prstDash val="solid"/>
            <a:miter lim="800000"/>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1"/>
          <p:cNvSpPr txBox="1">
            <a:spLocks noGrp="1"/>
          </p:cNvSpPr>
          <p:nvPr>
            <p:ph type="body" idx="1"/>
          </p:nvPr>
        </p:nvSpPr>
        <p:spPr>
          <a:xfrm>
            <a:off x="152400" y="152400"/>
            <a:ext cx="8839200" cy="6553200"/>
          </a:xfrm>
          <a:prstGeom prst="rect">
            <a:avLst/>
          </a:prstGeom>
          <a:noFill/>
          <a:ln>
            <a:noFill/>
          </a:ln>
        </p:spPr>
        <p:txBody>
          <a:bodyPr spcFirstLastPara="1" wrap="square" lIns="91425" tIns="45700" rIns="91425" bIns="45700" anchor="t" anchorCtr="0">
            <a:normAutofit fontScale="62500" lnSpcReduction="20000"/>
          </a:bodyPr>
          <a:lstStyle/>
          <a:p>
            <a:pPr marL="0" lvl="0" indent="0" algn="l" rtl="0">
              <a:spcBef>
                <a:spcPts val="0"/>
              </a:spcBef>
              <a:spcAft>
                <a:spcPts val="0"/>
              </a:spcAft>
              <a:buClr>
                <a:schemeClr val="dk1"/>
              </a:buClr>
              <a:buSzPct val="100000"/>
              <a:buNone/>
            </a:pPr>
            <a:r>
              <a:rPr lang="en-US" b="1"/>
              <a:t>Working of Supervised Machine Learning</a:t>
            </a:r>
            <a:endParaRPr/>
          </a:p>
          <a:p>
            <a:pPr marL="0" lvl="0" indent="0" algn="l" rtl="0">
              <a:spcBef>
                <a:spcPts val="400"/>
              </a:spcBef>
              <a:spcAft>
                <a:spcPts val="0"/>
              </a:spcAft>
              <a:buClr>
                <a:schemeClr val="dk1"/>
              </a:buClr>
              <a:buSzPct val="100000"/>
              <a:buNone/>
            </a:pPr>
            <a:r>
              <a:rPr lang="en-US" b="1"/>
              <a:t>1. Collect Labeled Data</a:t>
            </a:r>
            <a:endParaRPr/>
          </a:p>
          <a:p>
            <a:pPr marL="0" lvl="0" indent="0" algn="l" rtl="0">
              <a:spcBef>
                <a:spcPts val="400"/>
              </a:spcBef>
              <a:spcAft>
                <a:spcPts val="0"/>
              </a:spcAft>
              <a:buClr>
                <a:schemeClr val="dk1"/>
              </a:buClr>
              <a:buSzPct val="100000"/>
              <a:buNone/>
            </a:pPr>
            <a:r>
              <a:rPr lang="en-US"/>
              <a:t>Gather a dataset where each input has a known correct output (label).</a:t>
            </a:r>
            <a:endParaRPr/>
          </a:p>
          <a:p>
            <a:pPr marL="0" lvl="0" indent="0" algn="l" rtl="0">
              <a:spcBef>
                <a:spcPts val="400"/>
              </a:spcBef>
              <a:spcAft>
                <a:spcPts val="0"/>
              </a:spcAft>
              <a:buClr>
                <a:schemeClr val="dk1"/>
              </a:buClr>
              <a:buSzPct val="100000"/>
              <a:buNone/>
            </a:pPr>
            <a:r>
              <a:rPr lang="en-US" b="1"/>
              <a:t>Example</a:t>
            </a:r>
            <a:r>
              <a:rPr lang="en-US"/>
              <a:t>: Images of handwritten digits with their actual numbers as labels.</a:t>
            </a:r>
            <a:endParaRPr/>
          </a:p>
          <a:p>
            <a:pPr marL="0" lvl="0" indent="0" algn="l" rtl="0">
              <a:spcBef>
                <a:spcPts val="400"/>
              </a:spcBef>
              <a:spcAft>
                <a:spcPts val="0"/>
              </a:spcAft>
              <a:buClr>
                <a:schemeClr val="dk1"/>
              </a:buClr>
              <a:buSzPct val="100000"/>
              <a:buNone/>
            </a:pPr>
            <a:endParaRPr/>
          </a:p>
          <a:p>
            <a:pPr marL="0" lvl="0" indent="0" algn="l" rtl="0">
              <a:spcBef>
                <a:spcPts val="400"/>
              </a:spcBef>
              <a:spcAft>
                <a:spcPts val="0"/>
              </a:spcAft>
              <a:buClr>
                <a:schemeClr val="dk1"/>
              </a:buClr>
              <a:buSzPct val="100000"/>
              <a:buNone/>
            </a:pPr>
            <a:r>
              <a:rPr lang="en-US" b="1"/>
              <a:t>2. Split the Dataset</a:t>
            </a:r>
            <a:endParaRPr/>
          </a:p>
          <a:p>
            <a:pPr marL="0" lvl="0" indent="0" algn="l" rtl="0">
              <a:spcBef>
                <a:spcPts val="400"/>
              </a:spcBef>
              <a:spcAft>
                <a:spcPts val="0"/>
              </a:spcAft>
              <a:buClr>
                <a:schemeClr val="dk1"/>
              </a:buClr>
              <a:buSzPct val="100000"/>
              <a:buNone/>
            </a:pPr>
            <a:r>
              <a:rPr lang="en-US"/>
              <a:t>Divide the data into training data (about 80%) and testing data (about 20%).</a:t>
            </a:r>
            <a:endParaRPr/>
          </a:p>
          <a:p>
            <a:pPr marL="0" lvl="0" indent="0" algn="l" rtl="0">
              <a:spcBef>
                <a:spcPts val="400"/>
              </a:spcBef>
              <a:spcAft>
                <a:spcPts val="0"/>
              </a:spcAft>
              <a:buClr>
                <a:schemeClr val="dk1"/>
              </a:buClr>
              <a:buSzPct val="100000"/>
              <a:buNone/>
            </a:pPr>
            <a:r>
              <a:rPr lang="en-US"/>
              <a:t>The model will learn.</a:t>
            </a:r>
            <a:endParaRPr/>
          </a:p>
          <a:p>
            <a:pPr marL="0" lvl="0" indent="0" algn="l" rtl="0">
              <a:spcBef>
                <a:spcPts val="400"/>
              </a:spcBef>
              <a:spcAft>
                <a:spcPts val="0"/>
              </a:spcAft>
              <a:buClr>
                <a:schemeClr val="dk1"/>
              </a:buClr>
              <a:buSzPct val="100000"/>
              <a:buNone/>
            </a:pPr>
            <a:endParaRPr/>
          </a:p>
          <a:p>
            <a:pPr marL="0" lvl="0" indent="0" algn="l" rtl="0">
              <a:spcBef>
                <a:spcPts val="400"/>
              </a:spcBef>
              <a:spcAft>
                <a:spcPts val="0"/>
              </a:spcAft>
              <a:buClr>
                <a:schemeClr val="dk1"/>
              </a:buClr>
              <a:buSzPct val="100000"/>
              <a:buNone/>
            </a:pPr>
            <a:r>
              <a:rPr lang="en-US" b="1"/>
              <a:t>3. Train the Model</a:t>
            </a:r>
            <a:endParaRPr/>
          </a:p>
          <a:p>
            <a:pPr marL="0" lvl="0" indent="0" algn="l" rtl="0">
              <a:spcBef>
                <a:spcPts val="400"/>
              </a:spcBef>
              <a:spcAft>
                <a:spcPts val="0"/>
              </a:spcAft>
              <a:buClr>
                <a:schemeClr val="dk1"/>
              </a:buClr>
              <a:buSzPct val="100000"/>
              <a:buNone/>
            </a:pPr>
            <a:r>
              <a:rPr lang="en-US"/>
              <a:t>Feed the training data (inputs and their labels) to a suitable supervised learning algorithm (like Decision Trees, SVM or Linear Regression).</a:t>
            </a:r>
            <a:endParaRPr/>
          </a:p>
          <a:p>
            <a:pPr marL="0" lvl="0" indent="0" algn="l" rtl="0">
              <a:spcBef>
                <a:spcPts val="400"/>
              </a:spcBef>
              <a:spcAft>
                <a:spcPts val="0"/>
              </a:spcAft>
              <a:buClr>
                <a:schemeClr val="dk1"/>
              </a:buClr>
              <a:buSzPct val="100000"/>
              <a:buNone/>
            </a:pPr>
            <a:endParaRPr/>
          </a:p>
          <a:p>
            <a:pPr marL="0" lvl="0" indent="0" algn="l" rtl="0">
              <a:spcBef>
                <a:spcPts val="400"/>
              </a:spcBef>
              <a:spcAft>
                <a:spcPts val="0"/>
              </a:spcAft>
              <a:buClr>
                <a:schemeClr val="dk1"/>
              </a:buClr>
              <a:buSzPct val="100000"/>
              <a:buNone/>
            </a:pPr>
            <a:r>
              <a:rPr lang="en-US" b="1"/>
              <a:t>4. Validate and Test </a:t>
            </a:r>
            <a:endParaRPr b="1"/>
          </a:p>
          <a:p>
            <a:pPr marL="0" lvl="0" indent="0" algn="l" rtl="0">
              <a:spcBef>
                <a:spcPts val="400"/>
              </a:spcBef>
              <a:spcAft>
                <a:spcPts val="0"/>
              </a:spcAft>
              <a:buClr>
                <a:schemeClr val="dk1"/>
              </a:buClr>
              <a:buSzPct val="100000"/>
              <a:buNone/>
            </a:pPr>
            <a:r>
              <a:rPr lang="en-US"/>
              <a:t>Evaluate the model using testing data it has never seen before.</a:t>
            </a:r>
            <a:endParaRPr/>
          </a:p>
          <a:p>
            <a:pPr marL="0" lvl="0" indent="0" algn="l" rtl="0">
              <a:spcBef>
                <a:spcPts val="400"/>
              </a:spcBef>
              <a:spcAft>
                <a:spcPts val="0"/>
              </a:spcAft>
              <a:buClr>
                <a:schemeClr val="dk1"/>
              </a:buClr>
              <a:buSzPct val="100000"/>
              <a:buNone/>
            </a:pPr>
            <a:r>
              <a:rPr lang="en-US"/>
              <a:t>The model predicts outputs and these predictions are compared with the actual labels to calculate accuracy or error.</a:t>
            </a:r>
            <a:endParaRPr/>
          </a:p>
          <a:p>
            <a:pPr marL="0" lvl="0" indent="0" algn="l" rtl="0">
              <a:spcBef>
                <a:spcPts val="400"/>
              </a:spcBef>
              <a:spcAft>
                <a:spcPts val="0"/>
              </a:spcAft>
              <a:buClr>
                <a:schemeClr val="dk1"/>
              </a:buClr>
              <a:buSzPct val="100000"/>
              <a:buNone/>
            </a:pPr>
            <a:endParaRPr/>
          </a:p>
          <a:p>
            <a:pPr marL="0" lvl="0" indent="0" algn="l" rtl="0">
              <a:spcBef>
                <a:spcPts val="400"/>
              </a:spcBef>
              <a:spcAft>
                <a:spcPts val="0"/>
              </a:spcAft>
              <a:buClr>
                <a:schemeClr val="dk1"/>
              </a:buClr>
              <a:buSzPct val="100000"/>
              <a:buNone/>
            </a:pPr>
            <a:r>
              <a:rPr lang="en-US" b="1"/>
              <a:t>5. Deploy and Predict on New Data</a:t>
            </a:r>
            <a:endParaRPr/>
          </a:p>
          <a:p>
            <a:pPr marL="0" lvl="0" indent="0" algn="l" rtl="0">
              <a:spcBef>
                <a:spcPts val="400"/>
              </a:spcBef>
              <a:spcAft>
                <a:spcPts val="0"/>
              </a:spcAft>
              <a:buClr>
                <a:schemeClr val="dk1"/>
              </a:buClr>
              <a:buSzPct val="100000"/>
              <a:buNone/>
            </a:pPr>
            <a:r>
              <a:rPr lang="en-US"/>
              <a:t>Once the model performs well, it can be used to predict outputs for completely new, unseen data.</a:t>
            </a:r>
            <a:endParaRPr/>
          </a:p>
          <a:p>
            <a:pPr marL="0" lvl="0" indent="0" algn="l" rtl="0">
              <a:spcBef>
                <a:spcPts val="400"/>
              </a:spcBef>
              <a:spcAft>
                <a:spcPts val="0"/>
              </a:spcAft>
              <a:buClr>
                <a:schemeClr val="dk1"/>
              </a:buClr>
              <a:buSzPct val="1000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2"/>
          <p:cNvSpPr txBox="1">
            <a:spLocks noGrp="1"/>
          </p:cNvSpPr>
          <p:nvPr>
            <p:ph type="body" idx="1"/>
          </p:nvPr>
        </p:nvSpPr>
        <p:spPr>
          <a:xfrm>
            <a:off x="152400" y="76200"/>
            <a:ext cx="8686800" cy="64008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None/>
            </a:pPr>
            <a:r>
              <a:rPr lang="en-US" b="1" u="sng"/>
              <a:t>Supervised Machine Learning Algorithms</a:t>
            </a:r>
            <a:endParaRPr sz="1800" b="1" u="sng"/>
          </a:p>
          <a:p>
            <a:pPr marL="342900" lvl="0" indent="-342900" algn="l" rtl="0">
              <a:spcBef>
                <a:spcPts val="480"/>
              </a:spcBef>
              <a:spcAft>
                <a:spcPts val="0"/>
              </a:spcAft>
              <a:buClr>
                <a:schemeClr val="dk1"/>
              </a:buClr>
              <a:buSzPts val="2400"/>
              <a:buChar char="•"/>
            </a:pPr>
            <a:r>
              <a:rPr lang="en-US" sz="2400" b="1" u="sng"/>
              <a:t>Linear Regression</a:t>
            </a:r>
            <a:r>
              <a:rPr lang="en-US" sz="2400"/>
              <a:t>:- to predict a continuous value.</a:t>
            </a:r>
            <a:br>
              <a:rPr lang="en-US" sz="2400"/>
            </a:br>
            <a:r>
              <a:rPr lang="en-US" sz="2400"/>
              <a:t>Example: Predicting house price, salary, or temperature.</a:t>
            </a:r>
            <a:br>
              <a:rPr lang="en-US" sz="2400"/>
            </a:br>
            <a:r>
              <a:rPr lang="en-US" sz="2400"/>
              <a:t>It finds a straight-line relationship between input and output.</a:t>
            </a:r>
            <a:endParaRPr/>
          </a:p>
          <a:p>
            <a:pPr marL="342900" lvl="0" indent="-342900" algn="l" rtl="0">
              <a:spcBef>
                <a:spcPts val="480"/>
              </a:spcBef>
              <a:spcAft>
                <a:spcPts val="0"/>
              </a:spcAft>
              <a:buClr>
                <a:schemeClr val="dk1"/>
              </a:buClr>
              <a:buSzPts val="2400"/>
              <a:buChar char="•"/>
            </a:pPr>
            <a:r>
              <a:rPr lang="en-US" sz="2400" b="1" u="sng"/>
              <a:t>Logistic Regression</a:t>
            </a:r>
            <a:r>
              <a:rPr lang="en-US" sz="2400"/>
              <a:t>:- for classification, mainly for two possible outcomes.</a:t>
            </a:r>
            <a:br>
              <a:rPr lang="en-US" sz="2400"/>
            </a:br>
            <a:r>
              <a:rPr lang="en-US" sz="2400"/>
              <a:t>Example: Yes/No, Pass/Fail, Spam/Not Spam.</a:t>
            </a:r>
            <a:endParaRPr/>
          </a:p>
          <a:p>
            <a:pPr marL="342900" lvl="0" indent="-342900" algn="l" rtl="0">
              <a:spcBef>
                <a:spcPts val="480"/>
              </a:spcBef>
              <a:spcAft>
                <a:spcPts val="0"/>
              </a:spcAft>
              <a:buClr>
                <a:schemeClr val="dk1"/>
              </a:buClr>
              <a:buSzPts val="2400"/>
              <a:buChar char="•"/>
            </a:pPr>
            <a:r>
              <a:rPr lang="en-US" sz="2400" b="1" u="sng"/>
              <a:t>Decision Tree</a:t>
            </a:r>
            <a:r>
              <a:rPr lang="en-US" sz="2400"/>
              <a:t>:- like a flowchart or tree.</a:t>
            </a:r>
            <a:br>
              <a:rPr lang="en-US" sz="2400"/>
            </a:br>
            <a:r>
              <a:rPr lang="en-US" sz="2400"/>
              <a:t>It makes decisions step by step using conditions.</a:t>
            </a:r>
            <a:br>
              <a:rPr lang="en-US" sz="2400"/>
            </a:br>
            <a:r>
              <a:rPr lang="en-US" sz="2400"/>
              <a:t>Each branch represents a choice, and each leaf represents the final result.</a:t>
            </a:r>
            <a:br>
              <a:rPr lang="en-US" sz="2400"/>
            </a:br>
            <a:r>
              <a:rPr lang="en-US" sz="2400"/>
              <a:t>Example: Loan approval based on income, age, and credit score.</a:t>
            </a:r>
            <a:endParaRPr/>
          </a:p>
          <a:p>
            <a:pPr marL="342900" lvl="0" indent="-342900" algn="l" rtl="0">
              <a:spcBef>
                <a:spcPts val="480"/>
              </a:spcBef>
              <a:spcAft>
                <a:spcPts val="0"/>
              </a:spcAft>
              <a:buClr>
                <a:schemeClr val="dk1"/>
              </a:buClr>
              <a:buSzPts val="2400"/>
              <a:buChar char="•"/>
            </a:pPr>
            <a:r>
              <a:rPr lang="en-US" sz="2400" b="1" u="sng"/>
              <a:t>Random Forest:</a:t>
            </a:r>
            <a:r>
              <a:rPr lang="en-US" sz="2400"/>
              <a:t>- is a group of many decision trees.</a:t>
            </a:r>
            <a:br>
              <a:rPr lang="en-US" sz="2400"/>
            </a:br>
            <a:r>
              <a:rPr lang="en-US" sz="2400"/>
              <a:t>Each tree gives a prediction, and the final answer is based on the majority vote (for classification) or average (for regression).</a:t>
            </a:r>
            <a:br>
              <a:rPr lang="en-US" sz="2400"/>
            </a:br>
            <a:r>
              <a:rPr lang="en-US" sz="2400"/>
              <a:t>It is more accurate and stable than a single decision tree.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3"/>
          <p:cNvSpPr txBox="1">
            <a:spLocks noGrp="1"/>
          </p:cNvSpPr>
          <p:nvPr>
            <p:ph type="body" idx="1"/>
          </p:nvPr>
        </p:nvSpPr>
        <p:spPr>
          <a:xfrm>
            <a:off x="76200" y="228600"/>
            <a:ext cx="8763000" cy="6324600"/>
          </a:xfrm>
          <a:prstGeom prst="rect">
            <a:avLst/>
          </a:prstGeom>
          <a:noFill/>
          <a:ln>
            <a:noFill/>
          </a:ln>
        </p:spPr>
        <p:txBody>
          <a:bodyPr spcFirstLastPara="1" wrap="square" lIns="91425" tIns="45700" rIns="91425" bIns="45700" anchor="t" anchorCtr="0">
            <a:noAutofit/>
          </a:bodyPr>
          <a:lstStyle/>
          <a:p>
            <a:pPr marL="342900" lvl="0" indent="-346075" algn="l" rtl="0">
              <a:spcBef>
                <a:spcPts val="0"/>
              </a:spcBef>
              <a:spcAft>
                <a:spcPts val="0"/>
              </a:spcAft>
              <a:buClr>
                <a:schemeClr val="dk1"/>
              </a:buClr>
              <a:buSzPts val="2050"/>
              <a:buChar char="•"/>
            </a:pPr>
            <a:r>
              <a:rPr lang="en-US" sz="2050" b="1" u="sng"/>
              <a:t>Support Vector Machine (SVM):</a:t>
            </a:r>
            <a:r>
              <a:rPr lang="en-US" sz="2050"/>
              <a:t>- to draw a boundary (line or plane) between different classes.</a:t>
            </a:r>
            <a:br>
              <a:rPr lang="en-US" sz="2050"/>
            </a:br>
            <a:r>
              <a:rPr lang="en-US" sz="2050"/>
              <a:t>It separates data in the best possible way so that the gap between classes is maximum.</a:t>
            </a:r>
            <a:br>
              <a:rPr lang="en-US" sz="2050"/>
            </a:br>
            <a:r>
              <a:rPr lang="en-US" sz="2050"/>
              <a:t>The points that help create this boundary are called support vectors.</a:t>
            </a:r>
            <a:endParaRPr sz="2050"/>
          </a:p>
          <a:p>
            <a:pPr marL="342900" lvl="0" indent="-346075" algn="l" rtl="0">
              <a:spcBef>
                <a:spcPts val="400"/>
              </a:spcBef>
              <a:spcAft>
                <a:spcPts val="0"/>
              </a:spcAft>
              <a:buClr>
                <a:schemeClr val="dk1"/>
              </a:buClr>
              <a:buSzPts val="2050"/>
              <a:buChar char="•"/>
            </a:pPr>
            <a:r>
              <a:rPr lang="en-US" sz="2050" b="1" u="sng"/>
              <a:t>K-Nearest Neighbors (KNN)</a:t>
            </a:r>
            <a:br>
              <a:rPr lang="en-US" sz="2050" b="1" u="sng"/>
            </a:br>
            <a:r>
              <a:rPr lang="en-US" sz="2050"/>
              <a:t>KNN looks at the “k” closest data points to make a prediction.</a:t>
            </a:r>
            <a:br>
              <a:rPr lang="en-US" sz="2050"/>
            </a:br>
            <a:r>
              <a:rPr lang="en-US" sz="2050"/>
              <a:t>For classification, it checks which class is most common among the neighbors.</a:t>
            </a:r>
            <a:br>
              <a:rPr lang="en-US" sz="2050"/>
            </a:br>
            <a:r>
              <a:rPr lang="en-US" sz="2050"/>
              <a:t>For regression, it takes the average value.</a:t>
            </a:r>
            <a:br>
              <a:rPr lang="en-US" sz="2050"/>
            </a:br>
            <a:r>
              <a:rPr lang="en-US" sz="2050"/>
              <a:t>Example: If most nearby points are “Blue,” the new point is predicted as “Blue.”</a:t>
            </a:r>
            <a:endParaRPr sz="2050"/>
          </a:p>
          <a:p>
            <a:pPr marL="342900" lvl="0" indent="-346075" algn="l" rtl="0">
              <a:spcBef>
                <a:spcPts val="400"/>
              </a:spcBef>
              <a:spcAft>
                <a:spcPts val="0"/>
              </a:spcAft>
              <a:buClr>
                <a:schemeClr val="dk1"/>
              </a:buClr>
              <a:buSzPts val="2050"/>
              <a:buChar char="•"/>
            </a:pPr>
            <a:r>
              <a:rPr lang="en-US" sz="2050" b="1" u="sng"/>
              <a:t>Gradient Boosting</a:t>
            </a:r>
            <a:r>
              <a:rPr lang="en-US" sz="2050"/>
              <a:t>:- builds models step by step.</a:t>
            </a:r>
            <a:br>
              <a:rPr lang="en-US" sz="2050"/>
            </a:br>
            <a:r>
              <a:rPr lang="en-US" sz="2050"/>
              <a:t>Each new model tries to fix the mistakes made by the previous model.</a:t>
            </a:r>
            <a:br>
              <a:rPr lang="en-US" sz="2050"/>
            </a:br>
            <a:r>
              <a:rPr lang="en-US" sz="2050"/>
              <a:t>By combining many small models, it creates a strong and accurate final model.</a:t>
            </a:r>
            <a:endParaRPr sz="2050"/>
          </a:p>
          <a:p>
            <a:pPr marL="342900" lvl="0" indent="-346075" algn="l" rtl="0">
              <a:spcBef>
                <a:spcPts val="400"/>
              </a:spcBef>
              <a:spcAft>
                <a:spcPts val="0"/>
              </a:spcAft>
              <a:buClr>
                <a:schemeClr val="dk1"/>
              </a:buClr>
              <a:buSzPts val="2050"/>
              <a:buChar char="•"/>
            </a:pPr>
            <a:r>
              <a:rPr lang="en-US" sz="2050" b="1" u="sng"/>
              <a:t>Naive Bayes Algorithm</a:t>
            </a:r>
            <a:r>
              <a:rPr lang="en-US" sz="2050"/>
              <a:t>:- based on probability.</a:t>
            </a:r>
            <a:br>
              <a:rPr lang="en-US" sz="2050"/>
            </a:br>
            <a:r>
              <a:rPr lang="en-US" sz="2050"/>
              <a:t>It uses Bayes’ Theorem and assumes that features are independent of each other. It works very well for text classification.</a:t>
            </a:r>
            <a:br>
              <a:rPr lang="en-US" sz="2050"/>
            </a:br>
            <a:r>
              <a:rPr lang="en-US" sz="2050"/>
              <a:t>Example: Spam email detection.</a:t>
            </a:r>
            <a:endParaRPr sz="2050"/>
          </a:p>
          <a:p>
            <a:pPr marL="342900" lvl="0" indent="-215900" algn="l" rtl="0">
              <a:spcBef>
                <a:spcPts val="400"/>
              </a:spcBef>
              <a:spcAft>
                <a:spcPts val="0"/>
              </a:spcAft>
              <a:buClr>
                <a:schemeClr val="dk1"/>
              </a:buClr>
              <a:buSzPts val="2000"/>
              <a:buNone/>
            </a:pPr>
            <a:endParaRPr sz="2050"/>
          </a:p>
          <a:p>
            <a:pPr marL="0" lvl="0" indent="0" algn="l" rtl="0">
              <a:spcBef>
                <a:spcPts val="400"/>
              </a:spcBef>
              <a:spcAft>
                <a:spcPts val="0"/>
              </a:spcAft>
              <a:buClr>
                <a:schemeClr val="dk1"/>
              </a:buClr>
              <a:buSzPts val="2000"/>
              <a:buNone/>
            </a:pPr>
            <a:endParaRPr sz="20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14"/>
          <p:cNvPicPr preferRelativeResize="0"/>
          <p:nvPr/>
        </p:nvPicPr>
        <p:blipFill rotWithShape="1">
          <a:blip r:embed="rId3">
            <a:alphaModFix/>
          </a:blip>
          <a:srcRect/>
          <a:stretch/>
        </p:blipFill>
        <p:spPr>
          <a:xfrm>
            <a:off x="152400" y="609600"/>
            <a:ext cx="8686800" cy="5791200"/>
          </a:xfrm>
          <a:prstGeom prst="rect">
            <a:avLst/>
          </a:prstGeom>
          <a:noFill/>
          <a:ln w="88900" cap="sq" cmpd="thickThin">
            <a:solidFill>
              <a:srgbClr val="000000"/>
            </a:solidFill>
            <a:prstDash val="solid"/>
            <a:miter lim="800000"/>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5" descr="https://chatgpt.com/backend-api/estuary/content?id=file_00000000f0607209be3936aaa3003734&amp;ts=491961&amp;p=fs&amp;cid=1&amp;sig=0e630f59adafffff76eadfcfbc01f29bb9ccab551d92d32592e3134e17a271da&amp;v=0"/>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61" name="Google Shape;161;p15"/>
          <p:cNvPicPr preferRelativeResize="0"/>
          <p:nvPr/>
        </p:nvPicPr>
        <p:blipFill rotWithShape="1">
          <a:blip r:embed="rId3">
            <a:alphaModFix/>
          </a:blip>
          <a:srcRect/>
          <a:stretch/>
        </p:blipFill>
        <p:spPr>
          <a:xfrm>
            <a:off x="424280" y="609600"/>
            <a:ext cx="8115300" cy="5410200"/>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3137"/>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u="sng"/>
              <a:t>Advantages of Supervised Learning</a:t>
            </a:r>
            <a:endParaRPr u="sng"/>
          </a:p>
        </p:txBody>
      </p:sp>
      <p:sp>
        <p:nvSpPr>
          <p:cNvPr id="167" name="Google Shape;167;p16"/>
          <p:cNvSpPr txBox="1">
            <a:spLocks noGrp="1"/>
          </p:cNvSpPr>
          <p:nvPr>
            <p:ph type="body" idx="1"/>
          </p:nvPr>
        </p:nvSpPr>
        <p:spPr>
          <a:xfrm>
            <a:off x="152400" y="1600200"/>
            <a:ext cx="8763000" cy="452596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Clr>
                <a:schemeClr val="dk1"/>
              </a:buClr>
              <a:buSzPct val="100000"/>
              <a:buNone/>
            </a:pPr>
            <a:r>
              <a:rPr lang="en-US"/>
              <a:t>Easy to understand and implement because it learns from labeled examples.</a:t>
            </a:r>
            <a:br>
              <a:rPr lang="en-US"/>
            </a:br>
            <a:r>
              <a:rPr lang="en-US"/>
              <a:t>High accuracy when enough labeled data is available.</a:t>
            </a:r>
            <a:endParaRPr/>
          </a:p>
          <a:p>
            <a:pPr marL="0" lvl="0" indent="0" algn="l" rtl="0">
              <a:spcBef>
                <a:spcPts val="592"/>
              </a:spcBef>
              <a:spcAft>
                <a:spcPts val="0"/>
              </a:spcAft>
              <a:buClr>
                <a:schemeClr val="dk1"/>
              </a:buClr>
              <a:buSzPct val="100000"/>
              <a:buNone/>
            </a:pPr>
            <a:r>
              <a:rPr lang="en-US"/>
              <a:t/>
            </a:r>
            <a:br>
              <a:rPr lang="en-US"/>
            </a:br>
            <a:r>
              <a:rPr lang="en-US"/>
              <a:t>Works for both classification (spam detection, disease prediction) and regression (price prediction).</a:t>
            </a:r>
            <a:endParaRPr/>
          </a:p>
          <a:p>
            <a:pPr marL="0" lvl="0" indent="0" algn="l" rtl="0">
              <a:spcBef>
                <a:spcPts val="592"/>
              </a:spcBef>
              <a:spcAft>
                <a:spcPts val="0"/>
              </a:spcAft>
              <a:buClr>
                <a:schemeClr val="dk1"/>
              </a:buClr>
              <a:buSzPct val="100000"/>
              <a:buNone/>
            </a:pPr>
            <a:r>
              <a:rPr lang="en-US"/>
              <a:t/>
            </a:r>
            <a:br>
              <a:rPr lang="en-US"/>
            </a:br>
            <a:r>
              <a:rPr lang="en-US"/>
              <a:t>Can generalize well to new data if trained properly.</a:t>
            </a:r>
            <a:br>
              <a:rPr lang="en-US"/>
            </a:br>
            <a:r>
              <a:rPr lang="en-US"/>
              <a:t>Widely used in speech recognition, medical diagnosis, sentiment analysis, fraud detection, and more.</a:t>
            </a:r>
            <a:endParaRPr/>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u="sng"/>
              <a:t>Disadvantages of Supervised Learning</a:t>
            </a:r>
            <a:endParaRPr u="sng"/>
          </a:p>
        </p:txBody>
      </p:sp>
      <p:sp>
        <p:nvSpPr>
          <p:cNvPr id="173" name="Google Shape;173;p17"/>
          <p:cNvSpPr txBox="1">
            <a:spLocks noGrp="1"/>
          </p:cNvSpPr>
          <p:nvPr>
            <p:ph type="body" idx="1"/>
          </p:nvPr>
        </p:nvSpPr>
        <p:spPr>
          <a:xfrm>
            <a:off x="228600" y="1600200"/>
            <a:ext cx="8763000" cy="4525963"/>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chemeClr val="dk1"/>
              </a:buClr>
              <a:buSzPct val="100000"/>
              <a:buNone/>
            </a:pPr>
            <a:r>
              <a:rPr lang="en-US"/>
              <a:t>Needs large labeled datasets, which are costly and time-consuming to create.</a:t>
            </a:r>
            <a:endParaRPr/>
          </a:p>
          <a:p>
            <a:pPr marL="0" lvl="0" indent="0" algn="l" rtl="0">
              <a:spcBef>
                <a:spcPts val="592"/>
              </a:spcBef>
              <a:spcAft>
                <a:spcPts val="0"/>
              </a:spcAft>
              <a:buClr>
                <a:schemeClr val="dk1"/>
              </a:buClr>
              <a:buSzPct val="100000"/>
              <a:buNone/>
            </a:pPr>
            <a:r>
              <a:rPr lang="en-US"/>
              <a:t/>
            </a:r>
            <a:br>
              <a:rPr lang="en-US"/>
            </a:br>
            <a:r>
              <a:rPr lang="en-US"/>
              <a:t>Can learn bias if the training data is unbalanced.</a:t>
            </a:r>
            <a:endParaRPr/>
          </a:p>
          <a:p>
            <a:pPr marL="0" lvl="0" indent="0" algn="l" rtl="0">
              <a:spcBef>
                <a:spcPts val="592"/>
              </a:spcBef>
              <a:spcAft>
                <a:spcPts val="0"/>
              </a:spcAft>
              <a:buClr>
                <a:schemeClr val="dk1"/>
              </a:buClr>
              <a:buSzPct val="100000"/>
              <a:buNone/>
            </a:pPr>
            <a:r>
              <a:rPr lang="en-US"/>
              <a:t/>
            </a:r>
            <a:br>
              <a:rPr lang="en-US"/>
            </a:br>
            <a:r>
              <a:rPr lang="en-US"/>
              <a:t>Risk of overfitting, especially with small datasets.</a:t>
            </a:r>
            <a:br>
              <a:rPr lang="en-US"/>
            </a:br>
            <a:r>
              <a:rPr lang="en-US"/>
              <a:t>Performance drops if new data is very different from training data.</a:t>
            </a:r>
            <a:endParaRPr/>
          </a:p>
          <a:p>
            <a:pPr marL="0" lvl="0" indent="0" algn="l" rtl="0">
              <a:spcBef>
                <a:spcPts val="592"/>
              </a:spcBef>
              <a:spcAft>
                <a:spcPts val="0"/>
              </a:spcAft>
              <a:buClr>
                <a:schemeClr val="dk1"/>
              </a:buClr>
              <a:buSzPct val="100000"/>
              <a:buNone/>
            </a:pPr>
            <a:r>
              <a:rPr lang="en-US"/>
              <a:t/>
            </a:r>
            <a:br>
              <a:rPr lang="en-US"/>
            </a:br>
            <a:r>
              <a:rPr lang="en-US"/>
              <a:t>Not practical for problems with millions of possible labels.</a:t>
            </a:r>
            <a:endParaRPr/>
          </a:p>
          <a:p>
            <a:pPr marL="0" lvl="0" indent="0" algn="l" rtl="0">
              <a:spcBef>
                <a:spcPts val="592"/>
              </a:spcBef>
              <a:spcAft>
                <a:spcPts val="0"/>
              </a:spcAft>
              <a:buClr>
                <a:schemeClr val="dk1"/>
              </a:buClr>
              <a:buSzPct val="10000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Calibri"/>
              <a:buNone/>
            </a:pPr>
            <a:r>
              <a:rPr lang="en-US" sz="3600" b="1"/>
              <a:t>Linear Regression in Machine Learning?</a:t>
            </a:r>
            <a:br>
              <a:rPr lang="en-US" sz="3600" b="1"/>
            </a:br>
            <a:endParaRPr sz="3600" b="1"/>
          </a:p>
        </p:txBody>
      </p:sp>
      <p:sp>
        <p:nvSpPr>
          <p:cNvPr id="179" name="Google Shape;179;p18"/>
          <p:cNvSpPr txBox="1">
            <a:spLocks noGrp="1"/>
          </p:cNvSpPr>
          <p:nvPr>
            <p:ph type="body" idx="1"/>
          </p:nvPr>
        </p:nvSpPr>
        <p:spPr>
          <a:xfrm>
            <a:off x="228600" y="1600200"/>
            <a:ext cx="85344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Char char="•"/>
            </a:pPr>
            <a:r>
              <a:rPr lang="en-US" sz="2800"/>
              <a:t>Linear Regression is a supervised learning algorithm that is used to model the relationship between a dependent variable and an independent variable. </a:t>
            </a:r>
            <a:br>
              <a:rPr lang="en-US" sz="2800"/>
            </a:br>
            <a:endParaRPr sz="2800"/>
          </a:p>
          <a:p>
            <a:pPr marL="342900" lvl="0" indent="-342900" algn="l" rtl="0">
              <a:spcBef>
                <a:spcPts val="560"/>
              </a:spcBef>
              <a:spcAft>
                <a:spcPts val="0"/>
              </a:spcAft>
              <a:buClr>
                <a:schemeClr val="dk1"/>
              </a:buClr>
              <a:buSzPts val="2800"/>
              <a:buChar char="•"/>
            </a:pPr>
            <a:r>
              <a:rPr lang="en-US" sz="2800"/>
              <a:t>The algorithm finds the best fit straight line relationship (linear equation) between the two variables. This statistical method is then used to predict the outcome of future events and is quite useful for predictive analysis.</a:t>
            </a:r>
            <a:endParaRPr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9"/>
          <p:cNvSpPr txBox="1">
            <a:spLocks noGrp="1"/>
          </p:cNvSpPr>
          <p:nvPr>
            <p:ph type="body" idx="1"/>
          </p:nvPr>
        </p:nvSpPr>
        <p:spPr>
          <a:xfrm>
            <a:off x="228600" y="685800"/>
            <a:ext cx="8686800" cy="54403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t>Suppose you want to determine the salary of a person based on the number of years of work experience they have. What is usually seen is as the number of years of experience increases, their salary increases.  </a:t>
            </a:r>
            <a:endParaRPr/>
          </a:p>
          <a:p>
            <a:pPr marL="342900" lvl="0" indent="-342900" algn="l" rtl="0">
              <a:spcBef>
                <a:spcPts val="640"/>
              </a:spcBef>
              <a:spcAft>
                <a:spcPts val="0"/>
              </a:spcAft>
              <a:buClr>
                <a:schemeClr val="dk1"/>
              </a:buClr>
              <a:buSzPts val="3200"/>
              <a:buChar char="•"/>
            </a:pPr>
            <a:r>
              <a:rPr lang="en-US"/>
              <a:t>Here years of experience is the </a:t>
            </a:r>
            <a:r>
              <a:rPr lang="en-US" b="1"/>
              <a:t>independent variable</a:t>
            </a:r>
            <a:r>
              <a:rPr lang="en-US"/>
              <a:t>. It’s a parameter that can be controlled.</a:t>
            </a:r>
            <a:endParaRPr/>
          </a:p>
          <a:p>
            <a:pPr marL="342900" lvl="0" indent="-342900" algn="l" rtl="0">
              <a:spcBef>
                <a:spcPts val="640"/>
              </a:spcBef>
              <a:spcAft>
                <a:spcPts val="0"/>
              </a:spcAft>
              <a:buClr>
                <a:schemeClr val="dk1"/>
              </a:buClr>
              <a:buSzPts val="3200"/>
              <a:buChar char="•"/>
            </a:pPr>
            <a:r>
              <a:rPr lang="en-US"/>
              <a:t>The Salary of the person is the </a:t>
            </a:r>
            <a:r>
              <a:rPr lang="en-US" b="1"/>
              <a:t>dependent variable</a:t>
            </a:r>
            <a:r>
              <a:rPr lang="en-US"/>
              <a:t> as its value depends on the years of work experience a person has.</a:t>
            </a:r>
            <a:endParaRPr/>
          </a:p>
          <a:p>
            <a:pPr marL="0" lvl="0" indent="0" algn="l" rtl="0">
              <a:spcBef>
                <a:spcPts val="640"/>
              </a:spcBef>
              <a:spcAft>
                <a:spcPts val="0"/>
              </a:spcAft>
              <a:buClr>
                <a:schemeClr val="dk1"/>
              </a:buClr>
              <a:buSzPts val="32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200"/>
              <a:buFont typeface="Calibri"/>
              <a:buNone/>
            </a:pPr>
            <a:r>
              <a:rPr lang="en-US" sz="3200" b="1"/>
              <a:t>What makes Linear Regression so Important?</a:t>
            </a:r>
            <a:br>
              <a:rPr lang="en-US" sz="3200" b="1"/>
            </a:br>
            <a:endParaRPr sz="3200" b="1"/>
          </a:p>
        </p:txBody>
      </p:sp>
      <p:sp>
        <p:nvSpPr>
          <p:cNvPr id="190" name="Google Shape;190;p20"/>
          <p:cNvSpPr txBox="1">
            <a:spLocks noGrp="1"/>
          </p:cNvSpPr>
          <p:nvPr>
            <p:ph type="body" idx="1"/>
          </p:nvPr>
        </p:nvSpPr>
        <p:spPr>
          <a:xfrm>
            <a:off x="152400" y="1600200"/>
            <a:ext cx="87630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t>This algorithm acts as a starting point for machine learning enthusiasts, making it quite simple to understand data.</a:t>
            </a:r>
            <a:endParaRPr/>
          </a:p>
          <a:p>
            <a:pPr marL="342900" lvl="0" indent="-342900" algn="l" rtl="0">
              <a:spcBef>
                <a:spcPts val="480"/>
              </a:spcBef>
              <a:spcAft>
                <a:spcPts val="0"/>
              </a:spcAft>
              <a:buClr>
                <a:schemeClr val="dk1"/>
              </a:buClr>
              <a:buSzPts val="2400"/>
              <a:buChar char="•"/>
            </a:pPr>
            <a:r>
              <a:rPr lang="en-US" sz="2400"/>
              <a:t>It helps in predictive analysis proving useful in many industries including marketing, finance, and even healthcare.</a:t>
            </a:r>
            <a:endParaRPr/>
          </a:p>
          <a:p>
            <a:pPr marL="342900" lvl="0" indent="-342900" algn="l" rtl="0">
              <a:spcBef>
                <a:spcPts val="480"/>
              </a:spcBef>
              <a:spcAft>
                <a:spcPts val="0"/>
              </a:spcAft>
              <a:buClr>
                <a:schemeClr val="dk1"/>
              </a:buClr>
              <a:buSzPts val="2400"/>
              <a:buChar char="•"/>
            </a:pPr>
            <a:r>
              <a:rPr lang="en-US" sz="2400"/>
              <a:t>It is the base for many advanced algorithms like logistic regression or neural networks.</a:t>
            </a:r>
            <a:endParaRPr/>
          </a:p>
          <a:p>
            <a:pPr marL="342900" lvl="0" indent="-342900" algn="l" rtl="0">
              <a:spcBef>
                <a:spcPts val="480"/>
              </a:spcBef>
              <a:spcAft>
                <a:spcPts val="0"/>
              </a:spcAft>
              <a:buClr>
                <a:schemeClr val="dk1"/>
              </a:buClr>
              <a:buSzPts val="2400"/>
              <a:buChar char="•"/>
            </a:pPr>
            <a:r>
              <a:rPr lang="en-US" sz="2400"/>
              <a:t>It the most widely used statistical technique for regression tasks.</a:t>
            </a:r>
            <a:endParaRPr/>
          </a:p>
          <a:p>
            <a:pPr marL="342900" lvl="0" indent="-342900" algn="l" rtl="0">
              <a:spcBef>
                <a:spcPts val="480"/>
              </a:spcBef>
              <a:spcAft>
                <a:spcPts val="0"/>
              </a:spcAft>
              <a:buClr>
                <a:schemeClr val="dk1"/>
              </a:buClr>
              <a:buSzPts val="2400"/>
              <a:buChar char="•"/>
            </a:pPr>
            <a:r>
              <a:rPr lang="en-US" sz="2400"/>
              <a:t>The technique offers great performance in tasks for which the relationship between the variables is roughly linear.</a:t>
            </a:r>
            <a:endParaRPr/>
          </a:p>
          <a:p>
            <a:pPr marL="342900" lvl="0" indent="-190500" algn="l" rtl="0">
              <a:spcBef>
                <a:spcPts val="480"/>
              </a:spcBef>
              <a:spcAft>
                <a:spcPts val="0"/>
              </a:spcAft>
              <a:buClr>
                <a:schemeClr val="dk1"/>
              </a:buClr>
              <a:buSzPts val="2400"/>
              <a:buNone/>
            </a:pP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1"/>
          <p:cNvSpPr txBox="1">
            <a:spLocks noGrp="1"/>
          </p:cNvSpPr>
          <p:nvPr>
            <p:ph type="body" idx="1"/>
          </p:nvPr>
        </p:nvSpPr>
        <p:spPr>
          <a:xfrm>
            <a:off x="304800" y="914400"/>
            <a:ext cx="85344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t>Simple Linear Regression</a:t>
            </a:r>
            <a:endParaRPr/>
          </a:p>
          <a:p>
            <a:pPr marL="342900" lvl="0" indent="-342900" algn="l" rtl="0">
              <a:spcBef>
                <a:spcPts val="640"/>
              </a:spcBef>
              <a:spcAft>
                <a:spcPts val="0"/>
              </a:spcAft>
              <a:buClr>
                <a:schemeClr val="dk1"/>
              </a:buClr>
              <a:buSzPts val="3200"/>
              <a:buChar char="•"/>
            </a:pPr>
            <a:r>
              <a:rPr lang="en-US"/>
              <a:t>In a simple linear regression, there is one independent variable and one dependent variable. </a:t>
            </a:r>
            <a:endParaRPr/>
          </a:p>
          <a:p>
            <a:pPr marL="342900" lvl="0" indent="-342900" algn="l" rtl="0">
              <a:spcBef>
                <a:spcPts val="640"/>
              </a:spcBef>
              <a:spcAft>
                <a:spcPts val="0"/>
              </a:spcAft>
              <a:buClr>
                <a:schemeClr val="dk1"/>
              </a:buClr>
              <a:buSzPts val="3200"/>
              <a:buChar char="•"/>
            </a:pPr>
            <a:r>
              <a:rPr lang="en-US"/>
              <a:t>The model estimates the slope and intercept of the line of best fit, which represents the relationship between the variables</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2"/>
          <p:cNvSpPr txBox="1">
            <a:spLocks noGrp="1"/>
          </p:cNvSpPr>
          <p:nvPr>
            <p:ph type="body" idx="1"/>
          </p:nvPr>
        </p:nvSpPr>
        <p:spPr>
          <a:xfrm>
            <a:off x="152400" y="350837"/>
            <a:ext cx="85344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Char char="•"/>
            </a:pPr>
            <a:r>
              <a:rPr lang="en-US" sz="2400"/>
              <a:t>Linear regression is a quiet and the simplest statistical regression technique used for predictive analysis in machine learning.</a:t>
            </a:r>
            <a:endParaRPr/>
          </a:p>
          <a:p>
            <a:pPr marL="342900" lvl="0" indent="-342900" algn="l" rtl="0">
              <a:spcBef>
                <a:spcPts val="480"/>
              </a:spcBef>
              <a:spcAft>
                <a:spcPts val="0"/>
              </a:spcAft>
              <a:buClr>
                <a:schemeClr val="dk1"/>
              </a:buClr>
              <a:buSzPts val="2400"/>
              <a:buChar char="•"/>
            </a:pPr>
            <a:r>
              <a:rPr lang="en-US" sz="2400"/>
              <a:t>It shows the linear relationship between the independent(predictor) variable i.e. X-axis and the dependent (output) variable i.e. Y-axis, called linear regression. </a:t>
            </a:r>
            <a:endParaRPr sz="2400"/>
          </a:p>
          <a:p>
            <a:pPr marL="342900" lvl="0" indent="-342900" algn="l" rtl="0">
              <a:spcBef>
                <a:spcPts val="480"/>
              </a:spcBef>
              <a:spcAft>
                <a:spcPts val="0"/>
              </a:spcAft>
              <a:buClr>
                <a:schemeClr val="dk1"/>
              </a:buClr>
              <a:buSzPts val="2400"/>
              <a:buChar char="•"/>
            </a:pPr>
            <a:r>
              <a:rPr lang="en-US" sz="2400"/>
              <a:t>If there is a single input variable X (independent variable), such linear regression is </a:t>
            </a:r>
            <a:r>
              <a:rPr lang="en-US" sz="2400" b="1" i="1"/>
              <a:t>simple linear regression</a:t>
            </a:r>
            <a:r>
              <a:rPr lang="en-US" sz="2400"/>
              <a:t>.</a:t>
            </a:r>
            <a:endParaRPr sz="2400"/>
          </a:p>
        </p:txBody>
      </p:sp>
      <p:pic>
        <p:nvPicPr>
          <p:cNvPr id="201" name="Google Shape;201;p22"/>
          <p:cNvPicPr preferRelativeResize="0"/>
          <p:nvPr/>
        </p:nvPicPr>
        <p:blipFill rotWithShape="1">
          <a:blip r:embed="rId3">
            <a:alphaModFix/>
          </a:blip>
          <a:srcRect/>
          <a:stretch/>
        </p:blipFill>
        <p:spPr>
          <a:xfrm>
            <a:off x="2362200" y="3630474"/>
            <a:ext cx="3352800" cy="2547088"/>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3137"/>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3"/>
          <p:cNvSpPr txBox="1">
            <a:spLocks noGrp="1"/>
          </p:cNvSpPr>
          <p:nvPr>
            <p:ph type="title"/>
          </p:nvPr>
        </p:nvSpPr>
        <p:spPr>
          <a:xfrm>
            <a:off x="5029200" y="381000"/>
            <a:ext cx="4038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Example</a:t>
            </a:r>
            <a:endParaRPr/>
          </a:p>
        </p:txBody>
      </p:sp>
      <p:sp>
        <p:nvSpPr>
          <p:cNvPr id="207" name="Google Shape;207;p23"/>
          <p:cNvSpPr/>
          <p:nvPr/>
        </p:nvSpPr>
        <p:spPr>
          <a:xfrm>
            <a:off x="389021" y="152400"/>
            <a:ext cx="8001000" cy="65248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SIMPLE LINEAR REGRESSION WITH TKINTER GUI</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import pandas as </a:t>
            </a:r>
            <a:r>
              <a:rPr lang="en-US" sz="1100" dirty="0" err="1">
                <a:solidFill>
                  <a:schemeClr val="dk1"/>
                </a:solidFill>
                <a:latin typeface="Calibri"/>
                <a:ea typeface="Calibri"/>
                <a:cs typeface="Calibri"/>
                <a:sym typeface="Calibri"/>
              </a:rPr>
              <a:t>pd</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import </a:t>
            </a:r>
            <a:r>
              <a:rPr lang="en-US" sz="1100" dirty="0" err="1">
                <a:solidFill>
                  <a:schemeClr val="dk1"/>
                </a:solidFill>
                <a:latin typeface="Calibri"/>
                <a:ea typeface="Calibri"/>
                <a:cs typeface="Calibri"/>
                <a:sym typeface="Calibri"/>
              </a:rPr>
              <a:t>numpy</a:t>
            </a:r>
            <a:r>
              <a:rPr lang="en-US" sz="1100" dirty="0">
                <a:solidFill>
                  <a:schemeClr val="dk1"/>
                </a:solidFill>
                <a:latin typeface="Calibri"/>
                <a:ea typeface="Calibri"/>
                <a:cs typeface="Calibri"/>
                <a:sym typeface="Calibri"/>
              </a:rPr>
              <a:t> as </a:t>
            </a:r>
            <a:r>
              <a:rPr lang="en-US" sz="1100" dirty="0" err="1">
                <a:solidFill>
                  <a:schemeClr val="dk1"/>
                </a:solidFill>
                <a:latin typeface="Calibri"/>
                <a:ea typeface="Calibri"/>
                <a:cs typeface="Calibri"/>
                <a:sym typeface="Calibri"/>
              </a:rPr>
              <a:t>np</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from </a:t>
            </a:r>
            <a:r>
              <a:rPr lang="en-US" sz="1100" dirty="0" err="1">
                <a:solidFill>
                  <a:schemeClr val="dk1"/>
                </a:solidFill>
                <a:latin typeface="Calibri"/>
                <a:ea typeface="Calibri"/>
                <a:cs typeface="Calibri"/>
                <a:sym typeface="Calibri"/>
              </a:rPr>
              <a:t>sklearn.linear_model</a:t>
            </a:r>
            <a:r>
              <a:rPr lang="en-US" sz="1100" dirty="0">
                <a:solidFill>
                  <a:schemeClr val="dk1"/>
                </a:solidFill>
                <a:latin typeface="Calibri"/>
                <a:ea typeface="Calibri"/>
                <a:cs typeface="Calibri"/>
                <a:sym typeface="Calibri"/>
              </a:rPr>
              <a:t> import </a:t>
            </a:r>
            <a:r>
              <a:rPr lang="en-US" sz="1100" dirty="0" err="1">
                <a:solidFill>
                  <a:schemeClr val="dk1"/>
                </a:solidFill>
                <a:latin typeface="Calibri"/>
                <a:ea typeface="Calibri"/>
                <a:cs typeface="Calibri"/>
                <a:sym typeface="Calibri"/>
              </a:rPr>
              <a:t>LinearRegression</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import </a:t>
            </a:r>
            <a:r>
              <a:rPr lang="en-US" sz="1100" dirty="0" err="1">
                <a:solidFill>
                  <a:schemeClr val="dk1"/>
                </a:solidFill>
                <a:latin typeface="Calibri"/>
                <a:ea typeface="Calibri"/>
                <a:cs typeface="Calibri"/>
                <a:sym typeface="Calibri"/>
              </a:rPr>
              <a:t>tkinter</a:t>
            </a:r>
            <a:r>
              <a:rPr lang="en-US" sz="1100" dirty="0">
                <a:solidFill>
                  <a:schemeClr val="dk1"/>
                </a:solidFill>
                <a:latin typeface="Calibri"/>
                <a:ea typeface="Calibri"/>
                <a:cs typeface="Calibri"/>
                <a:sym typeface="Calibri"/>
              </a:rPr>
              <a:t> as </a:t>
            </a:r>
            <a:r>
              <a:rPr lang="en-US" sz="1100" dirty="0" err="1">
                <a:solidFill>
                  <a:schemeClr val="dk1"/>
                </a:solidFill>
                <a:latin typeface="Calibri"/>
                <a:ea typeface="Calibri"/>
                <a:cs typeface="Calibri"/>
                <a:sym typeface="Calibri"/>
              </a:rPr>
              <a:t>tk</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from </a:t>
            </a:r>
            <a:r>
              <a:rPr lang="en-US" sz="1100" dirty="0" err="1">
                <a:solidFill>
                  <a:schemeClr val="dk1"/>
                </a:solidFill>
                <a:latin typeface="Calibri"/>
                <a:ea typeface="Calibri"/>
                <a:cs typeface="Calibri"/>
                <a:sym typeface="Calibri"/>
              </a:rPr>
              <a:t>tkinter</a:t>
            </a:r>
            <a:r>
              <a:rPr lang="en-US" sz="1100" dirty="0">
                <a:solidFill>
                  <a:schemeClr val="dk1"/>
                </a:solidFill>
                <a:latin typeface="Calibri"/>
                <a:ea typeface="Calibri"/>
                <a:cs typeface="Calibri"/>
                <a:sym typeface="Calibri"/>
              </a:rPr>
              <a:t> import </a:t>
            </a:r>
            <a:r>
              <a:rPr lang="en-US" sz="1100" dirty="0" err="1">
                <a:solidFill>
                  <a:schemeClr val="dk1"/>
                </a:solidFill>
                <a:latin typeface="Calibri"/>
                <a:ea typeface="Calibri"/>
                <a:cs typeface="Calibri"/>
                <a:sym typeface="Calibri"/>
              </a:rPr>
              <a:t>messagebox</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Step 1: Create Dataset</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data = {</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Size_sqft</a:t>
            </a:r>
            <a:r>
              <a:rPr lang="en-US" sz="1100" dirty="0">
                <a:solidFill>
                  <a:schemeClr val="dk1"/>
                </a:solidFill>
                <a:latin typeface="Calibri"/>
                <a:ea typeface="Calibri"/>
                <a:cs typeface="Calibri"/>
                <a:sym typeface="Calibri"/>
              </a:rPr>
              <a:t>": [500, 800, 1000, 1200, 1500, 1800, 2000, 2200, 2500, 3000],</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"Price": [1000000, 1500000, 1800000, 2200000, 2700000,</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3200000, 3600000, 4000000, 4500000, 5500000]</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df</a:t>
            </a:r>
            <a:r>
              <a:rPr lang="en-US" sz="1100" dirty="0">
                <a:solidFill>
                  <a:schemeClr val="dk1"/>
                </a:solidFill>
                <a:latin typeface="Calibri"/>
                <a:ea typeface="Calibri"/>
                <a:cs typeface="Calibri"/>
                <a:sym typeface="Calibri"/>
              </a:rPr>
              <a:t> = </a:t>
            </a:r>
            <a:r>
              <a:rPr lang="en-US" sz="1100" dirty="0" err="1">
                <a:solidFill>
                  <a:schemeClr val="dk1"/>
                </a:solidFill>
                <a:latin typeface="Calibri"/>
                <a:ea typeface="Calibri"/>
                <a:cs typeface="Calibri"/>
                <a:sym typeface="Calibri"/>
              </a:rPr>
              <a:t>pd.DataFrame</a:t>
            </a:r>
            <a:r>
              <a:rPr lang="en-US" sz="1100" dirty="0">
                <a:solidFill>
                  <a:schemeClr val="dk1"/>
                </a:solidFill>
                <a:latin typeface="Calibri"/>
                <a:ea typeface="Calibri"/>
                <a:cs typeface="Calibri"/>
                <a:sym typeface="Calibri"/>
              </a:rPr>
              <a:t>(data)</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X = </a:t>
            </a:r>
            <a:r>
              <a:rPr lang="en-US" sz="1100" dirty="0" err="1">
                <a:solidFill>
                  <a:schemeClr val="dk1"/>
                </a:solidFill>
                <a:latin typeface="Calibri"/>
                <a:ea typeface="Calibri"/>
                <a:cs typeface="Calibri"/>
                <a:sym typeface="Calibri"/>
              </a:rPr>
              <a:t>df</a:t>
            </a:r>
            <a:r>
              <a:rPr lang="en-US" sz="1100" dirty="0">
                <a:solidFill>
                  <a:schemeClr val="dk1"/>
                </a:solidFill>
                <a:latin typeface="Calibri"/>
                <a:ea typeface="Calibri"/>
                <a:cs typeface="Calibri"/>
                <a:sym typeface="Calibri"/>
              </a:rPr>
              <a:t>[["</a:t>
            </a:r>
            <a:r>
              <a:rPr lang="en-US" sz="1100" dirty="0" err="1">
                <a:solidFill>
                  <a:schemeClr val="dk1"/>
                </a:solidFill>
                <a:latin typeface="Calibri"/>
                <a:ea typeface="Calibri"/>
                <a:cs typeface="Calibri"/>
                <a:sym typeface="Calibri"/>
              </a:rPr>
              <a:t>Size_sqft</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y = </a:t>
            </a:r>
            <a:r>
              <a:rPr lang="en-US" sz="1100" dirty="0" err="1">
                <a:solidFill>
                  <a:schemeClr val="dk1"/>
                </a:solidFill>
                <a:latin typeface="Calibri"/>
                <a:ea typeface="Calibri"/>
                <a:cs typeface="Calibri"/>
                <a:sym typeface="Calibri"/>
              </a:rPr>
              <a:t>df</a:t>
            </a:r>
            <a:r>
              <a:rPr lang="en-US" sz="1100" dirty="0">
                <a:solidFill>
                  <a:schemeClr val="dk1"/>
                </a:solidFill>
                <a:latin typeface="Calibri"/>
                <a:ea typeface="Calibri"/>
                <a:cs typeface="Calibri"/>
                <a:sym typeface="Calibri"/>
              </a:rPr>
              <a:t>["Price"]</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Step 2: Train Model</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model = </a:t>
            </a:r>
            <a:r>
              <a:rPr lang="en-US" sz="1100" dirty="0" err="1">
                <a:solidFill>
                  <a:schemeClr val="dk1"/>
                </a:solidFill>
                <a:latin typeface="Calibri"/>
                <a:ea typeface="Calibri"/>
                <a:cs typeface="Calibri"/>
                <a:sym typeface="Calibri"/>
              </a:rPr>
              <a:t>LinearRegression</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model.fit</a:t>
            </a:r>
            <a:r>
              <a:rPr lang="en-US" sz="1100" dirty="0">
                <a:solidFill>
                  <a:schemeClr val="dk1"/>
                </a:solidFill>
                <a:latin typeface="Calibri"/>
                <a:ea typeface="Calibri"/>
                <a:cs typeface="Calibri"/>
                <a:sym typeface="Calibri"/>
              </a:rPr>
              <a:t>(X, y)</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Step 3: </a:t>
            </a:r>
            <a:r>
              <a:rPr lang="en-US" sz="1100" dirty="0" err="1">
                <a:solidFill>
                  <a:schemeClr val="dk1"/>
                </a:solidFill>
                <a:latin typeface="Calibri"/>
                <a:ea typeface="Calibri"/>
                <a:cs typeface="Calibri"/>
                <a:sym typeface="Calibri"/>
              </a:rPr>
              <a:t>Tkinter</a:t>
            </a:r>
            <a:r>
              <a:rPr lang="en-US" sz="1100" dirty="0">
                <a:solidFill>
                  <a:schemeClr val="dk1"/>
                </a:solidFill>
                <a:latin typeface="Calibri"/>
                <a:ea typeface="Calibri"/>
                <a:cs typeface="Calibri"/>
                <a:sym typeface="Calibri"/>
              </a:rPr>
              <a:t> UI</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root = </a:t>
            </a:r>
            <a:r>
              <a:rPr lang="en-US" sz="1100" dirty="0" err="1">
                <a:solidFill>
                  <a:schemeClr val="dk1"/>
                </a:solidFill>
                <a:latin typeface="Calibri"/>
                <a:ea typeface="Calibri"/>
                <a:cs typeface="Calibri"/>
                <a:sym typeface="Calibri"/>
              </a:rPr>
              <a:t>tk.Tk</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root.title</a:t>
            </a:r>
            <a:r>
              <a:rPr lang="en-US" sz="1100" dirty="0">
                <a:solidFill>
                  <a:schemeClr val="dk1"/>
                </a:solidFill>
                <a:latin typeface="Calibri"/>
                <a:ea typeface="Calibri"/>
                <a:cs typeface="Calibri"/>
                <a:sym typeface="Calibri"/>
              </a:rPr>
              <a:t>("Simple House Price Predictor")</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tk.Label</a:t>
            </a:r>
            <a:r>
              <a:rPr lang="en-US" sz="1100" dirty="0">
                <a:solidFill>
                  <a:schemeClr val="dk1"/>
                </a:solidFill>
                <a:latin typeface="Calibri"/>
                <a:ea typeface="Calibri"/>
                <a:cs typeface="Calibri"/>
                <a:sym typeface="Calibri"/>
              </a:rPr>
              <a:t>(root, text="Enter House Size (</a:t>
            </a:r>
            <a:r>
              <a:rPr lang="en-US" sz="1100" dirty="0" err="1">
                <a:solidFill>
                  <a:schemeClr val="dk1"/>
                </a:solidFill>
                <a:latin typeface="Calibri"/>
                <a:ea typeface="Calibri"/>
                <a:cs typeface="Calibri"/>
                <a:sym typeface="Calibri"/>
              </a:rPr>
              <a:t>sqft</a:t>
            </a:r>
            <a:r>
              <a:rPr lang="en-US" sz="1100" dirty="0">
                <a:solidFill>
                  <a:schemeClr val="dk1"/>
                </a:solidFill>
                <a:latin typeface="Calibri"/>
                <a:ea typeface="Calibri"/>
                <a:cs typeface="Calibri"/>
                <a:sym typeface="Calibri"/>
              </a:rPr>
              <a:t>):").pack()</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size_entry</a:t>
            </a:r>
            <a:r>
              <a:rPr lang="en-US" sz="1100" dirty="0">
                <a:solidFill>
                  <a:schemeClr val="dk1"/>
                </a:solidFill>
                <a:latin typeface="Calibri"/>
                <a:ea typeface="Calibri"/>
                <a:cs typeface="Calibri"/>
                <a:sym typeface="Calibri"/>
              </a:rPr>
              <a:t> = </a:t>
            </a:r>
            <a:r>
              <a:rPr lang="en-US" sz="1100" dirty="0" err="1">
                <a:solidFill>
                  <a:schemeClr val="dk1"/>
                </a:solidFill>
                <a:latin typeface="Calibri"/>
                <a:ea typeface="Calibri"/>
                <a:cs typeface="Calibri"/>
                <a:sym typeface="Calibri"/>
              </a:rPr>
              <a:t>tk.Entry</a:t>
            </a:r>
            <a:r>
              <a:rPr lang="en-US" sz="1100" dirty="0">
                <a:solidFill>
                  <a:schemeClr val="dk1"/>
                </a:solidFill>
                <a:latin typeface="Calibri"/>
                <a:ea typeface="Calibri"/>
                <a:cs typeface="Calibri"/>
                <a:sym typeface="Calibri"/>
              </a:rPr>
              <a:t>(root)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size_entry.pack</a:t>
            </a:r>
            <a:r>
              <a:rPr lang="en-US" sz="1100" dirty="0">
                <a:solidFill>
                  <a:schemeClr val="dk1"/>
                </a:solidFill>
                <a:latin typeface="Calibri"/>
                <a:ea typeface="Calibri"/>
                <a:cs typeface="Calibri"/>
                <a:sym typeface="Calibri"/>
              </a:rPr>
              <a:t>()</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def</a:t>
            </a:r>
            <a:r>
              <a:rPr lang="en-US" sz="1100" dirty="0">
                <a:solidFill>
                  <a:schemeClr val="dk1"/>
                </a:solidFill>
                <a:latin typeface="Calibri"/>
                <a:ea typeface="Calibri"/>
                <a:cs typeface="Calibri"/>
                <a:sym typeface="Calibri"/>
              </a:rPr>
              <a:t> predict():</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try:</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size = float(</a:t>
            </a:r>
            <a:r>
              <a:rPr lang="en-US" sz="1100" dirty="0" err="1">
                <a:solidFill>
                  <a:schemeClr val="dk1"/>
                </a:solidFill>
                <a:latin typeface="Calibri"/>
                <a:ea typeface="Calibri"/>
                <a:cs typeface="Calibri"/>
                <a:sym typeface="Calibri"/>
              </a:rPr>
              <a:t>size_entry.get</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prediction = </a:t>
            </a:r>
            <a:r>
              <a:rPr lang="en-US" sz="1100" dirty="0" err="1">
                <a:solidFill>
                  <a:schemeClr val="dk1"/>
                </a:solidFill>
                <a:latin typeface="Calibri"/>
                <a:ea typeface="Calibri"/>
                <a:cs typeface="Calibri"/>
                <a:sym typeface="Calibri"/>
              </a:rPr>
              <a:t>model.predict</a:t>
            </a:r>
            <a:r>
              <a:rPr lang="en-US" sz="1100" dirty="0">
                <a:solidFill>
                  <a:schemeClr val="dk1"/>
                </a:solidFill>
                <a:latin typeface="Calibri"/>
                <a:ea typeface="Calibri"/>
                <a:cs typeface="Calibri"/>
                <a:sym typeface="Calibri"/>
              </a:rPr>
              <a:t>([[size]])</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messagebox.showinfo</a:t>
            </a:r>
            <a:r>
              <a:rPr lang="en-US" sz="1100" dirty="0">
                <a:solidFill>
                  <a:schemeClr val="dk1"/>
                </a:solidFill>
                <a:latin typeface="Calibri"/>
                <a:ea typeface="Calibri"/>
                <a:cs typeface="Calibri"/>
                <a:sym typeface="Calibri"/>
              </a:rPr>
              <a:t>("Prediction",</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f"Estimated</a:t>
            </a:r>
            <a:r>
              <a:rPr lang="en-US" sz="1100" dirty="0">
                <a:solidFill>
                  <a:schemeClr val="dk1"/>
                </a:solidFill>
                <a:latin typeface="Calibri"/>
                <a:ea typeface="Calibri"/>
                <a:cs typeface="Calibri"/>
                <a:sym typeface="Calibri"/>
              </a:rPr>
              <a:t> Price: ₹ {round(prediction[0],2)}")</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except:</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messagebox.showerror</a:t>
            </a:r>
            <a:r>
              <a:rPr lang="en-US" sz="1100" dirty="0">
                <a:solidFill>
                  <a:schemeClr val="dk1"/>
                </a:solidFill>
                <a:latin typeface="Calibri"/>
                <a:ea typeface="Calibri"/>
                <a:cs typeface="Calibri"/>
                <a:sym typeface="Calibri"/>
              </a:rPr>
              <a:t>("Error", "Please enter valid number")</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tk.Button</a:t>
            </a:r>
            <a:r>
              <a:rPr lang="en-US" sz="1100" dirty="0">
                <a:solidFill>
                  <a:schemeClr val="dk1"/>
                </a:solidFill>
                <a:latin typeface="Calibri"/>
                <a:ea typeface="Calibri"/>
                <a:cs typeface="Calibri"/>
                <a:sym typeface="Calibri"/>
              </a:rPr>
              <a:t>(root, text="Predict Price", command=predict).pack()</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root.mainloop</a:t>
            </a:r>
            <a:r>
              <a:rPr lang="en-US" sz="1100" dirty="0">
                <a:solidFill>
                  <a:schemeClr val="dk1"/>
                </a:solidFill>
                <a:latin typeface="Calibri"/>
                <a:ea typeface="Calibri"/>
                <a:cs typeface="Calibri"/>
                <a:sym typeface="Calibri"/>
              </a:rPr>
              <a:t>()</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Multiple Linear Regression (MLR)?</a:t>
            </a:r>
            <a:endParaRPr/>
          </a:p>
        </p:txBody>
      </p:sp>
      <p:sp>
        <p:nvSpPr>
          <p:cNvPr id="213" name="Google Shape;213;p24"/>
          <p:cNvSpPr txBox="1">
            <a:spLocks noGrp="1"/>
          </p:cNvSpPr>
          <p:nvPr>
            <p:ph type="body" idx="1"/>
          </p:nvPr>
        </p:nvSpPr>
        <p:spPr>
          <a:xfrm>
            <a:off x="152400" y="1371600"/>
            <a:ext cx="8839200" cy="452596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Clr>
                <a:schemeClr val="dk1"/>
              </a:buClr>
              <a:buSzPct val="100000"/>
              <a:buNone/>
            </a:pPr>
            <a:r>
              <a:rPr lang="en-US"/>
              <a:t>basically indicating that we will have many features Such as </a:t>
            </a:r>
            <a:r>
              <a:rPr lang="en-US" b="1"/>
              <a:t>f1</a:t>
            </a:r>
            <a:r>
              <a:rPr lang="en-US"/>
              <a:t>, </a:t>
            </a:r>
            <a:r>
              <a:rPr lang="en-US" b="1"/>
              <a:t>f2</a:t>
            </a:r>
            <a:r>
              <a:rPr lang="en-US"/>
              <a:t>,</a:t>
            </a:r>
            <a:r>
              <a:rPr lang="en-US" b="1"/>
              <a:t> f3</a:t>
            </a:r>
            <a:r>
              <a:rPr lang="en-US"/>
              <a:t>, </a:t>
            </a:r>
            <a:r>
              <a:rPr lang="en-US" b="1"/>
              <a:t>f4,</a:t>
            </a:r>
            <a:r>
              <a:rPr lang="en-US"/>
              <a:t> and our output feature </a:t>
            </a:r>
            <a:r>
              <a:rPr lang="en-US" b="1"/>
              <a:t>f5. </a:t>
            </a:r>
            <a:endParaRPr b="1"/>
          </a:p>
          <a:p>
            <a:pPr marL="0" lvl="0" indent="0" algn="l" rtl="0">
              <a:spcBef>
                <a:spcPts val="592"/>
              </a:spcBef>
              <a:spcAft>
                <a:spcPts val="0"/>
              </a:spcAft>
              <a:buClr>
                <a:schemeClr val="dk1"/>
              </a:buClr>
              <a:buSzPct val="100000"/>
              <a:buNone/>
            </a:pPr>
            <a:r>
              <a:rPr lang="en-US"/>
              <a:t>suppose:</a:t>
            </a:r>
            <a:endParaRPr/>
          </a:p>
          <a:p>
            <a:pPr marL="342900" lvl="0" indent="-342900" algn="l" rtl="0">
              <a:spcBef>
                <a:spcPts val="592"/>
              </a:spcBef>
              <a:spcAft>
                <a:spcPts val="0"/>
              </a:spcAft>
              <a:buClr>
                <a:schemeClr val="dk1"/>
              </a:buClr>
              <a:buSzPct val="100000"/>
              <a:buChar char="•"/>
            </a:pPr>
            <a:r>
              <a:rPr lang="en-US" b="1"/>
              <a:t>f1 </a:t>
            </a:r>
            <a:r>
              <a:rPr lang="en-US"/>
              <a:t>is the size of the house,</a:t>
            </a:r>
            <a:endParaRPr/>
          </a:p>
          <a:p>
            <a:pPr marL="342900" lvl="0" indent="-342900" algn="l" rtl="0">
              <a:spcBef>
                <a:spcPts val="592"/>
              </a:spcBef>
              <a:spcAft>
                <a:spcPts val="0"/>
              </a:spcAft>
              <a:buClr>
                <a:schemeClr val="dk1"/>
              </a:buClr>
              <a:buSzPct val="100000"/>
              <a:buChar char="•"/>
            </a:pPr>
            <a:r>
              <a:rPr lang="en-US" b="1"/>
              <a:t>f2</a:t>
            </a:r>
            <a:r>
              <a:rPr lang="en-US"/>
              <a:t> is bad rooms in the house,</a:t>
            </a:r>
            <a:endParaRPr/>
          </a:p>
          <a:p>
            <a:pPr marL="342900" lvl="0" indent="-342900" algn="l" rtl="0">
              <a:spcBef>
                <a:spcPts val="592"/>
              </a:spcBef>
              <a:spcAft>
                <a:spcPts val="0"/>
              </a:spcAft>
              <a:buClr>
                <a:schemeClr val="dk1"/>
              </a:buClr>
              <a:buSzPct val="100000"/>
              <a:buChar char="•"/>
            </a:pPr>
            <a:r>
              <a:rPr lang="en-US" b="1"/>
              <a:t>f3</a:t>
            </a:r>
            <a:r>
              <a:rPr lang="en-US"/>
              <a:t> is the locality of the house,</a:t>
            </a:r>
            <a:endParaRPr/>
          </a:p>
          <a:p>
            <a:pPr marL="342900" lvl="0" indent="-342900" algn="l" rtl="0">
              <a:spcBef>
                <a:spcPts val="592"/>
              </a:spcBef>
              <a:spcAft>
                <a:spcPts val="0"/>
              </a:spcAft>
              <a:buClr>
                <a:schemeClr val="dk1"/>
              </a:buClr>
              <a:buSzPct val="100000"/>
              <a:buChar char="•"/>
            </a:pPr>
            <a:r>
              <a:rPr lang="en-US" b="1"/>
              <a:t>f4</a:t>
            </a:r>
            <a:r>
              <a:rPr lang="en-US"/>
              <a:t> is the condition of the house, and</a:t>
            </a:r>
            <a:endParaRPr/>
          </a:p>
          <a:p>
            <a:pPr marL="342900" lvl="0" indent="-342900" algn="l" rtl="0">
              <a:spcBef>
                <a:spcPts val="592"/>
              </a:spcBef>
              <a:spcAft>
                <a:spcPts val="0"/>
              </a:spcAft>
              <a:buClr>
                <a:schemeClr val="dk1"/>
              </a:buClr>
              <a:buSzPct val="100000"/>
              <a:buChar char="•"/>
            </a:pPr>
            <a:r>
              <a:rPr lang="en-US" b="1"/>
              <a:t>f5 </a:t>
            </a:r>
            <a:r>
              <a:rPr lang="en-US"/>
              <a:t>is our output feature, which is the price of the house.</a:t>
            </a:r>
            <a:endParaRPr/>
          </a:p>
          <a:p>
            <a:pPr marL="0" lvl="0" indent="0" algn="l" rtl="0">
              <a:spcBef>
                <a:spcPts val="592"/>
              </a:spcBef>
              <a:spcAft>
                <a:spcPts val="0"/>
              </a:spcAft>
              <a:buClr>
                <a:schemeClr val="dk1"/>
              </a:buClr>
              <a:buSzPct val="1000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5"/>
          <p:cNvSpPr txBox="1">
            <a:spLocks noGrp="1"/>
          </p:cNvSpPr>
          <p:nvPr>
            <p:ph type="body" idx="1"/>
          </p:nvPr>
        </p:nvSpPr>
        <p:spPr>
          <a:xfrm>
            <a:off x="304800" y="228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800"/>
              <a:buNone/>
            </a:pPr>
            <a:r>
              <a:rPr lang="en-US" sz="2800"/>
              <a:t>“If we have one dependent feature and multiple independent features then basically call it a multiple linear regression.”</a:t>
            </a:r>
            <a:endParaRPr/>
          </a:p>
          <a:p>
            <a:pPr marL="0" lvl="0" indent="0" algn="l" rtl="0">
              <a:spcBef>
                <a:spcPts val="560"/>
              </a:spcBef>
              <a:spcAft>
                <a:spcPts val="0"/>
              </a:spcAft>
              <a:buClr>
                <a:schemeClr val="dk1"/>
              </a:buClr>
              <a:buSzPts val="2800"/>
              <a:buNone/>
            </a:pPr>
            <a:endParaRPr sz="2800"/>
          </a:p>
          <a:p>
            <a:pPr marL="0" lvl="0" indent="0" algn="l" rtl="0">
              <a:spcBef>
                <a:spcPts val="560"/>
              </a:spcBef>
              <a:spcAft>
                <a:spcPts val="0"/>
              </a:spcAft>
              <a:buClr>
                <a:schemeClr val="dk1"/>
              </a:buClr>
              <a:buSzPts val="2800"/>
              <a:buNone/>
            </a:pPr>
            <a:r>
              <a:rPr lang="en-US" sz="2800"/>
              <a:t>Multiple linear regression analyzes the relationship between independent variables and a dependent variable. </a:t>
            </a:r>
            <a:endParaRPr sz="2800"/>
          </a:p>
          <a:p>
            <a:pPr marL="0" lvl="0" indent="0" algn="l" rtl="0">
              <a:spcBef>
                <a:spcPts val="560"/>
              </a:spcBef>
              <a:spcAft>
                <a:spcPts val="0"/>
              </a:spcAft>
              <a:buClr>
                <a:schemeClr val="dk1"/>
              </a:buClr>
              <a:buSzPts val="2800"/>
              <a:buNone/>
            </a:pPr>
            <a:r>
              <a:rPr lang="en-US" sz="2800"/>
              <a:t>It’s an extension of simple linear regression, which deals with only one independent variable. </a:t>
            </a:r>
            <a:endParaRPr sz="2800"/>
          </a:p>
          <a:p>
            <a:pPr marL="0" lvl="0" indent="0" algn="l" rtl="0">
              <a:spcBef>
                <a:spcPts val="560"/>
              </a:spcBef>
              <a:spcAft>
                <a:spcPts val="0"/>
              </a:spcAft>
              <a:buClr>
                <a:schemeClr val="dk1"/>
              </a:buClr>
              <a:buSzPts val="2800"/>
              <a:buNone/>
            </a:pPr>
            <a:endParaRPr sz="2800"/>
          </a:p>
          <a:p>
            <a:pPr marL="0" lvl="0" indent="0" algn="l" rtl="0">
              <a:spcBef>
                <a:spcPts val="560"/>
              </a:spcBef>
              <a:spcAft>
                <a:spcPts val="0"/>
              </a:spcAft>
              <a:buClr>
                <a:schemeClr val="dk1"/>
              </a:buClr>
              <a:buSzPts val="2800"/>
              <a:buNone/>
            </a:pPr>
            <a:r>
              <a:rPr lang="en-US" sz="2800"/>
              <a:t>Here’s an </a:t>
            </a:r>
            <a:r>
              <a:rPr lang="en-US" sz="2800" b="1"/>
              <a:t>example</a:t>
            </a:r>
            <a:r>
              <a:rPr lang="en-US" sz="2800"/>
              <a:t> of how to use multiple linear regression in Python with the popular library, scikit-learn</a:t>
            </a:r>
            <a:endParaRPr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body" idx="1"/>
          </p:nvPr>
        </p:nvSpPr>
        <p:spPr>
          <a:xfrm>
            <a:off x="195050" y="70050"/>
            <a:ext cx="8229600" cy="4526100"/>
          </a:xfrm>
          <a:prstGeom prst="rect">
            <a:avLst/>
          </a:prstGeom>
          <a:noFill/>
          <a:ln>
            <a:noFill/>
          </a:ln>
        </p:spPr>
        <p:txBody>
          <a:bodyPr spcFirstLastPara="1" wrap="square" lIns="91425" tIns="45700" rIns="91425" bIns="45700" anchor="t" anchorCtr="0">
            <a:noAutofit/>
          </a:bodyPr>
          <a:lstStyle/>
          <a:p>
            <a:pPr marL="0" lvl="0" indent="0" algn="l" rtl="0">
              <a:spcBef>
                <a:spcPts val="180"/>
              </a:spcBef>
              <a:spcAft>
                <a:spcPts val="0"/>
              </a:spcAft>
              <a:buClr>
                <a:schemeClr val="dk1"/>
              </a:buClr>
              <a:buSzPts val="1100"/>
              <a:buFont typeface="Arial"/>
              <a:buNone/>
            </a:pPr>
            <a:r>
              <a:rPr lang="en-US" sz="900" dirty="0"/>
              <a:t># Import necessary libraries</a:t>
            </a:r>
            <a:endParaRPr sz="900" dirty="0"/>
          </a:p>
          <a:p>
            <a:pPr marL="0" lvl="0" indent="0" algn="l" rtl="0">
              <a:spcBef>
                <a:spcPts val="180"/>
              </a:spcBef>
              <a:spcAft>
                <a:spcPts val="0"/>
              </a:spcAft>
              <a:buClr>
                <a:schemeClr val="dk1"/>
              </a:buClr>
              <a:buSzPts val="1100"/>
              <a:buFont typeface="Arial"/>
              <a:buNone/>
            </a:pPr>
            <a:r>
              <a:rPr lang="en-US" sz="900" dirty="0"/>
              <a:t>import pandas as </a:t>
            </a:r>
            <a:r>
              <a:rPr lang="en-US" sz="900" dirty="0" err="1"/>
              <a:t>pd</a:t>
            </a:r>
            <a:endParaRPr sz="900" dirty="0"/>
          </a:p>
          <a:p>
            <a:pPr marL="0" lvl="0" indent="0" algn="l" rtl="0">
              <a:spcBef>
                <a:spcPts val="180"/>
              </a:spcBef>
              <a:spcAft>
                <a:spcPts val="0"/>
              </a:spcAft>
              <a:buClr>
                <a:schemeClr val="dk1"/>
              </a:buClr>
              <a:buSzPts val="1100"/>
              <a:buFont typeface="Arial"/>
              <a:buNone/>
            </a:pPr>
            <a:r>
              <a:rPr lang="en-US" sz="900" dirty="0"/>
              <a:t>from </a:t>
            </a:r>
            <a:r>
              <a:rPr lang="en-US" sz="900" dirty="0" err="1"/>
              <a:t>sklearn.model_selection</a:t>
            </a:r>
            <a:r>
              <a:rPr lang="en-US" sz="900" dirty="0"/>
              <a:t> import </a:t>
            </a:r>
            <a:r>
              <a:rPr lang="en-US" sz="900" dirty="0" err="1"/>
              <a:t>train_test_split</a:t>
            </a:r>
            <a:endParaRPr sz="900" dirty="0"/>
          </a:p>
          <a:p>
            <a:pPr marL="0" lvl="0" indent="0" algn="l" rtl="0">
              <a:spcBef>
                <a:spcPts val="180"/>
              </a:spcBef>
              <a:spcAft>
                <a:spcPts val="0"/>
              </a:spcAft>
              <a:buClr>
                <a:schemeClr val="dk1"/>
              </a:buClr>
              <a:buSzPts val="1100"/>
              <a:buFont typeface="Arial"/>
              <a:buNone/>
            </a:pPr>
            <a:r>
              <a:rPr lang="en-US" sz="900" dirty="0"/>
              <a:t>from </a:t>
            </a:r>
            <a:r>
              <a:rPr lang="en-US" sz="900" dirty="0" err="1"/>
              <a:t>sklearn.linear_model</a:t>
            </a:r>
            <a:r>
              <a:rPr lang="en-US" sz="900" dirty="0"/>
              <a:t> import </a:t>
            </a:r>
            <a:r>
              <a:rPr lang="en-US" sz="900" dirty="0" err="1"/>
              <a:t>LinearRegression</a:t>
            </a:r>
            <a:endParaRPr sz="900" dirty="0"/>
          </a:p>
          <a:p>
            <a:pPr marL="0" lvl="0" indent="0" algn="l" rtl="0">
              <a:spcBef>
                <a:spcPts val="180"/>
              </a:spcBef>
              <a:spcAft>
                <a:spcPts val="0"/>
              </a:spcAft>
              <a:buClr>
                <a:schemeClr val="dk1"/>
              </a:buClr>
              <a:buSzPts val="1100"/>
              <a:buFont typeface="Arial"/>
              <a:buNone/>
            </a:pPr>
            <a:r>
              <a:rPr lang="en-US" sz="900" dirty="0"/>
              <a:t>from </a:t>
            </a:r>
            <a:r>
              <a:rPr lang="en-US" sz="900" dirty="0" err="1"/>
              <a:t>sklearn</a:t>
            </a:r>
            <a:r>
              <a:rPr lang="en-US" sz="900" dirty="0"/>
              <a:t> import metrics</a:t>
            </a:r>
            <a:endParaRPr sz="900" dirty="0"/>
          </a:p>
          <a:p>
            <a:pPr marL="0" lvl="0" indent="0" algn="l" rtl="0">
              <a:spcBef>
                <a:spcPts val="180"/>
              </a:spcBef>
              <a:spcAft>
                <a:spcPts val="0"/>
              </a:spcAft>
              <a:buClr>
                <a:schemeClr val="dk1"/>
              </a:buClr>
              <a:buSzPts val="1100"/>
              <a:buFont typeface="Arial"/>
              <a:buNone/>
            </a:pPr>
            <a:r>
              <a:rPr lang="en-US" sz="900" dirty="0"/>
              <a:t>import </a:t>
            </a:r>
            <a:r>
              <a:rPr lang="en-US" sz="900" dirty="0" err="1"/>
              <a:t>numpy</a:t>
            </a:r>
            <a:r>
              <a:rPr lang="en-US" sz="900" dirty="0"/>
              <a:t> as </a:t>
            </a:r>
            <a:r>
              <a:rPr lang="en-US" sz="900" dirty="0" err="1"/>
              <a:t>np</a:t>
            </a:r>
            <a:r>
              <a:rPr lang="en-US" sz="900" dirty="0"/>
              <a:t>   # Added for RMSE calculation</a:t>
            </a:r>
            <a:endParaRPr sz="900" dirty="0"/>
          </a:p>
          <a:p>
            <a:pPr marL="0" lvl="0" indent="0" algn="l" rtl="0">
              <a:spcBef>
                <a:spcPts val="180"/>
              </a:spcBef>
              <a:spcAft>
                <a:spcPts val="0"/>
              </a:spcAft>
              <a:buClr>
                <a:schemeClr val="dk1"/>
              </a:buClr>
              <a:buSzPts val="1100"/>
              <a:buFont typeface="Arial"/>
              <a:buNone/>
            </a:pPr>
            <a:endParaRPr sz="900" dirty="0"/>
          </a:p>
          <a:p>
            <a:pPr marL="0" lvl="0" indent="0" algn="l" rtl="0">
              <a:spcBef>
                <a:spcPts val="180"/>
              </a:spcBef>
              <a:spcAft>
                <a:spcPts val="0"/>
              </a:spcAft>
              <a:buClr>
                <a:schemeClr val="dk1"/>
              </a:buClr>
              <a:buSzPts val="1100"/>
              <a:buFont typeface="Arial"/>
              <a:buNone/>
            </a:pPr>
            <a:r>
              <a:rPr lang="en-US" sz="900" dirty="0"/>
              <a:t># Generate a sample dataset</a:t>
            </a:r>
            <a:endParaRPr sz="900" dirty="0"/>
          </a:p>
          <a:p>
            <a:pPr marL="0" lvl="0" indent="0" algn="l" rtl="0">
              <a:spcBef>
                <a:spcPts val="180"/>
              </a:spcBef>
              <a:spcAft>
                <a:spcPts val="0"/>
              </a:spcAft>
              <a:buClr>
                <a:schemeClr val="dk1"/>
              </a:buClr>
              <a:buSzPts val="1100"/>
              <a:buFont typeface="Arial"/>
              <a:buNone/>
            </a:pPr>
            <a:r>
              <a:rPr lang="en-US" sz="900" dirty="0"/>
              <a:t>data = {'X1': [1, 2, 3, 4, 5],</a:t>
            </a:r>
            <a:endParaRPr sz="900" dirty="0"/>
          </a:p>
          <a:p>
            <a:pPr marL="0" lvl="0" indent="0" algn="l" rtl="0">
              <a:spcBef>
                <a:spcPts val="180"/>
              </a:spcBef>
              <a:spcAft>
                <a:spcPts val="0"/>
              </a:spcAft>
              <a:buClr>
                <a:schemeClr val="dk1"/>
              </a:buClr>
              <a:buSzPts val="1100"/>
              <a:buFont typeface="Arial"/>
              <a:buNone/>
            </a:pPr>
            <a:r>
              <a:rPr lang="en-US" sz="900" dirty="0"/>
              <a:t>        'X2': [2, 3, 4, 5, 6],</a:t>
            </a:r>
            <a:endParaRPr sz="900" dirty="0"/>
          </a:p>
          <a:p>
            <a:pPr marL="0" lvl="0" indent="0" algn="l" rtl="0">
              <a:spcBef>
                <a:spcPts val="180"/>
              </a:spcBef>
              <a:spcAft>
                <a:spcPts val="0"/>
              </a:spcAft>
              <a:buClr>
                <a:schemeClr val="dk1"/>
              </a:buClr>
              <a:buSzPts val="1100"/>
              <a:buFont typeface="Arial"/>
              <a:buNone/>
            </a:pPr>
            <a:r>
              <a:rPr lang="en-US" sz="900" dirty="0"/>
              <a:t>        'Y': [3, 5, 7, 9, 11]}</a:t>
            </a:r>
            <a:endParaRPr sz="900" dirty="0"/>
          </a:p>
          <a:p>
            <a:pPr marL="0" lvl="0" indent="0" algn="l" rtl="0">
              <a:spcBef>
                <a:spcPts val="180"/>
              </a:spcBef>
              <a:spcAft>
                <a:spcPts val="0"/>
              </a:spcAft>
              <a:buClr>
                <a:schemeClr val="dk1"/>
              </a:buClr>
              <a:buSzPts val="1100"/>
              <a:buFont typeface="Arial"/>
              <a:buNone/>
            </a:pPr>
            <a:r>
              <a:rPr lang="en-US" sz="900" dirty="0" err="1"/>
              <a:t>df</a:t>
            </a:r>
            <a:r>
              <a:rPr lang="en-US" sz="900" dirty="0"/>
              <a:t> = </a:t>
            </a:r>
            <a:r>
              <a:rPr lang="en-US" sz="900" dirty="0" err="1"/>
              <a:t>pd.DataFrame</a:t>
            </a:r>
            <a:r>
              <a:rPr lang="en-US" sz="900" dirty="0"/>
              <a:t>(data)</a:t>
            </a:r>
            <a:endParaRPr sz="900" dirty="0"/>
          </a:p>
          <a:p>
            <a:pPr marL="0" lvl="0" indent="0" algn="l" rtl="0">
              <a:spcBef>
                <a:spcPts val="180"/>
              </a:spcBef>
              <a:spcAft>
                <a:spcPts val="0"/>
              </a:spcAft>
              <a:buClr>
                <a:schemeClr val="dk1"/>
              </a:buClr>
              <a:buSzPts val="1100"/>
              <a:buFont typeface="Arial"/>
              <a:buNone/>
            </a:pPr>
            <a:r>
              <a:rPr lang="en-US" sz="900" dirty="0"/>
              <a:t># Independent and dependent variables</a:t>
            </a:r>
            <a:endParaRPr sz="900" dirty="0"/>
          </a:p>
          <a:p>
            <a:pPr marL="0" lvl="0" indent="0" algn="l" rtl="0">
              <a:spcBef>
                <a:spcPts val="180"/>
              </a:spcBef>
              <a:spcAft>
                <a:spcPts val="0"/>
              </a:spcAft>
              <a:buClr>
                <a:schemeClr val="dk1"/>
              </a:buClr>
              <a:buSzPts val="1100"/>
              <a:buFont typeface="Arial"/>
              <a:buNone/>
            </a:pPr>
            <a:r>
              <a:rPr lang="en-US" sz="900" dirty="0"/>
              <a:t>X = </a:t>
            </a:r>
            <a:r>
              <a:rPr lang="en-US" sz="900" dirty="0" err="1"/>
              <a:t>df</a:t>
            </a:r>
            <a:r>
              <a:rPr lang="en-US" sz="900" dirty="0"/>
              <a:t>[['X1', 'X2']]</a:t>
            </a:r>
            <a:endParaRPr sz="900" dirty="0"/>
          </a:p>
          <a:p>
            <a:pPr marL="0" lvl="0" indent="0" algn="l" rtl="0">
              <a:spcBef>
                <a:spcPts val="180"/>
              </a:spcBef>
              <a:spcAft>
                <a:spcPts val="0"/>
              </a:spcAft>
              <a:buClr>
                <a:schemeClr val="dk1"/>
              </a:buClr>
              <a:buSzPts val="1100"/>
              <a:buFont typeface="Arial"/>
              <a:buNone/>
            </a:pPr>
            <a:r>
              <a:rPr lang="en-US" sz="900" dirty="0"/>
              <a:t>Y = </a:t>
            </a:r>
            <a:r>
              <a:rPr lang="en-US" sz="900" dirty="0" err="1"/>
              <a:t>df</a:t>
            </a:r>
            <a:r>
              <a:rPr lang="en-US" sz="900" dirty="0"/>
              <a:t>['Y']</a:t>
            </a:r>
            <a:endParaRPr sz="900" dirty="0"/>
          </a:p>
          <a:p>
            <a:pPr marL="0" lvl="0" indent="0" algn="l" rtl="0">
              <a:spcBef>
                <a:spcPts val="180"/>
              </a:spcBef>
              <a:spcAft>
                <a:spcPts val="0"/>
              </a:spcAft>
              <a:buClr>
                <a:schemeClr val="dk1"/>
              </a:buClr>
              <a:buSzPts val="1100"/>
              <a:buFont typeface="Arial"/>
              <a:buNone/>
            </a:pPr>
            <a:r>
              <a:rPr lang="en-US" sz="900" dirty="0"/>
              <a:t># Train-test split</a:t>
            </a:r>
            <a:endParaRPr sz="900" dirty="0"/>
          </a:p>
          <a:p>
            <a:pPr marL="0" lvl="0" indent="0" algn="l" rtl="0">
              <a:spcBef>
                <a:spcPts val="180"/>
              </a:spcBef>
              <a:spcAft>
                <a:spcPts val="0"/>
              </a:spcAft>
              <a:buClr>
                <a:schemeClr val="dk1"/>
              </a:buClr>
              <a:buSzPts val="1100"/>
              <a:buFont typeface="Arial"/>
              <a:buNone/>
            </a:pPr>
            <a:r>
              <a:rPr lang="en-US" sz="900" dirty="0" err="1"/>
              <a:t>X_train</a:t>
            </a:r>
            <a:r>
              <a:rPr lang="en-US" sz="900" dirty="0"/>
              <a:t>, </a:t>
            </a:r>
            <a:r>
              <a:rPr lang="en-US" sz="900" dirty="0" err="1"/>
              <a:t>X_test</a:t>
            </a:r>
            <a:r>
              <a:rPr lang="en-US" sz="900" dirty="0"/>
              <a:t>, </a:t>
            </a:r>
            <a:r>
              <a:rPr lang="en-US" sz="900" dirty="0" err="1"/>
              <a:t>Y_train</a:t>
            </a:r>
            <a:r>
              <a:rPr lang="en-US" sz="900" dirty="0"/>
              <a:t>, </a:t>
            </a:r>
            <a:r>
              <a:rPr lang="en-US" sz="900" dirty="0" err="1"/>
              <a:t>Y_test</a:t>
            </a:r>
            <a:r>
              <a:rPr lang="en-US" sz="900" dirty="0"/>
              <a:t> = </a:t>
            </a:r>
            <a:r>
              <a:rPr lang="en-US" sz="900" dirty="0" err="1"/>
              <a:t>train_test_split</a:t>
            </a:r>
            <a:r>
              <a:rPr lang="en-US" sz="900" dirty="0"/>
              <a:t>(</a:t>
            </a:r>
            <a:endParaRPr sz="900" dirty="0"/>
          </a:p>
          <a:p>
            <a:pPr marL="0" lvl="0" indent="0" algn="l" rtl="0">
              <a:spcBef>
                <a:spcPts val="180"/>
              </a:spcBef>
              <a:spcAft>
                <a:spcPts val="0"/>
              </a:spcAft>
              <a:buClr>
                <a:schemeClr val="dk1"/>
              </a:buClr>
              <a:buSzPts val="1100"/>
              <a:buFont typeface="Arial"/>
              <a:buNone/>
            </a:pPr>
            <a:r>
              <a:rPr lang="en-US" sz="900" dirty="0"/>
              <a:t>    X, Y, </a:t>
            </a:r>
            <a:r>
              <a:rPr lang="en-US" sz="900" dirty="0" err="1"/>
              <a:t>test_size</a:t>
            </a:r>
            <a:r>
              <a:rPr lang="en-US" sz="900" dirty="0"/>
              <a:t>=0.2, </a:t>
            </a:r>
            <a:r>
              <a:rPr lang="en-US" sz="900" dirty="0" err="1"/>
              <a:t>random_state</a:t>
            </a:r>
            <a:r>
              <a:rPr lang="en-US" sz="900" dirty="0"/>
              <a:t>=42</a:t>
            </a:r>
            <a:endParaRPr sz="900" dirty="0"/>
          </a:p>
          <a:p>
            <a:pPr marL="0" lvl="0" indent="0" algn="l" rtl="0">
              <a:spcBef>
                <a:spcPts val="180"/>
              </a:spcBef>
              <a:spcAft>
                <a:spcPts val="0"/>
              </a:spcAft>
              <a:buClr>
                <a:schemeClr val="dk1"/>
              </a:buClr>
              <a:buSzPts val="1100"/>
              <a:buFont typeface="Arial"/>
              <a:buNone/>
            </a:pPr>
            <a:r>
              <a:rPr lang="en-US" sz="900" dirty="0"/>
              <a:t>)</a:t>
            </a:r>
            <a:endParaRPr sz="900" dirty="0"/>
          </a:p>
          <a:p>
            <a:pPr marL="0" lvl="0" indent="0" algn="l" rtl="0">
              <a:spcBef>
                <a:spcPts val="180"/>
              </a:spcBef>
              <a:spcAft>
                <a:spcPts val="0"/>
              </a:spcAft>
              <a:buClr>
                <a:schemeClr val="dk1"/>
              </a:buClr>
              <a:buSzPts val="1100"/>
              <a:buFont typeface="Arial"/>
              <a:buNone/>
            </a:pPr>
            <a:r>
              <a:rPr lang="en-US" sz="900" dirty="0"/>
              <a:t># Create model</a:t>
            </a:r>
            <a:endParaRPr sz="900" dirty="0"/>
          </a:p>
          <a:p>
            <a:pPr marL="0" lvl="0" indent="0" algn="l" rtl="0">
              <a:spcBef>
                <a:spcPts val="180"/>
              </a:spcBef>
              <a:spcAft>
                <a:spcPts val="0"/>
              </a:spcAft>
              <a:buClr>
                <a:schemeClr val="dk1"/>
              </a:buClr>
              <a:buSzPts val="1100"/>
              <a:buFont typeface="Arial"/>
              <a:buNone/>
            </a:pPr>
            <a:r>
              <a:rPr lang="en-US" sz="900" dirty="0"/>
              <a:t>model = </a:t>
            </a:r>
            <a:r>
              <a:rPr lang="en-US" sz="900" dirty="0" err="1"/>
              <a:t>LinearRegression</a:t>
            </a:r>
            <a:r>
              <a:rPr lang="en-US" sz="900" dirty="0"/>
              <a:t>()</a:t>
            </a:r>
            <a:endParaRPr sz="900" dirty="0"/>
          </a:p>
          <a:p>
            <a:pPr marL="0" lvl="0" indent="0" algn="l" rtl="0">
              <a:spcBef>
                <a:spcPts val="180"/>
              </a:spcBef>
              <a:spcAft>
                <a:spcPts val="0"/>
              </a:spcAft>
              <a:buClr>
                <a:schemeClr val="dk1"/>
              </a:buClr>
              <a:buSzPts val="1100"/>
              <a:buFont typeface="Arial"/>
              <a:buNone/>
            </a:pPr>
            <a:r>
              <a:rPr lang="en-US" sz="900" dirty="0"/>
              <a:t># Train model</a:t>
            </a:r>
            <a:endParaRPr sz="900" dirty="0"/>
          </a:p>
          <a:p>
            <a:pPr marL="0" lvl="0" indent="0" algn="l" rtl="0">
              <a:spcBef>
                <a:spcPts val="180"/>
              </a:spcBef>
              <a:spcAft>
                <a:spcPts val="0"/>
              </a:spcAft>
              <a:buClr>
                <a:schemeClr val="dk1"/>
              </a:buClr>
              <a:buSzPts val="1100"/>
              <a:buFont typeface="Arial"/>
              <a:buNone/>
            </a:pPr>
            <a:r>
              <a:rPr lang="en-US" sz="900" dirty="0" err="1"/>
              <a:t>model.fit</a:t>
            </a:r>
            <a:r>
              <a:rPr lang="en-US" sz="900" dirty="0"/>
              <a:t>(</a:t>
            </a:r>
            <a:r>
              <a:rPr lang="en-US" sz="900" dirty="0" err="1"/>
              <a:t>X_train</a:t>
            </a:r>
            <a:r>
              <a:rPr lang="en-US" sz="900" dirty="0"/>
              <a:t>, </a:t>
            </a:r>
            <a:r>
              <a:rPr lang="en-US" sz="900" dirty="0" err="1"/>
              <a:t>Y_train</a:t>
            </a:r>
            <a:r>
              <a:rPr lang="en-US" sz="900" dirty="0"/>
              <a:t>)</a:t>
            </a:r>
            <a:endParaRPr sz="900" dirty="0"/>
          </a:p>
          <a:p>
            <a:pPr marL="0" lvl="0" indent="0" algn="l" rtl="0">
              <a:spcBef>
                <a:spcPts val="180"/>
              </a:spcBef>
              <a:spcAft>
                <a:spcPts val="0"/>
              </a:spcAft>
              <a:buClr>
                <a:schemeClr val="dk1"/>
              </a:buClr>
              <a:buSzPts val="1100"/>
              <a:buFont typeface="Arial"/>
              <a:buNone/>
            </a:pPr>
            <a:r>
              <a:rPr lang="en-US" sz="900" dirty="0"/>
              <a:t># Predictions</a:t>
            </a:r>
            <a:endParaRPr sz="900" dirty="0"/>
          </a:p>
          <a:p>
            <a:pPr marL="0" lvl="0" indent="0" algn="l" rtl="0">
              <a:spcBef>
                <a:spcPts val="180"/>
              </a:spcBef>
              <a:spcAft>
                <a:spcPts val="0"/>
              </a:spcAft>
              <a:buClr>
                <a:schemeClr val="dk1"/>
              </a:buClr>
              <a:buSzPts val="1100"/>
              <a:buFont typeface="Arial"/>
              <a:buNone/>
            </a:pPr>
            <a:r>
              <a:rPr lang="en-US" sz="900" dirty="0" err="1"/>
              <a:t>Y_pred</a:t>
            </a:r>
            <a:r>
              <a:rPr lang="en-US" sz="900" dirty="0"/>
              <a:t> = </a:t>
            </a:r>
            <a:r>
              <a:rPr lang="en-US" sz="900" dirty="0" err="1"/>
              <a:t>model.predict</a:t>
            </a:r>
            <a:r>
              <a:rPr lang="en-US" sz="900" dirty="0"/>
              <a:t>(</a:t>
            </a:r>
            <a:r>
              <a:rPr lang="en-US" sz="900" dirty="0" err="1"/>
              <a:t>X_test</a:t>
            </a:r>
            <a:r>
              <a:rPr lang="en-US" sz="900" dirty="0"/>
              <a:t>)</a:t>
            </a:r>
            <a:endParaRPr sz="900" dirty="0"/>
          </a:p>
          <a:p>
            <a:pPr marL="0" lvl="0" indent="0" algn="l" rtl="0">
              <a:spcBef>
                <a:spcPts val="180"/>
              </a:spcBef>
              <a:spcAft>
                <a:spcPts val="0"/>
              </a:spcAft>
              <a:buClr>
                <a:schemeClr val="dk1"/>
              </a:buClr>
              <a:buSzPts val="1100"/>
              <a:buFont typeface="Arial"/>
              <a:buNone/>
            </a:pPr>
            <a:r>
              <a:rPr lang="en-US" sz="900" dirty="0"/>
              <a:t># Evaluation</a:t>
            </a:r>
            <a:endParaRPr sz="900" dirty="0"/>
          </a:p>
          <a:p>
            <a:pPr marL="0" lvl="0" indent="0" algn="l" rtl="0">
              <a:spcBef>
                <a:spcPts val="180"/>
              </a:spcBef>
              <a:spcAft>
                <a:spcPts val="0"/>
              </a:spcAft>
              <a:buClr>
                <a:schemeClr val="dk1"/>
              </a:buClr>
              <a:buSzPts val="1100"/>
              <a:buFont typeface="Arial"/>
              <a:buNone/>
            </a:pPr>
            <a:r>
              <a:rPr lang="en-US" sz="900" dirty="0" err="1"/>
              <a:t>mae</a:t>
            </a:r>
            <a:r>
              <a:rPr lang="en-US" sz="900" dirty="0"/>
              <a:t> = </a:t>
            </a:r>
            <a:r>
              <a:rPr lang="en-US" sz="900" dirty="0" err="1"/>
              <a:t>metrics.mean_absolute_error</a:t>
            </a:r>
            <a:r>
              <a:rPr lang="en-US" sz="900" dirty="0"/>
              <a:t>(</a:t>
            </a:r>
            <a:r>
              <a:rPr lang="en-US" sz="900" dirty="0" err="1"/>
              <a:t>Y_test</a:t>
            </a:r>
            <a:r>
              <a:rPr lang="en-US" sz="900" dirty="0"/>
              <a:t>, </a:t>
            </a:r>
            <a:r>
              <a:rPr lang="en-US" sz="900" dirty="0" err="1"/>
              <a:t>Y_pred</a:t>
            </a:r>
            <a:r>
              <a:rPr lang="en-US" sz="900" dirty="0"/>
              <a:t>)</a:t>
            </a:r>
            <a:endParaRPr sz="900" dirty="0"/>
          </a:p>
          <a:p>
            <a:pPr marL="0" lvl="0" indent="0" algn="l" rtl="0">
              <a:spcBef>
                <a:spcPts val="180"/>
              </a:spcBef>
              <a:spcAft>
                <a:spcPts val="0"/>
              </a:spcAft>
              <a:buClr>
                <a:schemeClr val="dk1"/>
              </a:buClr>
              <a:buSzPts val="1100"/>
              <a:buFont typeface="Arial"/>
              <a:buNone/>
            </a:pPr>
            <a:r>
              <a:rPr lang="en-US" sz="900" dirty="0" err="1"/>
              <a:t>mse</a:t>
            </a:r>
            <a:r>
              <a:rPr lang="en-US" sz="900" dirty="0"/>
              <a:t> = </a:t>
            </a:r>
            <a:r>
              <a:rPr lang="en-US" sz="900" dirty="0" err="1"/>
              <a:t>metrics.mean_squared_error</a:t>
            </a:r>
            <a:r>
              <a:rPr lang="en-US" sz="900" dirty="0"/>
              <a:t>(</a:t>
            </a:r>
            <a:r>
              <a:rPr lang="en-US" sz="900" dirty="0" err="1"/>
              <a:t>Y_test</a:t>
            </a:r>
            <a:r>
              <a:rPr lang="en-US" sz="900" dirty="0"/>
              <a:t>, </a:t>
            </a:r>
            <a:r>
              <a:rPr lang="en-US" sz="900" dirty="0" err="1"/>
              <a:t>Y_pred</a:t>
            </a:r>
            <a:r>
              <a:rPr lang="en-US" sz="900" dirty="0"/>
              <a:t>)</a:t>
            </a:r>
            <a:endParaRPr sz="900" dirty="0"/>
          </a:p>
          <a:p>
            <a:pPr marL="0" lvl="0" indent="0" algn="l" rtl="0">
              <a:spcBef>
                <a:spcPts val="180"/>
              </a:spcBef>
              <a:spcAft>
                <a:spcPts val="0"/>
              </a:spcAft>
              <a:buClr>
                <a:schemeClr val="dk1"/>
              </a:buClr>
              <a:buSzPts val="1100"/>
              <a:buFont typeface="Arial"/>
              <a:buNone/>
            </a:pPr>
            <a:r>
              <a:rPr lang="en-US" sz="900" dirty="0" err="1"/>
              <a:t>rmse</a:t>
            </a:r>
            <a:r>
              <a:rPr lang="en-US" sz="900" dirty="0"/>
              <a:t> = </a:t>
            </a:r>
            <a:r>
              <a:rPr lang="en-US" sz="900" dirty="0" err="1"/>
              <a:t>np.sqrt</a:t>
            </a:r>
            <a:r>
              <a:rPr lang="en-US" sz="900" dirty="0"/>
              <a:t>(</a:t>
            </a:r>
            <a:r>
              <a:rPr lang="en-US" sz="900" dirty="0" err="1"/>
              <a:t>mse</a:t>
            </a:r>
            <a:r>
              <a:rPr lang="en-US" sz="900" dirty="0"/>
              <a:t>)   # Correct way to calculate RMSE</a:t>
            </a:r>
            <a:endParaRPr sz="900" dirty="0"/>
          </a:p>
          <a:p>
            <a:pPr marL="0" lvl="0" indent="0" algn="l" rtl="0">
              <a:spcBef>
                <a:spcPts val="180"/>
              </a:spcBef>
              <a:spcAft>
                <a:spcPts val="0"/>
              </a:spcAft>
              <a:buClr>
                <a:schemeClr val="dk1"/>
              </a:buClr>
              <a:buSzPts val="1100"/>
              <a:buFont typeface="Arial"/>
              <a:buNone/>
            </a:pPr>
            <a:endParaRPr sz="900" dirty="0"/>
          </a:p>
          <a:p>
            <a:pPr marL="0" lvl="0" indent="0" algn="l" rtl="0">
              <a:spcBef>
                <a:spcPts val="180"/>
              </a:spcBef>
              <a:spcAft>
                <a:spcPts val="0"/>
              </a:spcAft>
              <a:buClr>
                <a:schemeClr val="dk1"/>
              </a:buClr>
              <a:buSzPts val="1100"/>
              <a:buFont typeface="Arial"/>
              <a:buNone/>
            </a:pPr>
            <a:r>
              <a:rPr lang="en-US" sz="900" dirty="0"/>
              <a:t>print('Mean Absolute Error:', </a:t>
            </a:r>
            <a:r>
              <a:rPr lang="en-US" sz="900" dirty="0" err="1"/>
              <a:t>mae</a:t>
            </a:r>
            <a:r>
              <a:rPr lang="en-US" sz="900" dirty="0"/>
              <a:t>)</a:t>
            </a:r>
            <a:endParaRPr sz="900" dirty="0"/>
          </a:p>
          <a:p>
            <a:pPr marL="0" lvl="0" indent="0" algn="l" rtl="0">
              <a:spcBef>
                <a:spcPts val="180"/>
              </a:spcBef>
              <a:spcAft>
                <a:spcPts val="0"/>
              </a:spcAft>
              <a:buClr>
                <a:schemeClr val="dk1"/>
              </a:buClr>
              <a:buSzPts val="1100"/>
              <a:buFont typeface="Arial"/>
              <a:buNone/>
            </a:pPr>
            <a:r>
              <a:rPr lang="en-US" sz="900" dirty="0"/>
              <a:t>print('Mean Squared Error:', </a:t>
            </a:r>
            <a:r>
              <a:rPr lang="en-US" sz="900" dirty="0" err="1"/>
              <a:t>mse</a:t>
            </a:r>
            <a:r>
              <a:rPr lang="en-US" sz="900" dirty="0"/>
              <a:t>)</a:t>
            </a:r>
            <a:endParaRPr sz="900" dirty="0"/>
          </a:p>
          <a:p>
            <a:pPr marL="0" lvl="0" indent="0" algn="l" rtl="0">
              <a:spcBef>
                <a:spcPts val="180"/>
              </a:spcBef>
              <a:spcAft>
                <a:spcPts val="0"/>
              </a:spcAft>
              <a:buClr>
                <a:schemeClr val="dk1"/>
              </a:buClr>
              <a:buSzPts val="1100"/>
              <a:buFont typeface="Arial"/>
              <a:buNone/>
            </a:pPr>
            <a:r>
              <a:rPr lang="en-US" sz="900" dirty="0"/>
              <a:t>print('Root Mean Squared Error:', </a:t>
            </a:r>
            <a:r>
              <a:rPr lang="en-US" sz="900" dirty="0" err="1"/>
              <a:t>rmse</a:t>
            </a:r>
            <a:r>
              <a:rPr lang="en-US" sz="900" dirty="0"/>
              <a:t>)</a:t>
            </a:r>
            <a:endParaRPr sz="900" dirty="0"/>
          </a:p>
          <a:p>
            <a:pPr marL="0" lvl="0" indent="0">
              <a:spcBef>
                <a:spcPts val="180"/>
              </a:spcBef>
              <a:buSzPts val="1100"/>
              <a:buNone/>
            </a:pPr>
            <a:r>
              <a:rPr lang="en-US" sz="900" b="1" dirty="0" smtClean="0"/>
              <a:t>(Intercept</a:t>
            </a:r>
            <a:r>
              <a:rPr lang="en-US" sz="900" b="1" dirty="0"/>
              <a:t>:</a:t>
            </a:r>
            <a:r>
              <a:rPr lang="en-US" sz="900" dirty="0"/>
              <a:t> The starting value of the output when the input is </a:t>
            </a:r>
            <a:r>
              <a:rPr lang="en-US" sz="900" b="1" dirty="0"/>
              <a:t>0</a:t>
            </a:r>
            <a:r>
              <a:rPr lang="en-US" sz="900" dirty="0"/>
              <a:t>. </a:t>
            </a:r>
            <a:r>
              <a:rPr lang="en-US" sz="900" b="1" dirty="0"/>
              <a:t>Coefficient:</a:t>
            </a:r>
            <a:r>
              <a:rPr lang="en-US" sz="900" dirty="0"/>
              <a:t> The value that shows </a:t>
            </a:r>
            <a:r>
              <a:rPr lang="en-US" sz="900" b="1" dirty="0"/>
              <a:t>how much the output changes</a:t>
            </a:r>
            <a:r>
              <a:rPr lang="en-US" sz="900" dirty="0"/>
              <a:t> when the input increases by </a:t>
            </a:r>
            <a:r>
              <a:rPr lang="en-US" sz="900" b="1" dirty="0"/>
              <a:t>1</a:t>
            </a:r>
            <a:r>
              <a:rPr lang="en-US" sz="900" dirty="0" smtClean="0"/>
              <a:t>.)</a:t>
            </a:r>
            <a:endParaRPr sz="900" dirty="0"/>
          </a:p>
          <a:p>
            <a:pPr marL="0" lvl="0" indent="0" algn="l" rtl="0">
              <a:spcBef>
                <a:spcPts val="180"/>
              </a:spcBef>
              <a:spcAft>
                <a:spcPts val="0"/>
              </a:spcAft>
              <a:buClr>
                <a:schemeClr val="dk1"/>
              </a:buClr>
              <a:buSzPts val="1100"/>
              <a:buFont typeface="Arial"/>
              <a:buNone/>
            </a:pPr>
            <a:r>
              <a:rPr lang="en-US" sz="900" dirty="0"/>
              <a:t># Coefficients</a:t>
            </a:r>
            <a:endParaRPr sz="900" dirty="0"/>
          </a:p>
          <a:p>
            <a:pPr marL="0" lvl="0" indent="0" algn="l" rtl="0">
              <a:spcBef>
                <a:spcPts val="180"/>
              </a:spcBef>
              <a:spcAft>
                <a:spcPts val="0"/>
              </a:spcAft>
              <a:buClr>
                <a:schemeClr val="dk1"/>
              </a:buClr>
              <a:buSzPts val="1100"/>
              <a:buFont typeface="Arial"/>
              <a:buNone/>
            </a:pPr>
            <a:r>
              <a:rPr lang="en-US" sz="900" dirty="0"/>
              <a:t>print('Coefficients:', </a:t>
            </a:r>
            <a:r>
              <a:rPr lang="en-US" sz="900" dirty="0" err="1"/>
              <a:t>model.coef</a:t>
            </a:r>
            <a:r>
              <a:rPr lang="en-US" sz="900" dirty="0"/>
              <a:t>_)</a:t>
            </a:r>
            <a:endParaRPr sz="900" dirty="0"/>
          </a:p>
          <a:p>
            <a:pPr marL="0" lvl="0" indent="0" algn="l" rtl="0">
              <a:spcBef>
                <a:spcPts val="180"/>
              </a:spcBef>
              <a:spcAft>
                <a:spcPts val="0"/>
              </a:spcAft>
              <a:buClr>
                <a:schemeClr val="dk1"/>
              </a:buClr>
              <a:buSzPts val="1100"/>
              <a:buFont typeface="Arial"/>
              <a:buNone/>
            </a:pPr>
            <a:r>
              <a:rPr lang="en-US" sz="900" dirty="0"/>
              <a:t>print('Intercept:', </a:t>
            </a:r>
            <a:r>
              <a:rPr lang="en-US" sz="900" dirty="0" err="1"/>
              <a:t>model.intercept</a:t>
            </a:r>
            <a:r>
              <a:rPr lang="en-US" sz="900" dirty="0"/>
              <a:t>_)</a:t>
            </a:r>
            <a:endParaRPr sz="900" dirty="0"/>
          </a:p>
          <a:p>
            <a:pPr marL="0" lvl="0" indent="0" algn="l" rtl="0">
              <a:spcBef>
                <a:spcPts val="180"/>
              </a:spcBef>
              <a:spcAft>
                <a:spcPts val="0"/>
              </a:spcAft>
              <a:buClr>
                <a:schemeClr val="dk1"/>
              </a:buClr>
              <a:buSzPts val="1100"/>
              <a:buFont typeface="Arial"/>
              <a:buNone/>
            </a:pPr>
            <a:endParaRPr sz="900" dirty="0"/>
          </a:p>
          <a:p>
            <a:pPr marL="0" lvl="0" indent="0" algn="l" rtl="0">
              <a:spcBef>
                <a:spcPts val="180"/>
              </a:spcBef>
              <a:spcAft>
                <a:spcPts val="0"/>
              </a:spcAft>
              <a:buClr>
                <a:schemeClr val="dk1"/>
              </a:buClr>
              <a:buSzPts val="900"/>
              <a:buNone/>
            </a:pPr>
            <a:endParaRPr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7"/>
          <p:cNvSpPr/>
          <p:nvPr/>
        </p:nvSpPr>
        <p:spPr>
          <a:xfrm>
            <a:off x="76200" y="152400"/>
            <a:ext cx="4572000" cy="5847755"/>
          </a:xfrm>
          <a:prstGeom prst="rect">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MULTIPLE LINEAR REGRESSION WITH TKINTER GUI</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import pandas as </a:t>
            </a:r>
            <a:r>
              <a:rPr lang="en-US" sz="1100" dirty="0" err="1">
                <a:solidFill>
                  <a:schemeClr val="dk1"/>
                </a:solidFill>
                <a:latin typeface="Calibri"/>
                <a:ea typeface="Calibri"/>
                <a:cs typeface="Calibri"/>
                <a:sym typeface="Calibri"/>
              </a:rPr>
              <a:t>pd</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import </a:t>
            </a:r>
            <a:r>
              <a:rPr lang="en-US" sz="1100" dirty="0" err="1">
                <a:solidFill>
                  <a:schemeClr val="dk1"/>
                </a:solidFill>
                <a:latin typeface="Calibri"/>
                <a:ea typeface="Calibri"/>
                <a:cs typeface="Calibri"/>
                <a:sym typeface="Calibri"/>
              </a:rPr>
              <a:t>numpy</a:t>
            </a:r>
            <a:r>
              <a:rPr lang="en-US" sz="1100" dirty="0">
                <a:solidFill>
                  <a:schemeClr val="dk1"/>
                </a:solidFill>
                <a:latin typeface="Calibri"/>
                <a:ea typeface="Calibri"/>
                <a:cs typeface="Calibri"/>
                <a:sym typeface="Calibri"/>
              </a:rPr>
              <a:t> as </a:t>
            </a:r>
            <a:r>
              <a:rPr lang="en-US" sz="1100" dirty="0" err="1">
                <a:solidFill>
                  <a:schemeClr val="dk1"/>
                </a:solidFill>
                <a:latin typeface="Calibri"/>
                <a:ea typeface="Calibri"/>
                <a:cs typeface="Calibri"/>
                <a:sym typeface="Calibri"/>
              </a:rPr>
              <a:t>np</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from </a:t>
            </a:r>
            <a:r>
              <a:rPr lang="en-US" sz="1100" dirty="0" err="1">
                <a:solidFill>
                  <a:schemeClr val="dk1"/>
                </a:solidFill>
                <a:latin typeface="Calibri"/>
                <a:ea typeface="Calibri"/>
                <a:cs typeface="Calibri"/>
                <a:sym typeface="Calibri"/>
              </a:rPr>
              <a:t>sklearn.linear_model</a:t>
            </a:r>
            <a:r>
              <a:rPr lang="en-US" sz="1100" dirty="0">
                <a:solidFill>
                  <a:schemeClr val="dk1"/>
                </a:solidFill>
                <a:latin typeface="Calibri"/>
                <a:ea typeface="Calibri"/>
                <a:cs typeface="Calibri"/>
                <a:sym typeface="Calibri"/>
              </a:rPr>
              <a:t> import </a:t>
            </a:r>
            <a:r>
              <a:rPr lang="en-US" sz="1100" dirty="0" err="1">
                <a:solidFill>
                  <a:schemeClr val="dk1"/>
                </a:solidFill>
                <a:latin typeface="Calibri"/>
                <a:ea typeface="Calibri"/>
                <a:cs typeface="Calibri"/>
                <a:sym typeface="Calibri"/>
              </a:rPr>
              <a:t>LinearRegression</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from </a:t>
            </a:r>
            <a:r>
              <a:rPr lang="en-US" sz="1100" dirty="0" err="1">
                <a:solidFill>
                  <a:schemeClr val="dk1"/>
                </a:solidFill>
                <a:latin typeface="Calibri"/>
                <a:ea typeface="Calibri"/>
                <a:cs typeface="Calibri"/>
                <a:sym typeface="Calibri"/>
              </a:rPr>
              <a:t>sklearn.preprocessing</a:t>
            </a:r>
            <a:r>
              <a:rPr lang="en-US" sz="1100" dirty="0">
                <a:solidFill>
                  <a:schemeClr val="dk1"/>
                </a:solidFill>
                <a:latin typeface="Calibri"/>
                <a:ea typeface="Calibri"/>
                <a:cs typeface="Calibri"/>
                <a:sym typeface="Calibri"/>
              </a:rPr>
              <a:t> import </a:t>
            </a:r>
            <a:r>
              <a:rPr lang="en-US" sz="1100" dirty="0" err="1">
                <a:solidFill>
                  <a:schemeClr val="dk1"/>
                </a:solidFill>
                <a:latin typeface="Calibri"/>
                <a:ea typeface="Calibri"/>
                <a:cs typeface="Calibri"/>
                <a:sym typeface="Calibri"/>
              </a:rPr>
              <a:t>LabelEncoder</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import </a:t>
            </a:r>
            <a:r>
              <a:rPr lang="en-US" sz="1100" dirty="0" err="1">
                <a:solidFill>
                  <a:schemeClr val="dk1"/>
                </a:solidFill>
                <a:latin typeface="Calibri"/>
                <a:ea typeface="Calibri"/>
                <a:cs typeface="Calibri"/>
                <a:sym typeface="Calibri"/>
              </a:rPr>
              <a:t>tkinter</a:t>
            </a:r>
            <a:r>
              <a:rPr lang="en-US" sz="1100" dirty="0">
                <a:solidFill>
                  <a:schemeClr val="dk1"/>
                </a:solidFill>
                <a:latin typeface="Calibri"/>
                <a:ea typeface="Calibri"/>
                <a:cs typeface="Calibri"/>
                <a:sym typeface="Calibri"/>
              </a:rPr>
              <a:t> as </a:t>
            </a:r>
            <a:r>
              <a:rPr lang="en-US" sz="1100" dirty="0" err="1">
                <a:solidFill>
                  <a:schemeClr val="dk1"/>
                </a:solidFill>
                <a:latin typeface="Calibri"/>
                <a:ea typeface="Calibri"/>
                <a:cs typeface="Calibri"/>
                <a:sym typeface="Calibri"/>
              </a:rPr>
              <a:t>tk</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from </a:t>
            </a:r>
            <a:r>
              <a:rPr lang="en-US" sz="1100" dirty="0" err="1">
                <a:solidFill>
                  <a:schemeClr val="dk1"/>
                </a:solidFill>
                <a:latin typeface="Calibri"/>
                <a:ea typeface="Calibri"/>
                <a:cs typeface="Calibri"/>
                <a:sym typeface="Calibri"/>
              </a:rPr>
              <a:t>tkinter</a:t>
            </a:r>
            <a:r>
              <a:rPr lang="en-US" sz="1100" dirty="0">
                <a:solidFill>
                  <a:schemeClr val="dk1"/>
                </a:solidFill>
                <a:latin typeface="Calibri"/>
                <a:ea typeface="Calibri"/>
                <a:cs typeface="Calibri"/>
                <a:sym typeface="Calibri"/>
              </a:rPr>
              <a:t> import </a:t>
            </a:r>
            <a:r>
              <a:rPr lang="en-US" sz="1100" dirty="0" err="1">
                <a:solidFill>
                  <a:schemeClr val="dk1"/>
                </a:solidFill>
                <a:latin typeface="Calibri"/>
                <a:ea typeface="Calibri"/>
                <a:cs typeface="Calibri"/>
                <a:sym typeface="Calibri"/>
              </a:rPr>
              <a:t>messagebox</a:t>
            </a: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Step 1: Create Dataset</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data = {</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Size_sqft</a:t>
            </a:r>
            <a:r>
              <a:rPr lang="en-US" sz="1100" dirty="0">
                <a:solidFill>
                  <a:schemeClr val="dk1"/>
                </a:solidFill>
                <a:latin typeface="Calibri"/>
                <a:ea typeface="Calibri"/>
                <a:cs typeface="Calibri"/>
                <a:sym typeface="Calibri"/>
              </a:rPr>
              <a:t>": [800, 1000, 1200, 1500, 1800, 2000, 2200, 2500, 3000, 3500],</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"Bedrooms": [2, 2, 3, 3, 3, 4, 4, 4, 5, 5],</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"Location": ["A", "A", "B", "B", "C", "C", "B", "A", "C", "B"],</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Age_of_House</a:t>
            </a:r>
            <a:r>
              <a:rPr lang="en-US" sz="1100" dirty="0">
                <a:solidFill>
                  <a:schemeClr val="dk1"/>
                </a:solidFill>
                <a:latin typeface="Calibri"/>
                <a:ea typeface="Calibri"/>
                <a:cs typeface="Calibri"/>
                <a:sym typeface="Calibri"/>
              </a:rPr>
              <a:t>": [10, 8, 5, 7, 3, 2, 4, 6, 1, 2],</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"Price": [3000000, 3500000, 4000000, 5000000, 6500000,</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7500000, 7000000, 6000000, 9000000, 8500000]</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df</a:t>
            </a:r>
            <a:r>
              <a:rPr lang="en-US" sz="1100" dirty="0">
                <a:solidFill>
                  <a:schemeClr val="dk1"/>
                </a:solidFill>
                <a:latin typeface="Calibri"/>
                <a:ea typeface="Calibri"/>
                <a:cs typeface="Calibri"/>
                <a:sym typeface="Calibri"/>
              </a:rPr>
              <a:t> = </a:t>
            </a:r>
            <a:r>
              <a:rPr lang="en-US" sz="1100" dirty="0" err="1">
                <a:solidFill>
                  <a:schemeClr val="dk1"/>
                </a:solidFill>
                <a:latin typeface="Calibri"/>
                <a:ea typeface="Calibri"/>
                <a:cs typeface="Calibri"/>
                <a:sym typeface="Calibri"/>
              </a:rPr>
              <a:t>pd.DataFrame</a:t>
            </a:r>
            <a:r>
              <a:rPr lang="en-US" sz="1100" dirty="0">
                <a:solidFill>
                  <a:schemeClr val="dk1"/>
                </a:solidFill>
                <a:latin typeface="Calibri"/>
                <a:ea typeface="Calibri"/>
                <a:cs typeface="Calibri"/>
                <a:sym typeface="Calibri"/>
              </a:rPr>
              <a:t>(data)</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Encode Location</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le = </a:t>
            </a:r>
            <a:r>
              <a:rPr lang="en-US" sz="1100" dirty="0" err="1">
                <a:solidFill>
                  <a:schemeClr val="dk1"/>
                </a:solidFill>
                <a:latin typeface="Calibri"/>
                <a:ea typeface="Calibri"/>
                <a:cs typeface="Calibri"/>
                <a:sym typeface="Calibri"/>
              </a:rPr>
              <a:t>LabelEncoder</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df</a:t>
            </a:r>
            <a:r>
              <a:rPr lang="en-US" sz="1100" dirty="0">
                <a:solidFill>
                  <a:schemeClr val="dk1"/>
                </a:solidFill>
                <a:latin typeface="Calibri"/>
                <a:ea typeface="Calibri"/>
                <a:cs typeface="Calibri"/>
                <a:sym typeface="Calibri"/>
              </a:rPr>
              <a:t>["Location"] = </a:t>
            </a:r>
            <a:r>
              <a:rPr lang="en-US" sz="1100" dirty="0" err="1">
                <a:solidFill>
                  <a:schemeClr val="dk1"/>
                </a:solidFill>
                <a:latin typeface="Calibri"/>
                <a:ea typeface="Calibri"/>
                <a:cs typeface="Calibri"/>
                <a:sym typeface="Calibri"/>
              </a:rPr>
              <a:t>le.fit_transform</a:t>
            </a:r>
            <a:r>
              <a:rPr lang="en-US" sz="1100" dirty="0">
                <a:solidFill>
                  <a:schemeClr val="dk1"/>
                </a:solidFill>
                <a:latin typeface="Calibri"/>
                <a:ea typeface="Calibri"/>
                <a:cs typeface="Calibri"/>
                <a:sym typeface="Calibri"/>
              </a:rPr>
              <a:t>(</a:t>
            </a:r>
            <a:r>
              <a:rPr lang="en-US" sz="1100" dirty="0" err="1">
                <a:solidFill>
                  <a:schemeClr val="dk1"/>
                </a:solidFill>
                <a:latin typeface="Calibri"/>
                <a:ea typeface="Calibri"/>
                <a:cs typeface="Calibri"/>
                <a:sym typeface="Calibri"/>
              </a:rPr>
              <a:t>df</a:t>
            </a:r>
            <a:r>
              <a:rPr lang="en-US" sz="1100" dirty="0">
                <a:solidFill>
                  <a:schemeClr val="dk1"/>
                </a:solidFill>
                <a:latin typeface="Calibri"/>
                <a:ea typeface="Calibri"/>
                <a:cs typeface="Calibri"/>
                <a:sym typeface="Calibri"/>
              </a:rPr>
              <a:t>["Location"])</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X = </a:t>
            </a:r>
            <a:r>
              <a:rPr lang="en-US" sz="1100" dirty="0" err="1">
                <a:solidFill>
                  <a:schemeClr val="dk1"/>
                </a:solidFill>
                <a:latin typeface="Calibri"/>
                <a:ea typeface="Calibri"/>
                <a:cs typeface="Calibri"/>
                <a:sym typeface="Calibri"/>
              </a:rPr>
              <a:t>df.drop</a:t>
            </a:r>
            <a:r>
              <a:rPr lang="en-US" sz="1100" dirty="0">
                <a:solidFill>
                  <a:schemeClr val="dk1"/>
                </a:solidFill>
                <a:latin typeface="Calibri"/>
                <a:ea typeface="Calibri"/>
                <a:cs typeface="Calibri"/>
                <a:sym typeface="Calibri"/>
              </a:rPr>
              <a:t>("Price", axis=1)</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y = </a:t>
            </a:r>
            <a:r>
              <a:rPr lang="en-US" sz="1100" dirty="0" err="1">
                <a:solidFill>
                  <a:schemeClr val="dk1"/>
                </a:solidFill>
                <a:latin typeface="Calibri"/>
                <a:ea typeface="Calibri"/>
                <a:cs typeface="Calibri"/>
                <a:sym typeface="Calibri"/>
              </a:rPr>
              <a:t>df</a:t>
            </a:r>
            <a:r>
              <a:rPr lang="en-US" sz="1100" dirty="0">
                <a:solidFill>
                  <a:schemeClr val="dk1"/>
                </a:solidFill>
                <a:latin typeface="Calibri"/>
                <a:ea typeface="Calibri"/>
                <a:cs typeface="Calibri"/>
                <a:sym typeface="Calibri"/>
              </a:rPr>
              <a:t>["Price"]</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Train Model</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model = </a:t>
            </a:r>
            <a:r>
              <a:rPr lang="en-US" sz="1100" dirty="0" err="1">
                <a:solidFill>
                  <a:schemeClr val="dk1"/>
                </a:solidFill>
                <a:latin typeface="Calibri"/>
                <a:ea typeface="Calibri"/>
                <a:cs typeface="Calibri"/>
                <a:sym typeface="Calibri"/>
              </a:rPr>
              <a:t>LinearRegression</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model.fit</a:t>
            </a:r>
            <a:r>
              <a:rPr lang="en-US" sz="1100" dirty="0">
                <a:solidFill>
                  <a:schemeClr val="dk1"/>
                </a:solidFill>
                <a:latin typeface="Calibri"/>
                <a:ea typeface="Calibri"/>
                <a:cs typeface="Calibri"/>
                <a:sym typeface="Calibri"/>
              </a:rPr>
              <a:t>(X, y)</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p:txBody>
      </p:sp>
      <p:sp>
        <p:nvSpPr>
          <p:cNvPr id="229" name="Google Shape;229;p27"/>
          <p:cNvSpPr/>
          <p:nvPr/>
        </p:nvSpPr>
        <p:spPr>
          <a:xfrm>
            <a:off x="4800600" y="143961"/>
            <a:ext cx="4191000" cy="6017032"/>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Tkinter</a:t>
            </a:r>
            <a:r>
              <a:rPr lang="en-US" sz="1100" dirty="0">
                <a:solidFill>
                  <a:schemeClr val="dk1"/>
                </a:solidFill>
                <a:latin typeface="Calibri"/>
                <a:ea typeface="Calibri"/>
                <a:cs typeface="Calibri"/>
                <a:sym typeface="Calibri"/>
              </a:rPr>
              <a:t> UI</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root = </a:t>
            </a:r>
            <a:r>
              <a:rPr lang="en-US" sz="1100" dirty="0" err="1">
                <a:solidFill>
                  <a:schemeClr val="dk1"/>
                </a:solidFill>
                <a:latin typeface="Calibri"/>
                <a:ea typeface="Calibri"/>
                <a:cs typeface="Calibri"/>
                <a:sym typeface="Calibri"/>
              </a:rPr>
              <a:t>tk.Tk</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root.title</a:t>
            </a:r>
            <a:r>
              <a:rPr lang="en-US" sz="1100" dirty="0">
                <a:solidFill>
                  <a:schemeClr val="dk1"/>
                </a:solidFill>
                <a:latin typeface="Calibri"/>
                <a:ea typeface="Calibri"/>
                <a:cs typeface="Calibri"/>
                <a:sym typeface="Calibri"/>
              </a:rPr>
              <a:t>("Advanced House Price Predictor")</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tk.Label</a:t>
            </a:r>
            <a:r>
              <a:rPr lang="en-US" sz="1100" dirty="0">
                <a:solidFill>
                  <a:schemeClr val="dk1"/>
                </a:solidFill>
                <a:latin typeface="Calibri"/>
                <a:ea typeface="Calibri"/>
                <a:cs typeface="Calibri"/>
                <a:sym typeface="Calibri"/>
              </a:rPr>
              <a:t>(root, text="Size (</a:t>
            </a:r>
            <a:r>
              <a:rPr lang="en-US" sz="1100" dirty="0" err="1">
                <a:solidFill>
                  <a:schemeClr val="dk1"/>
                </a:solidFill>
                <a:latin typeface="Calibri"/>
                <a:ea typeface="Calibri"/>
                <a:cs typeface="Calibri"/>
                <a:sym typeface="Calibri"/>
              </a:rPr>
              <a:t>sqft</a:t>
            </a:r>
            <a:r>
              <a:rPr lang="en-US" sz="1100" dirty="0">
                <a:solidFill>
                  <a:schemeClr val="dk1"/>
                </a:solidFill>
                <a:latin typeface="Calibri"/>
                <a:ea typeface="Calibri"/>
                <a:cs typeface="Calibri"/>
                <a:sym typeface="Calibri"/>
              </a:rPr>
              <a:t>):").pack()</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size_entry</a:t>
            </a:r>
            <a:r>
              <a:rPr lang="en-US" sz="1100" dirty="0">
                <a:solidFill>
                  <a:schemeClr val="dk1"/>
                </a:solidFill>
                <a:latin typeface="Calibri"/>
                <a:ea typeface="Calibri"/>
                <a:cs typeface="Calibri"/>
                <a:sym typeface="Calibri"/>
              </a:rPr>
              <a:t> = </a:t>
            </a:r>
            <a:r>
              <a:rPr lang="en-US" sz="1100" dirty="0" err="1">
                <a:solidFill>
                  <a:schemeClr val="dk1"/>
                </a:solidFill>
                <a:latin typeface="Calibri"/>
                <a:ea typeface="Calibri"/>
                <a:cs typeface="Calibri"/>
                <a:sym typeface="Calibri"/>
              </a:rPr>
              <a:t>tk.Entry</a:t>
            </a:r>
            <a:r>
              <a:rPr lang="en-US" sz="1100" dirty="0">
                <a:solidFill>
                  <a:schemeClr val="dk1"/>
                </a:solidFill>
                <a:latin typeface="Calibri"/>
                <a:ea typeface="Calibri"/>
                <a:cs typeface="Calibri"/>
                <a:sym typeface="Calibri"/>
              </a:rPr>
              <a:t>(root)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size_entry.pack</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tk.Label</a:t>
            </a:r>
            <a:r>
              <a:rPr lang="en-US" sz="1100" dirty="0">
                <a:solidFill>
                  <a:schemeClr val="dk1"/>
                </a:solidFill>
                <a:latin typeface="Calibri"/>
                <a:ea typeface="Calibri"/>
                <a:cs typeface="Calibri"/>
                <a:sym typeface="Calibri"/>
              </a:rPr>
              <a:t>(root, text="Bedrooms:").pack()</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bedroom_entry</a:t>
            </a:r>
            <a:r>
              <a:rPr lang="en-US" sz="1100" dirty="0">
                <a:solidFill>
                  <a:schemeClr val="dk1"/>
                </a:solidFill>
                <a:latin typeface="Calibri"/>
                <a:ea typeface="Calibri"/>
                <a:cs typeface="Calibri"/>
                <a:sym typeface="Calibri"/>
              </a:rPr>
              <a:t> = </a:t>
            </a:r>
            <a:r>
              <a:rPr lang="en-US" sz="1100" dirty="0" err="1">
                <a:solidFill>
                  <a:schemeClr val="dk1"/>
                </a:solidFill>
                <a:latin typeface="Calibri"/>
                <a:ea typeface="Calibri"/>
                <a:cs typeface="Calibri"/>
                <a:sym typeface="Calibri"/>
              </a:rPr>
              <a:t>tk.Entry</a:t>
            </a:r>
            <a:r>
              <a:rPr lang="en-US" sz="1100" dirty="0">
                <a:solidFill>
                  <a:schemeClr val="dk1"/>
                </a:solidFill>
                <a:latin typeface="Calibri"/>
                <a:ea typeface="Calibri"/>
                <a:cs typeface="Calibri"/>
                <a:sym typeface="Calibri"/>
              </a:rPr>
              <a:t>(root)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bedroom_entry.pack</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tk.Label</a:t>
            </a:r>
            <a:r>
              <a:rPr lang="en-US" sz="1100" dirty="0">
                <a:solidFill>
                  <a:schemeClr val="dk1"/>
                </a:solidFill>
                <a:latin typeface="Calibri"/>
                <a:ea typeface="Calibri"/>
                <a:cs typeface="Calibri"/>
                <a:sym typeface="Calibri"/>
              </a:rPr>
              <a:t>(root, text="Location (A/B/C):").pack()</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location_entry</a:t>
            </a:r>
            <a:r>
              <a:rPr lang="en-US" sz="1100" dirty="0">
                <a:solidFill>
                  <a:schemeClr val="dk1"/>
                </a:solidFill>
                <a:latin typeface="Calibri"/>
                <a:ea typeface="Calibri"/>
                <a:cs typeface="Calibri"/>
                <a:sym typeface="Calibri"/>
              </a:rPr>
              <a:t> = </a:t>
            </a:r>
            <a:r>
              <a:rPr lang="en-US" sz="1100" dirty="0" err="1">
                <a:solidFill>
                  <a:schemeClr val="dk1"/>
                </a:solidFill>
                <a:latin typeface="Calibri"/>
                <a:ea typeface="Calibri"/>
                <a:cs typeface="Calibri"/>
                <a:sym typeface="Calibri"/>
              </a:rPr>
              <a:t>tk.Entry</a:t>
            </a:r>
            <a:r>
              <a:rPr lang="en-US" sz="1100" dirty="0">
                <a:solidFill>
                  <a:schemeClr val="dk1"/>
                </a:solidFill>
                <a:latin typeface="Calibri"/>
                <a:ea typeface="Calibri"/>
                <a:cs typeface="Calibri"/>
                <a:sym typeface="Calibri"/>
              </a:rPr>
              <a:t>(root)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location_entry.pack</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tk.Label</a:t>
            </a:r>
            <a:r>
              <a:rPr lang="en-US" sz="1100" dirty="0">
                <a:solidFill>
                  <a:schemeClr val="dk1"/>
                </a:solidFill>
                <a:latin typeface="Calibri"/>
                <a:ea typeface="Calibri"/>
                <a:cs typeface="Calibri"/>
                <a:sym typeface="Calibri"/>
              </a:rPr>
              <a:t>(root, text="Age of House:").pack()</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age_entry</a:t>
            </a:r>
            <a:r>
              <a:rPr lang="en-US" sz="1100" dirty="0">
                <a:solidFill>
                  <a:schemeClr val="dk1"/>
                </a:solidFill>
                <a:latin typeface="Calibri"/>
                <a:ea typeface="Calibri"/>
                <a:cs typeface="Calibri"/>
                <a:sym typeface="Calibri"/>
              </a:rPr>
              <a:t> = </a:t>
            </a:r>
            <a:r>
              <a:rPr lang="en-US" sz="1100" dirty="0" err="1">
                <a:solidFill>
                  <a:schemeClr val="dk1"/>
                </a:solidFill>
                <a:latin typeface="Calibri"/>
                <a:ea typeface="Calibri"/>
                <a:cs typeface="Calibri"/>
                <a:sym typeface="Calibri"/>
              </a:rPr>
              <a:t>tk.Entry</a:t>
            </a:r>
            <a:r>
              <a:rPr lang="en-US" sz="1100" dirty="0">
                <a:solidFill>
                  <a:schemeClr val="dk1"/>
                </a:solidFill>
                <a:latin typeface="Calibri"/>
                <a:ea typeface="Calibri"/>
                <a:cs typeface="Calibri"/>
                <a:sym typeface="Calibri"/>
              </a:rPr>
              <a:t>(root)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age_entry.pack</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def</a:t>
            </a:r>
            <a:r>
              <a:rPr lang="en-US" sz="1100" dirty="0">
                <a:solidFill>
                  <a:schemeClr val="dk1"/>
                </a:solidFill>
                <a:latin typeface="Calibri"/>
                <a:ea typeface="Calibri"/>
                <a:cs typeface="Calibri"/>
                <a:sym typeface="Calibri"/>
              </a:rPr>
              <a:t> predict():</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try:</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size = float(</a:t>
            </a:r>
            <a:r>
              <a:rPr lang="en-US" sz="1100" dirty="0" err="1">
                <a:solidFill>
                  <a:schemeClr val="dk1"/>
                </a:solidFill>
                <a:latin typeface="Calibri"/>
                <a:ea typeface="Calibri"/>
                <a:cs typeface="Calibri"/>
                <a:sym typeface="Calibri"/>
              </a:rPr>
              <a:t>size_entry.get</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bedrooms = </a:t>
            </a:r>
            <a:r>
              <a:rPr lang="en-US" sz="1100" dirty="0" err="1">
                <a:solidFill>
                  <a:schemeClr val="dk1"/>
                </a:solidFill>
                <a:latin typeface="Calibri"/>
                <a:ea typeface="Calibri"/>
                <a:cs typeface="Calibri"/>
                <a:sym typeface="Calibri"/>
              </a:rPr>
              <a:t>int</a:t>
            </a:r>
            <a:r>
              <a:rPr lang="en-US" sz="1100" dirty="0">
                <a:solidFill>
                  <a:schemeClr val="dk1"/>
                </a:solidFill>
                <a:latin typeface="Calibri"/>
                <a:ea typeface="Calibri"/>
                <a:cs typeface="Calibri"/>
                <a:sym typeface="Calibri"/>
              </a:rPr>
              <a:t>(</a:t>
            </a:r>
            <a:r>
              <a:rPr lang="en-US" sz="1100" dirty="0" err="1">
                <a:solidFill>
                  <a:schemeClr val="dk1"/>
                </a:solidFill>
                <a:latin typeface="Calibri"/>
                <a:ea typeface="Calibri"/>
                <a:cs typeface="Calibri"/>
                <a:sym typeface="Calibri"/>
              </a:rPr>
              <a:t>bedroom_entry.get</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location = </a:t>
            </a:r>
            <a:r>
              <a:rPr lang="en-US" sz="1100" dirty="0" err="1">
                <a:solidFill>
                  <a:schemeClr val="dk1"/>
                </a:solidFill>
                <a:latin typeface="Calibri"/>
                <a:ea typeface="Calibri"/>
                <a:cs typeface="Calibri"/>
                <a:sym typeface="Calibri"/>
              </a:rPr>
              <a:t>le.transform</a:t>
            </a:r>
            <a:r>
              <a:rPr lang="en-US" sz="1100" dirty="0">
                <a:solidFill>
                  <a:schemeClr val="dk1"/>
                </a:solidFill>
                <a:latin typeface="Calibri"/>
                <a:ea typeface="Calibri"/>
                <a:cs typeface="Calibri"/>
                <a:sym typeface="Calibri"/>
              </a:rPr>
              <a:t>([</a:t>
            </a:r>
            <a:r>
              <a:rPr lang="en-US" sz="1100" dirty="0" err="1">
                <a:solidFill>
                  <a:schemeClr val="dk1"/>
                </a:solidFill>
                <a:latin typeface="Calibri"/>
                <a:ea typeface="Calibri"/>
                <a:cs typeface="Calibri"/>
                <a:sym typeface="Calibri"/>
              </a:rPr>
              <a:t>location_entry.get</a:t>
            </a:r>
            <a:r>
              <a:rPr lang="en-US" sz="1100" dirty="0">
                <a:solidFill>
                  <a:schemeClr val="dk1"/>
                </a:solidFill>
                <a:latin typeface="Calibri"/>
                <a:ea typeface="Calibri"/>
                <a:cs typeface="Calibri"/>
                <a:sym typeface="Calibri"/>
              </a:rPr>
              <a:t>()])[0]</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age = float(</a:t>
            </a:r>
            <a:r>
              <a:rPr lang="en-US" sz="1100" dirty="0" err="1">
                <a:solidFill>
                  <a:schemeClr val="dk1"/>
                </a:solidFill>
                <a:latin typeface="Calibri"/>
                <a:ea typeface="Calibri"/>
                <a:cs typeface="Calibri"/>
                <a:sym typeface="Calibri"/>
              </a:rPr>
              <a:t>age_entry.get</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input_data</a:t>
            </a:r>
            <a:r>
              <a:rPr lang="en-US" sz="1100" dirty="0">
                <a:solidFill>
                  <a:schemeClr val="dk1"/>
                </a:solidFill>
                <a:latin typeface="Calibri"/>
                <a:ea typeface="Calibri"/>
                <a:cs typeface="Calibri"/>
                <a:sym typeface="Calibri"/>
              </a:rPr>
              <a:t> = [[size, bedrooms, location, age]]</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prediction = </a:t>
            </a:r>
            <a:r>
              <a:rPr lang="en-US" sz="1100" dirty="0" err="1">
                <a:solidFill>
                  <a:schemeClr val="dk1"/>
                </a:solidFill>
                <a:latin typeface="Calibri"/>
                <a:ea typeface="Calibri"/>
                <a:cs typeface="Calibri"/>
                <a:sym typeface="Calibri"/>
              </a:rPr>
              <a:t>model.predict</a:t>
            </a:r>
            <a:r>
              <a:rPr lang="en-US" sz="1100" dirty="0">
                <a:solidFill>
                  <a:schemeClr val="dk1"/>
                </a:solidFill>
                <a:latin typeface="Calibri"/>
                <a:ea typeface="Calibri"/>
                <a:cs typeface="Calibri"/>
                <a:sym typeface="Calibri"/>
              </a:rPr>
              <a:t>(</a:t>
            </a:r>
            <a:r>
              <a:rPr lang="en-US" sz="1100" dirty="0" err="1">
                <a:solidFill>
                  <a:schemeClr val="dk1"/>
                </a:solidFill>
                <a:latin typeface="Calibri"/>
                <a:ea typeface="Calibri"/>
                <a:cs typeface="Calibri"/>
                <a:sym typeface="Calibri"/>
              </a:rPr>
              <a:t>input_data</a:t>
            </a:r>
            <a:r>
              <a:rPr lang="en-US" sz="11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messagebox.showinfo</a:t>
            </a:r>
            <a:r>
              <a:rPr lang="en-US" sz="1100" dirty="0">
                <a:solidFill>
                  <a:schemeClr val="dk1"/>
                </a:solidFill>
                <a:latin typeface="Calibri"/>
                <a:ea typeface="Calibri"/>
                <a:cs typeface="Calibri"/>
                <a:sym typeface="Calibri"/>
              </a:rPr>
              <a:t>("Prediction",</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f"Estimated</a:t>
            </a:r>
            <a:r>
              <a:rPr lang="en-US" sz="1100" dirty="0">
                <a:solidFill>
                  <a:schemeClr val="dk1"/>
                </a:solidFill>
                <a:latin typeface="Calibri"/>
                <a:ea typeface="Calibri"/>
                <a:cs typeface="Calibri"/>
                <a:sym typeface="Calibri"/>
              </a:rPr>
              <a:t> Price: ₹ {round(prediction[0],2)}")</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except:</a:t>
            </a:r>
            <a:endParaRPr dirty="0"/>
          </a:p>
          <a:p>
            <a:pPr marL="0" marR="0" lvl="0" indent="0" algn="l" rtl="0">
              <a:spcBef>
                <a:spcPts val="0"/>
              </a:spcBef>
              <a:spcAft>
                <a:spcPts val="0"/>
              </a:spcAft>
              <a:buNone/>
            </a:pP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messagebox.showerror</a:t>
            </a:r>
            <a:r>
              <a:rPr lang="en-US" sz="1100" dirty="0">
                <a:solidFill>
                  <a:schemeClr val="dk1"/>
                </a:solidFill>
                <a:latin typeface="Calibri"/>
                <a:ea typeface="Calibri"/>
                <a:cs typeface="Calibri"/>
                <a:sym typeface="Calibri"/>
              </a:rPr>
              <a:t>("Error", "Check your input values!")</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tk.Button</a:t>
            </a:r>
            <a:r>
              <a:rPr lang="en-US" sz="1100" dirty="0">
                <a:solidFill>
                  <a:schemeClr val="dk1"/>
                </a:solidFill>
                <a:latin typeface="Calibri"/>
                <a:ea typeface="Calibri"/>
                <a:cs typeface="Calibri"/>
                <a:sym typeface="Calibri"/>
              </a:rPr>
              <a:t>(root, text="Predict Price", command=predict).pack()</a:t>
            </a:r>
            <a:endParaRPr dirty="0"/>
          </a:p>
          <a:p>
            <a:pPr marL="0" marR="0" lvl="0" indent="0" algn="l" rtl="0">
              <a:spcBef>
                <a:spcPts val="0"/>
              </a:spcBef>
              <a:spcAft>
                <a:spcPts val="0"/>
              </a:spcAft>
              <a:buNone/>
            </a:pPr>
            <a:endParaRPr sz="11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100" dirty="0" err="1">
                <a:solidFill>
                  <a:schemeClr val="dk1"/>
                </a:solidFill>
                <a:latin typeface="Calibri"/>
                <a:ea typeface="Calibri"/>
                <a:cs typeface="Calibri"/>
                <a:sym typeface="Calibri"/>
              </a:rPr>
              <a:t>root.mainloop</a:t>
            </a:r>
            <a:r>
              <a:rPr lang="en-US" sz="1100" dirty="0">
                <a:solidFill>
                  <a:schemeClr val="dk1"/>
                </a:solidFill>
                <a:latin typeface="Calibri"/>
                <a:ea typeface="Calibri"/>
                <a:cs typeface="Calibri"/>
                <a:sym typeface="Calibri"/>
              </a:rPr>
              <a:t>()</a:t>
            </a:r>
            <a:endParaRPr sz="11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8"/>
          <p:cNvSpPr txBox="1"/>
          <p:nvPr/>
        </p:nvSpPr>
        <p:spPr>
          <a:xfrm>
            <a:off x="0" y="0"/>
            <a:ext cx="9294900" cy="660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US" sz="3500" b="1" dirty="0">
                <a:solidFill>
                  <a:schemeClr val="dk1"/>
                </a:solidFill>
              </a:rPr>
              <a:t>Logistic Regression </a:t>
            </a:r>
            <a:endParaRPr sz="3500" b="1" dirty="0">
              <a:solidFill>
                <a:schemeClr val="dk1"/>
              </a:solidFill>
            </a:endParaRPr>
          </a:p>
          <a:p>
            <a:pPr marL="457200" lvl="0" indent="-374650" algn="l" rtl="0">
              <a:lnSpc>
                <a:spcPct val="115000"/>
              </a:lnSpc>
              <a:spcBef>
                <a:spcPts val="1200"/>
              </a:spcBef>
              <a:spcAft>
                <a:spcPts val="0"/>
              </a:spcAft>
              <a:buClr>
                <a:schemeClr val="dk1"/>
              </a:buClr>
              <a:buSzPts val="2300"/>
              <a:buAutoNum type="arabicPeriod"/>
            </a:pPr>
            <a:r>
              <a:rPr lang="en-US" sz="2300" dirty="0">
                <a:solidFill>
                  <a:schemeClr val="dk1"/>
                </a:solidFill>
              </a:rPr>
              <a:t>Logistic Regression is a </a:t>
            </a:r>
            <a:r>
              <a:rPr lang="en-US" sz="2300" b="1" dirty="0">
                <a:solidFill>
                  <a:schemeClr val="dk1"/>
                </a:solidFill>
              </a:rPr>
              <a:t>classification algorithm</a:t>
            </a:r>
            <a:r>
              <a:rPr lang="en-US" sz="2300" dirty="0">
                <a:solidFill>
                  <a:schemeClr val="dk1"/>
                </a:solidFill>
              </a:rPr>
              <a:t> used to predict categories like Yes/No or 0/1.</a:t>
            </a:r>
            <a:br>
              <a:rPr lang="en-US" sz="2300" dirty="0">
                <a:solidFill>
                  <a:schemeClr val="dk1"/>
                </a:solidFill>
              </a:rPr>
            </a:br>
            <a:endParaRPr sz="2300" dirty="0">
              <a:solidFill>
                <a:schemeClr val="dk1"/>
              </a:solidFill>
            </a:endParaRPr>
          </a:p>
          <a:p>
            <a:pPr marL="457200" lvl="0" indent="-374650" algn="l" rtl="0">
              <a:lnSpc>
                <a:spcPct val="115000"/>
              </a:lnSpc>
              <a:spcBef>
                <a:spcPts val="0"/>
              </a:spcBef>
              <a:spcAft>
                <a:spcPts val="0"/>
              </a:spcAft>
              <a:buClr>
                <a:schemeClr val="dk1"/>
              </a:buClr>
              <a:buSzPts val="2300"/>
              <a:buAutoNum type="arabicPeriod"/>
            </a:pPr>
            <a:r>
              <a:rPr lang="en-US" sz="2300" dirty="0">
                <a:solidFill>
                  <a:schemeClr val="dk1"/>
                </a:solidFill>
              </a:rPr>
              <a:t>It calculates the </a:t>
            </a:r>
            <a:r>
              <a:rPr lang="en-US" sz="2300" b="1" dirty="0">
                <a:solidFill>
                  <a:schemeClr val="dk1"/>
                </a:solidFill>
              </a:rPr>
              <a:t>probability</a:t>
            </a:r>
            <a:r>
              <a:rPr lang="en-US" sz="2300" dirty="0">
                <a:solidFill>
                  <a:schemeClr val="dk1"/>
                </a:solidFill>
              </a:rPr>
              <a:t> that an input belongs to a particular class.</a:t>
            </a:r>
            <a:br>
              <a:rPr lang="en-US" sz="2300" dirty="0">
                <a:solidFill>
                  <a:schemeClr val="dk1"/>
                </a:solidFill>
              </a:rPr>
            </a:br>
            <a:endParaRPr sz="2300" dirty="0">
              <a:solidFill>
                <a:schemeClr val="dk1"/>
              </a:solidFill>
            </a:endParaRPr>
          </a:p>
          <a:p>
            <a:pPr marL="457200" lvl="0" indent="-374650" algn="l" rtl="0">
              <a:lnSpc>
                <a:spcPct val="115000"/>
              </a:lnSpc>
              <a:spcBef>
                <a:spcPts val="0"/>
              </a:spcBef>
              <a:spcAft>
                <a:spcPts val="0"/>
              </a:spcAft>
              <a:buClr>
                <a:schemeClr val="dk1"/>
              </a:buClr>
              <a:buSzPts val="2300"/>
              <a:buAutoNum type="arabicPeriod"/>
            </a:pPr>
            <a:r>
              <a:rPr lang="en-US" sz="2300" dirty="0">
                <a:solidFill>
                  <a:schemeClr val="dk1"/>
                </a:solidFill>
              </a:rPr>
              <a:t>It uses a </a:t>
            </a:r>
            <a:r>
              <a:rPr lang="en-US" sz="2300" b="1" dirty="0">
                <a:solidFill>
                  <a:schemeClr val="dk1"/>
                </a:solidFill>
              </a:rPr>
              <a:t>Sigmoid function</a:t>
            </a:r>
            <a:r>
              <a:rPr lang="en-US" sz="2300" dirty="0">
                <a:solidFill>
                  <a:schemeClr val="dk1"/>
                </a:solidFill>
              </a:rPr>
              <a:t> to convert values into a range between 0 and 1.</a:t>
            </a:r>
            <a:br>
              <a:rPr lang="en-US" sz="2300" dirty="0">
                <a:solidFill>
                  <a:schemeClr val="dk1"/>
                </a:solidFill>
              </a:rPr>
            </a:br>
            <a:endParaRPr sz="2300" dirty="0">
              <a:solidFill>
                <a:schemeClr val="dk1"/>
              </a:solidFill>
            </a:endParaRPr>
          </a:p>
          <a:p>
            <a:pPr marL="457200" lvl="0" indent="-374650" algn="l" rtl="0">
              <a:lnSpc>
                <a:spcPct val="115000"/>
              </a:lnSpc>
              <a:spcBef>
                <a:spcPts val="0"/>
              </a:spcBef>
              <a:spcAft>
                <a:spcPts val="0"/>
              </a:spcAft>
              <a:buClr>
                <a:schemeClr val="dk1"/>
              </a:buClr>
              <a:buSzPts val="2300"/>
              <a:buAutoNum type="arabicPeriod"/>
            </a:pPr>
            <a:r>
              <a:rPr lang="en-US" sz="2300" dirty="0">
                <a:solidFill>
                  <a:schemeClr val="dk1"/>
                </a:solidFill>
              </a:rPr>
              <a:t>If the probability is greater than 0.5, it predicts class 1; otherwise class 0.</a:t>
            </a:r>
            <a:br>
              <a:rPr lang="en-US" sz="2300" dirty="0">
                <a:solidFill>
                  <a:schemeClr val="dk1"/>
                </a:solidFill>
              </a:rPr>
            </a:br>
            <a:endParaRPr sz="2300" dirty="0">
              <a:solidFill>
                <a:schemeClr val="dk1"/>
              </a:solidFill>
            </a:endParaRPr>
          </a:p>
          <a:p>
            <a:pPr marL="457200" lvl="0" indent="-374650" algn="l" rtl="0">
              <a:lnSpc>
                <a:spcPct val="115000"/>
              </a:lnSpc>
              <a:spcBef>
                <a:spcPts val="0"/>
              </a:spcBef>
              <a:spcAft>
                <a:spcPts val="0"/>
              </a:spcAft>
              <a:buClr>
                <a:schemeClr val="dk1"/>
              </a:buClr>
              <a:buSzPts val="2300"/>
              <a:buAutoNum type="arabicPeriod"/>
            </a:pPr>
            <a:r>
              <a:rPr lang="en-US" sz="2300" dirty="0">
                <a:solidFill>
                  <a:schemeClr val="dk1"/>
                </a:solidFill>
              </a:rPr>
              <a:t>It is mainly used for problems like spam detection, disease prediction, and customer churn prediction.</a:t>
            </a:r>
            <a:endParaRPr sz="2300" dirty="0">
              <a:solidFill>
                <a:schemeClr val="dk1"/>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3c8e70b6676_0_0"/>
          <p:cNvSpPr txBox="1"/>
          <p:nvPr/>
        </p:nvSpPr>
        <p:spPr>
          <a:xfrm>
            <a:off x="0" y="0"/>
            <a:ext cx="9144000" cy="697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t># Import libraries</a:t>
            </a:r>
            <a:endParaRPr sz="2100"/>
          </a:p>
          <a:p>
            <a:pPr marL="0" lvl="0" indent="0" algn="l" rtl="0">
              <a:spcBef>
                <a:spcPts val="0"/>
              </a:spcBef>
              <a:spcAft>
                <a:spcPts val="0"/>
              </a:spcAft>
              <a:buNone/>
            </a:pPr>
            <a:r>
              <a:rPr lang="en-US" sz="2100"/>
              <a:t>import numpy as np</a:t>
            </a:r>
            <a:endParaRPr sz="2100"/>
          </a:p>
          <a:p>
            <a:pPr marL="0" lvl="0" indent="0" algn="l" rtl="0">
              <a:spcBef>
                <a:spcPts val="0"/>
              </a:spcBef>
              <a:spcAft>
                <a:spcPts val="0"/>
              </a:spcAft>
              <a:buNone/>
            </a:pPr>
            <a:r>
              <a:rPr lang="en-US" sz="2100"/>
              <a:t>from sklearn.linear_model import LogisticRegression</a:t>
            </a:r>
            <a:endParaRPr sz="2100"/>
          </a:p>
          <a:p>
            <a:pPr marL="0" lvl="0" indent="0" algn="l" rtl="0">
              <a:spcBef>
                <a:spcPts val="0"/>
              </a:spcBef>
              <a:spcAft>
                <a:spcPts val="0"/>
              </a:spcAft>
              <a:buNone/>
            </a:pPr>
            <a:endParaRPr sz="2100"/>
          </a:p>
          <a:p>
            <a:pPr marL="0" lvl="0" indent="0" algn="l" rtl="0">
              <a:spcBef>
                <a:spcPts val="0"/>
              </a:spcBef>
              <a:spcAft>
                <a:spcPts val="0"/>
              </a:spcAft>
              <a:buNone/>
            </a:pPr>
            <a:r>
              <a:rPr lang="en-US" sz="2100"/>
              <a:t># Sample data (Hours studied vs Pass/Fail)</a:t>
            </a:r>
            <a:endParaRPr sz="2100"/>
          </a:p>
          <a:p>
            <a:pPr marL="0" lvl="0" indent="0" algn="l" rtl="0">
              <a:spcBef>
                <a:spcPts val="0"/>
              </a:spcBef>
              <a:spcAft>
                <a:spcPts val="0"/>
              </a:spcAft>
              <a:buNone/>
            </a:pPr>
            <a:r>
              <a:rPr lang="en-US" sz="2100"/>
              <a:t>X = np.array([[1], [2], [3], [4], [5]])   # Hours studied</a:t>
            </a:r>
            <a:endParaRPr sz="2100"/>
          </a:p>
          <a:p>
            <a:pPr marL="0" lvl="0" indent="0" algn="l" rtl="0">
              <a:spcBef>
                <a:spcPts val="0"/>
              </a:spcBef>
              <a:spcAft>
                <a:spcPts val="0"/>
              </a:spcAft>
              <a:buNone/>
            </a:pPr>
            <a:r>
              <a:rPr lang="en-US" sz="2100"/>
              <a:t>y = np.array([0, 0, 0, 1, 1])             # 0 = Fail, 1 = Pass</a:t>
            </a:r>
            <a:endParaRPr sz="2100"/>
          </a:p>
          <a:p>
            <a:pPr marL="0" lvl="0" indent="0" algn="l" rtl="0">
              <a:spcBef>
                <a:spcPts val="0"/>
              </a:spcBef>
              <a:spcAft>
                <a:spcPts val="0"/>
              </a:spcAft>
              <a:buNone/>
            </a:pPr>
            <a:endParaRPr sz="2100"/>
          </a:p>
          <a:p>
            <a:pPr marL="0" lvl="0" indent="0" algn="l" rtl="0">
              <a:spcBef>
                <a:spcPts val="0"/>
              </a:spcBef>
              <a:spcAft>
                <a:spcPts val="0"/>
              </a:spcAft>
              <a:buNone/>
            </a:pPr>
            <a:r>
              <a:rPr lang="en-US" sz="2100"/>
              <a:t># Create model</a:t>
            </a:r>
            <a:endParaRPr sz="2100"/>
          </a:p>
          <a:p>
            <a:pPr marL="0" lvl="0" indent="0" algn="l" rtl="0">
              <a:spcBef>
                <a:spcPts val="0"/>
              </a:spcBef>
              <a:spcAft>
                <a:spcPts val="0"/>
              </a:spcAft>
              <a:buNone/>
            </a:pPr>
            <a:r>
              <a:rPr lang="en-US" sz="2100"/>
              <a:t>model = LogisticRegression()</a:t>
            </a:r>
            <a:endParaRPr sz="2100"/>
          </a:p>
          <a:p>
            <a:pPr marL="0" lvl="0" indent="0" algn="l" rtl="0">
              <a:spcBef>
                <a:spcPts val="0"/>
              </a:spcBef>
              <a:spcAft>
                <a:spcPts val="0"/>
              </a:spcAft>
              <a:buNone/>
            </a:pPr>
            <a:endParaRPr sz="2100"/>
          </a:p>
          <a:p>
            <a:pPr marL="0" lvl="0" indent="0" algn="l" rtl="0">
              <a:spcBef>
                <a:spcPts val="0"/>
              </a:spcBef>
              <a:spcAft>
                <a:spcPts val="0"/>
              </a:spcAft>
              <a:buNone/>
            </a:pPr>
            <a:r>
              <a:rPr lang="en-US" sz="2100"/>
              <a:t># Train model</a:t>
            </a:r>
            <a:endParaRPr sz="2100"/>
          </a:p>
          <a:p>
            <a:pPr marL="0" lvl="0" indent="0" algn="l" rtl="0">
              <a:spcBef>
                <a:spcPts val="0"/>
              </a:spcBef>
              <a:spcAft>
                <a:spcPts val="0"/>
              </a:spcAft>
              <a:buNone/>
            </a:pPr>
            <a:r>
              <a:rPr lang="en-US" sz="2100"/>
              <a:t>model.fit(X, y)</a:t>
            </a:r>
            <a:endParaRPr sz="2100"/>
          </a:p>
          <a:p>
            <a:pPr marL="0" lvl="0" indent="0" algn="l" rtl="0">
              <a:spcBef>
                <a:spcPts val="0"/>
              </a:spcBef>
              <a:spcAft>
                <a:spcPts val="0"/>
              </a:spcAft>
              <a:buNone/>
            </a:pPr>
            <a:endParaRPr sz="2100"/>
          </a:p>
          <a:p>
            <a:pPr marL="0" lvl="0" indent="0" algn="l" rtl="0">
              <a:spcBef>
                <a:spcPts val="0"/>
              </a:spcBef>
              <a:spcAft>
                <a:spcPts val="0"/>
              </a:spcAft>
              <a:buNone/>
            </a:pPr>
            <a:r>
              <a:rPr lang="en-US" sz="2100"/>
              <a:t># Predict for 3.5 hours study</a:t>
            </a:r>
            <a:endParaRPr sz="2100"/>
          </a:p>
          <a:p>
            <a:pPr marL="0" lvl="0" indent="0" algn="l" rtl="0">
              <a:spcBef>
                <a:spcPts val="0"/>
              </a:spcBef>
              <a:spcAft>
                <a:spcPts val="0"/>
              </a:spcAft>
              <a:buNone/>
            </a:pPr>
            <a:r>
              <a:rPr lang="en-US" sz="2100"/>
              <a:t>prediction = model.predict([[3.5]])</a:t>
            </a:r>
            <a:endParaRPr sz="2100"/>
          </a:p>
          <a:p>
            <a:pPr marL="0" lvl="0" indent="0" algn="l" rtl="0">
              <a:spcBef>
                <a:spcPts val="0"/>
              </a:spcBef>
              <a:spcAft>
                <a:spcPts val="0"/>
              </a:spcAft>
              <a:buNone/>
            </a:pPr>
            <a:r>
              <a:rPr lang="en-US" sz="2100"/>
              <a:t>probability = model.predict_proba([[3.5]])</a:t>
            </a:r>
            <a:endParaRPr sz="2100"/>
          </a:p>
          <a:p>
            <a:pPr marL="0" lvl="0" indent="0" algn="l" rtl="0">
              <a:spcBef>
                <a:spcPts val="0"/>
              </a:spcBef>
              <a:spcAft>
                <a:spcPts val="0"/>
              </a:spcAft>
              <a:buNone/>
            </a:pPr>
            <a:endParaRPr sz="2100"/>
          </a:p>
          <a:p>
            <a:pPr marL="0" lvl="0" indent="0" algn="l" rtl="0">
              <a:spcBef>
                <a:spcPts val="0"/>
              </a:spcBef>
              <a:spcAft>
                <a:spcPts val="0"/>
              </a:spcAft>
              <a:buNone/>
            </a:pPr>
            <a:r>
              <a:rPr lang="en-US" sz="2100"/>
              <a:t>print("Prediction (0=Fail, 1=Pass):", prediction)</a:t>
            </a:r>
            <a:endParaRPr sz="2100"/>
          </a:p>
          <a:p>
            <a:pPr marL="0" lvl="0" indent="0" algn="l" rtl="0">
              <a:spcBef>
                <a:spcPts val="0"/>
              </a:spcBef>
              <a:spcAft>
                <a:spcPts val="0"/>
              </a:spcAft>
              <a:buNone/>
            </a:pPr>
            <a:r>
              <a:rPr lang="en-US" sz="2100"/>
              <a:t>print("Probability:", probability)</a:t>
            </a:r>
            <a:endParaRPr sz="2100"/>
          </a:p>
          <a:p>
            <a:pPr marL="0" lvl="0" indent="0" algn="l" rtl="0">
              <a:spcBef>
                <a:spcPts val="0"/>
              </a:spcBef>
              <a:spcAft>
                <a:spcPts val="0"/>
              </a:spcAft>
              <a:buNone/>
            </a:pPr>
            <a:endParaRPr sz="210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c8e70b6676_0_3"/>
          <p:cNvSpPr txBox="1"/>
          <p:nvPr/>
        </p:nvSpPr>
        <p:spPr>
          <a:xfrm>
            <a:off x="0" y="0"/>
            <a:ext cx="9076800" cy="2927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US" sz="2300" b="1">
                <a:solidFill>
                  <a:schemeClr val="dk1"/>
                </a:solidFill>
              </a:rPr>
              <a:t>Explanation in Simple Words:</a:t>
            </a:r>
            <a:endParaRPr sz="2300" b="1">
              <a:solidFill>
                <a:schemeClr val="dk1"/>
              </a:solidFill>
            </a:endParaRPr>
          </a:p>
          <a:p>
            <a:pPr marL="457200" lvl="0" indent="-361950" algn="l" rtl="0">
              <a:lnSpc>
                <a:spcPct val="115000"/>
              </a:lnSpc>
              <a:spcBef>
                <a:spcPts val="1200"/>
              </a:spcBef>
              <a:spcAft>
                <a:spcPts val="0"/>
              </a:spcAft>
              <a:buClr>
                <a:schemeClr val="dk1"/>
              </a:buClr>
              <a:buSzPts val="2100"/>
              <a:buChar char="●"/>
            </a:pPr>
            <a:r>
              <a:rPr lang="en-US" sz="2100">
                <a:solidFill>
                  <a:schemeClr val="dk1"/>
                </a:solidFill>
              </a:rPr>
              <a:t>We give study hours as input.</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a:solidFill>
                  <a:schemeClr val="dk1"/>
                </a:solidFill>
              </a:rPr>
              <a:t>Model learns who passed and failed.</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a:solidFill>
                  <a:schemeClr val="dk1"/>
                </a:solidFill>
              </a:rPr>
              <a:t>When we give </a:t>
            </a:r>
            <a:r>
              <a:rPr lang="en-US" sz="2100" b="1">
                <a:solidFill>
                  <a:schemeClr val="dk1"/>
                </a:solidFill>
              </a:rPr>
              <a:t>3.5 hours</a:t>
            </a:r>
            <a:r>
              <a:rPr lang="en-US" sz="2100">
                <a:solidFill>
                  <a:schemeClr val="dk1"/>
                </a:solidFill>
              </a:rPr>
              <a:t>, it predicts whether the student will pass or fail.</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a:solidFill>
                  <a:srgbClr val="FF9900"/>
                </a:solidFill>
                <a:latin typeface="Roboto Mono"/>
                <a:ea typeface="Roboto Mono"/>
                <a:cs typeface="Roboto Mono"/>
                <a:sym typeface="Roboto Mono"/>
              </a:rPr>
              <a:t>predict()</a:t>
            </a:r>
            <a:r>
              <a:rPr lang="en-US" sz="2100">
                <a:solidFill>
                  <a:schemeClr val="dk1"/>
                </a:solidFill>
              </a:rPr>
              <a:t> gives class (0 or 1).</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a:solidFill>
                  <a:srgbClr val="FF9900"/>
                </a:solidFill>
                <a:latin typeface="Roboto Mono"/>
                <a:ea typeface="Roboto Mono"/>
                <a:cs typeface="Roboto Mono"/>
                <a:sym typeface="Roboto Mono"/>
              </a:rPr>
              <a:t>predict_proba()</a:t>
            </a:r>
            <a:r>
              <a:rPr lang="en-US" sz="2100">
                <a:solidFill>
                  <a:schemeClr val="dk1"/>
                </a:solidFill>
              </a:rPr>
              <a:t> gives probability of both classes.</a:t>
            </a:r>
            <a:endParaRPr sz="2100">
              <a:solidFill>
                <a:schemeClr val="dk1"/>
              </a:solidFill>
            </a:endParaRPr>
          </a:p>
        </p:txBody>
      </p:sp>
      <p:sp>
        <p:nvSpPr>
          <p:cNvPr id="245" name="Google Shape;245;g3c8e70b6676_0_3"/>
          <p:cNvSpPr txBox="1"/>
          <p:nvPr/>
        </p:nvSpPr>
        <p:spPr>
          <a:xfrm>
            <a:off x="0" y="3093649"/>
            <a:ext cx="9144000" cy="320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US" sz="2400" b="1">
                <a:solidFill>
                  <a:schemeClr val="dk1"/>
                </a:solidFill>
              </a:rPr>
              <a:t>Sigmoid Function</a:t>
            </a:r>
            <a:endParaRPr sz="2400" b="1">
              <a:solidFill>
                <a:schemeClr val="dk1"/>
              </a:solidFill>
            </a:endParaRPr>
          </a:p>
          <a:p>
            <a:pPr marL="0" lvl="0" indent="0" algn="l" rtl="0">
              <a:lnSpc>
                <a:spcPct val="115000"/>
              </a:lnSpc>
              <a:spcBef>
                <a:spcPts val="1200"/>
              </a:spcBef>
              <a:spcAft>
                <a:spcPts val="0"/>
              </a:spcAft>
              <a:buNone/>
            </a:pPr>
            <a:r>
              <a:rPr lang="en-US" sz="2200">
                <a:solidFill>
                  <a:schemeClr val="dk1"/>
                </a:solidFill>
              </a:rPr>
              <a:t>The </a:t>
            </a:r>
            <a:r>
              <a:rPr lang="en-US" sz="2200" b="1">
                <a:solidFill>
                  <a:schemeClr val="dk1"/>
                </a:solidFill>
              </a:rPr>
              <a:t>Sigmoid function</a:t>
            </a:r>
            <a:r>
              <a:rPr lang="en-US" sz="2200">
                <a:solidFill>
                  <a:schemeClr val="dk1"/>
                </a:solidFill>
              </a:rPr>
              <a:t> is a mathematical function used in </a:t>
            </a:r>
            <a:r>
              <a:rPr lang="en-US" sz="2200" b="1">
                <a:solidFill>
                  <a:schemeClr val="dk1"/>
                </a:solidFill>
              </a:rPr>
              <a:t>Logistic Regression</a:t>
            </a:r>
            <a:r>
              <a:rPr lang="en-US" sz="2200">
                <a:solidFill>
                  <a:schemeClr val="dk1"/>
                </a:solidFill>
              </a:rPr>
              <a:t>.</a:t>
            </a:r>
            <a:endParaRPr sz="2200">
              <a:solidFill>
                <a:schemeClr val="dk1"/>
              </a:solidFill>
            </a:endParaRPr>
          </a:p>
          <a:p>
            <a:pPr marL="457200" lvl="0" indent="-368300" algn="l" rtl="0">
              <a:lnSpc>
                <a:spcPct val="115000"/>
              </a:lnSpc>
              <a:spcBef>
                <a:spcPts val="1200"/>
              </a:spcBef>
              <a:spcAft>
                <a:spcPts val="0"/>
              </a:spcAft>
              <a:buClr>
                <a:schemeClr val="dk1"/>
              </a:buClr>
              <a:buSzPts val="2200"/>
              <a:buAutoNum type="arabicPeriod"/>
            </a:pPr>
            <a:r>
              <a:rPr lang="en-US" sz="2200">
                <a:solidFill>
                  <a:schemeClr val="dk1"/>
                </a:solidFill>
              </a:rPr>
              <a:t>It converts any number into a value between </a:t>
            </a:r>
            <a:r>
              <a:rPr lang="en-US" sz="2200" b="1">
                <a:solidFill>
                  <a:schemeClr val="dk1"/>
                </a:solidFill>
              </a:rPr>
              <a:t>0 and 1</a:t>
            </a:r>
            <a:r>
              <a:rPr lang="en-US" sz="2200">
                <a:solidFill>
                  <a:schemeClr val="dk1"/>
                </a:solidFill>
              </a:rPr>
              <a:t>.</a:t>
            </a:r>
            <a:endParaRPr sz="2200">
              <a:solidFill>
                <a:schemeClr val="dk1"/>
              </a:solidFill>
            </a:endParaRPr>
          </a:p>
          <a:p>
            <a:pPr marL="457200" lvl="0" indent="-368300" algn="l" rtl="0">
              <a:lnSpc>
                <a:spcPct val="115000"/>
              </a:lnSpc>
              <a:spcBef>
                <a:spcPts val="0"/>
              </a:spcBef>
              <a:spcAft>
                <a:spcPts val="0"/>
              </a:spcAft>
              <a:buClr>
                <a:schemeClr val="dk1"/>
              </a:buClr>
              <a:buSzPts val="2200"/>
              <a:buAutoNum type="arabicPeriod"/>
            </a:pPr>
            <a:r>
              <a:rPr lang="en-US" sz="2200">
                <a:solidFill>
                  <a:schemeClr val="dk1"/>
                </a:solidFill>
              </a:rPr>
              <a:t>It is used to calculate </a:t>
            </a:r>
            <a:r>
              <a:rPr lang="en-US" sz="2200" b="1">
                <a:solidFill>
                  <a:schemeClr val="dk1"/>
                </a:solidFill>
              </a:rPr>
              <a:t>probability</a:t>
            </a:r>
            <a:r>
              <a:rPr lang="en-US" sz="2200">
                <a:solidFill>
                  <a:schemeClr val="dk1"/>
                </a:solidFill>
              </a:rPr>
              <a:t>.</a:t>
            </a:r>
            <a:endParaRPr sz="2200">
              <a:solidFill>
                <a:schemeClr val="dk1"/>
              </a:solidFill>
            </a:endParaRPr>
          </a:p>
          <a:p>
            <a:pPr marL="457200" lvl="0" indent="-368300" algn="l" rtl="0">
              <a:lnSpc>
                <a:spcPct val="115000"/>
              </a:lnSpc>
              <a:spcBef>
                <a:spcPts val="0"/>
              </a:spcBef>
              <a:spcAft>
                <a:spcPts val="0"/>
              </a:spcAft>
              <a:buClr>
                <a:schemeClr val="dk1"/>
              </a:buClr>
              <a:buSzPts val="2200"/>
              <a:buAutoNum type="arabicPeriod"/>
            </a:pPr>
            <a:r>
              <a:rPr lang="en-US" sz="2200">
                <a:solidFill>
                  <a:schemeClr val="dk1"/>
                </a:solidFill>
              </a:rPr>
              <a:t>If output is close to </a:t>
            </a:r>
            <a:r>
              <a:rPr lang="en-US" sz="2200" b="1">
                <a:solidFill>
                  <a:schemeClr val="dk1"/>
                </a:solidFill>
              </a:rPr>
              <a:t>1 → Yes / True / Class 1</a:t>
            </a:r>
            <a:r>
              <a:rPr lang="en-US" sz="2200">
                <a:solidFill>
                  <a:schemeClr val="dk1"/>
                </a:solidFill>
              </a:rPr>
              <a:t>.</a:t>
            </a:r>
            <a:endParaRPr sz="2200">
              <a:solidFill>
                <a:schemeClr val="dk1"/>
              </a:solidFill>
            </a:endParaRPr>
          </a:p>
          <a:p>
            <a:pPr marL="457200" lvl="0" indent="-368300" algn="l" rtl="0">
              <a:lnSpc>
                <a:spcPct val="115000"/>
              </a:lnSpc>
              <a:spcBef>
                <a:spcPts val="0"/>
              </a:spcBef>
              <a:spcAft>
                <a:spcPts val="0"/>
              </a:spcAft>
              <a:buClr>
                <a:schemeClr val="dk1"/>
              </a:buClr>
              <a:buSzPts val="2200"/>
              <a:buAutoNum type="arabicPeriod"/>
            </a:pPr>
            <a:r>
              <a:rPr lang="en-US" sz="2200">
                <a:solidFill>
                  <a:schemeClr val="dk1"/>
                </a:solidFill>
              </a:rPr>
              <a:t>If output is close to </a:t>
            </a:r>
            <a:r>
              <a:rPr lang="en-US" sz="2200" b="1">
                <a:solidFill>
                  <a:schemeClr val="dk1"/>
                </a:solidFill>
              </a:rPr>
              <a:t>0 → No / False / Class 0</a:t>
            </a:r>
            <a:r>
              <a:rPr lang="en-US" sz="2200">
                <a:solidFill>
                  <a:schemeClr val="dk1"/>
                </a:solidFill>
              </a:rPr>
              <a:t>.</a:t>
            </a:r>
            <a:endParaRPr sz="2200">
              <a:solidFill>
                <a:schemeClr val="dk1"/>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3c8e70b6676_0_6"/>
          <p:cNvSpPr txBox="1"/>
          <p:nvPr/>
        </p:nvSpPr>
        <p:spPr>
          <a:xfrm>
            <a:off x="0" y="0"/>
            <a:ext cx="9144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dk1"/>
                </a:solidFill>
              </a:rPr>
              <a:t>There are </a:t>
            </a:r>
            <a:r>
              <a:rPr lang="en-US" sz="2000" b="1">
                <a:solidFill>
                  <a:schemeClr val="dk1"/>
                </a:solidFill>
              </a:rPr>
              <a:t>3 main types of Logistic Regression</a:t>
            </a:r>
            <a:r>
              <a:rPr lang="en-US" sz="2000">
                <a:solidFill>
                  <a:schemeClr val="dk1"/>
                </a:solidFill>
              </a:rPr>
              <a:t> based on the type of output.</a:t>
            </a:r>
            <a:endParaRPr sz="2300"/>
          </a:p>
        </p:txBody>
      </p:sp>
      <p:sp>
        <p:nvSpPr>
          <p:cNvPr id="251" name="Google Shape;251;g3c8e70b6676_0_6"/>
          <p:cNvSpPr txBox="1"/>
          <p:nvPr/>
        </p:nvSpPr>
        <p:spPr>
          <a:xfrm>
            <a:off x="0" y="492600"/>
            <a:ext cx="3000000" cy="44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400"/>
              </a:spcAft>
              <a:buNone/>
            </a:pPr>
            <a:r>
              <a:rPr lang="en-US" sz="1700" b="1" u="sng">
                <a:solidFill>
                  <a:schemeClr val="dk1"/>
                </a:solidFill>
              </a:rPr>
              <a:t>Binary Logistic Regression</a:t>
            </a:r>
            <a:endParaRPr sz="1700" b="1" u="sng">
              <a:solidFill>
                <a:schemeClr val="dk1"/>
              </a:solidFill>
            </a:endParaRPr>
          </a:p>
        </p:txBody>
      </p:sp>
      <p:sp>
        <p:nvSpPr>
          <p:cNvPr id="252" name="Google Shape;252;g3c8e70b6676_0_6"/>
          <p:cNvSpPr txBox="1"/>
          <p:nvPr/>
        </p:nvSpPr>
        <p:spPr>
          <a:xfrm>
            <a:off x="0" y="838387"/>
            <a:ext cx="9244500" cy="1717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600" b="1">
                <a:solidFill>
                  <a:schemeClr val="dk1"/>
                </a:solidFill>
              </a:rPr>
              <a:t>Used when output has only 2 classes.</a:t>
            </a:r>
            <a:br>
              <a:rPr lang="en-US" sz="1600" b="1">
                <a:solidFill>
                  <a:schemeClr val="dk1"/>
                </a:solidFill>
              </a:rPr>
            </a:br>
            <a:r>
              <a:rPr lang="en-US" sz="1600">
                <a:solidFill>
                  <a:schemeClr val="dk1"/>
                </a:solidFill>
              </a:rPr>
              <a:t> Example:</a:t>
            </a:r>
            <a:endParaRPr sz="1600">
              <a:solidFill>
                <a:schemeClr val="dk1"/>
              </a:solidFill>
            </a:endParaRPr>
          </a:p>
          <a:p>
            <a:pPr marL="457200" lvl="0" indent="-330200" algn="l" rtl="0">
              <a:lnSpc>
                <a:spcPct val="115000"/>
              </a:lnSpc>
              <a:spcBef>
                <a:spcPts val="1200"/>
              </a:spcBef>
              <a:spcAft>
                <a:spcPts val="0"/>
              </a:spcAft>
              <a:buClr>
                <a:schemeClr val="dk1"/>
              </a:buClr>
              <a:buSzPts val="1600"/>
              <a:buChar char="●"/>
            </a:pPr>
            <a:r>
              <a:rPr lang="en-US" sz="1600">
                <a:solidFill>
                  <a:schemeClr val="dk1"/>
                </a:solidFill>
              </a:rPr>
              <a:t>Pass / Fail</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Spam / Not Spam</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Yes / No</a:t>
            </a:r>
            <a:endParaRPr sz="1600">
              <a:solidFill>
                <a:schemeClr val="dk1"/>
              </a:solidFill>
            </a:endParaRPr>
          </a:p>
        </p:txBody>
      </p:sp>
      <p:sp>
        <p:nvSpPr>
          <p:cNvPr id="253" name="Google Shape;253;g3c8e70b6676_0_6"/>
          <p:cNvSpPr txBox="1"/>
          <p:nvPr/>
        </p:nvSpPr>
        <p:spPr>
          <a:xfrm>
            <a:off x="83850" y="2656787"/>
            <a:ext cx="9060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u="sng"/>
              <a:t>Multinomial Logistic Regression</a:t>
            </a:r>
            <a:endParaRPr sz="1800" b="1" u="sng"/>
          </a:p>
        </p:txBody>
      </p:sp>
      <p:sp>
        <p:nvSpPr>
          <p:cNvPr id="254" name="Google Shape;254;g3c8e70b6676_0_6"/>
          <p:cNvSpPr txBox="1"/>
          <p:nvPr/>
        </p:nvSpPr>
        <p:spPr>
          <a:xfrm>
            <a:off x="0" y="2971675"/>
            <a:ext cx="9244500" cy="163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500" b="1">
                <a:solidFill>
                  <a:schemeClr val="dk1"/>
                </a:solidFill>
              </a:rPr>
              <a:t>Used when output has more than 2 classes (no order).</a:t>
            </a:r>
            <a:br>
              <a:rPr lang="en-US" sz="1500" b="1">
                <a:solidFill>
                  <a:schemeClr val="dk1"/>
                </a:solidFill>
              </a:rPr>
            </a:br>
            <a:r>
              <a:rPr lang="en-US" sz="1500">
                <a:solidFill>
                  <a:schemeClr val="dk1"/>
                </a:solidFill>
              </a:rPr>
              <a:t> Example:</a:t>
            </a:r>
            <a:endParaRPr sz="1500">
              <a:solidFill>
                <a:schemeClr val="dk1"/>
              </a:solidFill>
            </a:endParaRPr>
          </a:p>
          <a:p>
            <a:pPr marL="457200" lvl="0" indent="-323850" algn="l" rtl="0">
              <a:lnSpc>
                <a:spcPct val="115000"/>
              </a:lnSpc>
              <a:spcBef>
                <a:spcPts val="1200"/>
              </a:spcBef>
              <a:spcAft>
                <a:spcPts val="0"/>
              </a:spcAft>
              <a:buClr>
                <a:schemeClr val="dk1"/>
              </a:buClr>
              <a:buSzPts val="1500"/>
              <a:buChar char="●"/>
            </a:pPr>
            <a:r>
              <a:rPr lang="en-US" sz="1500">
                <a:solidFill>
                  <a:schemeClr val="dk1"/>
                </a:solidFill>
              </a:rPr>
              <a:t>Red / Blue / Green</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Cat / Dog / Cow</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Class A / B / C</a:t>
            </a:r>
            <a:endParaRPr sz="1500">
              <a:solidFill>
                <a:schemeClr val="dk1"/>
              </a:solidFill>
            </a:endParaRPr>
          </a:p>
        </p:txBody>
      </p:sp>
      <p:sp>
        <p:nvSpPr>
          <p:cNvPr id="255" name="Google Shape;255;g3c8e70b6676_0_6"/>
          <p:cNvSpPr txBox="1"/>
          <p:nvPr/>
        </p:nvSpPr>
        <p:spPr>
          <a:xfrm>
            <a:off x="0" y="4597788"/>
            <a:ext cx="90603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b="1" u="sng"/>
              <a:t>Ordinal Logistic Regression</a:t>
            </a:r>
            <a:endParaRPr sz="1700" b="1" u="sng"/>
          </a:p>
        </p:txBody>
      </p:sp>
      <p:sp>
        <p:nvSpPr>
          <p:cNvPr id="256" name="Google Shape;256;g3c8e70b6676_0_6"/>
          <p:cNvSpPr txBox="1"/>
          <p:nvPr/>
        </p:nvSpPr>
        <p:spPr>
          <a:xfrm>
            <a:off x="41850" y="5018875"/>
            <a:ext cx="9060300" cy="163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500" b="1">
                <a:solidFill>
                  <a:schemeClr val="dk1"/>
                </a:solidFill>
              </a:rPr>
              <a:t>Used when output has ordered categories.</a:t>
            </a:r>
            <a:br>
              <a:rPr lang="en-US" sz="1500" b="1">
                <a:solidFill>
                  <a:schemeClr val="dk1"/>
                </a:solidFill>
              </a:rPr>
            </a:br>
            <a:r>
              <a:rPr lang="en-US" sz="1500">
                <a:solidFill>
                  <a:schemeClr val="dk1"/>
                </a:solidFill>
              </a:rPr>
              <a:t> Example:</a:t>
            </a:r>
            <a:endParaRPr sz="1500">
              <a:solidFill>
                <a:schemeClr val="dk1"/>
              </a:solidFill>
            </a:endParaRPr>
          </a:p>
          <a:p>
            <a:pPr marL="457200" lvl="0" indent="-323850" algn="l" rtl="0">
              <a:lnSpc>
                <a:spcPct val="115000"/>
              </a:lnSpc>
              <a:spcBef>
                <a:spcPts val="1200"/>
              </a:spcBef>
              <a:spcAft>
                <a:spcPts val="0"/>
              </a:spcAft>
              <a:buClr>
                <a:schemeClr val="dk1"/>
              </a:buClr>
              <a:buSzPts val="1500"/>
              <a:buChar char="●"/>
            </a:pPr>
            <a:r>
              <a:rPr lang="en-US" sz="1500">
                <a:solidFill>
                  <a:schemeClr val="dk1"/>
                </a:solidFill>
              </a:rPr>
              <a:t>Low / Medium / High</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Rating 1 to 5</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Poor / Average / Good / Excellent</a:t>
            </a:r>
            <a:endParaRPr sz="1500">
              <a:solidFill>
                <a:schemeClr val="dk1"/>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c8e70b6676_0_9"/>
          <p:cNvSpPr txBox="1"/>
          <p:nvPr/>
        </p:nvSpPr>
        <p:spPr>
          <a:xfrm>
            <a:off x="2733139" y="0"/>
            <a:ext cx="30000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400" b="1"/>
              <a:t>Decision Tree</a:t>
            </a:r>
            <a:endParaRPr sz="3400" b="1"/>
          </a:p>
        </p:txBody>
      </p:sp>
      <p:sp>
        <p:nvSpPr>
          <p:cNvPr id="262" name="Google Shape;262;g3c8e70b6676_0_9"/>
          <p:cNvSpPr txBox="1"/>
          <p:nvPr/>
        </p:nvSpPr>
        <p:spPr>
          <a:xfrm>
            <a:off x="218000" y="967725"/>
            <a:ext cx="9144000" cy="5533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700">
                <a:solidFill>
                  <a:schemeClr val="dk1"/>
                </a:solidFill>
              </a:rPr>
              <a:t>A </a:t>
            </a:r>
            <a:r>
              <a:rPr lang="en-US" sz="2700" b="1">
                <a:solidFill>
                  <a:schemeClr val="dk1"/>
                </a:solidFill>
              </a:rPr>
              <a:t>Decision Tree</a:t>
            </a:r>
            <a:r>
              <a:rPr lang="en-US" sz="2700">
                <a:solidFill>
                  <a:schemeClr val="dk1"/>
                </a:solidFill>
              </a:rPr>
              <a:t> is a supervised machine learning algorithm used for </a:t>
            </a:r>
            <a:r>
              <a:rPr lang="en-US" sz="2700" b="1">
                <a:solidFill>
                  <a:schemeClr val="dk1"/>
                </a:solidFill>
              </a:rPr>
              <a:t>classification and regression</a:t>
            </a:r>
            <a:r>
              <a:rPr lang="en-US" sz="2700">
                <a:solidFill>
                  <a:schemeClr val="dk1"/>
                </a:solidFill>
              </a:rPr>
              <a:t>.</a:t>
            </a:r>
            <a:endParaRPr sz="2700">
              <a:solidFill>
                <a:schemeClr val="dk1"/>
              </a:solidFill>
            </a:endParaRPr>
          </a:p>
          <a:p>
            <a:pPr marL="457200" lvl="0" indent="-400050" algn="l" rtl="0">
              <a:lnSpc>
                <a:spcPct val="115000"/>
              </a:lnSpc>
              <a:spcBef>
                <a:spcPts val="1200"/>
              </a:spcBef>
              <a:spcAft>
                <a:spcPts val="0"/>
              </a:spcAft>
              <a:buClr>
                <a:schemeClr val="dk1"/>
              </a:buClr>
              <a:buSzPts val="2700"/>
              <a:buAutoNum type="arabicPeriod"/>
            </a:pPr>
            <a:r>
              <a:rPr lang="en-US" sz="2700">
                <a:solidFill>
                  <a:schemeClr val="dk1"/>
                </a:solidFill>
              </a:rPr>
              <a:t>It works like a flowchart (tree structure).</a:t>
            </a:r>
            <a:br>
              <a:rPr lang="en-US" sz="2700">
                <a:solidFill>
                  <a:schemeClr val="dk1"/>
                </a:solidFill>
              </a:rPr>
            </a:br>
            <a:endParaRPr sz="2700">
              <a:solidFill>
                <a:schemeClr val="dk1"/>
              </a:solidFill>
            </a:endParaRPr>
          </a:p>
          <a:p>
            <a:pPr marL="457200" lvl="0" indent="-400050" algn="l" rtl="0">
              <a:lnSpc>
                <a:spcPct val="115000"/>
              </a:lnSpc>
              <a:spcBef>
                <a:spcPts val="0"/>
              </a:spcBef>
              <a:spcAft>
                <a:spcPts val="0"/>
              </a:spcAft>
              <a:buClr>
                <a:schemeClr val="dk1"/>
              </a:buClr>
              <a:buSzPts val="2700"/>
              <a:buAutoNum type="arabicPeriod"/>
            </a:pPr>
            <a:r>
              <a:rPr lang="en-US" sz="2700">
                <a:solidFill>
                  <a:schemeClr val="dk1"/>
                </a:solidFill>
              </a:rPr>
              <a:t>It asks a series of </a:t>
            </a:r>
            <a:r>
              <a:rPr lang="en-US" sz="2700" b="1">
                <a:solidFill>
                  <a:schemeClr val="dk1"/>
                </a:solidFill>
              </a:rPr>
              <a:t>if-else questions</a:t>
            </a:r>
            <a:r>
              <a:rPr lang="en-US" sz="2700">
                <a:solidFill>
                  <a:schemeClr val="dk1"/>
                </a:solidFill>
              </a:rPr>
              <a:t> to make decisions.</a:t>
            </a:r>
            <a:br>
              <a:rPr lang="en-US" sz="2700">
                <a:solidFill>
                  <a:schemeClr val="dk1"/>
                </a:solidFill>
              </a:rPr>
            </a:br>
            <a:endParaRPr sz="2700">
              <a:solidFill>
                <a:schemeClr val="dk1"/>
              </a:solidFill>
            </a:endParaRPr>
          </a:p>
          <a:p>
            <a:pPr marL="457200" lvl="0" indent="-400050" algn="l" rtl="0">
              <a:lnSpc>
                <a:spcPct val="115000"/>
              </a:lnSpc>
              <a:spcBef>
                <a:spcPts val="0"/>
              </a:spcBef>
              <a:spcAft>
                <a:spcPts val="0"/>
              </a:spcAft>
              <a:buClr>
                <a:schemeClr val="dk1"/>
              </a:buClr>
              <a:buSzPts val="2700"/>
              <a:buAutoNum type="arabicPeriod"/>
            </a:pPr>
            <a:r>
              <a:rPr lang="en-US" sz="2700">
                <a:solidFill>
                  <a:schemeClr val="dk1"/>
                </a:solidFill>
              </a:rPr>
              <a:t>Each internal node = condition (question).</a:t>
            </a:r>
            <a:br>
              <a:rPr lang="en-US" sz="2700">
                <a:solidFill>
                  <a:schemeClr val="dk1"/>
                </a:solidFill>
              </a:rPr>
            </a:br>
            <a:endParaRPr sz="2700">
              <a:solidFill>
                <a:schemeClr val="dk1"/>
              </a:solidFill>
            </a:endParaRPr>
          </a:p>
          <a:p>
            <a:pPr marL="457200" lvl="0" indent="-400050" algn="l" rtl="0">
              <a:lnSpc>
                <a:spcPct val="115000"/>
              </a:lnSpc>
              <a:spcBef>
                <a:spcPts val="0"/>
              </a:spcBef>
              <a:spcAft>
                <a:spcPts val="0"/>
              </a:spcAft>
              <a:buClr>
                <a:schemeClr val="dk1"/>
              </a:buClr>
              <a:buSzPts val="2700"/>
              <a:buAutoNum type="arabicPeriod"/>
            </a:pPr>
            <a:r>
              <a:rPr lang="en-US" sz="2700">
                <a:solidFill>
                  <a:schemeClr val="dk1"/>
                </a:solidFill>
              </a:rPr>
              <a:t>Each branch = answer (Yes/No).</a:t>
            </a:r>
            <a:br>
              <a:rPr lang="en-US" sz="2700">
                <a:solidFill>
                  <a:schemeClr val="dk1"/>
                </a:solidFill>
              </a:rPr>
            </a:br>
            <a:endParaRPr sz="2700">
              <a:solidFill>
                <a:schemeClr val="dk1"/>
              </a:solidFill>
            </a:endParaRPr>
          </a:p>
          <a:p>
            <a:pPr marL="457200" lvl="0" indent="-400050" algn="l" rtl="0">
              <a:lnSpc>
                <a:spcPct val="115000"/>
              </a:lnSpc>
              <a:spcBef>
                <a:spcPts val="0"/>
              </a:spcBef>
              <a:spcAft>
                <a:spcPts val="0"/>
              </a:spcAft>
              <a:buClr>
                <a:schemeClr val="dk1"/>
              </a:buClr>
              <a:buSzPts val="2700"/>
              <a:buAutoNum type="arabicPeriod"/>
            </a:pPr>
            <a:r>
              <a:rPr lang="en-US" sz="2700">
                <a:solidFill>
                  <a:schemeClr val="dk1"/>
                </a:solidFill>
              </a:rPr>
              <a:t>Final node (leaf) = prediction result.</a:t>
            </a:r>
            <a:endParaRPr sz="2700">
              <a:solidFill>
                <a:schemeClr val="dk1"/>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g3c8e70b6676_0_12"/>
          <p:cNvPicPr preferRelativeResize="0"/>
          <p:nvPr/>
        </p:nvPicPr>
        <p:blipFill>
          <a:blip r:embed="rId3">
            <a:alphaModFix/>
          </a:blip>
          <a:stretch>
            <a:fillRect/>
          </a:stretch>
        </p:blipFill>
        <p:spPr>
          <a:xfrm>
            <a:off x="190025" y="518125"/>
            <a:ext cx="8806026" cy="6096000"/>
          </a:xfrm>
          <a:prstGeom prst="rect">
            <a:avLst/>
          </a:prstGeom>
          <a:noFill/>
          <a:ln w="38100"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c8e70b6676_0_15"/>
          <p:cNvSpPr txBox="1"/>
          <p:nvPr/>
        </p:nvSpPr>
        <p:spPr>
          <a:xfrm>
            <a:off x="0" y="620406"/>
            <a:ext cx="9144000" cy="550917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US" sz="3000" b="1" dirty="0">
                <a:solidFill>
                  <a:schemeClr val="dk1"/>
                </a:solidFill>
              </a:rPr>
              <a:t>Types of Decision Tree</a:t>
            </a:r>
            <a:endParaRPr sz="3000" b="1" dirty="0">
              <a:solidFill>
                <a:schemeClr val="dk1"/>
              </a:solidFill>
            </a:endParaRPr>
          </a:p>
          <a:p>
            <a:pPr marL="0" lvl="0" indent="0" algn="l" rtl="0">
              <a:lnSpc>
                <a:spcPct val="115000"/>
              </a:lnSpc>
              <a:spcBef>
                <a:spcPts val="1800"/>
              </a:spcBef>
              <a:spcAft>
                <a:spcPts val="0"/>
              </a:spcAft>
              <a:buNone/>
            </a:pPr>
            <a:r>
              <a:rPr lang="en-US" sz="2400" b="1" dirty="0" smtClean="0">
                <a:solidFill>
                  <a:schemeClr val="dk1"/>
                </a:solidFill>
              </a:rPr>
              <a:t>1. </a:t>
            </a:r>
            <a:r>
              <a:rPr lang="en-US" sz="2400" b="1" dirty="0">
                <a:solidFill>
                  <a:schemeClr val="dk1"/>
                </a:solidFill>
              </a:rPr>
              <a:t>Classification Tree</a:t>
            </a:r>
            <a:endParaRPr sz="2400" b="1"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n-US" sz="1800" dirty="0">
                <a:solidFill>
                  <a:schemeClr val="dk1"/>
                </a:solidFill>
              </a:rPr>
              <a:t>Used when output is </a:t>
            </a:r>
            <a:r>
              <a:rPr lang="en-US" sz="1800" b="1" dirty="0">
                <a:solidFill>
                  <a:schemeClr val="dk1"/>
                </a:solidFill>
              </a:rPr>
              <a:t>categorical (class)</a:t>
            </a:r>
            <a:br>
              <a:rPr lang="en-US" sz="1800" b="1" dirty="0">
                <a:solidFill>
                  <a:schemeClr val="dk1"/>
                </a:solidFill>
              </a:rPr>
            </a:br>
            <a:endParaRPr sz="1800" b="1"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dirty="0">
                <a:solidFill>
                  <a:schemeClr val="dk1"/>
                </a:solidFill>
              </a:rPr>
              <a:t>Example: Spam/Not Spam, Pass/Fail</a:t>
            </a:r>
            <a:br>
              <a:rPr lang="en-US" sz="1800" dirty="0">
                <a:solidFill>
                  <a:schemeClr val="dk1"/>
                </a:solidFill>
              </a:rPr>
            </a:br>
            <a:endParaRPr sz="1800" dirty="0">
              <a:solidFill>
                <a:schemeClr val="dk1"/>
              </a:solidFill>
            </a:endParaRPr>
          </a:p>
          <a:p>
            <a:pPr marL="0" lvl="0" indent="0" algn="l" rtl="0">
              <a:lnSpc>
                <a:spcPct val="115000"/>
              </a:lnSpc>
              <a:spcBef>
                <a:spcPts val="1800"/>
              </a:spcBef>
              <a:spcAft>
                <a:spcPts val="0"/>
              </a:spcAft>
              <a:buNone/>
            </a:pPr>
            <a:r>
              <a:rPr lang="en-US" sz="2400" b="1" dirty="0" smtClean="0">
                <a:solidFill>
                  <a:schemeClr val="dk1"/>
                </a:solidFill>
              </a:rPr>
              <a:t>2. </a:t>
            </a:r>
            <a:r>
              <a:rPr lang="en-US" sz="2400" b="1" dirty="0">
                <a:solidFill>
                  <a:schemeClr val="dk1"/>
                </a:solidFill>
              </a:rPr>
              <a:t>Regression Tree</a:t>
            </a:r>
            <a:endParaRPr sz="2400" b="1"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n-US" sz="1800" dirty="0">
                <a:solidFill>
                  <a:schemeClr val="dk1"/>
                </a:solidFill>
              </a:rPr>
              <a:t>Used when output is </a:t>
            </a:r>
            <a:r>
              <a:rPr lang="en-US" sz="1800" b="1" dirty="0">
                <a:solidFill>
                  <a:schemeClr val="dk1"/>
                </a:solidFill>
              </a:rPr>
              <a:t>numerical (continuous)</a:t>
            </a:r>
            <a:br>
              <a:rPr lang="en-US" sz="1800" b="1" dirty="0">
                <a:solidFill>
                  <a:schemeClr val="dk1"/>
                </a:solidFill>
              </a:rPr>
            </a:br>
            <a:endParaRPr sz="1800" b="1"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dirty="0">
                <a:solidFill>
                  <a:schemeClr val="dk1"/>
                </a:solidFill>
              </a:rPr>
              <a:t>Example: Salary, House Price</a:t>
            </a:r>
            <a:br>
              <a:rPr lang="en-US" sz="1800" dirty="0">
                <a:solidFill>
                  <a:schemeClr val="dk1"/>
                </a:solidFill>
              </a:rPr>
            </a:b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dirty="0">
                <a:solidFill>
                  <a:schemeClr val="dk1"/>
                </a:solidFill>
              </a:rPr>
              <a:t>Uses: Mean Squared Error (MSE)</a:t>
            </a:r>
            <a:endParaRPr sz="1800" dirty="0">
              <a:solidFill>
                <a:schemeClr val="dk1"/>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c8e70b6676_0_18"/>
          <p:cNvSpPr txBox="1"/>
          <p:nvPr/>
        </p:nvSpPr>
        <p:spPr>
          <a:xfrm>
            <a:off x="0" y="855154"/>
            <a:ext cx="9144000" cy="594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t>from sklearn.tree import DecisionTreeClassifier</a:t>
            </a:r>
            <a:endParaRPr sz="2200"/>
          </a:p>
          <a:p>
            <a:pPr marL="0" lvl="0" indent="0" algn="l" rtl="0">
              <a:spcBef>
                <a:spcPts val="0"/>
              </a:spcBef>
              <a:spcAft>
                <a:spcPts val="0"/>
              </a:spcAft>
              <a:buNone/>
            </a:pPr>
            <a:r>
              <a:rPr lang="en-US" sz="2200"/>
              <a:t>import numpy as np</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Sample data (Hours studied)</a:t>
            </a:r>
            <a:endParaRPr sz="2200"/>
          </a:p>
          <a:p>
            <a:pPr marL="0" lvl="0" indent="0" algn="l" rtl="0">
              <a:spcBef>
                <a:spcPts val="0"/>
              </a:spcBef>
              <a:spcAft>
                <a:spcPts val="0"/>
              </a:spcAft>
              <a:buNone/>
            </a:pPr>
            <a:r>
              <a:rPr lang="en-US" sz="2200"/>
              <a:t>X = np.array([[1], [2], [3], [4], [5]])</a:t>
            </a:r>
            <a:endParaRPr sz="2200"/>
          </a:p>
          <a:p>
            <a:pPr marL="0" lvl="0" indent="0" algn="l" rtl="0">
              <a:spcBef>
                <a:spcPts val="0"/>
              </a:spcBef>
              <a:spcAft>
                <a:spcPts val="0"/>
              </a:spcAft>
              <a:buNone/>
            </a:pPr>
            <a:r>
              <a:rPr lang="en-US" sz="2200"/>
              <a:t>y = np.array([0, 0, 0, 1, 1])  # 0 = Fail, 1 = Pass</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Create model</a:t>
            </a:r>
            <a:endParaRPr sz="2200"/>
          </a:p>
          <a:p>
            <a:pPr marL="0" lvl="0" indent="0" algn="l" rtl="0">
              <a:spcBef>
                <a:spcPts val="0"/>
              </a:spcBef>
              <a:spcAft>
                <a:spcPts val="0"/>
              </a:spcAft>
              <a:buNone/>
            </a:pPr>
            <a:r>
              <a:rPr lang="en-US" sz="2200"/>
              <a:t>model = DecisionTreeClassifier()</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Train model</a:t>
            </a:r>
            <a:endParaRPr sz="2200"/>
          </a:p>
          <a:p>
            <a:pPr marL="0" lvl="0" indent="0" algn="l" rtl="0">
              <a:spcBef>
                <a:spcPts val="0"/>
              </a:spcBef>
              <a:spcAft>
                <a:spcPts val="0"/>
              </a:spcAft>
              <a:buNone/>
            </a:pPr>
            <a:r>
              <a:rPr lang="en-US" sz="2200"/>
              <a:t>model.fit(X, y)</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Predict</a:t>
            </a:r>
            <a:endParaRPr sz="2200"/>
          </a:p>
          <a:p>
            <a:pPr marL="0" lvl="0" indent="0" algn="l" rtl="0">
              <a:spcBef>
                <a:spcPts val="0"/>
              </a:spcBef>
              <a:spcAft>
                <a:spcPts val="0"/>
              </a:spcAft>
              <a:buNone/>
            </a:pPr>
            <a:r>
              <a:rPr lang="en-US" sz="2200"/>
              <a:t>prediction = model.predict([[3.5]])</a:t>
            </a:r>
            <a:endParaRPr sz="2200"/>
          </a:p>
          <a:p>
            <a:pPr marL="0" lvl="0" indent="0" algn="l" rtl="0">
              <a:spcBef>
                <a:spcPts val="0"/>
              </a:spcBef>
              <a:spcAft>
                <a:spcPts val="0"/>
              </a:spcAft>
              <a:buNone/>
            </a:pPr>
            <a:r>
              <a:rPr lang="en-US" sz="2200"/>
              <a:t>print("Prediction (0=Fail, 1=Pass):", prediction)</a:t>
            </a:r>
            <a:endParaRPr sz="2200"/>
          </a:p>
          <a:p>
            <a:pPr marL="0" lvl="0" indent="0" algn="l" rtl="0">
              <a:spcBef>
                <a:spcPts val="0"/>
              </a:spcBef>
              <a:spcAft>
                <a:spcPts val="0"/>
              </a:spcAft>
              <a:buNone/>
            </a:pPr>
            <a:endParaRPr sz="2200"/>
          </a:p>
        </p:txBody>
      </p:sp>
      <p:sp>
        <p:nvSpPr>
          <p:cNvPr id="278" name="Google Shape;278;g3c8e70b6676_0_18"/>
          <p:cNvSpPr txBox="1"/>
          <p:nvPr/>
        </p:nvSpPr>
        <p:spPr>
          <a:xfrm>
            <a:off x="0" y="0"/>
            <a:ext cx="90768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t>Classification Example</a:t>
            </a:r>
            <a:endParaRPr sz="2800" b="1"/>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3c8e70b6676_0_21"/>
          <p:cNvSpPr txBox="1"/>
          <p:nvPr/>
        </p:nvSpPr>
        <p:spPr>
          <a:xfrm>
            <a:off x="0" y="0"/>
            <a:ext cx="4734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t>Regression Example</a:t>
            </a:r>
            <a:endParaRPr sz="2800" b="1"/>
          </a:p>
        </p:txBody>
      </p:sp>
      <p:sp>
        <p:nvSpPr>
          <p:cNvPr id="284" name="Google Shape;284;g3c8e70b6676_0_21"/>
          <p:cNvSpPr txBox="1"/>
          <p:nvPr/>
        </p:nvSpPr>
        <p:spPr>
          <a:xfrm>
            <a:off x="217980" y="804851"/>
            <a:ext cx="9144000" cy="567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t>from sklearn.tree import DecisionTreeRegressor</a:t>
            </a:r>
            <a:endParaRPr sz="2100"/>
          </a:p>
          <a:p>
            <a:pPr marL="0" lvl="0" indent="0" algn="l" rtl="0">
              <a:spcBef>
                <a:spcPts val="0"/>
              </a:spcBef>
              <a:spcAft>
                <a:spcPts val="0"/>
              </a:spcAft>
              <a:buNone/>
            </a:pPr>
            <a:r>
              <a:rPr lang="en-US" sz="2100"/>
              <a:t>import numpy as np</a:t>
            </a:r>
            <a:endParaRPr sz="2100"/>
          </a:p>
          <a:p>
            <a:pPr marL="0" lvl="0" indent="0" algn="l" rtl="0">
              <a:spcBef>
                <a:spcPts val="0"/>
              </a:spcBef>
              <a:spcAft>
                <a:spcPts val="0"/>
              </a:spcAft>
              <a:buNone/>
            </a:pPr>
            <a:endParaRPr sz="2100"/>
          </a:p>
          <a:p>
            <a:pPr marL="0" lvl="0" indent="0" algn="l" rtl="0">
              <a:spcBef>
                <a:spcPts val="0"/>
              </a:spcBef>
              <a:spcAft>
                <a:spcPts val="0"/>
              </a:spcAft>
              <a:buNone/>
            </a:pPr>
            <a:r>
              <a:rPr lang="en-US" sz="2100"/>
              <a:t># Sample data</a:t>
            </a:r>
            <a:endParaRPr sz="2100"/>
          </a:p>
          <a:p>
            <a:pPr marL="0" lvl="0" indent="0" algn="l" rtl="0">
              <a:spcBef>
                <a:spcPts val="0"/>
              </a:spcBef>
              <a:spcAft>
                <a:spcPts val="0"/>
              </a:spcAft>
              <a:buNone/>
            </a:pPr>
            <a:r>
              <a:rPr lang="en-US" sz="2100"/>
              <a:t>X = np.array([[1], [2], [3], [4], [5]])</a:t>
            </a:r>
            <a:endParaRPr sz="2100"/>
          </a:p>
          <a:p>
            <a:pPr marL="0" lvl="0" indent="0" algn="l" rtl="0">
              <a:spcBef>
                <a:spcPts val="0"/>
              </a:spcBef>
              <a:spcAft>
                <a:spcPts val="0"/>
              </a:spcAft>
              <a:buNone/>
            </a:pPr>
            <a:r>
              <a:rPr lang="en-US" sz="2100"/>
              <a:t>y = np.array([10000, 20000, 30000, 40000, 50000])  # Salary</a:t>
            </a:r>
            <a:endParaRPr sz="2100"/>
          </a:p>
          <a:p>
            <a:pPr marL="0" lvl="0" indent="0" algn="l" rtl="0">
              <a:spcBef>
                <a:spcPts val="0"/>
              </a:spcBef>
              <a:spcAft>
                <a:spcPts val="0"/>
              </a:spcAft>
              <a:buNone/>
            </a:pPr>
            <a:endParaRPr sz="2100"/>
          </a:p>
          <a:p>
            <a:pPr marL="0" lvl="0" indent="0" algn="l" rtl="0">
              <a:spcBef>
                <a:spcPts val="0"/>
              </a:spcBef>
              <a:spcAft>
                <a:spcPts val="0"/>
              </a:spcAft>
              <a:buNone/>
            </a:pPr>
            <a:r>
              <a:rPr lang="en-US" sz="2100"/>
              <a:t># Create model</a:t>
            </a:r>
            <a:endParaRPr sz="2100"/>
          </a:p>
          <a:p>
            <a:pPr marL="0" lvl="0" indent="0" algn="l" rtl="0">
              <a:spcBef>
                <a:spcPts val="0"/>
              </a:spcBef>
              <a:spcAft>
                <a:spcPts val="0"/>
              </a:spcAft>
              <a:buNone/>
            </a:pPr>
            <a:r>
              <a:rPr lang="en-US" sz="2100"/>
              <a:t>model = DecisionTreeRegressor()</a:t>
            </a:r>
            <a:endParaRPr sz="2100"/>
          </a:p>
          <a:p>
            <a:pPr marL="0" lvl="0" indent="0" algn="l" rtl="0">
              <a:spcBef>
                <a:spcPts val="0"/>
              </a:spcBef>
              <a:spcAft>
                <a:spcPts val="0"/>
              </a:spcAft>
              <a:buNone/>
            </a:pPr>
            <a:endParaRPr sz="2100"/>
          </a:p>
          <a:p>
            <a:pPr marL="0" lvl="0" indent="0" algn="l" rtl="0">
              <a:spcBef>
                <a:spcPts val="0"/>
              </a:spcBef>
              <a:spcAft>
                <a:spcPts val="0"/>
              </a:spcAft>
              <a:buNone/>
            </a:pPr>
            <a:r>
              <a:rPr lang="en-US" sz="2100"/>
              <a:t># Train model</a:t>
            </a:r>
            <a:endParaRPr sz="2100"/>
          </a:p>
          <a:p>
            <a:pPr marL="0" lvl="0" indent="0" algn="l" rtl="0">
              <a:spcBef>
                <a:spcPts val="0"/>
              </a:spcBef>
              <a:spcAft>
                <a:spcPts val="0"/>
              </a:spcAft>
              <a:buNone/>
            </a:pPr>
            <a:r>
              <a:rPr lang="en-US" sz="2100"/>
              <a:t>model.fit(X, y)</a:t>
            </a:r>
            <a:endParaRPr sz="2100"/>
          </a:p>
          <a:p>
            <a:pPr marL="0" lvl="0" indent="0" algn="l" rtl="0">
              <a:spcBef>
                <a:spcPts val="0"/>
              </a:spcBef>
              <a:spcAft>
                <a:spcPts val="0"/>
              </a:spcAft>
              <a:buNone/>
            </a:pPr>
            <a:endParaRPr sz="2100"/>
          </a:p>
          <a:p>
            <a:pPr marL="0" lvl="0" indent="0" algn="l" rtl="0">
              <a:spcBef>
                <a:spcPts val="0"/>
              </a:spcBef>
              <a:spcAft>
                <a:spcPts val="0"/>
              </a:spcAft>
              <a:buNone/>
            </a:pPr>
            <a:r>
              <a:rPr lang="en-US" sz="2100"/>
              <a:t># Predict</a:t>
            </a:r>
            <a:endParaRPr sz="2100"/>
          </a:p>
          <a:p>
            <a:pPr marL="0" lvl="0" indent="0" algn="l" rtl="0">
              <a:spcBef>
                <a:spcPts val="0"/>
              </a:spcBef>
              <a:spcAft>
                <a:spcPts val="0"/>
              </a:spcAft>
              <a:buNone/>
            </a:pPr>
            <a:r>
              <a:rPr lang="en-US" sz="2100"/>
              <a:t>prediction = model.predict([[3.5]])</a:t>
            </a:r>
            <a:endParaRPr sz="2100"/>
          </a:p>
          <a:p>
            <a:pPr marL="0" lvl="0" indent="0" algn="l" rtl="0">
              <a:spcBef>
                <a:spcPts val="0"/>
              </a:spcBef>
              <a:spcAft>
                <a:spcPts val="0"/>
              </a:spcAft>
              <a:buNone/>
            </a:pPr>
            <a:r>
              <a:rPr lang="en-US" sz="2100"/>
              <a:t>print("Predicted Salary:", prediction)</a:t>
            </a:r>
            <a:endParaRPr sz="2100"/>
          </a:p>
          <a:p>
            <a:pPr marL="0" lvl="0" indent="0" algn="l" rtl="0">
              <a:spcBef>
                <a:spcPts val="0"/>
              </a:spcBef>
              <a:spcAft>
                <a:spcPts val="0"/>
              </a:spcAft>
              <a:buNone/>
            </a:pPr>
            <a:endParaRPr sz="2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g3c8e70b6676_0_86"/>
          <p:cNvSpPr txBox="1"/>
          <p:nvPr/>
        </p:nvSpPr>
        <p:spPr>
          <a:xfrm>
            <a:off x="0" y="251525"/>
            <a:ext cx="46503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400" b="1"/>
              <a:t> Random Forest</a:t>
            </a:r>
            <a:endParaRPr sz="3400" b="1"/>
          </a:p>
        </p:txBody>
      </p:sp>
      <p:sp>
        <p:nvSpPr>
          <p:cNvPr id="290" name="Google Shape;290;g3c8e70b6676_0_86"/>
          <p:cNvSpPr txBox="1"/>
          <p:nvPr/>
        </p:nvSpPr>
        <p:spPr>
          <a:xfrm>
            <a:off x="150910" y="1158600"/>
            <a:ext cx="9144000" cy="4540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000" b="1">
                <a:solidFill>
                  <a:schemeClr val="dk1"/>
                </a:solidFill>
              </a:rPr>
              <a:t>Random Forest</a:t>
            </a:r>
            <a:r>
              <a:rPr lang="en-US" sz="2000">
                <a:solidFill>
                  <a:schemeClr val="dk1"/>
                </a:solidFill>
              </a:rPr>
              <a:t> is an advanced machine learning algorithm based on </a:t>
            </a:r>
            <a:r>
              <a:rPr lang="en-US" sz="2000" b="1">
                <a:solidFill>
                  <a:schemeClr val="dk1"/>
                </a:solidFill>
              </a:rPr>
              <a:t>Decision Trees</a:t>
            </a:r>
            <a:r>
              <a:rPr lang="en-US" sz="2000">
                <a:solidFill>
                  <a:schemeClr val="dk1"/>
                </a:solidFill>
              </a:rPr>
              <a:t>.</a:t>
            </a:r>
            <a:endParaRPr sz="2000">
              <a:solidFill>
                <a:schemeClr val="dk1"/>
              </a:solidFill>
            </a:endParaRPr>
          </a:p>
          <a:p>
            <a:pPr marL="457200" lvl="0" indent="-355600" algn="l" rtl="0">
              <a:lnSpc>
                <a:spcPct val="115000"/>
              </a:lnSpc>
              <a:spcBef>
                <a:spcPts val="1200"/>
              </a:spcBef>
              <a:spcAft>
                <a:spcPts val="0"/>
              </a:spcAft>
              <a:buClr>
                <a:schemeClr val="dk1"/>
              </a:buClr>
              <a:buSzPts val="2000"/>
              <a:buAutoNum type="arabicPeriod"/>
            </a:pPr>
            <a:r>
              <a:rPr lang="en-US" sz="2000">
                <a:solidFill>
                  <a:schemeClr val="dk1"/>
                </a:solidFill>
              </a:rPr>
              <a:t>It builds </a:t>
            </a:r>
            <a:r>
              <a:rPr lang="en-US" sz="2000" b="1">
                <a:solidFill>
                  <a:schemeClr val="dk1"/>
                </a:solidFill>
              </a:rPr>
              <a:t>many decision trees</a:t>
            </a:r>
            <a:r>
              <a:rPr lang="en-US" sz="2000">
                <a:solidFill>
                  <a:schemeClr val="dk1"/>
                </a:solidFill>
              </a:rPr>
              <a:t> instead of just one.</a:t>
            </a:r>
            <a:br>
              <a:rPr lang="en-US"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AutoNum type="arabicPeriod"/>
            </a:pPr>
            <a:r>
              <a:rPr lang="en-US" sz="2000">
                <a:solidFill>
                  <a:schemeClr val="dk1"/>
                </a:solidFill>
              </a:rPr>
              <a:t>Each tree is trained on </a:t>
            </a:r>
            <a:r>
              <a:rPr lang="en-US" sz="2000" b="1">
                <a:solidFill>
                  <a:schemeClr val="dk1"/>
                </a:solidFill>
              </a:rPr>
              <a:t>random data samples</a:t>
            </a:r>
            <a:r>
              <a:rPr lang="en-US" sz="2000">
                <a:solidFill>
                  <a:schemeClr val="dk1"/>
                </a:solidFill>
              </a:rPr>
              <a:t>.</a:t>
            </a:r>
            <a:br>
              <a:rPr lang="en-US"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AutoNum type="arabicPeriod"/>
            </a:pPr>
            <a:r>
              <a:rPr lang="en-US" sz="2000">
                <a:solidFill>
                  <a:schemeClr val="dk1"/>
                </a:solidFill>
              </a:rPr>
              <a:t>Each tree gives a prediction.</a:t>
            </a:r>
            <a:br>
              <a:rPr lang="en-US"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AutoNum type="arabicPeriod"/>
            </a:pPr>
            <a:r>
              <a:rPr lang="en-US" sz="2000">
                <a:solidFill>
                  <a:schemeClr val="dk1"/>
                </a:solidFill>
              </a:rPr>
              <a:t>Final prediction is based on </a:t>
            </a:r>
            <a:r>
              <a:rPr lang="en-US" sz="2000" b="1">
                <a:solidFill>
                  <a:schemeClr val="dk1"/>
                </a:solidFill>
              </a:rPr>
              <a:t>majority voting (classification)</a:t>
            </a:r>
            <a:r>
              <a:rPr lang="en-US" sz="2000">
                <a:solidFill>
                  <a:schemeClr val="dk1"/>
                </a:solidFill>
              </a:rPr>
              <a:t> or </a:t>
            </a:r>
            <a:r>
              <a:rPr lang="en-US" sz="2000" b="1">
                <a:solidFill>
                  <a:schemeClr val="dk1"/>
                </a:solidFill>
              </a:rPr>
              <a:t>average (regression)</a:t>
            </a:r>
            <a:r>
              <a:rPr lang="en-US" sz="2000">
                <a:solidFill>
                  <a:schemeClr val="dk1"/>
                </a:solidFill>
              </a:rPr>
              <a:t>.</a:t>
            </a:r>
            <a:br>
              <a:rPr lang="en-US"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AutoNum type="arabicPeriod"/>
            </a:pPr>
            <a:r>
              <a:rPr lang="en-US" sz="2000">
                <a:solidFill>
                  <a:schemeClr val="dk1"/>
                </a:solidFill>
              </a:rPr>
              <a:t>It reduces </a:t>
            </a:r>
            <a:r>
              <a:rPr lang="en-US" sz="2000" b="1">
                <a:solidFill>
                  <a:schemeClr val="dk1"/>
                </a:solidFill>
              </a:rPr>
              <a:t>overfitting</a:t>
            </a:r>
            <a:r>
              <a:rPr lang="en-US" sz="2000">
                <a:solidFill>
                  <a:schemeClr val="dk1"/>
                </a:solidFill>
              </a:rPr>
              <a:t> and improves accuracy.</a:t>
            </a:r>
            <a:endParaRPr sz="20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295" name="Google Shape;295;g3c8e70b6676_0_89"/>
          <p:cNvPicPr preferRelativeResize="0"/>
          <p:nvPr/>
        </p:nvPicPr>
        <p:blipFill>
          <a:blip r:embed="rId3">
            <a:alphaModFix/>
          </a:blip>
          <a:stretch>
            <a:fillRect/>
          </a:stretch>
        </p:blipFill>
        <p:spPr>
          <a:xfrm>
            <a:off x="152400" y="403916"/>
            <a:ext cx="8839200" cy="5892800"/>
          </a:xfrm>
          <a:prstGeom prst="rect">
            <a:avLst/>
          </a:prstGeom>
          <a:noFill/>
          <a:ln w="38100" cap="flat" cmpd="sng">
            <a:solidFill>
              <a:schemeClr val="dk1"/>
            </a:solidFill>
            <a:prstDash val="solid"/>
            <a:round/>
            <a:headEnd type="none" w="sm" len="sm"/>
            <a:tailEnd type="none" w="sm" len="sm"/>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c8e70b6676_0_92"/>
          <p:cNvSpPr txBox="1"/>
          <p:nvPr/>
        </p:nvSpPr>
        <p:spPr>
          <a:xfrm>
            <a:off x="272150" y="306175"/>
            <a:ext cx="9144000" cy="593390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US" sz="3600" b="1" dirty="0">
                <a:solidFill>
                  <a:schemeClr val="dk1"/>
                </a:solidFill>
              </a:rPr>
              <a:t>Types of Random Forest</a:t>
            </a:r>
            <a:endParaRPr sz="3600" b="1" dirty="0">
              <a:solidFill>
                <a:schemeClr val="dk1"/>
              </a:solidFill>
            </a:endParaRPr>
          </a:p>
          <a:p>
            <a:pPr marL="0" lvl="0" indent="0" algn="l" rtl="0">
              <a:lnSpc>
                <a:spcPct val="115000"/>
              </a:lnSpc>
              <a:spcBef>
                <a:spcPts val="1800"/>
              </a:spcBef>
              <a:spcAft>
                <a:spcPts val="0"/>
              </a:spcAft>
              <a:buNone/>
            </a:pPr>
            <a:r>
              <a:rPr lang="en-US" sz="3000" b="1" dirty="0" smtClean="0">
                <a:solidFill>
                  <a:schemeClr val="dk1"/>
                </a:solidFill>
              </a:rPr>
              <a:t>1. </a:t>
            </a:r>
            <a:r>
              <a:rPr lang="en-US" sz="3000" b="1" dirty="0">
                <a:solidFill>
                  <a:schemeClr val="dk1"/>
                </a:solidFill>
              </a:rPr>
              <a:t>Random Forest for Classification</a:t>
            </a:r>
            <a:endParaRPr sz="3000" b="1" dirty="0">
              <a:solidFill>
                <a:schemeClr val="dk1"/>
              </a:solidFill>
            </a:endParaRPr>
          </a:p>
          <a:p>
            <a:pPr marL="457200" lvl="0" indent="-381000" algn="l" rtl="0">
              <a:lnSpc>
                <a:spcPct val="115000"/>
              </a:lnSpc>
              <a:spcBef>
                <a:spcPts val="1200"/>
              </a:spcBef>
              <a:spcAft>
                <a:spcPts val="0"/>
              </a:spcAft>
              <a:buClr>
                <a:schemeClr val="dk1"/>
              </a:buClr>
              <a:buSzPts val="2400"/>
              <a:buChar char="●"/>
            </a:pPr>
            <a:r>
              <a:rPr lang="en-US" sz="2400" dirty="0">
                <a:solidFill>
                  <a:schemeClr val="dk1"/>
                </a:solidFill>
              </a:rPr>
              <a:t>Output = Categories (Yes/No, Spam/Not Spam)</a:t>
            </a:r>
            <a:br>
              <a:rPr lang="en-US" sz="2400" dirty="0">
                <a:solidFill>
                  <a:schemeClr val="dk1"/>
                </a:solidFill>
              </a:rPr>
            </a:br>
            <a:endParaRPr sz="2400" dirty="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dirty="0">
                <a:solidFill>
                  <a:schemeClr val="dk1"/>
                </a:solidFill>
              </a:rPr>
              <a:t>Final result = Majority Voting</a:t>
            </a:r>
            <a:br>
              <a:rPr lang="en-US" sz="2400" dirty="0">
                <a:solidFill>
                  <a:schemeClr val="dk1"/>
                </a:solidFill>
              </a:rPr>
            </a:br>
            <a:endParaRPr sz="2400" dirty="0">
              <a:solidFill>
                <a:schemeClr val="dk1"/>
              </a:solidFill>
            </a:endParaRPr>
          </a:p>
          <a:p>
            <a:pPr marL="0" lvl="0" indent="0" algn="l" rtl="0">
              <a:lnSpc>
                <a:spcPct val="115000"/>
              </a:lnSpc>
              <a:spcBef>
                <a:spcPts val="1800"/>
              </a:spcBef>
              <a:spcAft>
                <a:spcPts val="0"/>
              </a:spcAft>
              <a:buNone/>
            </a:pPr>
            <a:r>
              <a:rPr lang="en-US" sz="3000" b="1" dirty="0" smtClean="0">
                <a:solidFill>
                  <a:schemeClr val="dk1"/>
                </a:solidFill>
              </a:rPr>
              <a:t>2. </a:t>
            </a:r>
            <a:r>
              <a:rPr lang="en-US" sz="3000" b="1" dirty="0">
                <a:solidFill>
                  <a:schemeClr val="dk1"/>
                </a:solidFill>
              </a:rPr>
              <a:t>Random Forest for Regression</a:t>
            </a:r>
            <a:endParaRPr sz="3000" b="1" dirty="0">
              <a:solidFill>
                <a:schemeClr val="dk1"/>
              </a:solidFill>
            </a:endParaRPr>
          </a:p>
          <a:p>
            <a:pPr marL="457200" lvl="0" indent="-381000" algn="l" rtl="0">
              <a:lnSpc>
                <a:spcPct val="115000"/>
              </a:lnSpc>
              <a:spcBef>
                <a:spcPts val="1200"/>
              </a:spcBef>
              <a:spcAft>
                <a:spcPts val="0"/>
              </a:spcAft>
              <a:buClr>
                <a:schemeClr val="dk1"/>
              </a:buClr>
              <a:buSzPts val="2400"/>
              <a:buChar char="●"/>
            </a:pPr>
            <a:r>
              <a:rPr lang="en-US" sz="2400" dirty="0">
                <a:solidFill>
                  <a:schemeClr val="dk1"/>
                </a:solidFill>
              </a:rPr>
              <a:t>Output = Continuous value (Salary, Price)</a:t>
            </a:r>
            <a:br>
              <a:rPr lang="en-US" sz="2400" dirty="0">
                <a:solidFill>
                  <a:schemeClr val="dk1"/>
                </a:solidFill>
              </a:rPr>
            </a:br>
            <a:endParaRPr sz="2400" dirty="0">
              <a:solidFill>
                <a:schemeClr val="dk1"/>
              </a:solidFill>
            </a:endParaRPr>
          </a:p>
          <a:p>
            <a:pPr marL="457200" lvl="0" indent="-381000" algn="l" rtl="0">
              <a:lnSpc>
                <a:spcPct val="115000"/>
              </a:lnSpc>
              <a:spcBef>
                <a:spcPts val="0"/>
              </a:spcBef>
              <a:spcAft>
                <a:spcPts val="0"/>
              </a:spcAft>
              <a:buClr>
                <a:schemeClr val="dk1"/>
              </a:buClr>
              <a:buSzPts val="2400"/>
              <a:buChar char="●"/>
            </a:pPr>
            <a:r>
              <a:rPr lang="en-US" sz="2400" dirty="0">
                <a:solidFill>
                  <a:schemeClr val="dk1"/>
                </a:solidFill>
              </a:rPr>
              <a:t>Final result = Average of all outputs</a:t>
            </a:r>
            <a:endParaRPr sz="2400" dirty="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3c8e70b6676_0_98"/>
          <p:cNvSpPr txBox="1"/>
          <p:nvPr/>
        </p:nvSpPr>
        <p:spPr>
          <a:xfrm>
            <a:off x="0" y="0"/>
            <a:ext cx="49722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700" b="1"/>
              <a:t>Regression Example</a:t>
            </a:r>
            <a:endParaRPr sz="2700" b="1"/>
          </a:p>
        </p:txBody>
      </p:sp>
      <p:sp>
        <p:nvSpPr>
          <p:cNvPr id="306" name="Google Shape;306;g3c8e70b6676_0_98"/>
          <p:cNvSpPr txBox="1"/>
          <p:nvPr/>
        </p:nvSpPr>
        <p:spPr>
          <a:xfrm>
            <a:off x="170089" y="629330"/>
            <a:ext cx="8986500" cy="594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t>from sklearn.ensemble import RandomForestRegressor</a:t>
            </a:r>
            <a:endParaRPr sz="2200"/>
          </a:p>
          <a:p>
            <a:pPr marL="0" lvl="0" indent="0" algn="l" rtl="0">
              <a:spcBef>
                <a:spcPts val="0"/>
              </a:spcBef>
              <a:spcAft>
                <a:spcPts val="0"/>
              </a:spcAft>
              <a:buNone/>
            </a:pPr>
            <a:r>
              <a:rPr lang="en-US" sz="2200"/>
              <a:t>import numpy as np</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Sample data</a:t>
            </a:r>
            <a:endParaRPr sz="2200"/>
          </a:p>
          <a:p>
            <a:pPr marL="0" lvl="0" indent="0" algn="l" rtl="0">
              <a:spcBef>
                <a:spcPts val="0"/>
              </a:spcBef>
              <a:spcAft>
                <a:spcPts val="0"/>
              </a:spcAft>
              <a:buNone/>
            </a:pPr>
            <a:r>
              <a:rPr lang="en-US" sz="2200"/>
              <a:t>X = np.array([[1], [2], [3], [4], [5]])</a:t>
            </a:r>
            <a:endParaRPr sz="2200"/>
          </a:p>
          <a:p>
            <a:pPr marL="0" lvl="0" indent="0" algn="l" rtl="0">
              <a:spcBef>
                <a:spcPts val="0"/>
              </a:spcBef>
              <a:spcAft>
                <a:spcPts val="0"/>
              </a:spcAft>
              <a:buNone/>
            </a:pPr>
            <a:r>
              <a:rPr lang="en-US" sz="2200"/>
              <a:t>y = np.array([10000, 20000, 30000, 40000, 50000])  # Salary</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Create model</a:t>
            </a:r>
            <a:endParaRPr sz="2200"/>
          </a:p>
          <a:p>
            <a:pPr marL="0" lvl="0" indent="0" algn="l" rtl="0">
              <a:spcBef>
                <a:spcPts val="0"/>
              </a:spcBef>
              <a:spcAft>
                <a:spcPts val="0"/>
              </a:spcAft>
              <a:buNone/>
            </a:pPr>
            <a:r>
              <a:rPr lang="en-US" sz="2200"/>
              <a:t>model = RandomForestRegressor(n_estimators=10)</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Train model</a:t>
            </a:r>
            <a:endParaRPr sz="2200"/>
          </a:p>
          <a:p>
            <a:pPr marL="0" lvl="0" indent="0" algn="l" rtl="0">
              <a:spcBef>
                <a:spcPts val="0"/>
              </a:spcBef>
              <a:spcAft>
                <a:spcPts val="0"/>
              </a:spcAft>
              <a:buNone/>
            </a:pPr>
            <a:r>
              <a:rPr lang="en-US" sz="2200"/>
              <a:t>model.fit(X, y)</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Predict</a:t>
            </a:r>
            <a:endParaRPr sz="2200"/>
          </a:p>
          <a:p>
            <a:pPr marL="0" lvl="0" indent="0" algn="l" rtl="0">
              <a:spcBef>
                <a:spcPts val="0"/>
              </a:spcBef>
              <a:spcAft>
                <a:spcPts val="0"/>
              </a:spcAft>
              <a:buNone/>
            </a:pPr>
            <a:r>
              <a:rPr lang="en-US" sz="2200"/>
              <a:t>prediction = model.predict([[3.5]])</a:t>
            </a:r>
            <a:endParaRPr sz="2200"/>
          </a:p>
          <a:p>
            <a:pPr marL="0" lvl="0" indent="0" algn="l" rtl="0">
              <a:spcBef>
                <a:spcPts val="0"/>
              </a:spcBef>
              <a:spcAft>
                <a:spcPts val="0"/>
              </a:spcAft>
              <a:buNone/>
            </a:pPr>
            <a:r>
              <a:rPr lang="en-US" sz="2200"/>
              <a:t>print("Predicted Salary:", prediction)</a:t>
            </a:r>
            <a:endParaRPr sz="2200"/>
          </a:p>
          <a:p>
            <a:pPr marL="0" lvl="0" indent="0" algn="l" rtl="0">
              <a:spcBef>
                <a:spcPts val="0"/>
              </a:spcBef>
              <a:spcAft>
                <a:spcPts val="0"/>
              </a:spcAft>
              <a:buNone/>
            </a:pPr>
            <a:endParaRPr sz="22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g3c8e70b6676_0_95"/>
          <p:cNvSpPr txBox="1"/>
          <p:nvPr/>
        </p:nvSpPr>
        <p:spPr>
          <a:xfrm>
            <a:off x="0" y="0"/>
            <a:ext cx="4308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t>Classification Example</a:t>
            </a:r>
            <a:endParaRPr sz="2800" b="1"/>
          </a:p>
        </p:txBody>
      </p:sp>
      <p:sp>
        <p:nvSpPr>
          <p:cNvPr id="312" name="Google Shape;312;g3c8e70b6676_0_95"/>
          <p:cNvSpPr txBox="1"/>
          <p:nvPr/>
        </p:nvSpPr>
        <p:spPr>
          <a:xfrm>
            <a:off x="170089" y="720000"/>
            <a:ext cx="9144000" cy="541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t>from sklearn.ensemble import RandomForestClassifier</a:t>
            </a:r>
            <a:endParaRPr sz="2000"/>
          </a:p>
          <a:p>
            <a:pPr marL="0" lvl="0" indent="0" algn="l" rtl="0">
              <a:spcBef>
                <a:spcPts val="0"/>
              </a:spcBef>
              <a:spcAft>
                <a:spcPts val="0"/>
              </a:spcAft>
              <a:buNone/>
            </a:pPr>
            <a:r>
              <a:rPr lang="en-US" sz="2000"/>
              <a:t>import numpy as np</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en-US" sz="2000"/>
              <a:t># Sample data</a:t>
            </a:r>
            <a:endParaRPr sz="2000"/>
          </a:p>
          <a:p>
            <a:pPr marL="0" lvl="0" indent="0" algn="l" rtl="0">
              <a:spcBef>
                <a:spcPts val="0"/>
              </a:spcBef>
              <a:spcAft>
                <a:spcPts val="0"/>
              </a:spcAft>
              <a:buNone/>
            </a:pPr>
            <a:r>
              <a:rPr lang="en-US" sz="2000"/>
              <a:t>X = np.array([[1], [2], [3], [4], [5]])</a:t>
            </a:r>
            <a:endParaRPr sz="2000"/>
          </a:p>
          <a:p>
            <a:pPr marL="0" lvl="0" indent="0" algn="l" rtl="0">
              <a:spcBef>
                <a:spcPts val="0"/>
              </a:spcBef>
              <a:spcAft>
                <a:spcPts val="0"/>
              </a:spcAft>
              <a:buNone/>
            </a:pPr>
            <a:r>
              <a:rPr lang="en-US" sz="2000"/>
              <a:t>y = np.array([0, 0, 0, 1, 1])  # 0 = Fail, 1 = Pass</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en-US" sz="2000"/>
              <a:t># Create model</a:t>
            </a:r>
            <a:endParaRPr sz="2000"/>
          </a:p>
          <a:p>
            <a:pPr marL="0" lvl="0" indent="0" algn="l" rtl="0">
              <a:spcBef>
                <a:spcPts val="0"/>
              </a:spcBef>
              <a:spcAft>
                <a:spcPts val="0"/>
              </a:spcAft>
              <a:buNone/>
            </a:pPr>
            <a:r>
              <a:rPr lang="en-US" sz="2000"/>
              <a:t>model = RandomForestClassifier(n_estimators=10)</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en-US" sz="2000"/>
              <a:t># Train model</a:t>
            </a:r>
            <a:endParaRPr sz="2000"/>
          </a:p>
          <a:p>
            <a:pPr marL="0" lvl="0" indent="0" algn="l" rtl="0">
              <a:spcBef>
                <a:spcPts val="0"/>
              </a:spcBef>
              <a:spcAft>
                <a:spcPts val="0"/>
              </a:spcAft>
              <a:buNone/>
            </a:pPr>
            <a:r>
              <a:rPr lang="en-US" sz="2000"/>
              <a:t>model.fit(X, y)</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en-US" sz="2000"/>
              <a:t># Predict</a:t>
            </a:r>
            <a:endParaRPr sz="2000"/>
          </a:p>
          <a:p>
            <a:pPr marL="0" lvl="0" indent="0" algn="l" rtl="0">
              <a:spcBef>
                <a:spcPts val="0"/>
              </a:spcBef>
              <a:spcAft>
                <a:spcPts val="0"/>
              </a:spcAft>
              <a:buNone/>
            </a:pPr>
            <a:r>
              <a:rPr lang="en-US" sz="2000"/>
              <a:t>prediction = model.predict([[3.5]])</a:t>
            </a:r>
            <a:endParaRPr sz="2000"/>
          </a:p>
          <a:p>
            <a:pPr marL="0" lvl="0" indent="0" algn="l" rtl="0">
              <a:spcBef>
                <a:spcPts val="0"/>
              </a:spcBef>
              <a:spcAft>
                <a:spcPts val="0"/>
              </a:spcAft>
              <a:buNone/>
            </a:pPr>
            <a:r>
              <a:rPr lang="en-US" sz="2000"/>
              <a:t>print("Prediction (0=Fail, 1=Pass):", prediction)</a:t>
            </a:r>
            <a:endParaRPr sz="2000"/>
          </a:p>
          <a:p>
            <a:pPr marL="0" lvl="0" indent="0" algn="l" rtl="0">
              <a:spcBef>
                <a:spcPts val="0"/>
              </a:spcBef>
              <a:spcAft>
                <a:spcPts val="0"/>
              </a:spcAft>
              <a:buNone/>
            </a:pPr>
            <a:endParaRPr sz="2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c8e70b6676_0_101"/>
          <p:cNvSpPr txBox="1"/>
          <p:nvPr/>
        </p:nvSpPr>
        <p:spPr>
          <a:xfrm>
            <a:off x="0" y="0"/>
            <a:ext cx="9144000" cy="61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600"/>
              </a:spcAft>
              <a:buNone/>
            </a:pPr>
            <a:r>
              <a:rPr lang="en-US" sz="2800" b="1">
                <a:solidFill>
                  <a:schemeClr val="dk1"/>
                </a:solidFill>
              </a:rPr>
              <a:t>Support Vector Machine (SVM)</a:t>
            </a:r>
            <a:endParaRPr sz="2800" b="1">
              <a:solidFill>
                <a:schemeClr val="dk1"/>
              </a:solidFill>
            </a:endParaRPr>
          </a:p>
        </p:txBody>
      </p:sp>
      <p:sp>
        <p:nvSpPr>
          <p:cNvPr id="318" name="Google Shape;318;g3c8e70b6676_0_101"/>
          <p:cNvSpPr txBox="1"/>
          <p:nvPr/>
        </p:nvSpPr>
        <p:spPr>
          <a:xfrm>
            <a:off x="0" y="782411"/>
            <a:ext cx="9003300" cy="5578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300" b="1">
                <a:solidFill>
                  <a:schemeClr val="dk1"/>
                </a:solidFill>
              </a:rPr>
              <a:t>Support Vector Machine (SVM)</a:t>
            </a:r>
            <a:r>
              <a:rPr lang="en-US" sz="2300">
                <a:solidFill>
                  <a:schemeClr val="dk1"/>
                </a:solidFill>
              </a:rPr>
              <a:t> is a supervised machine learning algorithm used for </a:t>
            </a:r>
            <a:r>
              <a:rPr lang="en-US" sz="2300" b="1">
                <a:solidFill>
                  <a:schemeClr val="dk1"/>
                </a:solidFill>
              </a:rPr>
              <a:t>classification and regression</a:t>
            </a:r>
            <a:r>
              <a:rPr lang="en-US" sz="2300">
                <a:solidFill>
                  <a:schemeClr val="dk1"/>
                </a:solidFill>
              </a:rPr>
              <a:t>.</a:t>
            </a:r>
            <a:endParaRPr sz="2300">
              <a:solidFill>
                <a:schemeClr val="dk1"/>
              </a:solidFill>
            </a:endParaRPr>
          </a:p>
          <a:p>
            <a:pPr marL="457200" lvl="0" indent="-374650" algn="l" rtl="0">
              <a:lnSpc>
                <a:spcPct val="115000"/>
              </a:lnSpc>
              <a:spcBef>
                <a:spcPts val="1200"/>
              </a:spcBef>
              <a:spcAft>
                <a:spcPts val="0"/>
              </a:spcAft>
              <a:buClr>
                <a:schemeClr val="dk1"/>
              </a:buClr>
              <a:buSzPts val="2300"/>
              <a:buAutoNum type="arabicPeriod"/>
            </a:pPr>
            <a:r>
              <a:rPr lang="en-US" sz="2300">
                <a:solidFill>
                  <a:schemeClr val="dk1"/>
                </a:solidFill>
              </a:rPr>
              <a:t>It tries to find the </a:t>
            </a:r>
            <a:r>
              <a:rPr lang="en-US" sz="2300" b="1">
                <a:solidFill>
                  <a:schemeClr val="dk1"/>
                </a:solidFill>
              </a:rPr>
              <a:t>best line (or boundary)</a:t>
            </a:r>
            <a:r>
              <a:rPr lang="en-US" sz="2300">
                <a:solidFill>
                  <a:schemeClr val="dk1"/>
                </a:solidFill>
              </a:rPr>
              <a:t> to separate data into classes.</a:t>
            </a:r>
            <a:br>
              <a:rPr lang="en-US" sz="2300">
                <a:solidFill>
                  <a:schemeClr val="dk1"/>
                </a:solidFill>
              </a:rPr>
            </a:br>
            <a:endParaRPr sz="2300">
              <a:solidFill>
                <a:schemeClr val="dk1"/>
              </a:solidFill>
            </a:endParaRPr>
          </a:p>
          <a:p>
            <a:pPr marL="457200" lvl="0" indent="-374650" algn="l" rtl="0">
              <a:lnSpc>
                <a:spcPct val="115000"/>
              </a:lnSpc>
              <a:spcBef>
                <a:spcPts val="0"/>
              </a:spcBef>
              <a:spcAft>
                <a:spcPts val="0"/>
              </a:spcAft>
              <a:buClr>
                <a:schemeClr val="dk1"/>
              </a:buClr>
              <a:buSzPts val="2300"/>
              <a:buAutoNum type="arabicPeriod"/>
            </a:pPr>
            <a:r>
              <a:rPr lang="en-US" sz="2300">
                <a:solidFill>
                  <a:schemeClr val="dk1"/>
                </a:solidFill>
              </a:rPr>
              <a:t>This boundary is called a </a:t>
            </a:r>
            <a:r>
              <a:rPr lang="en-US" sz="2300" b="1">
                <a:solidFill>
                  <a:schemeClr val="dk1"/>
                </a:solidFill>
              </a:rPr>
              <a:t>Hyperplane</a:t>
            </a:r>
            <a:r>
              <a:rPr lang="en-US" sz="2300">
                <a:solidFill>
                  <a:schemeClr val="dk1"/>
                </a:solidFill>
              </a:rPr>
              <a:t>.</a:t>
            </a:r>
            <a:br>
              <a:rPr lang="en-US" sz="2300">
                <a:solidFill>
                  <a:schemeClr val="dk1"/>
                </a:solidFill>
              </a:rPr>
            </a:br>
            <a:endParaRPr sz="2300">
              <a:solidFill>
                <a:schemeClr val="dk1"/>
              </a:solidFill>
            </a:endParaRPr>
          </a:p>
          <a:p>
            <a:pPr marL="457200" lvl="0" indent="-374650" algn="l" rtl="0">
              <a:lnSpc>
                <a:spcPct val="115000"/>
              </a:lnSpc>
              <a:spcBef>
                <a:spcPts val="0"/>
              </a:spcBef>
              <a:spcAft>
                <a:spcPts val="0"/>
              </a:spcAft>
              <a:buClr>
                <a:schemeClr val="dk1"/>
              </a:buClr>
              <a:buSzPts val="2300"/>
              <a:buAutoNum type="arabicPeriod"/>
            </a:pPr>
            <a:r>
              <a:rPr lang="en-US" sz="2300">
                <a:solidFill>
                  <a:schemeClr val="dk1"/>
                </a:solidFill>
              </a:rPr>
              <a:t>It chooses the hyperplane with the </a:t>
            </a:r>
            <a:r>
              <a:rPr lang="en-US" sz="2300" b="1">
                <a:solidFill>
                  <a:schemeClr val="dk1"/>
                </a:solidFill>
              </a:rPr>
              <a:t>maximum margin</a:t>
            </a:r>
            <a:r>
              <a:rPr lang="en-US" sz="2300">
                <a:solidFill>
                  <a:schemeClr val="dk1"/>
                </a:solidFill>
              </a:rPr>
              <a:t> (maximum distance from nearest points).</a:t>
            </a:r>
            <a:br>
              <a:rPr lang="en-US" sz="2300">
                <a:solidFill>
                  <a:schemeClr val="dk1"/>
                </a:solidFill>
              </a:rPr>
            </a:br>
            <a:endParaRPr sz="2300">
              <a:solidFill>
                <a:schemeClr val="dk1"/>
              </a:solidFill>
            </a:endParaRPr>
          </a:p>
          <a:p>
            <a:pPr marL="457200" lvl="0" indent="-374650" algn="l" rtl="0">
              <a:lnSpc>
                <a:spcPct val="115000"/>
              </a:lnSpc>
              <a:spcBef>
                <a:spcPts val="0"/>
              </a:spcBef>
              <a:spcAft>
                <a:spcPts val="0"/>
              </a:spcAft>
              <a:buClr>
                <a:schemeClr val="dk1"/>
              </a:buClr>
              <a:buSzPts val="2300"/>
              <a:buAutoNum type="arabicPeriod"/>
            </a:pPr>
            <a:r>
              <a:rPr lang="en-US" sz="2300">
                <a:solidFill>
                  <a:schemeClr val="dk1"/>
                </a:solidFill>
              </a:rPr>
              <a:t>The nearest data points are called </a:t>
            </a:r>
            <a:r>
              <a:rPr lang="en-US" sz="2300" b="1">
                <a:solidFill>
                  <a:schemeClr val="dk1"/>
                </a:solidFill>
              </a:rPr>
              <a:t>Support Vectors</a:t>
            </a:r>
            <a:r>
              <a:rPr lang="en-US" sz="2300">
                <a:solidFill>
                  <a:schemeClr val="dk1"/>
                </a:solidFill>
              </a:rPr>
              <a:t>.</a:t>
            </a:r>
            <a:br>
              <a:rPr lang="en-US" sz="2300">
                <a:solidFill>
                  <a:schemeClr val="dk1"/>
                </a:solidFill>
              </a:rPr>
            </a:br>
            <a:endParaRPr sz="2300">
              <a:solidFill>
                <a:schemeClr val="dk1"/>
              </a:solidFill>
            </a:endParaRPr>
          </a:p>
          <a:p>
            <a:pPr marL="457200" lvl="0" indent="-374650" algn="l" rtl="0">
              <a:lnSpc>
                <a:spcPct val="115000"/>
              </a:lnSpc>
              <a:spcBef>
                <a:spcPts val="0"/>
              </a:spcBef>
              <a:spcAft>
                <a:spcPts val="0"/>
              </a:spcAft>
              <a:buClr>
                <a:schemeClr val="dk1"/>
              </a:buClr>
              <a:buSzPts val="2300"/>
              <a:buAutoNum type="arabicPeriod"/>
            </a:pPr>
            <a:r>
              <a:rPr lang="en-US" sz="2300">
                <a:solidFill>
                  <a:schemeClr val="dk1"/>
                </a:solidFill>
              </a:rPr>
              <a:t>It works well for both linear and non-linear data.</a:t>
            </a:r>
            <a:endParaRPr sz="23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pic>
        <p:nvPicPr>
          <p:cNvPr id="323" name="Google Shape;323;g3c8e70b6676_0_104"/>
          <p:cNvPicPr preferRelativeResize="0"/>
          <p:nvPr/>
        </p:nvPicPr>
        <p:blipFill>
          <a:blip r:embed="rId3">
            <a:alphaModFix/>
          </a:blip>
          <a:stretch>
            <a:fillRect/>
          </a:stretch>
        </p:blipFill>
        <p:spPr>
          <a:xfrm>
            <a:off x="152400" y="117188"/>
            <a:ext cx="8578850" cy="5190200"/>
          </a:xfrm>
          <a:prstGeom prst="rect">
            <a:avLst/>
          </a:prstGeom>
          <a:noFill/>
          <a:ln w="38100" cap="flat" cmpd="sng">
            <a:solidFill>
              <a:schemeClr val="dk1"/>
            </a:solidFill>
            <a:prstDash val="solid"/>
            <a:round/>
            <a:headEnd type="none" w="sm" len="sm"/>
            <a:tailEnd type="none" w="sm" len="sm"/>
          </a:ln>
        </p:spPr>
      </p:pic>
      <p:sp>
        <p:nvSpPr>
          <p:cNvPr id="324" name="Google Shape;324;g3c8e70b6676_0_104"/>
          <p:cNvSpPr txBox="1"/>
          <p:nvPr/>
        </p:nvSpPr>
        <p:spPr>
          <a:xfrm>
            <a:off x="306161" y="5339356"/>
            <a:ext cx="8991600" cy="180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US" b="1" dirty="0">
                <a:solidFill>
                  <a:schemeClr val="dk1"/>
                </a:solidFill>
              </a:rPr>
              <a:t>Key Terms:</a:t>
            </a:r>
            <a:endParaRPr b="1" dirty="0">
              <a:solidFill>
                <a:schemeClr val="dk1"/>
              </a:solidFill>
            </a:endParaRPr>
          </a:p>
          <a:p>
            <a:pPr marL="457200" lvl="0" indent="-336550" algn="l" rtl="0">
              <a:lnSpc>
                <a:spcPct val="115000"/>
              </a:lnSpc>
              <a:spcBef>
                <a:spcPts val="1200"/>
              </a:spcBef>
              <a:spcAft>
                <a:spcPts val="0"/>
              </a:spcAft>
              <a:buClr>
                <a:schemeClr val="dk1"/>
              </a:buClr>
              <a:buSzPts val="1700"/>
              <a:buChar char="●"/>
            </a:pPr>
            <a:r>
              <a:rPr lang="en-US" b="1" dirty="0" err="1">
                <a:solidFill>
                  <a:schemeClr val="dk1"/>
                </a:solidFill>
              </a:rPr>
              <a:t>Hyperplane</a:t>
            </a:r>
            <a:r>
              <a:rPr lang="en-US" dirty="0">
                <a:solidFill>
                  <a:schemeClr val="dk1"/>
                </a:solidFill>
              </a:rPr>
              <a:t> → Decision boundary (line in 2D)</a:t>
            </a:r>
            <a:endParaRPr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b="1" dirty="0">
                <a:solidFill>
                  <a:schemeClr val="dk1"/>
                </a:solidFill>
              </a:rPr>
              <a:t>Margin</a:t>
            </a:r>
            <a:r>
              <a:rPr lang="en-US" dirty="0">
                <a:solidFill>
                  <a:schemeClr val="dk1"/>
                </a:solidFill>
              </a:rPr>
              <a:t> → Distance between boundary and nearest points</a:t>
            </a:r>
            <a:endParaRPr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b="1" dirty="0">
                <a:solidFill>
                  <a:schemeClr val="dk1"/>
                </a:solidFill>
              </a:rPr>
              <a:t>Support Vectors</a:t>
            </a:r>
            <a:r>
              <a:rPr lang="en-US" dirty="0">
                <a:solidFill>
                  <a:schemeClr val="dk1"/>
                </a:solidFill>
              </a:rPr>
              <a:t> → Points closest to boundary</a:t>
            </a:r>
            <a:br>
              <a:rPr lang="en-US" dirty="0">
                <a:solidFill>
                  <a:schemeClr val="dk1"/>
                </a:solidFill>
              </a:rPr>
            </a:br>
            <a:endParaRPr dirty="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3c8e70b6676_0_107"/>
          <p:cNvSpPr txBox="1"/>
          <p:nvPr/>
        </p:nvSpPr>
        <p:spPr>
          <a:xfrm>
            <a:off x="255134" y="204107"/>
            <a:ext cx="6094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500" b="1"/>
              <a:t>Classification Example</a:t>
            </a:r>
            <a:endParaRPr sz="2500" b="1"/>
          </a:p>
        </p:txBody>
      </p:sp>
      <p:sp>
        <p:nvSpPr>
          <p:cNvPr id="330" name="Google Shape;330;g3c8e70b6676_0_107"/>
          <p:cNvSpPr txBox="1"/>
          <p:nvPr/>
        </p:nvSpPr>
        <p:spPr>
          <a:xfrm>
            <a:off x="238125" y="916500"/>
            <a:ext cx="9054300" cy="594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t>from sklearn.svm import SVC</a:t>
            </a:r>
            <a:endParaRPr sz="2200"/>
          </a:p>
          <a:p>
            <a:pPr marL="0" lvl="0" indent="0" algn="l" rtl="0">
              <a:spcBef>
                <a:spcPts val="0"/>
              </a:spcBef>
              <a:spcAft>
                <a:spcPts val="0"/>
              </a:spcAft>
              <a:buNone/>
            </a:pPr>
            <a:r>
              <a:rPr lang="en-US" sz="2200"/>
              <a:t>import numpy as np</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Sample data (Hours studied)</a:t>
            </a:r>
            <a:endParaRPr sz="2200"/>
          </a:p>
          <a:p>
            <a:pPr marL="0" lvl="0" indent="0" algn="l" rtl="0">
              <a:spcBef>
                <a:spcPts val="0"/>
              </a:spcBef>
              <a:spcAft>
                <a:spcPts val="0"/>
              </a:spcAft>
              <a:buNone/>
            </a:pPr>
            <a:r>
              <a:rPr lang="en-US" sz="2200"/>
              <a:t>X = np.array([[1], [2], [3], [4], [5]])</a:t>
            </a:r>
            <a:endParaRPr sz="2200"/>
          </a:p>
          <a:p>
            <a:pPr marL="0" lvl="0" indent="0" algn="l" rtl="0">
              <a:spcBef>
                <a:spcPts val="0"/>
              </a:spcBef>
              <a:spcAft>
                <a:spcPts val="0"/>
              </a:spcAft>
              <a:buNone/>
            </a:pPr>
            <a:r>
              <a:rPr lang="en-US" sz="2200"/>
              <a:t>y = np.array([0, 0, 0, 1, 1])  # 0 = Fail, 1 = Pass</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Create model</a:t>
            </a:r>
            <a:endParaRPr sz="2200"/>
          </a:p>
          <a:p>
            <a:pPr marL="0" lvl="0" indent="0" algn="l" rtl="0">
              <a:spcBef>
                <a:spcPts val="0"/>
              </a:spcBef>
              <a:spcAft>
                <a:spcPts val="0"/>
              </a:spcAft>
              <a:buNone/>
            </a:pPr>
            <a:r>
              <a:rPr lang="en-US" sz="2200"/>
              <a:t>model = SVC(kernel='linear')</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Train model</a:t>
            </a:r>
            <a:endParaRPr sz="2200"/>
          </a:p>
          <a:p>
            <a:pPr marL="0" lvl="0" indent="0" algn="l" rtl="0">
              <a:spcBef>
                <a:spcPts val="0"/>
              </a:spcBef>
              <a:spcAft>
                <a:spcPts val="0"/>
              </a:spcAft>
              <a:buNone/>
            </a:pPr>
            <a:r>
              <a:rPr lang="en-US" sz="2200"/>
              <a:t>model.fit(X, y)</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US" sz="2200"/>
              <a:t># Predict</a:t>
            </a:r>
            <a:endParaRPr sz="2200"/>
          </a:p>
          <a:p>
            <a:pPr marL="0" lvl="0" indent="0" algn="l" rtl="0">
              <a:spcBef>
                <a:spcPts val="0"/>
              </a:spcBef>
              <a:spcAft>
                <a:spcPts val="0"/>
              </a:spcAft>
              <a:buNone/>
            </a:pPr>
            <a:r>
              <a:rPr lang="en-US" sz="2200"/>
              <a:t>prediction = model.predict([[3.5]])</a:t>
            </a:r>
            <a:endParaRPr sz="2200"/>
          </a:p>
          <a:p>
            <a:pPr marL="0" lvl="0" indent="0" algn="l" rtl="0">
              <a:spcBef>
                <a:spcPts val="0"/>
              </a:spcBef>
              <a:spcAft>
                <a:spcPts val="0"/>
              </a:spcAft>
              <a:buNone/>
            </a:pPr>
            <a:r>
              <a:rPr lang="en-US" sz="2200"/>
              <a:t>print("Prediction (0=Fail, 1=Pass):", prediction)</a:t>
            </a:r>
            <a:endParaRPr sz="2200"/>
          </a:p>
          <a:p>
            <a:pPr marL="0" lvl="0" indent="0" algn="l" rtl="0">
              <a:spcBef>
                <a:spcPts val="0"/>
              </a:spcBef>
              <a:spcAft>
                <a:spcPts val="0"/>
              </a:spcAft>
              <a:buNone/>
            </a:pPr>
            <a:endParaRPr sz="22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g3c8e70b6676_0_113"/>
          <p:cNvSpPr txBox="1"/>
          <p:nvPr/>
        </p:nvSpPr>
        <p:spPr>
          <a:xfrm>
            <a:off x="306161" y="85045"/>
            <a:ext cx="9144000" cy="56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400"/>
              </a:spcAft>
              <a:buNone/>
            </a:pPr>
            <a:r>
              <a:rPr lang="en-US" sz="2500" b="1">
                <a:solidFill>
                  <a:schemeClr val="dk1"/>
                </a:solidFill>
              </a:rPr>
              <a:t>Regression Example (SVR)</a:t>
            </a:r>
            <a:endParaRPr sz="2500" b="1">
              <a:solidFill>
                <a:schemeClr val="dk1"/>
              </a:solidFill>
            </a:endParaRPr>
          </a:p>
        </p:txBody>
      </p:sp>
      <p:sp>
        <p:nvSpPr>
          <p:cNvPr id="336" name="Google Shape;336;g3c8e70b6676_0_113"/>
          <p:cNvSpPr txBox="1"/>
          <p:nvPr/>
        </p:nvSpPr>
        <p:spPr>
          <a:xfrm>
            <a:off x="204107" y="953277"/>
            <a:ext cx="9144000" cy="541683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t>from </a:t>
            </a:r>
            <a:r>
              <a:rPr lang="en-US" sz="2000" dirty="0" err="1"/>
              <a:t>sklearn.svm</a:t>
            </a:r>
            <a:r>
              <a:rPr lang="en-US" sz="2000" dirty="0"/>
              <a:t> import SVR</a:t>
            </a:r>
            <a:endParaRPr sz="2000" dirty="0"/>
          </a:p>
          <a:p>
            <a:pPr marL="0" lvl="0" indent="0" algn="l" rtl="0">
              <a:spcBef>
                <a:spcPts val="0"/>
              </a:spcBef>
              <a:spcAft>
                <a:spcPts val="0"/>
              </a:spcAft>
              <a:buNone/>
            </a:pPr>
            <a:r>
              <a:rPr lang="en-US" sz="2000" dirty="0"/>
              <a:t>import </a:t>
            </a:r>
            <a:r>
              <a:rPr lang="en-US" sz="2000" dirty="0" err="1"/>
              <a:t>numpy</a:t>
            </a:r>
            <a:r>
              <a:rPr lang="en-US" sz="2000" dirty="0"/>
              <a:t> as </a:t>
            </a:r>
            <a:r>
              <a:rPr lang="en-US" sz="2000" dirty="0" err="1"/>
              <a:t>np</a:t>
            </a:r>
            <a:endParaRPr sz="2000" dirty="0"/>
          </a:p>
          <a:p>
            <a:pPr marL="0" lvl="0" indent="0" algn="l" rtl="0">
              <a:spcBef>
                <a:spcPts val="0"/>
              </a:spcBef>
              <a:spcAft>
                <a:spcPts val="0"/>
              </a:spcAft>
              <a:buNone/>
            </a:pPr>
            <a:endParaRPr sz="2000" dirty="0"/>
          </a:p>
          <a:p>
            <a:pPr marL="0" lvl="0" indent="0" algn="l" rtl="0">
              <a:spcBef>
                <a:spcPts val="0"/>
              </a:spcBef>
              <a:spcAft>
                <a:spcPts val="0"/>
              </a:spcAft>
              <a:buNone/>
            </a:pPr>
            <a:r>
              <a:rPr lang="en-US" sz="2000" dirty="0"/>
              <a:t># Sample data</a:t>
            </a:r>
            <a:endParaRPr sz="2000" dirty="0"/>
          </a:p>
          <a:p>
            <a:pPr marL="0" lvl="0" indent="0" algn="l" rtl="0">
              <a:spcBef>
                <a:spcPts val="0"/>
              </a:spcBef>
              <a:spcAft>
                <a:spcPts val="0"/>
              </a:spcAft>
              <a:buNone/>
            </a:pPr>
            <a:r>
              <a:rPr lang="en-US" sz="2000" dirty="0"/>
              <a:t>X = </a:t>
            </a:r>
            <a:r>
              <a:rPr lang="en-US" sz="2000" dirty="0" err="1"/>
              <a:t>np.array</a:t>
            </a:r>
            <a:r>
              <a:rPr lang="en-US" sz="2000" dirty="0"/>
              <a:t>([[1], [2], [3], [4], [5]])</a:t>
            </a:r>
            <a:endParaRPr sz="2000" dirty="0"/>
          </a:p>
          <a:p>
            <a:pPr marL="0" lvl="0" indent="0" algn="l" rtl="0">
              <a:spcBef>
                <a:spcPts val="0"/>
              </a:spcBef>
              <a:spcAft>
                <a:spcPts val="0"/>
              </a:spcAft>
              <a:buNone/>
            </a:pPr>
            <a:r>
              <a:rPr lang="en-US" sz="2000" dirty="0"/>
              <a:t>y = </a:t>
            </a:r>
            <a:r>
              <a:rPr lang="en-US" sz="2000" dirty="0" err="1"/>
              <a:t>np.array</a:t>
            </a:r>
            <a:r>
              <a:rPr lang="en-US" sz="2000" dirty="0"/>
              <a:t>([10000, 20000, 30000, 40000, 50000])</a:t>
            </a:r>
            <a:endParaRPr sz="2000" dirty="0"/>
          </a:p>
          <a:p>
            <a:pPr marL="0" lvl="0" indent="0" algn="l" rtl="0">
              <a:spcBef>
                <a:spcPts val="0"/>
              </a:spcBef>
              <a:spcAft>
                <a:spcPts val="0"/>
              </a:spcAft>
              <a:buNone/>
            </a:pPr>
            <a:endParaRPr sz="2000" dirty="0"/>
          </a:p>
          <a:p>
            <a:pPr marL="0" lvl="0" indent="0" algn="l" rtl="0">
              <a:spcBef>
                <a:spcPts val="0"/>
              </a:spcBef>
              <a:spcAft>
                <a:spcPts val="0"/>
              </a:spcAft>
              <a:buNone/>
            </a:pPr>
            <a:r>
              <a:rPr lang="en-US" sz="2000" dirty="0"/>
              <a:t># Create model</a:t>
            </a:r>
            <a:endParaRPr sz="2000" dirty="0"/>
          </a:p>
          <a:p>
            <a:pPr marL="0" lvl="0" indent="0" algn="l" rtl="0">
              <a:spcBef>
                <a:spcPts val="0"/>
              </a:spcBef>
              <a:spcAft>
                <a:spcPts val="0"/>
              </a:spcAft>
              <a:buNone/>
            </a:pPr>
            <a:r>
              <a:rPr lang="en-US" sz="2000" dirty="0"/>
              <a:t>model = SVR(kernel='linear')</a:t>
            </a:r>
            <a:endParaRPr sz="2000" dirty="0"/>
          </a:p>
          <a:p>
            <a:pPr marL="0" lvl="0" indent="0" algn="l" rtl="0">
              <a:spcBef>
                <a:spcPts val="0"/>
              </a:spcBef>
              <a:spcAft>
                <a:spcPts val="0"/>
              </a:spcAft>
              <a:buNone/>
            </a:pPr>
            <a:endParaRPr sz="2000" dirty="0"/>
          </a:p>
          <a:p>
            <a:pPr marL="0" lvl="0" indent="0" algn="l" rtl="0">
              <a:spcBef>
                <a:spcPts val="0"/>
              </a:spcBef>
              <a:spcAft>
                <a:spcPts val="0"/>
              </a:spcAft>
              <a:buNone/>
            </a:pPr>
            <a:r>
              <a:rPr lang="en-US" sz="2000" dirty="0"/>
              <a:t># Train model</a:t>
            </a:r>
            <a:endParaRPr sz="2000" dirty="0"/>
          </a:p>
          <a:p>
            <a:pPr marL="0" lvl="0" indent="0" algn="l" rtl="0">
              <a:spcBef>
                <a:spcPts val="0"/>
              </a:spcBef>
              <a:spcAft>
                <a:spcPts val="0"/>
              </a:spcAft>
              <a:buNone/>
            </a:pPr>
            <a:r>
              <a:rPr lang="en-US" sz="2000" dirty="0" err="1"/>
              <a:t>model.fit</a:t>
            </a:r>
            <a:r>
              <a:rPr lang="en-US" sz="2000" dirty="0"/>
              <a:t>(X, y)</a:t>
            </a:r>
            <a:endParaRPr sz="2000" dirty="0"/>
          </a:p>
          <a:p>
            <a:pPr marL="0" lvl="0" indent="0" algn="l" rtl="0">
              <a:spcBef>
                <a:spcPts val="0"/>
              </a:spcBef>
              <a:spcAft>
                <a:spcPts val="0"/>
              </a:spcAft>
              <a:buNone/>
            </a:pPr>
            <a:endParaRPr sz="2000" dirty="0"/>
          </a:p>
          <a:p>
            <a:pPr marL="0" lvl="0" indent="0" algn="l" rtl="0">
              <a:spcBef>
                <a:spcPts val="0"/>
              </a:spcBef>
              <a:spcAft>
                <a:spcPts val="0"/>
              </a:spcAft>
              <a:buNone/>
            </a:pPr>
            <a:r>
              <a:rPr lang="en-US" sz="2000" dirty="0"/>
              <a:t># Predict</a:t>
            </a:r>
            <a:endParaRPr sz="2000" dirty="0"/>
          </a:p>
          <a:p>
            <a:pPr marL="0" lvl="0" indent="0" algn="l" rtl="0">
              <a:spcBef>
                <a:spcPts val="0"/>
              </a:spcBef>
              <a:spcAft>
                <a:spcPts val="0"/>
              </a:spcAft>
              <a:buNone/>
            </a:pPr>
            <a:r>
              <a:rPr lang="en-US" sz="2000" dirty="0"/>
              <a:t>prediction = </a:t>
            </a:r>
            <a:r>
              <a:rPr lang="en-US" sz="2000" dirty="0" err="1"/>
              <a:t>model.predict</a:t>
            </a:r>
            <a:r>
              <a:rPr lang="en-US" sz="2000" dirty="0"/>
              <a:t>([[3.5]])</a:t>
            </a:r>
            <a:endParaRPr sz="2000" dirty="0"/>
          </a:p>
          <a:p>
            <a:pPr marL="0" lvl="0" indent="0" algn="l" rtl="0">
              <a:spcBef>
                <a:spcPts val="0"/>
              </a:spcBef>
              <a:spcAft>
                <a:spcPts val="0"/>
              </a:spcAft>
              <a:buNone/>
            </a:pPr>
            <a:r>
              <a:rPr lang="en-US" sz="2000" dirty="0"/>
              <a:t>print("Predicted Value:", prediction)</a:t>
            </a:r>
            <a:endParaRPr sz="2000" dirty="0"/>
          </a:p>
          <a:p>
            <a:pPr marL="0" lvl="0" indent="0" algn="l" rtl="0">
              <a:spcBef>
                <a:spcPts val="0"/>
              </a:spcBef>
              <a:spcAft>
                <a:spcPts val="0"/>
              </a:spcAft>
              <a:buNone/>
            </a:pPr>
            <a:endParaRPr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3c8e70b6676_0_24"/>
          <p:cNvSpPr txBox="1"/>
          <p:nvPr/>
        </p:nvSpPr>
        <p:spPr>
          <a:xfrm>
            <a:off x="0" y="452729"/>
            <a:ext cx="9144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t>K-Nearest Neighbors (KNN)</a:t>
            </a:r>
            <a:endParaRPr sz="2800" b="1"/>
          </a:p>
        </p:txBody>
      </p:sp>
      <p:sp>
        <p:nvSpPr>
          <p:cNvPr id="342" name="Google Shape;342;g3c8e70b6676_0_24"/>
          <p:cNvSpPr txBox="1"/>
          <p:nvPr/>
        </p:nvSpPr>
        <p:spPr>
          <a:xfrm>
            <a:off x="134142" y="1760625"/>
            <a:ext cx="9144000" cy="4186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solidFill>
                  <a:schemeClr val="dk1"/>
                </a:solidFill>
              </a:rPr>
              <a:t>KNN</a:t>
            </a:r>
            <a:r>
              <a:rPr lang="en-US" sz="2600">
                <a:solidFill>
                  <a:schemeClr val="dk1"/>
                </a:solidFill>
              </a:rPr>
              <a:t> is a supervised learning algorithm used for classification and regression.</a:t>
            </a:r>
            <a:br>
              <a:rPr lang="en-US" sz="2600">
                <a:solidFill>
                  <a:schemeClr val="dk1"/>
                </a:solidFill>
              </a:rPr>
            </a:br>
            <a:endParaRPr sz="2600">
              <a:solidFill>
                <a:schemeClr val="dk1"/>
              </a:solidFill>
            </a:endParaRPr>
          </a:p>
          <a:p>
            <a:pPr marL="0" lvl="0" indent="0" algn="l" rtl="0">
              <a:spcBef>
                <a:spcPts val="0"/>
              </a:spcBef>
              <a:spcAft>
                <a:spcPts val="0"/>
              </a:spcAft>
              <a:buNone/>
            </a:pPr>
            <a:r>
              <a:rPr lang="en-US" sz="2600">
                <a:solidFill>
                  <a:schemeClr val="dk1"/>
                </a:solidFill>
              </a:rPr>
              <a:t>It does not build a model; it stores all training data.</a:t>
            </a:r>
            <a:br>
              <a:rPr lang="en-US" sz="2600">
                <a:solidFill>
                  <a:schemeClr val="dk1"/>
                </a:solidFill>
              </a:rPr>
            </a:br>
            <a:endParaRPr sz="2600">
              <a:solidFill>
                <a:schemeClr val="dk1"/>
              </a:solidFill>
            </a:endParaRPr>
          </a:p>
          <a:p>
            <a:pPr marL="0" lvl="0" indent="0" algn="l" rtl="0">
              <a:spcBef>
                <a:spcPts val="0"/>
              </a:spcBef>
              <a:spcAft>
                <a:spcPts val="0"/>
              </a:spcAft>
              <a:buNone/>
            </a:pPr>
            <a:r>
              <a:rPr lang="en-US" sz="2600">
                <a:solidFill>
                  <a:schemeClr val="dk1"/>
                </a:solidFill>
              </a:rPr>
              <a:t>When new data comes, it finds the </a:t>
            </a:r>
            <a:r>
              <a:rPr lang="en-US" sz="2600" b="1">
                <a:solidFill>
                  <a:schemeClr val="dk1"/>
                </a:solidFill>
              </a:rPr>
              <a:t>K nearest data points</a:t>
            </a:r>
            <a:r>
              <a:rPr lang="en-US" sz="2600">
                <a:solidFill>
                  <a:schemeClr val="dk1"/>
                </a:solidFill>
              </a:rPr>
              <a:t>.</a:t>
            </a:r>
            <a:br>
              <a:rPr lang="en-US" sz="2600">
                <a:solidFill>
                  <a:schemeClr val="dk1"/>
                </a:solidFill>
              </a:rPr>
            </a:br>
            <a:endParaRPr sz="2600">
              <a:solidFill>
                <a:schemeClr val="dk1"/>
              </a:solidFill>
            </a:endParaRPr>
          </a:p>
          <a:p>
            <a:pPr marL="0" lvl="0" indent="0" algn="l" rtl="0">
              <a:spcBef>
                <a:spcPts val="0"/>
              </a:spcBef>
              <a:spcAft>
                <a:spcPts val="0"/>
              </a:spcAft>
              <a:buNone/>
            </a:pPr>
            <a:r>
              <a:rPr lang="en-US" sz="2600">
                <a:solidFill>
                  <a:schemeClr val="dk1"/>
                </a:solidFill>
              </a:rPr>
              <a:t>For classification → it uses </a:t>
            </a:r>
            <a:r>
              <a:rPr lang="en-US" sz="2600" b="1">
                <a:solidFill>
                  <a:schemeClr val="dk1"/>
                </a:solidFill>
              </a:rPr>
              <a:t>majority voting</a:t>
            </a:r>
            <a:r>
              <a:rPr lang="en-US" sz="2600">
                <a:solidFill>
                  <a:schemeClr val="dk1"/>
                </a:solidFill>
              </a:rPr>
              <a:t>.</a:t>
            </a:r>
            <a:br>
              <a:rPr lang="en-US" sz="2600">
                <a:solidFill>
                  <a:schemeClr val="dk1"/>
                </a:solidFill>
              </a:rPr>
            </a:br>
            <a:endParaRPr sz="2600">
              <a:solidFill>
                <a:schemeClr val="dk1"/>
              </a:solidFill>
            </a:endParaRPr>
          </a:p>
          <a:p>
            <a:pPr marL="0" lvl="0" indent="0" algn="l" rtl="0">
              <a:spcBef>
                <a:spcPts val="0"/>
              </a:spcBef>
              <a:spcAft>
                <a:spcPts val="0"/>
              </a:spcAft>
              <a:buNone/>
            </a:pPr>
            <a:r>
              <a:rPr lang="en-US" sz="2600">
                <a:solidFill>
                  <a:schemeClr val="dk1"/>
                </a:solidFill>
              </a:rPr>
              <a:t>For regression → it uses the </a:t>
            </a:r>
            <a:r>
              <a:rPr lang="en-US" sz="2600" b="1">
                <a:solidFill>
                  <a:schemeClr val="dk1"/>
                </a:solidFill>
              </a:rPr>
              <a:t>average of nearest values</a:t>
            </a:r>
            <a:r>
              <a:rPr lang="en-US" sz="2600">
                <a:solidFill>
                  <a:schemeClr val="dk1"/>
                </a:solidFill>
              </a:rPr>
              <a:t>.</a:t>
            </a:r>
            <a:endParaRPr sz="26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g3c8e70b6676_0_27"/>
          <p:cNvPicPr preferRelativeResize="0"/>
          <p:nvPr/>
        </p:nvPicPr>
        <p:blipFill>
          <a:blip r:embed="rId3">
            <a:alphaModFix/>
          </a:blip>
          <a:stretch>
            <a:fillRect/>
          </a:stretch>
        </p:blipFill>
        <p:spPr>
          <a:xfrm>
            <a:off x="152400" y="823109"/>
            <a:ext cx="8839200" cy="4972050"/>
          </a:xfrm>
          <a:prstGeom prst="rect">
            <a:avLst/>
          </a:prstGeom>
          <a:noFill/>
          <a:ln w="38100" cap="flat" cmpd="sng">
            <a:solidFill>
              <a:schemeClr val="dk1"/>
            </a:solidFill>
            <a:prstDash val="solid"/>
            <a:round/>
            <a:headEnd type="none" w="sm" len="sm"/>
            <a:tailEnd type="none" w="sm" len="sm"/>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g3c95a66d9ab_0_0"/>
          <p:cNvSpPr txBox="1"/>
          <p:nvPr/>
        </p:nvSpPr>
        <p:spPr>
          <a:xfrm>
            <a:off x="0" y="2280398"/>
            <a:ext cx="9144000" cy="384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2600" b="1">
                <a:solidFill>
                  <a:schemeClr val="dk1"/>
                </a:solidFill>
              </a:rPr>
              <a:t>What Is Happening in the Diagram?</a:t>
            </a:r>
            <a:endParaRPr sz="2600" b="1">
              <a:solidFill>
                <a:schemeClr val="dk1"/>
              </a:solidFill>
            </a:endParaRPr>
          </a:p>
          <a:p>
            <a:pPr marL="457200" lvl="0" indent="-355600" algn="l" rtl="0">
              <a:lnSpc>
                <a:spcPct val="115000"/>
              </a:lnSpc>
              <a:spcBef>
                <a:spcPts val="1200"/>
              </a:spcBef>
              <a:spcAft>
                <a:spcPts val="0"/>
              </a:spcAft>
              <a:buClr>
                <a:schemeClr val="dk1"/>
              </a:buClr>
              <a:buSzPts val="2000"/>
              <a:buAutoNum type="arabicPeriod"/>
            </a:pPr>
            <a:r>
              <a:rPr lang="en-US" sz="2000">
                <a:solidFill>
                  <a:schemeClr val="dk1"/>
                </a:solidFill>
              </a:rPr>
              <a:t>A </a:t>
            </a:r>
            <a:r>
              <a:rPr lang="en-US" sz="2000" b="1">
                <a:solidFill>
                  <a:schemeClr val="dk1"/>
                </a:solidFill>
              </a:rPr>
              <a:t>new data point</a:t>
            </a:r>
            <a:r>
              <a:rPr lang="en-US" sz="2000">
                <a:solidFill>
                  <a:schemeClr val="dk1"/>
                </a:solidFill>
              </a:rPr>
              <a:t> appears.</a:t>
            </a:r>
            <a:endParaRPr sz="2000">
              <a:solidFill>
                <a:schemeClr val="dk1"/>
              </a:solidFill>
            </a:endParaRPr>
          </a:p>
          <a:p>
            <a:pPr marL="457200" lvl="0" indent="-355600" algn="l" rtl="0">
              <a:lnSpc>
                <a:spcPct val="115000"/>
              </a:lnSpc>
              <a:spcBef>
                <a:spcPts val="0"/>
              </a:spcBef>
              <a:spcAft>
                <a:spcPts val="0"/>
              </a:spcAft>
              <a:buClr>
                <a:schemeClr val="dk1"/>
              </a:buClr>
              <a:buSzPts val="2000"/>
              <a:buAutoNum type="arabicPeriod"/>
            </a:pPr>
            <a:r>
              <a:rPr lang="en-US" sz="2000">
                <a:solidFill>
                  <a:schemeClr val="dk1"/>
                </a:solidFill>
              </a:rPr>
              <a:t>The algorithm calculates distance from this point to all training points.</a:t>
            </a:r>
            <a:endParaRPr sz="2000">
              <a:solidFill>
                <a:schemeClr val="dk1"/>
              </a:solidFill>
            </a:endParaRPr>
          </a:p>
          <a:p>
            <a:pPr marL="457200" lvl="0" indent="-355600" algn="l" rtl="0">
              <a:lnSpc>
                <a:spcPct val="115000"/>
              </a:lnSpc>
              <a:spcBef>
                <a:spcPts val="0"/>
              </a:spcBef>
              <a:spcAft>
                <a:spcPts val="0"/>
              </a:spcAft>
              <a:buClr>
                <a:schemeClr val="dk1"/>
              </a:buClr>
              <a:buSzPts val="2000"/>
              <a:buAutoNum type="arabicPeriod"/>
            </a:pPr>
            <a:r>
              <a:rPr lang="en-US" sz="2000">
                <a:solidFill>
                  <a:schemeClr val="dk1"/>
                </a:solidFill>
              </a:rPr>
              <a:t>It selects the </a:t>
            </a:r>
            <a:r>
              <a:rPr lang="en-US" sz="2000" b="1">
                <a:solidFill>
                  <a:schemeClr val="dk1"/>
                </a:solidFill>
              </a:rPr>
              <a:t>K nearest neighbors</a:t>
            </a:r>
            <a:r>
              <a:rPr lang="en-US" sz="2000">
                <a:solidFill>
                  <a:schemeClr val="dk1"/>
                </a:solidFill>
              </a:rPr>
              <a:t> (white circled points).</a:t>
            </a:r>
            <a:endParaRPr sz="2000">
              <a:solidFill>
                <a:schemeClr val="dk1"/>
              </a:solidFill>
            </a:endParaRPr>
          </a:p>
          <a:p>
            <a:pPr marL="0" lvl="0" indent="0" algn="l" rtl="0">
              <a:lnSpc>
                <a:spcPct val="115000"/>
              </a:lnSpc>
              <a:spcBef>
                <a:spcPts val="1200"/>
              </a:spcBef>
              <a:spcAft>
                <a:spcPts val="0"/>
              </a:spcAft>
              <a:buNone/>
            </a:pPr>
            <a:r>
              <a:rPr lang="en-US" sz="2000">
                <a:solidFill>
                  <a:schemeClr val="dk1"/>
                </a:solidFill>
              </a:rPr>
              <a:t>In your diagram:</a:t>
            </a:r>
            <a:endParaRPr sz="2000">
              <a:solidFill>
                <a:schemeClr val="dk1"/>
              </a:solidFill>
            </a:endParaRPr>
          </a:p>
          <a:p>
            <a:pPr marL="457200" lvl="0" indent="-355600" algn="l" rtl="0">
              <a:lnSpc>
                <a:spcPct val="115000"/>
              </a:lnSpc>
              <a:spcBef>
                <a:spcPts val="1200"/>
              </a:spcBef>
              <a:spcAft>
                <a:spcPts val="0"/>
              </a:spcAft>
              <a:buClr>
                <a:schemeClr val="dk1"/>
              </a:buClr>
              <a:buSzPts val="2000"/>
              <a:buChar char="●"/>
            </a:pPr>
            <a:r>
              <a:rPr lang="en-US" sz="2000">
                <a:solidFill>
                  <a:schemeClr val="dk1"/>
                </a:solidFill>
              </a:rPr>
              <a:t>Most of the circled nearest neighbors belong to </a:t>
            </a:r>
            <a:r>
              <a:rPr lang="en-US" sz="2000" b="1">
                <a:solidFill>
                  <a:schemeClr val="dk1"/>
                </a:solidFill>
              </a:rPr>
              <a:t>Category 2 (black)</a:t>
            </a:r>
            <a:r>
              <a:rPr lang="en-US" sz="2000">
                <a:solidFill>
                  <a:schemeClr val="dk1"/>
                </a:solidFill>
              </a:rPr>
              <a:t>.</a:t>
            </a:r>
            <a:endParaRPr sz="2000">
              <a:solidFill>
                <a:schemeClr val="dk1"/>
              </a:solidFill>
            </a:endParaRPr>
          </a:p>
          <a:p>
            <a:pPr marL="0" lvl="0" indent="0" algn="l" rtl="0">
              <a:lnSpc>
                <a:spcPct val="115000"/>
              </a:lnSpc>
              <a:spcBef>
                <a:spcPts val="1200"/>
              </a:spcBef>
              <a:spcAft>
                <a:spcPts val="0"/>
              </a:spcAft>
              <a:buNone/>
            </a:pPr>
            <a:r>
              <a:rPr lang="en-US" sz="2000">
                <a:solidFill>
                  <a:schemeClr val="dk1"/>
                </a:solidFill>
              </a:rPr>
              <a:t>So using:</a:t>
            </a:r>
            <a:endParaRPr sz="2000">
              <a:solidFill>
                <a:schemeClr val="dk1"/>
              </a:solidFill>
            </a:endParaRPr>
          </a:p>
          <a:p>
            <a:pPr marL="381000" marR="381000" lvl="0" indent="0" algn="l" rtl="0">
              <a:lnSpc>
                <a:spcPct val="115000"/>
              </a:lnSpc>
              <a:spcBef>
                <a:spcPts val="1200"/>
              </a:spcBef>
              <a:spcAft>
                <a:spcPts val="1200"/>
              </a:spcAft>
              <a:buNone/>
            </a:pPr>
            <a:r>
              <a:rPr lang="en-US" sz="2000">
                <a:solidFill>
                  <a:schemeClr val="dk1"/>
                </a:solidFill>
              </a:rPr>
              <a:t>Majority voting → the new data point will be classified as </a:t>
            </a:r>
            <a:r>
              <a:rPr lang="en-US" sz="2000" b="1">
                <a:solidFill>
                  <a:schemeClr val="dk1"/>
                </a:solidFill>
              </a:rPr>
              <a:t>Category 2</a:t>
            </a:r>
            <a:r>
              <a:rPr lang="en-US" sz="2000">
                <a:solidFill>
                  <a:schemeClr val="dk1"/>
                </a:solidFill>
              </a:rPr>
              <a:t>.</a:t>
            </a:r>
            <a:endParaRPr sz="2000">
              <a:solidFill>
                <a:schemeClr val="dk1"/>
              </a:solidFill>
            </a:endParaRPr>
          </a:p>
        </p:txBody>
      </p:sp>
      <p:sp>
        <p:nvSpPr>
          <p:cNvPr id="353" name="Google Shape;353;g3c95a66d9ab_0_0"/>
          <p:cNvSpPr txBox="1"/>
          <p:nvPr/>
        </p:nvSpPr>
        <p:spPr>
          <a:xfrm>
            <a:off x="1475560" y="6220845"/>
            <a:ext cx="9211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b="1">
                <a:solidFill>
                  <a:schemeClr val="dk1"/>
                </a:solidFill>
              </a:rPr>
              <a:t>Decision happens at prediction time.</a:t>
            </a:r>
            <a:endParaRPr sz="2500" b="1"/>
          </a:p>
        </p:txBody>
      </p:sp>
      <p:sp>
        <p:nvSpPr>
          <p:cNvPr id="354" name="Google Shape;354;g3c95a66d9ab_0_0"/>
          <p:cNvSpPr txBox="1"/>
          <p:nvPr/>
        </p:nvSpPr>
        <p:spPr>
          <a:xfrm>
            <a:off x="0" y="0"/>
            <a:ext cx="9144000" cy="2161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US" sz="2100" b="1">
                <a:solidFill>
                  <a:schemeClr val="dk1"/>
                </a:solidFill>
              </a:rPr>
              <a:t>Red Points → Category 1</a:t>
            </a:r>
            <a:endParaRPr sz="2100" b="1">
              <a:solidFill>
                <a:schemeClr val="dk1"/>
              </a:solidFill>
            </a:endParaRPr>
          </a:p>
          <a:p>
            <a:pPr marL="0" lvl="0" indent="0" algn="l" rtl="0">
              <a:lnSpc>
                <a:spcPct val="115000"/>
              </a:lnSpc>
              <a:spcBef>
                <a:spcPts val="1400"/>
              </a:spcBef>
              <a:spcAft>
                <a:spcPts val="0"/>
              </a:spcAft>
              <a:buNone/>
            </a:pPr>
            <a:r>
              <a:rPr lang="en-US" sz="2100" b="1">
                <a:solidFill>
                  <a:schemeClr val="dk1"/>
                </a:solidFill>
              </a:rPr>
              <a:t>Black Points → Category 2</a:t>
            </a:r>
            <a:endParaRPr sz="2100" b="1">
              <a:solidFill>
                <a:schemeClr val="dk1"/>
              </a:solidFill>
            </a:endParaRPr>
          </a:p>
          <a:p>
            <a:pPr marL="0" lvl="0" indent="0" algn="l" rtl="0">
              <a:lnSpc>
                <a:spcPct val="115000"/>
              </a:lnSpc>
              <a:spcBef>
                <a:spcPts val="1400"/>
              </a:spcBef>
              <a:spcAft>
                <a:spcPts val="0"/>
              </a:spcAft>
              <a:buNone/>
            </a:pPr>
            <a:r>
              <a:rPr lang="en-US" sz="2100" b="1">
                <a:solidFill>
                  <a:schemeClr val="dk1"/>
                </a:solidFill>
              </a:rPr>
              <a:t>Circled Points → Nearest Neighbors</a:t>
            </a:r>
            <a:endParaRPr sz="2100" b="1">
              <a:solidFill>
                <a:schemeClr val="dk1"/>
              </a:solidFill>
            </a:endParaRPr>
          </a:p>
          <a:p>
            <a:pPr marL="0" lvl="0" indent="0" algn="l" rtl="0">
              <a:lnSpc>
                <a:spcPct val="115000"/>
              </a:lnSpc>
              <a:spcBef>
                <a:spcPts val="1400"/>
              </a:spcBef>
              <a:spcAft>
                <a:spcPts val="400"/>
              </a:spcAft>
              <a:buNone/>
            </a:pPr>
            <a:r>
              <a:rPr lang="en-US" sz="2100" b="1">
                <a:solidFill>
                  <a:schemeClr val="dk1"/>
                </a:solidFill>
              </a:rPr>
              <a:t>Arrow → New Data Point</a:t>
            </a:r>
            <a:endParaRPr sz="2100" b="1">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g3c8e70b6676_0_30"/>
          <p:cNvSpPr txBox="1"/>
          <p:nvPr/>
        </p:nvSpPr>
        <p:spPr>
          <a:xfrm>
            <a:off x="352122" y="0"/>
            <a:ext cx="9144000" cy="3747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US" sz="2900" b="1">
                <a:solidFill>
                  <a:schemeClr val="dk1"/>
                </a:solidFill>
              </a:rPr>
              <a:t>Types of KNN</a:t>
            </a:r>
            <a:endParaRPr sz="2900" b="1">
              <a:solidFill>
                <a:schemeClr val="dk1"/>
              </a:solidFill>
            </a:endParaRPr>
          </a:p>
          <a:p>
            <a:pPr marL="0" lvl="0" indent="0" algn="l" rtl="0">
              <a:lnSpc>
                <a:spcPct val="115000"/>
              </a:lnSpc>
              <a:spcBef>
                <a:spcPts val="1800"/>
              </a:spcBef>
              <a:spcAft>
                <a:spcPts val="0"/>
              </a:spcAft>
              <a:buNone/>
            </a:pPr>
            <a:r>
              <a:rPr lang="en-US" sz="2300" b="1">
                <a:solidFill>
                  <a:schemeClr val="dk1"/>
                </a:solidFill>
              </a:rPr>
              <a:t>1️. KNN Classification</a:t>
            </a:r>
            <a:endParaRPr sz="2300" b="1">
              <a:solidFill>
                <a:schemeClr val="dk1"/>
              </a:solidFill>
            </a:endParaRPr>
          </a:p>
          <a:p>
            <a:pPr marL="457200" lvl="0" indent="-336550" algn="l" rtl="0">
              <a:lnSpc>
                <a:spcPct val="115000"/>
              </a:lnSpc>
              <a:spcBef>
                <a:spcPts val="1200"/>
              </a:spcBef>
              <a:spcAft>
                <a:spcPts val="0"/>
              </a:spcAft>
              <a:buClr>
                <a:schemeClr val="dk1"/>
              </a:buClr>
              <a:buSzPts val="1700"/>
              <a:buChar char="●"/>
            </a:pPr>
            <a:r>
              <a:rPr lang="en-US" sz="1700">
                <a:solidFill>
                  <a:schemeClr val="dk1"/>
                </a:solidFill>
              </a:rPr>
              <a:t>Output = Category (0/1, Yes/No)</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a:solidFill>
                  <a:schemeClr val="dk1"/>
                </a:solidFill>
              </a:rPr>
              <a:t>Uses majority voting</a:t>
            </a:r>
            <a:br>
              <a:rPr lang="en-US" sz="1700">
                <a:solidFill>
                  <a:schemeClr val="dk1"/>
                </a:solidFill>
              </a:rPr>
            </a:br>
            <a:endParaRPr sz="1700">
              <a:solidFill>
                <a:schemeClr val="dk1"/>
              </a:solidFill>
            </a:endParaRPr>
          </a:p>
          <a:p>
            <a:pPr marL="0" lvl="0" indent="0" algn="l" rtl="0">
              <a:lnSpc>
                <a:spcPct val="115000"/>
              </a:lnSpc>
              <a:spcBef>
                <a:spcPts val="1800"/>
              </a:spcBef>
              <a:spcAft>
                <a:spcPts val="0"/>
              </a:spcAft>
              <a:buNone/>
            </a:pPr>
            <a:r>
              <a:rPr lang="en-US" sz="2300" b="1">
                <a:solidFill>
                  <a:schemeClr val="dk1"/>
                </a:solidFill>
              </a:rPr>
              <a:t>2️. KNN Regression</a:t>
            </a:r>
            <a:endParaRPr sz="2300" b="1">
              <a:solidFill>
                <a:schemeClr val="dk1"/>
              </a:solidFill>
            </a:endParaRPr>
          </a:p>
          <a:p>
            <a:pPr marL="457200" lvl="0" indent="-336550" algn="l" rtl="0">
              <a:lnSpc>
                <a:spcPct val="115000"/>
              </a:lnSpc>
              <a:spcBef>
                <a:spcPts val="1200"/>
              </a:spcBef>
              <a:spcAft>
                <a:spcPts val="0"/>
              </a:spcAft>
              <a:buClr>
                <a:schemeClr val="dk1"/>
              </a:buClr>
              <a:buSzPts val="1700"/>
              <a:buChar char="●"/>
            </a:pPr>
            <a:r>
              <a:rPr lang="en-US" sz="1700">
                <a:solidFill>
                  <a:schemeClr val="dk1"/>
                </a:solidFill>
              </a:rPr>
              <a:t>Output = Continuous number</a:t>
            </a:r>
            <a:endParaRPr sz="170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a:solidFill>
                  <a:schemeClr val="dk1"/>
                </a:solidFill>
              </a:rPr>
              <a:t>Uses average</a:t>
            </a:r>
            <a:endParaRPr sz="1700">
              <a:solidFill>
                <a:schemeClr val="dk1"/>
              </a:solidFill>
            </a:endParaRPr>
          </a:p>
        </p:txBody>
      </p:sp>
      <p:sp>
        <p:nvSpPr>
          <p:cNvPr id="360" name="Google Shape;360;g3c8e70b6676_0_30"/>
          <p:cNvSpPr txBox="1"/>
          <p:nvPr/>
        </p:nvSpPr>
        <p:spPr>
          <a:xfrm>
            <a:off x="335354" y="4068955"/>
            <a:ext cx="9144000" cy="2739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US" sz="3000" b="1">
                <a:solidFill>
                  <a:schemeClr val="dk1"/>
                </a:solidFill>
              </a:rPr>
              <a:t> Important Concept: Value of K</a:t>
            </a:r>
            <a:endParaRPr sz="3000" b="1">
              <a:solidFill>
                <a:schemeClr val="dk1"/>
              </a:solidFill>
            </a:endParaRPr>
          </a:p>
          <a:p>
            <a:pPr marL="457200" lvl="0" indent="-342900" algn="l" rtl="0">
              <a:lnSpc>
                <a:spcPct val="115000"/>
              </a:lnSpc>
              <a:spcBef>
                <a:spcPts val="1200"/>
              </a:spcBef>
              <a:spcAft>
                <a:spcPts val="0"/>
              </a:spcAft>
              <a:buClr>
                <a:schemeClr val="dk1"/>
              </a:buClr>
              <a:buSzPts val="1800"/>
              <a:buChar char="●"/>
            </a:pPr>
            <a:r>
              <a:rPr lang="en-US" sz="1800">
                <a:solidFill>
                  <a:schemeClr val="dk1"/>
                </a:solidFill>
              </a:rPr>
              <a:t>Small K → Overfitting</a:t>
            </a:r>
            <a:br>
              <a:rPr lang="en-US" sz="1800">
                <a:solidFill>
                  <a:schemeClr val="dk1"/>
                </a:solidFill>
              </a:rPr>
            </a:b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a:solidFill>
                  <a:schemeClr val="dk1"/>
                </a:solidFill>
              </a:rPr>
              <a:t>Large K → Underfitting</a:t>
            </a:r>
            <a:br>
              <a:rPr lang="en-US" sz="1800">
                <a:solidFill>
                  <a:schemeClr val="dk1"/>
                </a:solidFill>
              </a:rPr>
            </a:br>
            <a:endParaRPr sz="180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a:solidFill>
                  <a:schemeClr val="dk1"/>
                </a:solidFill>
              </a:rPr>
              <a:t>Usually choose odd number (3, 5, 7)</a:t>
            </a:r>
            <a:br>
              <a:rPr lang="en-US" sz="1800">
                <a:solidFill>
                  <a:schemeClr val="dk1"/>
                </a:solidFill>
              </a:rPr>
            </a:br>
            <a:endParaRPr sz="18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3c8e70b6676_0_110"/>
          <p:cNvSpPr txBox="1"/>
          <p:nvPr/>
        </p:nvSpPr>
        <p:spPr>
          <a:xfrm>
            <a:off x="251516" y="368890"/>
            <a:ext cx="3000000" cy="63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900" b="1"/>
              <a:t>Classification</a:t>
            </a:r>
            <a:endParaRPr sz="2900" b="1"/>
          </a:p>
        </p:txBody>
      </p:sp>
      <p:sp>
        <p:nvSpPr>
          <p:cNvPr id="366" name="Google Shape;366;g3c8e70b6676_0_110"/>
          <p:cNvSpPr txBox="1"/>
          <p:nvPr/>
        </p:nvSpPr>
        <p:spPr>
          <a:xfrm>
            <a:off x="285051" y="1240812"/>
            <a:ext cx="9144000" cy="498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from sklearn.neighbors import KNeighborsClassifier</a:t>
            </a:r>
            <a:endParaRPr sz="2400"/>
          </a:p>
          <a:p>
            <a:pPr marL="0" lvl="0" indent="0" algn="l" rtl="0">
              <a:spcBef>
                <a:spcPts val="0"/>
              </a:spcBef>
              <a:spcAft>
                <a:spcPts val="0"/>
              </a:spcAft>
              <a:buNone/>
            </a:pPr>
            <a:r>
              <a:rPr lang="en-US" sz="2400"/>
              <a:t>import numpy as np</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 Sample Data</a:t>
            </a:r>
            <a:endParaRPr sz="2400"/>
          </a:p>
          <a:p>
            <a:pPr marL="0" lvl="0" indent="0" algn="l" rtl="0">
              <a:spcBef>
                <a:spcPts val="0"/>
              </a:spcBef>
              <a:spcAft>
                <a:spcPts val="0"/>
              </a:spcAft>
              <a:buNone/>
            </a:pPr>
            <a:r>
              <a:rPr lang="en-US" sz="2400"/>
              <a:t>X = np.array([[1], [2], [3], [4], [5]])</a:t>
            </a:r>
            <a:endParaRPr sz="2400"/>
          </a:p>
          <a:p>
            <a:pPr marL="0" lvl="0" indent="0" algn="l" rtl="0">
              <a:spcBef>
                <a:spcPts val="0"/>
              </a:spcBef>
              <a:spcAft>
                <a:spcPts val="0"/>
              </a:spcAft>
              <a:buNone/>
            </a:pPr>
            <a:r>
              <a:rPr lang="en-US" sz="2400"/>
              <a:t>y = np.array([0, 0, 0, 1, 1])</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model = KNeighborsClassifier(n_neighbors=3)</a:t>
            </a:r>
            <a:endParaRPr sz="2400"/>
          </a:p>
          <a:p>
            <a:pPr marL="0" lvl="0" indent="0" algn="l" rtl="0">
              <a:spcBef>
                <a:spcPts val="0"/>
              </a:spcBef>
              <a:spcAft>
                <a:spcPts val="0"/>
              </a:spcAft>
              <a:buNone/>
            </a:pPr>
            <a:r>
              <a:rPr lang="en-US" sz="2400"/>
              <a:t>model.fit(X, y)</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a:t>prediction = model.predict([[3.5]])</a:t>
            </a:r>
            <a:endParaRPr sz="2400"/>
          </a:p>
          <a:p>
            <a:pPr marL="0" lvl="0" indent="0" algn="l" rtl="0">
              <a:spcBef>
                <a:spcPts val="0"/>
              </a:spcBef>
              <a:spcAft>
                <a:spcPts val="0"/>
              </a:spcAft>
              <a:buNone/>
            </a:pPr>
            <a:r>
              <a:rPr lang="en-US" sz="2400"/>
              <a:t>print("Prediction:", prediction)</a:t>
            </a:r>
            <a:endParaRPr sz="2400"/>
          </a:p>
          <a:p>
            <a:pPr marL="0" lvl="0" indent="0" algn="l" rtl="0">
              <a:spcBef>
                <a:spcPts val="0"/>
              </a:spcBef>
              <a:spcAft>
                <a:spcPts val="0"/>
              </a:spcAft>
              <a:buNone/>
            </a:pPr>
            <a:endParaRPr sz="2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3c8e70b6676_0_33"/>
          <p:cNvSpPr txBox="1"/>
          <p:nvPr/>
        </p:nvSpPr>
        <p:spPr>
          <a:xfrm>
            <a:off x="301819" y="469496"/>
            <a:ext cx="30000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100" b="1"/>
              <a:t>Regression</a:t>
            </a:r>
            <a:endParaRPr sz="3100" b="1"/>
          </a:p>
        </p:txBody>
      </p:sp>
      <p:sp>
        <p:nvSpPr>
          <p:cNvPr id="372" name="Google Shape;372;g3c8e70b6676_0_33"/>
          <p:cNvSpPr txBox="1"/>
          <p:nvPr/>
        </p:nvSpPr>
        <p:spPr>
          <a:xfrm>
            <a:off x="402425" y="1609702"/>
            <a:ext cx="9144000" cy="443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t>from sklearn.neighbors import KNeighborsRegressor</a:t>
            </a:r>
            <a:endParaRPr sz="2300"/>
          </a:p>
          <a:p>
            <a:pPr marL="0" lvl="0" indent="0" algn="l" rtl="0">
              <a:spcBef>
                <a:spcPts val="0"/>
              </a:spcBef>
              <a:spcAft>
                <a:spcPts val="0"/>
              </a:spcAft>
              <a:buNone/>
            </a:pPr>
            <a:r>
              <a:rPr lang="en-US" sz="2300"/>
              <a:t>import numpy as np</a:t>
            </a:r>
            <a:endParaRPr sz="2300"/>
          </a:p>
          <a:p>
            <a:pPr marL="0" lvl="0" indent="0" algn="l" rtl="0">
              <a:spcBef>
                <a:spcPts val="0"/>
              </a:spcBef>
              <a:spcAft>
                <a:spcPts val="0"/>
              </a:spcAft>
              <a:buNone/>
            </a:pPr>
            <a:endParaRPr sz="2300"/>
          </a:p>
          <a:p>
            <a:pPr marL="0" lvl="0" indent="0" algn="l" rtl="0">
              <a:spcBef>
                <a:spcPts val="0"/>
              </a:spcBef>
              <a:spcAft>
                <a:spcPts val="0"/>
              </a:spcAft>
              <a:buNone/>
            </a:pPr>
            <a:r>
              <a:rPr lang="en-US" sz="2300"/>
              <a:t>X = np.array([[1], [2], [3], [4], [5]])</a:t>
            </a:r>
            <a:endParaRPr sz="2300"/>
          </a:p>
          <a:p>
            <a:pPr marL="0" lvl="0" indent="0" algn="l" rtl="0">
              <a:spcBef>
                <a:spcPts val="0"/>
              </a:spcBef>
              <a:spcAft>
                <a:spcPts val="0"/>
              </a:spcAft>
              <a:buNone/>
            </a:pPr>
            <a:r>
              <a:rPr lang="en-US" sz="2300"/>
              <a:t>y = np.array([10000, 20000, 30000, 40000, 50000])</a:t>
            </a:r>
            <a:endParaRPr sz="2300"/>
          </a:p>
          <a:p>
            <a:pPr marL="0" lvl="0" indent="0" algn="l" rtl="0">
              <a:spcBef>
                <a:spcPts val="0"/>
              </a:spcBef>
              <a:spcAft>
                <a:spcPts val="0"/>
              </a:spcAft>
              <a:buNone/>
            </a:pPr>
            <a:endParaRPr sz="2300"/>
          </a:p>
          <a:p>
            <a:pPr marL="0" lvl="0" indent="0" algn="l" rtl="0">
              <a:spcBef>
                <a:spcPts val="0"/>
              </a:spcBef>
              <a:spcAft>
                <a:spcPts val="0"/>
              </a:spcAft>
              <a:buNone/>
            </a:pPr>
            <a:r>
              <a:rPr lang="en-US" sz="2300"/>
              <a:t>model = KNeighborsRegressor(n_neighbors=3)</a:t>
            </a:r>
            <a:endParaRPr sz="2300"/>
          </a:p>
          <a:p>
            <a:pPr marL="0" lvl="0" indent="0" algn="l" rtl="0">
              <a:spcBef>
                <a:spcPts val="0"/>
              </a:spcBef>
              <a:spcAft>
                <a:spcPts val="0"/>
              </a:spcAft>
              <a:buNone/>
            </a:pPr>
            <a:r>
              <a:rPr lang="en-US" sz="2300"/>
              <a:t>model.fit(X, y)</a:t>
            </a:r>
            <a:endParaRPr sz="2300"/>
          </a:p>
          <a:p>
            <a:pPr marL="0" lvl="0" indent="0" algn="l" rtl="0">
              <a:spcBef>
                <a:spcPts val="0"/>
              </a:spcBef>
              <a:spcAft>
                <a:spcPts val="0"/>
              </a:spcAft>
              <a:buNone/>
            </a:pPr>
            <a:endParaRPr sz="2300"/>
          </a:p>
          <a:p>
            <a:pPr marL="0" lvl="0" indent="0" algn="l" rtl="0">
              <a:spcBef>
                <a:spcPts val="0"/>
              </a:spcBef>
              <a:spcAft>
                <a:spcPts val="0"/>
              </a:spcAft>
              <a:buNone/>
            </a:pPr>
            <a:r>
              <a:rPr lang="en-US" sz="2300"/>
              <a:t>prediction = model.predict([[3.5]])</a:t>
            </a:r>
            <a:endParaRPr sz="2300"/>
          </a:p>
          <a:p>
            <a:pPr marL="0" lvl="0" indent="0" algn="l" rtl="0">
              <a:spcBef>
                <a:spcPts val="0"/>
              </a:spcBef>
              <a:spcAft>
                <a:spcPts val="0"/>
              </a:spcAft>
              <a:buNone/>
            </a:pPr>
            <a:r>
              <a:rPr lang="en-US" sz="2300"/>
              <a:t>print("Predicted Value:", prediction)</a:t>
            </a:r>
            <a:endParaRPr sz="2300"/>
          </a:p>
          <a:p>
            <a:pPr marL="0" lvl="0" indent="0" algn="l" rtl="0">
              <a:spcBef>
                <a:spcPts val="0"/>
              </a:spcBef>
              <a:spcAft>
                <a:spcPts val="0"/>
              </a:spcAft>
              <a:buNone/>
            </a:pPr>
            <a:endParaRPr sz="23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3c8f57bf6c1_0_34"/>
          <p:cNvSpPr txBox="1"/>
          <p:nvPr/>
        </p:nvSpPr>
        <p:spPr>
          <a:xfrm>
            <a:off x="435975" y="519800"/>
            <a:ext cx="47007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t>Gradient Boosting</a:t>
            </a:r>
            <a:endParaRPr sz="3000" b="1"/>
          </a:p>
        </p:txBody>
      </p:sp>
      <p:sp>
        <p:nvSpPr>
          <p:cNvPr id="378" name="Google Shape;378;g3c8f57bf6c1_0_34"/>
          <p:cNvSpPr txBox="1"/>
          <p:nvPr/>
        </p:nvSpPr>
        <p:spPr>
          <a:xfrm>
            <a:off x="184445" y="1525863"/>
            <a:ext cx="9009900" cy="4802400"/>
          </a:xfrm>
          <a:prstGeom prst="rect">
            <a:avLst/>
          </a:prstGeom>
          <a:noFill/>
          <a:ln>
            <a:noFill/>
          </a:ln>
        </p:spPr>
        <p:txBody>
          <a:bodyPr spcFirstLastPara="1" wrap="square" lIns="91425" tIns="91425" rIns="91425" bIns="91425" anchor="t" anchorCtr="0">
            <a:spAutoFit/>
          </a:bodyPr>
          <a:lstStyle/>
          <a:p>
            <a:pPr marL="457200" lvl="0" indent="-381000" algn="l" rtl="0">
              <a:lnSpc>
                <a:spcPct val="115000"/>
              </a:lnSpc>
              <a:spcBef>
                <a:spcPts val="1200"/>
              </a:spcBef>
              <a:spcAft>
                <a:spcPts val="0"/>
              </a:spcAft>
              <a:buClr>
                <a:schemeClr val="dk1"/>
              </a:buClr>
              <a:buSzPts val="2400"/>
              <a:buAutoNum type="arabicPeriod"/>
            </a:pPr>
            <a:r>
              <a:rPr lang="en-US" sz="2400" b="1">
                <a:solidFill>
                  <a:schemeClr val="dk1"/>
                </a:solidFill>
              </a:rPr>
              <a:t>Gradient Boosting</a:t>
            </a:r>
            <a:r>
              <a:rPr lang="en-US" sz="2400">
                <a:solidFill>
                  <a:schemeClr val="dk1"/>
                </a:solidFill>
              </a:rPr>
              <a:t> is an ensemble learning algorithm.</a:t>
            </a:r>
            <a:br>
              <a:rPr lang="en-US" sz="2400">
                <a:solidFill>
                  <a:schemeClr val="dk1"/>
                </a:solidFill>
              </a:rPr>
            </a:br>
            <a:endParaRPr sz="2400">
              <a:solidFill>
                <a:schemeClr val="dk1"/>
              </a:solidFill>
            </a:endParaRPr>
          </a:p>
          <a:p>
            <a:pPr marL="457200" lvl="0" indent="-381000" algn="l" rtl="0">
              <a:lnSpc>
                <a:spcPct val="115000"/>
              </a:lnSpc>
              <a:spcBef>
                <a:spcPts val="0"/>
              </a:spcBef>
              <a:spcAft>
                <a:spcPts val="0"/>
              </a:spcAft>
              <a:buClr>
                <a:schemeClr val="dk1"/>
              </a:buClr>
              <a:buSzPts val="2400"/>
              <a:buAutoNum type="arabicPeriod"/>
            </a:pPr>
            <a:r>
              <a:rPr lang="en-US" sz="2400">
                <a:solidFill>
                  <a:schemeClr val="dk1"/>
                </a:solidFill>
              </a:rPr>
              <a:t>It builds many </a:t>
            </a:r>
            <a:r>
              <a:rPr lang="en-US" sz="2400" b="1">
                <a:solidFill>
                  <a:schemeClr val="dk1"/>
                </a:solidFill>
              </a:rPr>
              <a:t>small decision trees sequentially</a:t>
            </a:r>
            <a:r>
              <a:rPr lang="en-US" sz="2400">
                <a:solidFill>
                  <a:schemeClr val="dk1"/>
                </a:solidFill>
              </a:rPr>
              <a:t>.</a:t>
            </a:r>
            <a:br>
              <a:rPr lang="en-US" sz="2400">
                <a:solidFill>
                  <a:schemeClr val="dk1"/>
                </a:solidFill>
              </a:rPr>
            </a:br>
            <a:endParaRPr sz="2400">
              <a:solidFill>
                <a:schemeClr val="dk1"/>
              </a:solidFill>
            </a:endParaRPr>
          </a:p>
          <a:p>
            <a:pPr marL="457200" lvl="0" indent="-381000" algn="l" rtl="0">
              <a:lnSpc>
                <a:spcPct val="115000"/>
              </a:lnSpc>
              <a:spcBef>
                <a:spcPts val="0"/>
              </a:spcBef>
              <a:spcAft>
                <a:spcPts val="0"/>
              </a:spcAft>
              <a:buClr>
                <a:schemeClr val="dk1"/>
              </a:buClr>
              <a:buSzPts val="2400"/>
              <a:buAutoNum type="arabicPeriod"/>
            </a:pPr>
            <a:r>
              <a:rPr lang="en-US" sz="2400">
                <a:solidFill>
                  <a:schemeClr val="dk1"/>
                </a:solidFill>
              </a:rPr>
              <a:t>Each new tree tries to </a:t>
            </a:r>
            <a:r>
              <a:rPr lang="en-US" sz="2400" b="1">
                <a:solidFill>
                  <a:schemeClr val="dk1"/>
                </a:solidFill>
              </a:rPr>
              <a:t>correct the errors of the previous tree</a:t>
            </a:r>
            <a:r>
              <a:rPr lang="en-US" sz="2400">
                <a:solidFill>
                  <a:schemeClr val="dk1"/>
                </a:solidFill>
              </a:rPr>
              <a:t>.</a:t>
            </a:r>
            <a:br>
              <a:rPr lang="en-US" sz="2400">
                <a:solidFill>
                  <a:schemeClr val="dk1"/>
                </a:solidFill>
              </a:rPr>
            </a:br>
            <a:endParaRPr sz="2400">
              <a:solidFill>
                <a:schemeClr val="dk1"/>
              </a:solidFill>
            </a:endParaRPr>
          </a:p>
          <a:p>
            <a:pPr marL="457200" lvl="0" indent="-381000" algn="l" rtl="0">
              <a:lnSpc>
                <a:spcPct val="115000"/>
              </a:lnSpc>
              <a:spcBef>
                <a:spcPts val="0"/>
              </a:spcBef>
              <a:spcAft>
                <a:spcPts val="0"/>
              </a:spcAft>
              <a:buClr>
                <a:schemeClr val="dk1"/>
              </a:buClr>
              <a:buSzPts val="2400"/>
              <a:buAutoNum type="arabicPeriod"/>
            </a:pPr>
            <a:r>
              <a:rPr lang="en-US" sz="2400">
                <a:solidFill>
                  <a:schemeClr val="dk1"/>
                </a:solidFill>
              </a:rPr>
              <a:t>It improves model performance step by step.</a:t>
            </a:r>
            <a:br>
              <a:rPr lang="en-US" sz="2400">
                <a:solidFill>
                  <a:schemeClr val="dk1"/>
                </a:solidFill>
              </a:rPr>
            </a:br>
            <a:endParaRPr sz="2400">
              <a:solidFill>
                <a:schemeClr val="dk1"/>
              </a:solidFill>
            </a:endParaRPr>
          </a:p>
          <a:p>
            <a:pPr marL="457200" lvl="0" indent="-381000" algn="l" rtl="0">
              <a:lnSpc>
                <a:spcPct val="115000"/>
              </a:lnSpc>
              <a:spcBef>
                <a:spcPts val="0"/>
              </a:spcBef>
              <a:spcAft>
                <a:spcPts val="0"/>
              </a:spcAft>
              <a:buClr>
                <a:schemeClr val="dk1"/>
              </a:buClr>
              <a:buSzPts val="2400"/>
              <a:buAutoNum type="arabicPeriod"/>
            </a:pPr>
            <a:r>
              <a:rPr lang="en-US" sz="2400">
                <a:solidFill>
                  <a:schemeClr val="dk1"/>
                </a:solidFill>
              </a:rPr>
              <a:t>It gives very high accuracy but may take more time to train.</a:t>
            </a:r>
            <a:br>
              <a:rPr lang="en-US" sz="2400">
                <a:solidFill>
                  <a:schemeClr val="dk1"/>
                </a:solidFill>
              </a:rPr>
            </a:br>
            <a:endParaRPr sz="240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pic>
        <p:nvPicPr>
          <p:cNvPr id="383" name="Google Shape;383;g3c8f57bf6c1_0_19"/>
          <p:cNvPicPr preferRelativeResize="0"/>
          <p:nvPr/>
        </p:nvPicPr>
        <p:blipFill>
          <a:blip r:embed="rId3">
            <a:alphaModFix/>
          </a:blip>
          <a:stretch>
            <a:fillRect/>
          </a:stretch>
        </p:blipFill>
        <p:spPr>
          <a:xfrm>
            <a:off x="139400" y="605175"/>
            <a:ext cx="8865200" cy="5392125"/>
          </a:xfrm>
          <a:prstGeom prst="rect">
            <a:avLst/>
          </a:prstGeom>
          <a:noFill/>
          <a:ln w="38100" cap="flat" cmpd="sng">
            <a:solidFill>
              <a:schemeClr val="dk1"/>
            </a:solidFill>
            <a:prstDash val="solid"/>
            <a:round/>
            <a:headEnd type="none" w="sm" len="sm"/>
            <a:tailEnd type="none" w="sm" len="sm"/>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g3c8f57bf6c1_0_22"/>
          <p:cNvSpPr txBox="1"/>
          <p:nvPr/>
        </p:nvSpPr>
        <p:spPr>
          <a:xfrm>
            <a:off x="251516" y="1475560"/>
            <a:ext cx="9144000" cy="3090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US" sz="3200" b="1">
                <a:solidFill>
                  <a:schemeClr val="dk1"/>
                </a:solidFill>
              </a:rPr>
              <a:t> Types of Gradient Boosting</a:t>
            </a:r>
            <a:endParaRPr sz="3200" b="1">
              <a:solidFill>
                <a:schemeClr val="dk1"/>
              </a:solidFill>
            </a:endParaRPr>
          </a:p>
          <a:p>
            <a:pPr marL="0" lvl="0" indent="0" algn="l" rtl="0">
              <a:lnSpc>
                <a:spcPct val="115000"/>
              </a:lnSpc>
              <a:spcBef>
                <a:spcPts val="1200"/>
              </a:spcBef>
              <a:spcAft>
                <a:spcPts val="0"/>
              </a:spcAft>
              <a:buNone/>
            </a:pPr>
            <a:r>
              <a:rPr lang="en-US" sz="2000">
                <a:solidFill>
                  <a:schemeClr val="dk1"/>
                </a:solidFill>
              </a:rPr>
              <a:t>1.  </a:t>
            </a:r>
            <a:r>
              <a:rPr lang="en-US" sz="2000" b="1">
                <a:solidFill>
                  <a:schemeClr val="dk1"/>
                </a:solidFill>
              </a:rPr>
              <a:t>Gradient Boosting Classifier</a:t>
            </a:r>
            <a:endParaRPr sz="2000" b="1">
              <a:solidFill>
                <a:schemeClr val="dk1"/>
              </a:solidFill>
            </a:endParaRPr>
          </a:p>
          <a:p>
            <a:pPr marL="457200" lvl="0" indent="-355600" algn="l" rtl="0">
              <a:lnSpc>
                <a:spcPct val="115000"/>
              </a:lnSpc>
              <a:spcBef>
                <a:spcPts val="1200"/>
              </a:spcBef>
              <a:spcAft>
                <a:spcPts val="0"/>
              </a:spcAft>
              <a:buClr>
                <a:schemeClr val="dk1"/>
              </a:buClr>
              <a:buSzPts val="2000"/>
              <a:buChar char="●"/>
            </a:pPr>
            <a:r>
              <a:rPr lang="en-US" sz="2000">
                <a:solidFill>
                  <a:schemeClr val="dk1"/>
                </a:solidFill>
              </a:rPr>
              <a:t>Used for classification (Yes/No, Spam/Not Spam)</a:t>
            </a:r>
            <a:br>
              <a:rPr lang="en-US" sz="2000">
                <a:solidFill>
                  <a:schemeClr val="dk1"/>
                </a:solidFill>
              </a:rPr>
            </a:br>
            <a:endParaRPr sz="2000">
              <a:solidFill>
                <a:schemeClr val="dk1"/>
              </a:solidFill>
            </a:endParaRPr>
          </a:p>
          <a:p>
            <a:pPr marL="0" lvl="0" indent="0" algn="l" rtl="0">
              <a:lnSpc>
                <a:spcPct val="115000"/>
              </a:lnSpc>
              <a:spcBef>
                <a:spcPts val="1200"/>
              </a:spcBef>
              <a:spcAft>
                <a:spcPts val="0"/>
              </a:spcAft>
              <a:buNone/>
            </a:pPr>
            <a:r>
              <a:rPr lang="en-US" sz="2000">
                <a:solidFill>
                  <a:schemeClr val="dk1"/>
                </a:solidFill>
              </a:rPr>
              <a:t>2️.  </a:t>
            </a:r>
            <a:r>
              <a:rPr lang="en-US" sz="2000" b="1">
                <a:solidFill>
                  <a:schemeClr val="dk1"/>
                </a:solidFill>
              </a:rPr>
              <a:t>Gradient Boosting Regressor</a:t>
            </a:r>
            <a:endParaRPr sz="2000" b="1">
              <a:solidFill>
                <a:schemeClr val="dk1"/>
              </a:solidFill>
            </a:endParaRPr>
          </a:p>
          <a:p>
            <a:pPr marL="457200" lvl="0" indent="-355600" algn="l" rtl="0">
              <a:lnSpc>
                <a:spcPct val="115000"/>
              </a:lnSpc>
              <a:spcBef>
                <a:spcPts val="1200"/>
              </a:spcBef>
              <a:spcAft>
                <a:spcPts val="0"/>
              </a:spcAft>
              <a:buClr>
                <a:schemeClr val="dk1"/>
              </a:buClr>
              <a:buSzPts val="2000"/>
              <a:buChar char="●"/>
            </a:pPr>
            <a:r>
              <a:rPr lang="en-US" sz="2000">
                <a:solidFill>
                  <a:schemeClr val="dk1"/>
                </a:solidFill>
              </a:rPr>
              <a:t>Used for regression (Price, Salary)</a:t>
            </a:r>
            <a:endParaRPr sz="2000">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3c8f57bf6c1_0_25"/>
          <p:cNvSpPr txBox="1"/>
          <p:nvPr/>
        </p:nvSpPr>
        <p:spPr>
          <a:xfrm>
            <a:off x="217980" y="335355"/>
            <a:ext cx="50694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t>Classification Example</a:t>
            </a:r>
            <a:endParaRPr sz="2800" b="1"/>
          </a:p>
        </p:txBody>
      </p:sp>
      <p:sp>
        <p:nvSpPr>
          <p:cNvPr id="394" name="Google Shape;394;g3c8f57bf6c1_0_25"/>
          <p:cNvSpPr txBox="1"/>
          <p:nvPr/>
        </p:nvSpPr>
        <p:spPr>
          <a:xfrm>
            <a:off x="217980" y="1576166"/>
            <a:ext cx="9144000" cy="5387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a:t>from sklearn.ensemble import GradientBoostingClassifier</a:t>
            </a:r>
            <a:endParaRPr sz="2600"/>
          </a:p>
          <a:p>
            <a:pPr marL="0" lvl="0" indent="0" algn="l" rtl="0">
              <a:spcBef>
                <a:spcPts val="0"/>
              </a:spcBef>
              <a:spcAft>
                <a:spcPts val="0"/>
              </a:spcAft>
              <a:buNone/>
            </a:pPr>
            <a:r>
              <a:rPr lang="en-US" sz="2600"/>
              <a:t>import numpy as np</a:t>
            </a:r>
            <a:endParaRPr sz="2600"/>
          </a:p>
          <a:p>
            <a:pPr marL="0" lvl="0" indent="0" algn="l" rtl="0">
              <a:spcBef>
                <a:spcPts val="0"/>
              </a:spcBef>
              <a:spcAft>
                <a:spcPts val="0"/>
              </a:spcAft>
              <a:buNone/>
            </a:pPr>
            <a:endParaRPr sz="2600"/>
          </a:p>
          <a:p>
            <a:pPr marL="0" lvl="0" indent="0" algn="l" rtl="0">
              <a:spcBef>
                <a:spcPts val="0"/>
              </a:spcBef>
              <a:spcAft>
                <a:spcPts val="0"/>
              </a:spcAft>
              <a:buNone/>
            </a:pPr>
            <a:r>
              <a:rPr lang="en-US" sz="2600"/>
              <a:t># Sample Data</a:t>
            </a:r>
            <a:endParaRPr sz="2600"/>
          </a:p>
          <a:p>
            <a:pPr marL="0" lvl="0" indent="0" algn="l" rtl="0">
              <a:spcBef>
                <a:spcPts val="0"/>
              </a:spcBef>
              <a:spcAft>
                <a:spcPts val="0"/>
              </a:spcAft>
              <a:buNone/>
            </a:pPr>
            <a:r>
              <a:rPr lang="en-US" sz="2600"/>
              <a:t>X = np.array([[1], [2], [3], [4], [5]])</a:t>
            </a:r>
            <a:endParaRPr sz="2600"/>
          </a:p>
          <a:p>
            <a:pPr marL="0" lvl="0" indent="0" algn="l" rtl="0">
              <a:spcBef>
                <a:spcPts val="0"/>
              </a:spcBef>
              <a:spcAft>
                <a:spcPts val="0"/>
              </a:spcAft>
              <a:buNone/>
            </a:pPr>
            <a:r>
              <a:rPr lang="en-US" sz="2600"/>
              <a:t>y = np.array([0, 0, 0, 1, 1])</a:t>
            </a:r>
            <a:endParaRPr sz="2600"/>
          </a:p>
          <a:p>
            <a:pPr marL="0" lvl="0" indent="0" algn="l" rtl="0">
              <a:spcBef>
                <a:spcPts val="0"/>
              </a:spcBef>
              <a:spcAft>
                <a:spcPts val="0"/>
              </a:spcAft>
              <a:buNone/>
            </a:pPr>
            <a:endParaRPr sz="2600"/>
          </a:p>
          <a:p>
            <a:pPr marL="0" lvl="0" indent="0" algn="l" rtl="0">
              <a:spcBef>
                <a:spcPts val="0"/>
              </a:spcBef>
              <a:spcAft>
                <a:spcPts val="0"/>
              </a:spcAft>
              <a:buNone/>
            </a:pPr>
            <a:r>
              <a:rPr lang="en-US" sz="2600"/>
              <a:t>model = GradientBoostingClassifier()</a:t>
            </a:r>
            <a:endParaRPr sz="2600"/>
          </a:p>
          <a:p>
            <a:pPr marL="0" lvl="0" indent="0" algn="l" rtl="0">
              <a:spcBef>
                <a:spcPts val="0"/>
              </a:spcBef>
              <a:spcAft>
                <a:spcPts val="0"/>
              </a:spcAft>
              <a:buNone/>
            </a:pPr>
            <a:r>
              <a:rPr lang="en-US" sz="2600"/>
              <a:t>model.fit(X, y)</a:t>
            </a:r>
            <a:endParaRPr sz="2600"/>
          </a:p>
          <a:p>
            <a:pPr marL="0" lvl="0" indent="0" algn="l" rtl="0">
              <a:spcBef>
                <a:spcPts val="0"/>
              </a:spcBef>
              <a:spcAft>
                <a:spcPts val="0"/>
              </a:spcAft>
              <a:buNone/>
            </a:pPr>
            <a:endParaRPr sz="2600"/>
          </a:p>
          <a:p>
            <a:pPr marL="0" lvl="0" indent="0" algn="l" rtl="0">
              <a:spcBef>
                <a:spcPts val="0"/>
              </a:spcBef>
              <a:spcAft>
                <a:spcPts val="0"/>
              </a:spcAft>
              <a:buNone/>
            </a:pPr>
            <a:r>
              <a:rPr lang="en-US" sz="2600"/>
              <a:t>prediction = model.predict([[3.5]])</a:t>
            </a:r>
            <a:endParaRPr sz="2600"/>
          </a:p>
          <a:p>
            <a:pPr marL="0" lvl="0" indent="0" algn="l" rtl="0">
              <a:spcBef>
                <a:spcPts val="0"/>
              </a:spcBef>
              <a:spcAft>
                <a:spcPts val="0"/>
              </a:spcAft>
              <a:buNone/>
            </a:pPr>
            <a:r>
              <a:rPr lang="en-US" sz="2600"/>
              <a:t>print("Prediction:", prediction)</a:t>
            </a:r>
            <a:endParaRPr sz="2600"/>
          </a:p>
          <a:p>
            <a:pPr marL="0" lvl="0" indent="0" algn="l" rtl="0">
              <a:spcBef>
                <a:spcPts val="0"/>
              </a:spcBef>
              <a:spcAft>
                <a:spcPts val="0"/>
              </a:spcAft>
              <a:buNone/>
            </a:pPr>
            <a:endParaRPr sz="26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g3c8f57bf6c1_0_28"/>
          <p:cNvSpPr txBox="1"/>
          <p:nvPr/>
        </p:nvSpPr>
        <p:spPr>
          <a:xfrm>
            <a:off x="352122" y="402425"/>
            <a:ext cx="41136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700" b="1"/>
              <a:t>Regression Example</a:t>
            </a:r>
            <a:endParaRPr sz="2700" b="1"/>
          </a:p>
        </p:txBody>
      </p:sp>
      <p:sp>
        <p:nvSpPr>
          <p:cNvPr id="400" name="Google Shape;400;g3c8f57bf6c1_0_28"/>
          <p:cNvSpPr txBox="1"/>
          <p:nvPr/>
        </p:nvSpPr>
        <p:spPr>
          <a:xfrm>
            <a:off x="251516" y="1341418"/>
            <a:ext cx="9144000" cy="443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t>from sklearn.ensemble import GradientBoostingRegressor</a:t>
            </a:r>
            <a:endParaRPr sz="2300"/>
          </a:p>
          <a:p>
            <a:pPr marL="0" lvl="0" indent="0" algn="l" rtl="0">
              <a:spcBef>
                <a:spcPts val="0"/>
              </a:spcBef>
              <a:spcAft>
                <a:spcPts val="0"/>
              </a:spcAft>
              <a:buNone/>
            </a:pPr>
            <a:r>
              <a:rPr lang="en-US" sz="2300"/>
              <a:t>import numpy as np</a:t>
            </a:r>
            <a:endParaRPr sz="2300"/>
          </a:p>
          <a:p>
            <a:pPr marL="0" lvl="0" indent="0" algn="l" rtl="0">
              <a:spcBef>
                <a:spcPts val="0"/>
              </a:spcBef>
              <a:spcAft>
                <a:spcPts val="0"/>
              </a:spcAft>
              <a:buNone/>
            </a:pPr>
            <a:endParaRPr sz="2300"/>
          </a:p>
          <a:p>
            <a:pPr marL="0" lvl="0" indent="0" algn="l" rtl="0">
              <a:spcBef>
                <a:spcPts val="0"/>
              </a:spcBef>
              <a:spcAft>
                <a:spcPts val="0"/>
              </a:spcAft>
              <a:buNone/>
            </a:pPr>
            <a:r>
              <a:rPr lang="en-US" sz="2300"/>
              <a:t>X = np.array([[1], [2], [3], [4], [5]])</a:t>
            </a:r>
            <a:endParaRPr sz="2300"/>
          </a:p>
          <a:p>
            <a:pPr marL="0" lvl="0" indent="0" algn="l" rtl="0">
              <a:spcBef>
                <a:spcPts val="0"/>
              </a:spcBef>
              <a:spcAft>
                <a:spcPts val="0"/>
              </a:spcAft>
              <a:buNone/>
            </a:pPr>
            <a:r>
              <a:rPr lang="en-US" sz="2300"/>
              <a:t>y = np.array([10000, 20000, 30000, 40000, 50000])</a:t>
            </a:r>
            <a:endParaRPr sz="2300"/>
          </a:p>
          <a:p>
            <a:pPr marL="0" lvl="0" indent="0" algn="l" rtl="0">
              <a:spcBef>
                <a:spcPts val="0"/>
              </a:spcBef>
              <a:spcAft>
                <a:spcPts val="0"/>
              </a:spcAft>
              <a:buNone/>
            </a:pPr>
            <a:endParaRPr sz="2300"/>
          </a:p>
          <a:p>
            <a:pPr marL="0" lvl="0" indent="0" algn="l" rtl="0">
              <a:spcBef>
                <a:spcPts val="0"/>
              </a:spcBef>
              <a:spcAft>
                <a:spcPts val="0"/>
              </a:spcAft>
              <a:buNone/>
            </a:pPr>
            <a:r>
              <a:rPr lang="en-US" sz="2300"/>
              <a:t>model = GradientBoostingRegressor()</a:t>
            </a:r>
            <a:endParaRPr sz="2300"/>
          </a:p>
          <a:p>
            <a:pPr marL="0" lvl="0" indent="0" algn="l" rtl="0">
              <a:spcBef>
                <a:spcPts val="0"/>
              </a:spcBef>
              <a:spcAft>
                <a:spcPts val="0"/>
              </a:spcAft>
              <a:buNone/>
            </a:pPr>
            <a:r>
              <a:rPr lang="en-US" sz="2300"/>
              <a:t>model.fit(X, y)</a:t>
            </a:r>
            <a:endParaRPr sz="2300"/>
          </a:p>
          <a:p>
            <a:pPr marL="0" lvl="0" indent="0" algn="l" rtl="0">
              <a:spcBef>
                <a:spcPts val="0"/>
              </a:spcBef>
              <a:spcAft>
                <a:spcPts val="0"/>
              </a:spcAft>
              <a:buNone/>
            </a:pPr>
            <a:endParaRPr sz="2300"/>
          </a:p>
          <a:p>
            <a:pPr marL="0" lvl="0" indent="0" algn="l" rtl="0">
              <a:spcBef>
                <a:spcPts val="0"/>
              </a:spcBef>
              <a:spcAft>
                <a:spcPts val="0"/>
              </a:spcAft>
              <a:buNone/>
            </a:pPr>
            <a:r>
              <a:rPr lang="en-US" sz="2300"/>
              <a:t>prediction = model.predict([[3.5]])</a:t>
            </a:r>
            <a:endParaRPr sz="2300"/>
          </a:p>
          <a:p>
            <a:pPr marL="0" lvl="0" indent="0" algn="l" rtl="0">
              <a:spcBef>
                <a:spcPts val="0"/>
              </a:spcBef>
              <a:spcAft>
                <a:spcPts val="0"/>
              </a:spcAft>
              <a:buNone/>
            </a:pPr>
            <a:r>
              <a:rPr lang="en-US" sz="2300"/>
              <a:t>print("Predicted Value:", prediction)</a:t>
            </a:r>
            <a:endParaRPr sz="2300"/>
          </a:p>
          <a:p>
            <a:pPr marL="0" lvl="0" indent="0" algn="l" rtl="0">
              <a:spcBef>
                <a:spcPts val="0"/>
              </a:spcBef>
              <a:spcAft>
                <a:spcPts val="0"/>
              </a:spcAft>
              <a:buNone/>
            </a:pPr>
            <a:endParaRPr sz="23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g3c8f57bf6c1_0_31"/>
          <p:cNvSpPr txBox="1"/>
          <p:nvPr/>
        </p:nvSpPr>
        <p:spPr>
          <a:xfrm>
            <a:off x="201213" y="385658"/>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a:t>Naive Bayes</a:t>
            </a:r>
            <a:endParaRPr sz="3000" b="1"/>
          </a:p>
        </p:txBody>
      </p:sp>
      <p:sp>
        <p:nvSpPr>
          <p:cNvPr id="406" name="Google Shape;406;g3c8f57bf6c1_0_31"/>
          <p:cNvSpPr txBox="1"/>
          <p:nvPr/>
        </p:nvSpPr>
        <p:spPr>
          <a:xfrm>
            <a:off x="201215" y="1442025"/>
            <a:ext cx="8842200" cy="461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solidFill>
                  <a:schemeClr val="dk1"/>
                </a:solidFill>
              </a:rPr>
              <a:t>Naive Bayes</a:t>
            </a:r>
            <a:r>
              <a:rPr lang="en-US" sz="2400">
                <a:solidFill>
                  <a:schemeClr val="dk1"/>
                </a:solidFill>
              </a:rPr>
              <a:t> is a supervised machine learning algorithm mainly used for </a:t>
            </a:r>
            <a:r>
              <a:rPr lang="en-US" sz="2400" b="1">
                <a:solidFill>
                  <a:schemeClr val="dk1"/>
                </a:solidFill>
              </a:rPr>
              <a:t>classification</a:t>
            </a:r>
            <a:r>
              <a:rPr lang="en-US" sz="2400">
                <a:solidFill>
                  <a:schemeClr val="dk1"/>
                </a:solidFill>
              </a:rPr>
              <a:t>.</a:t>
            </a:r>
            <a:br>
              <a:rPr lang="en-US" sz="2400">
                <a:solidFill>
                  <a:schemeClr val="dk1"/>
                </a:solidFill>
              </a:rPr>
            </a:br>
            <a:endParaRPr sz="2400">
              <a:solidFill>
                <a:schemeClr val="dk1"/>
              </a:solidFill>
            </a:endParaRPr>
          </a:p>
          <a:p>
            <a:pPr marL="0" lvl="0" indent="0" algn="l" rtl="0">
              <a:spcBef>
                <a:spcPts val="0"/>
              </a:spcBef>
              <a:spcAft>
                <a:spcPts val="0"/>
              </a:spcAft>
              <a:buNone/>
            </a:pPr>
            <a:r>
              <a:rPr lang="en-US" sz="2400">
                <a:solidFill>
                  <a:schemeClr val="dk1"/>
                </a:solidFill>
              </a:rPr>
              <a:t>It is based on </a:t>
            </a:r>
            <a:r>
              <a:rPr lang="en-US" sz="2400" b="1">
                <a:solidFill>
                  <a:schemeClr val="dk1"/>
                </a:solidFill>
              </a:rPr>
              <a:t>Bayes’ Theorem</a:t>
            </a:r>
            <a:r>
              <a:rPr lang="en-US" sz="2400">
                <a:solidFill>
                  <a:schemeClr val="dk1"/>
                </a:solidFill>
              </a:rPr>
              <a:t> from probability.</a:t>
            </a:r>
            <a:br>
              <a:rPr lang="en-US" sz="2400">
                <a:solidFill>
                  <a:schemeClr val="dk1"/>
                </a:solidFill>
              </a:rPr>
            </a:br>
            <a:endParaRPr sz="2400">
              <a:solidFill>
                <a:schemeClr val="dk1"/>
              </a:solidFill>
            </a:endParaRPr>
          </a:p>
          <a:p>
            <a:pPr marL="0" lvl="0" indent="0" algn="l" rtl="0">
              <a:spcBef>
                <a:spcPts val="0"/>
              </a:spcBef>
              <a:spcAft>
                <a:spcPts val="0"/>
              </a:spcAft>
              <a:buNone/>
            </a:pPr>
            <a:r>
              <a:rPr lang="en-US" sz="2400">
                <a:solidFill>
                  <a:schemeClr val="dk1"/>
                </a:solidFill>
              </a:rPr>
              <a:t>It assumes that all features are </a:t>
            </a:r>
            <a:r>
              <a:rPr lang="en-US" sz="2400" b="1">
                <a:solidFill>
                  <a:schemeClr val="dk1"/>
                </a:solidFill>
              </a:rPr>
              <a:t>independent</a:t>
            </a:r>
            <a:r>
              <a:rPr lang="en-US" sz="2400">
                <a:solidFill>
                  <a:schemeClr val="dk1"/>
                </a:solidFill>
              </a:rPr>
              <a:t> (this is the “naive” assumption).</a:t>
            </a:r>
            <a:br>
              <a:rPr lang="en-US" sz="2400">
                <a:solidFill>
                  <a:schemeClr val="dk1"/>
                </a:solidFill>
              </a:rPr>
            </a:br>
            <a:endParaRPr sz="2400">
              <a:solidFill>
                <a:schemeClr val="dk1"/>
              </a:solidFill>
            </a:endParaRPr>
          </a:p>
          <a:p>
            <a:pPr marL="0" lvl="0" indent="0" algn="l" rtl="0">
              <a:spcBef>
                <a:spcPts val="0"/>
              </a:spcBef>
              <a:spcAft>
                <a:spcPts val="0"/>
              </a:spcAft>
              <a:buNone/>
            </a:pPr>
            <a:r>
              <a:rPr lang="en-US" sz="2400">
                <a:solidFill>
                  <a:schemeClr val="dk1"/>
                </a:solidFill>
              </a:rPr>
              <a:t>It calculates the </a:t>
            </a:r>
            <a:r>
              <a:rPr lang="en-US" sz="2400" b="1">
                <a:solidFill>
                  <a:schemeClr val="dk1"/>
                </a:solidFill>
              </a:rPr>
              <a:t>probability</a:t>
            </a:r>
            <a:r>
              <a:rPr lang="en-US" sz="2400">
                <a:solidFill>
                  <a:schemeClr val="dk1"/>
                </a:solidFill>
              </a:rPr>
              <a:t> of each class.</a:t>
            </a:r>
            <a:br>
              <a:rPr lang="en-US" sz="2400">
                <a:solidFill>
                  <a:schemeClr val="dk1"/>
                </a:solidFill>
              </a:rPr>
            </a:br>
            <a:endParaRPr sz="2400">
              <a:solidFill>
                <a:schemeClr val="dk1"/>
              </a:solidFill>
            </a:endParaRPr>
          </a:p>
          <a:p>
            <a:pPr marL="0" lvl="0" indent="0" algn="l" rtl="0">
              <a:spcBef>
                <a:spcPts val="0"/>
              </a:spcBef>
              <a:spcAft>
                <a:spcPts val="0"/>
              </a:spcAft>
              <a:buNone/>
            </a:pPr>
            <a:r>
              <a:rPr lang="en-US" sz="2400">
                <a:solidFill>
                  <a:schemeClr val="dk1"/>
                </a:solidFill>
              </a:rPr>
              <a:t>The class with the </a:t>
            </a:r>
            <a:r>
              <a:rPr lang="en-US" sz="2400" b="1">
                <a:solidFill>
                  <a:schemeClr val="dk1"/>
                </a:solidFill>
              </a:rPr>
              <a:t>highest probability</a:t>
            </a:r>
            <a:r>
              <a:rPr lang="en-US" sz="2400">
                <a:solidFill>
                  <a:schemeClr val="dk1"/>
                </a:solidFill>
              </a:rPr>
              <a:t> is selected as prediction.</a:t>
            </a:r>
            <a:endParaRPr sz="2400">
              <a:solidFill>
                <a:schemeClr val="dk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pic>
        <p:nvPicPr>
          <p:cNvPr id="411" name="Google Shape;411;g3c8f57bf6c1_0_80"/>
          <p:cNvPicPr preferRelativeResize="0"/>
          <p:nvPr/>
        </p:nvPicPr>
        <p:blipFill>
          <a:blip r:embed="rId3">
            <a:alphaModFix/>
          </a:blip>
          <a:stretch>
            <a:fillRect/>
          </a:stretch>
        </p:blipFill>
        <p:spPr>
          <a:xfrm>
            <a:off x="152400" y="152400"/>
            <a:ext cx="8839200" cy="5892800"/>
          </a:xfrm>
          <a:prstGeom prst="rect">
            <a:avLst/>
          </a:prstGeom>
          <a:noFill/>
          <a:ln w="38100" cap="flat" cmpd="sng">
            <a:solidFill>
              <a:schemeClr val="dk1"/>
            </a:solidFill>
            <a:prstDash val="solid"/>
            <a:round/>
            <a:headEnd type="none" w="sm" len="sm"/>
            <a:tailEnd type="none" w="sm" len="sm"/>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pic>
        <p:nvPicPr>
          <p:cNvPr id="416" name="Google Shape;416;g3ca4195e846_0_0" title="Naive Bayes spam detection explained.png"/>
          <p:cNvPicPr preferRelativeResize="0"/>
          <p:nvPr/>
        </p:nvPicPr>
        <p:blipFill>
          <a:blip r:embed="rId3">
            <a:alphaModFix/>
          </a:blip>
          <a:stretch>
            <a:fillRect/>
          </a:stretch>
        </p:blipFill>
        <p:spPr>
          <a:xfrm>
            <a:off x="1933875" y="0"/>
            <a:ext cx="5181225" cy="6858002"/>
          </a:xfrm>
          <a:prstGeom prst="rect">
            <a:avLst/>
          </a:prstGeom>
          <a:noFill/>
          <a:ln w="38100" cap="flat" cmpd="sng">
            <a:solidFill>
              <a:schemeClr val="dk1"/>
            </a:solidFill>
            <a:prstDash val="solid"/>
            <a:round/>
            <a:headEnd type="none" w="sm" len="sm"/>
            <a:tailEnd type="none" w="sm" len="sm"/>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g3c8f57bf6c1_0_65"/>
          <p:cNvSpPr txBox="1"/>
          <p:nvPr/>
        </p:nvSpPr>
        <p:spPr>
          <a:xfrm>
            <a:off x="201213" y="352122"/>
            <a:ext cx="9060300" cy="587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US" sz="3200" b="1">
                <a:solidFill>
                  <a:schemeClr val="dk1"/>
                </a:solidFill>
              </a:rPr>
              <a:t> Types of Naive Bayes</a:t>
            </a:r>
            <a:endParaRPr sz="3200" b="1">
              <a:solidFill>
                <a:schemeClr val="dk1"/>
              </a:solidFill>
            </a:endParaRPr>
          </a:p>
          <a:p>
            <a:pPr marL="0" lvl="0" indent="0" algn="l" rtl="0">
              <a:lnSpc>
                <a:spcPct val="115000"/>
              </a:lnSpc>
              <a:spcBef>
                <a:spcPts val="1200"/>
              </a:spcBef>
              <a:spcAft>
                <a:spcPts val="0"/>
              </a:spcAft>
              <a:buNone/>
            </a:pPr>
            <a:r>
              <a:rPr lang="en-US" sz="2000">
                <a:solidFill>
                  <a:schemeClr val="dk1"/>
                </a:solidFill>
              </a:rPr>
              <a:t>1️. </a:t>
            </a:r>
            <a:r>
              <a:rPr lang="en-US" sz="2000" b="1">
                <a:solidFill>
                  <a:schemeClr val="dk1"/>
                </a:solidFill>
              </a:rPr>
              <a:t>Gaussian Naive Bayes</a:t>
            </a:r>
            <a:endParaRPr sz="2000" b="1">
              <a:solidFill>
                <a:schemeClr val="dk1"/>
              </a:solidFill>
            </a:endParaRPr>
          </a:p>
          <a:p>
            <a:pPr marL="457200" lvl="0" indent="-355600" algn="l" rtl="0">
              <a:lnSpc>
                <a:spcPct val="115000"/>
              </a:lnSpc>
              <a:spcBef>
                <a:spcPts val="1200"/>
              </a:spcBef>
              <a:spcAft>
                <a:spcPts val="0"/>
              </a:spcAft>
              <a:buClr>
                <a:schemeClr val="dk1"/>
              </a:buClr>
              <a:buSzPts val="2000"/>
              <a:buChar char="●"/>
            </a:pPr>
            <a:r>
              <a:rPr lang="en-US" sz="2000">
                <a:solidFill>
                  <a:schemeClr val="dk1"/>
                </a:solidFill>
              </a:rPr>
              <a:t>Used for continuous data</a:t>
            </a:r>
            <a:br>
              <a:rPr lang="en-US"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US" sz="2000">
                <a:solidFill>
                  <a:schemeClr val="dk1"/>
                </a:solidFill>
              </a:rPr>
              <a:t>Assumes normal distribution</a:t>
            </a:r>
            <a:br>
              <a:rPr lang="en-US" sz="2000">
                <a:solidFill>
                  <a:schemeClr val="dk1"/>
                </a:solidFill>
              </a:rPr>
            </a:br>
            <a:endParaRPr sz="2000">
              <a:solidFill>
                <a:schemeClr val="dk1"/>
              </a:solidFill>
            </a:endParaRPr>
          </a:p>
          <a:p>
            <a:pPr marL="0" lvl="0" indent="0" algn="l" rtl="0">
              <a:lnSpc>
                <a:spcPct val="115000"/>
              </a:lnSpc>
              <a:spcBef>
                <a:spcPts val="1200"/>
              </a:spcBef>
              <a:spcAft>
                <a:spcPts val="0"/>
              </a:spcAft>
              <a:buNone/>
            </a:pPr>
            <a:r>
              <a:rPr lang="en-US" sz="2000">
                <a:solidFill>
                  <a:schemeClr val="dk1"/>
                </a:solidFill>
              </a:rPr>
              <a:t>2️.  </a:t>
            </a:r>
            <a:r>
              <a:rPr lang="en-US" sz="2000" b="1">
                <a:solidFill>
                  <a:schemeClr val="dk1"/>
                </a:solidFill>
              </a:rPr>
              <a:t>Multinomial Naive Bayes</a:t>
            </a:r>
            <a:endParaRPr sz="2000" b="1">
              <a:solidFill>
                <a:schemeClr val="dk1"/>
              </a:solidFill>
            </a:endParaRPr>
          </a:p>
          <a:p>
            <a:pPr marL="457200" lvl="0" indent="-355600" algn="l" rtl="0">
              <a:lnSpc>
                <a:spcPct val="115000"/>
              </a:lnSpc>
              <a:spcBef>
                <a:spcPts val="1200"/>
              </a:spcBef>
              <a:spcAft>
                <a:spcPts val="0"/>
              </a:spcAft>
              <a:buClr>
                <a:schemeClr val="dk1"/>
              </a:buClr>
              <a:buSzPts val="2000"/>
              <a:buChar char="●"/>
            </a:pPr>
            <a:r>
              <a:rPr lang="en-US" sz="2000">
                <a:solidFill>
                  <a:schemeClr val="dk1"/>
                </a:solidFill>
              </a:rPr>
              <a:t>Used for text classification</a:t>
            </a:r>
            <a:br>
              <a:rPr lang="en-US"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US" sz="2000">
                <a:solidFill>
                  <a:schemeClr val="dk1"/>
                </a:solidFill>
              </a:rPr>
              <a:t>Works with word counts</a:t>
            </a:r>
            <a:br>
              <a:rPr lang="en-US" sz="2000">
                <a:solidFill>
                  <a:schemeClr val="dk1"/>
                </a:solidFill>
              </a:rPr>
            </a:br>
            <a:endParaRPr sz="2000">
              <a:solidFill>
                <a:schemeClr val="dk1"/>
              </a:solidFill>
            </a:endParaRPr>
          </a:p>
          <a:p>
            <a:pPr marL="0" lvl="0" indent="0" algn="l" rtl="0">
              <a:lnSpc>
                <a:spcPct val="115000"/>
              </a:lnSpc>
              <a:spcBef>
                <a:spcPts val="1200"/>
              </a:spcBef>
              <a:spcAft>
                <a:spcPts val="0"/>
              </a:spcAft>
              <a:buNone/>
            </a:pPr>
            <a:r>
              <a:rPr lang="en-US" sz="2000">
                <a:solidFill>
                  <a:schemeClr val="dk1"/>
                </a:solidFill>
              </a:rPr>
              <a:t>3️.  </a:t>
            </a:r>
            <a:r>
              <a:rPr lang="en-US" sz="2000" b="1">
                <a:solidFill>
                  <a:schemeClr val="dk1"/>
                </a:solidFill>
              </a:rPr>
              <a:t>Bernoulli Naive Bayes</a:t>
            </a:r>
            <a:endParaRPr sz="2000" b="1">
              <a:solidFill>
                <a:schemeClr val="dk1"/>
              </a:solidFill>
            </a:endParaRPr>
          </a:p>
          <a:p>
            <a:pPr marL="457200" lvl="0" indent="-355600" algn="l" rtl="0">
              <a:lnSpc>
                <a:spcPct val="115000"/>
              </a:lnSpc>
              <a:spcBef>
                <a:spcPts val="1200"/>
              </a:spcBef>
              <a:spcAft>
                <a:spcPts val="0"/>
              </a:spcAft>
              <a:buClr>
                <a:schemeClr val="dk1"/>
              </a:buClr>
              <a:buSzPts val="2000"/>
              <a:buChar char="●"/>
            </a:pPr>
            <a:r>
              <a:rPr lang="en-US" sz="2000">
                <a:solidFill>
                  <a:schemeClr val="dk1"/>
                </a:solidFill>
              </a:rPr>
              <a:t>Used for binary features (0/1)</a:t>
            </a:r>
            <a:endParaRPr sz="2000">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g3c8f57bf6c1_0_68"/>
          <p:cNvSpPr txBox="1"/>
          <p:nvPr/>
        </p:nvSpPr>
        <p:spPr>
          <a:xfrm>
            <a:off x="100606" y="234748"/>
            <a:ext cx="54048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t> Classification Example</a:t>
            </a:r>
            <a:endParaRPr sz="2600" b="1"/>
          </a:p>
        </p:txBody>
      </p:sp>
      <p:sp>
        <p:nvSpPr>
          <p:cNvPr id="427" name="Google Shape;427;g3c8f57bf6c1_0_68"/>
          <p:cNvSpPr txBox="1"/>
          <p:nvPr/>
        </p:nvSpPr>
        <p:spPr>
          <a:xfrm>
            <a:off x="201213" y="1089902"/>
            <a:ext cx="9144000" cy="478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t>from sklearn.naive_bayes import GaussianNB</a:t>
            </a:r>
            <a:endParaRPr sz="2300"/>
          </a:p>
          <a:p>
            <a:pPr marL="0" lvl="0" indent="0" algn="l" rtl="0">
              <a:spcBef>
                <a:spcPts val="0"/>
              </a:spcBef>
              <a:spcAft>
                <a:spcPts val="0"/>
              </a:spcAft>
              <a:buNone/>
            </a:pPr>
            <a:r>
              <a:rPr lang="en-US" sz="2300"/>
              <a:t>import numpy as np</a:t>
            </a:r>
            <a:endParaRPr sz="2300"/>
          </a:p>
          <a:p>
            <a:pPr marL="0" lvl="0" indent="0" algn="l" rtl="0">
              <a:spcBef>
                <a:spcPts val="0"/>
              </a:spcBef>
              <a:spcAft>
                <a:spcPts val="0"/>
              </a:spcAft>
              <a:buNone/>
            </a:pPr>
            <a:endParaRPr sz="2300"/>
          </a:p>
          <a:p>
            <a:pPr marL="0" lvl="0" indent="0" algn="l" rtl="0">
              <a:spcBef>
                <a:spcPts val="0"/>
              </a:spcBef>
              <a:spcAft>
                <a:spcPts val="0"/>
              </a:spcAft>
              <a:buNone/>
            </a:pPr>
            <a:r>
              <a:rPr lang="en-US" sz="2300"/>
              <a:t># Sample Data</a:t>
            </a:r>
            <a:endParaRPr sz="2300"/>
          </a:p>
          <a:p>
            <a:pPr marL="0" lvl="0" indent="0" algn="l" rtl="0">
              <a:spcBef>
                <a:spcPts val="0"/>
              </a:spcBef>
              <a:spcAft>
                <a:spcPts val="0"/>
              </a:spcAft>
              <a:buNone/>
            </a:pPr>
            <a:r>
              <a:rPr lang="en-US" sz="2300"/>
              <a:t>X = np.array([[1], [2], [3], [4], [5]])</a:t>
            </a:r>
            <a:endParaRPr sz="2300"/>
          </a:p>
          <a:p>
            <a:pPr marL="0" lvl="0" indent="0" algn="l" rtl="0">
              <a:spcBef>
                <a:spcPts val="0"/>
              </a:spcBef>
              <a:spcAft>
                <a:spcPts val="0"/>
              </a:spcAft>
              <a:buNone/>
            </a:pPr>
            <a:r>
              <a:rPr lang="en-US" sz="2300"/>
              <a:t>y = np.array([0, 0, 0, 1, 1])</a:t>
            </a:r>
            <a:endParaRPr sz="2300"/>
          </a:p>
          <a:p>
            <a:pPr marL="0" lvl="0" indent="0" algn="l" rtl="0">
              <a:spcBef>
                <a:spcPts val="0"/>
              </a:spcBef>
              <a:spcAft>
                <a:spcPts val="0"/>
              </a:spcAft>
              <a:buNone/>
            </a:pPr>
            <a:endParaRPr sz="2300"/>
          </a:p>
          <a:p>
            <a:pPr marL="0" lvl="0" indent="0" algn="l" rtl="0">
              <a:spcBef>
                <a:spcPts val="0"/>
              </a:spcBef>
              <a:spcAft>
                <a:spcPts val="0"/>
              </a:spcAft>
              <a:buNone/>
            </a:pPr>
            <a:r>
              <a:rPr lang="en-US" sz="2300"/>
              <a:t>model = GaussianNB()</a:t>
            </a:r>
            <a:endParaRPr sz="2300"/>
          </a:p>
          <a:p>
            <a:pPr marL="0" lvl="0" indent="0" algn="l" rtl="0">
              <a:spcBef>
                <a:spcPts val="0"/>
              </a:spcBef>
              <a:spcAft>
                <a:spcPts val="0"/>
              </a:spcAft>
              <a:buNone/>
            </a:pPr>
            <a:r>
              <a:rPr lang="en-US" sz="2300"/>
              <a:t>model.fit(X, y)</a:t>
            </a:r>
            <a:endParaRPr sz="2300"/>
          </a:p>
          <a:p>
            <a:pPr marL="0" lvl="0" indent="0" algn="l" rtl="0">
              <a:spcBef>
                <a:spcPts val="0"/>
              </a:spcBef>
              <a:spcAft>
                <a:spcPts val="0"/>
              </a:spcAft>
              <a:buNone/>
            </a:pPr>
            <a:endParaRPr sz="2300"/>
          </a:p>
          <a:p>
            <a:pPr marL="0" lvl="0" indent="0" algn="l" rtl="0">
              <a:spcBef>
                <a:spcPts val="0"/>
              </a:spcBef>
              <a:spcAft>
                <a:spcPts val="0"/>
              </a:spcAft>
              <a:buNone/>
            </a:pPr>
            <a:r>
              <a:rPr lang="en-US" sz="2300"/>
              <a:t>prediction = model.predict([[3.5]])</a:t>
            </a:r>
            <a:endParaRPr sz="2300"/>
          </a:p>
          <a:p>
            <a:pPr marL="0" lvl="0" indent="0" algn="l" rtl="0">
              <a:spcBef>
                <a:spcPts val="0"/>
              </a:spcBef>
              <a:spcAft>
                <a:spcPts val="0"/>
              </a:spcAft>
              <a:buNone/>
            </a:pPr>
            <a:r>
              <a:rPr lang="en-US" sz="2300"/>
              <a:t>print("Prediction:", prediction)</a:t>
            </a:r>
            <a:endParaRPr sz="2300"/>
          </a:p>
          <a:p>
            <a:pPr marL="0" lvl="0" indent="0" algn="l" rtl="0">
              <a:spcBef>
                <a:spcPts val="0"/>
              </a:spcBef>
              <a:spcAft>
                <a:spcPts val="0"/>
              </a:spcAft>
              <a:buNone/>
            </a:pPr>
            <a:endParaRPr sz="23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g3c557cd45b1_0_0"/>
          <p:cNvSpPr txBox="1"/>
          <p:nvPr/>
        </p:nvSpPr>
        <p:spPr>
          <a:xfrm>
            <a:off x="1794147" y="0"/>
            <a:ext cx="91440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100" b="1" u="sng"/>
              <a:t>Model Evaluation Metrics</a:t>
            </a:r>
            <a:endParaRPr sz="3100" b="1" u="sng"/>
          </a:p>
        </p:txBody>
      </p:sp>
      <p:sp>
        <p:nvSpPr>
          <p:cNvPr id="433" name="Google Shape;433;g3c557cd45b1_0_0"/>
          <p:cNvSpPr txBox="1"/>
          <p:nvPr/>
        </p:nvSpPr>
        <p:spPr>
          <a:xfrm>
            <a:off x="0" y="704244"/>
            <a:ext cx="9144000" cy="599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2700" b="1">
                <a:solidFill>
                  <a:schemeClr val="dk1"/>
                </a:solidFill>
              </a:rPr>
              <a:t>1. Accuracy</a:t>
            </a:r>
            <a:endParaRPr sz="2700" b="1">
              <a:solidFill>
                <a:schemeClr val="dk1"/>
              </a:solidFill>
            </a:endParaRPr>
          </a:p>
          <a:p>
            <a:pPr marL="0" lvl="0" indent="0" algn="l" rtl="0">
              <a:lnSpc>
                <a:spcPct val="115000"/>
              </a:lnSpc>
              <a:spcBef>
                <a:spcPts val="1200"/>
              </a:spcBef>
              <a:spcAft>
                <a:spcPts val="0"/>
              </a:spcAft>
              <a:buNone/>
            </a:pPr>
            <a:r>
              <a:rPr lang="en-US" sz="2100" b="1">
                <a:solidFill>
                  <a:schemeClr val="dk1"/>
                </a:solidFill>
              </a:rPr>
              <a:t>Definition:</a:t>
            </a:r>
            <a:br>
              <a:rPr lang="en-US" sz="2100" b="1">
                <a:solidFill>
                  <a:schemeClr val="dk1"/>
                </a:solidFill>
              </a:rPr>
            </a:br>
            <a:r>
              <a:rPr lang="en-US" sz="2100">
                <a:solidFill>
                  <a:schemeClr val="dk1"/>
                </a:solidFill>
              </a:rPr>
              <a:t> Accuracy measures how many predictions made by the model are correct out of all predictions.</a:t>
            </a:r>
            <a:endParaRPr sz="2100">
              <a:solidFill>
                <a:schemeClr val="dk1"/>
              </a:solidFill>
            </a:endParaRPr>
          </a:p>
          <a:p>
            <a:pPr marL="0" lvl="0" indent="0" algn="l" rtl="0">
              <a:lnSpc>
                <a:spcPct val="115000"/>
              </a:lnSpc>
              <a:spcBef>
                <a:spcPts val="1200"/>
              </a:spcBef>
              <a:spcAft>
                <a:spcPts val="0"/>
              </a:spcAft>
              <a:buNone/>
            </a:pPr>
            <a:r>
              <a:rPr lang="en-US" sz="2100" b="1">
                <a:solidFill>
                  <a:schemeClr val="dk1"/>
                </a:solidFill>
              </a:rPr>
              <a:t>Formula:</a:t>
            </a:r>
            <a:endParaRPr sz="2100" b="1">
              <a:solidFill>
                <a:schemeClr val="dk1"/>
              </a:solidFill>
            </a:endParaRPr>
          </a:p>
          <a:p>
            <a:pPr marL="0" lvl="0" indent="0" algn="l" rtl="0">
              <a:lnSpc>
                <a:spcPct val="115000"/>
              </a:lnSpc>
              <a:spcBef>
                <a:spcPts val="1200"/>
              </a:spcBef>
              <a:spcAft>
                <a:spcPts val="0"/>
              </a:spcAft>
              <a:buNone/>
            </a:pPr>
            <a:endParaRPr sz="2100">
              <a:solidFill>
                <a:schemeClr val="dk1"/>
              </a:solidFill>
            </a:endParaRPr>
          </a:p>
          <a:p>
            <a:pPr marL="0" lvl="0" indent="0" algn="l" rtl="0">
              <a:lnSpc>
                <a:spcPct val="115000"/>
              </a:lnSpc>
              <a:spcBef>
                <a:spcPts val="1200"/>
              </a:spcBef>
              <a:spcAft>
                <a:spcPts val="0"/>
              </a:spcAft>
              <a:buNone/>
            </a:pPr>
            <a:r>
              <a:rPr lang="en-US" sz="2100" b="1">
                <a:solidFill>
                  <a:schemeClr val="dk1"/>
                </a:solidFill>
              </a:rPr>
              <a:t/>
            </a:r>
            <a:br>
              <a:rPr lang="en-US" sz="2100" b="1">
                <a:solidFill>
                  <a:schemeClr val="dk1"/>
                </a:solidFill>
              </a:rPr>
            </a:br>
            <a:endParaRPr sz="2100" b="1">
              <a:solidFill>
                <a:schemeClr val="dk1"/>
              </a:solidFill>
            </a:endParaRPr>
          </a:p>
          <a:p>
            <a:pPr marL="0" lvl="0" indent="0" algn="l" rtl="0">
              <a:lnSpc>
                <a:spcPct val="115000"/>
              </a:lnSpc>
              <a:spcBef>
                <a:spcPts val="1200"/>
              </a:spcBef>
              <a:spcAft>
                <a:spcPts val="0"/>
              </a:spcAft>
              <a:buNone/>
            </a:pPr>
            <a:r>
              <a:rPr lang="en-US" sz="2100" b="1">
                <a:solidFill>
                  <a:schemeClr val="dk1"/>
                </a:solidFill>
              </a:rPr>
              <a:t>Explanation:</a:t>
            </a:r>
            <a:br>
              <a:rPr lang="en-US" sz="2100" b="1">
                <a:solidFill>
                  <a:schemeClr val="dk1"/>
                </a:solidFill>
              </a:rPr>
            </a:br>
            <a:r>
              <a:rPr lang="en-US" sz="2100">
                <a:solidFill>
                  <a:schemeClr val="dk1"/>
                </a:solidFill>
              </a:rPr>
              <a:t> It calculates the percentage of correctly predicted instances.</a:t>
            </a:r>
            <a:endParaRPr sz="2100">
              <a:solidFill>
                <a:schemeClr val="dk1"/>
              </a:solidFill>
            </a:endParaRPr>
          </a:p>
          <a:p>
            <a:pPr marL="0" lvl="0" indent="0" algn="l" rtl="0">
              <a:lnSpc>
                <a:spcPct val="115000"/>
              </a:lnSpc>
              <a:spcBef>
                <a:spcPts val="1200"/>
              </a:spcBef>
              <a:spcAft>
                <a:spcPts val="1200"/>
              </a:spcAft>
              <a:buNone/>
            </a:pPr>
            <a:r>
              <a:rPr lang="en-US" sz="2100" b="1">
                <a:solidFill>
                  <a:schemeClr val="dk1"/>
                </a:solidFill>
              </a:rPr>
              <a:t>Example:</a:t>
            </a:r>
            <a:br>
              <a:rPr lang="en-US" sz="2100" b="1">
                <a:solidFill>
                  <a:schemeClr val="dk1"/>
                </a:solidFill>
              </a:rPr>
            </a:br>
            <a:r>
              <a:rPr lang="en-US" sz="2100">
                <a:solidFill>
                  <a:schemeClr val="dk1"/>
                </a:solidFill>
              </a:rPr>
              <a:t> If a model predicts </a:t>
            </a:r>
            <a:r>
              <a:rPr lang="en-US" sz="2100" b="1">
                <a:solidFill>
                  <a:schemeClr val="dk1"/>
                </a:solidFill>
              </a:rPr>
              <a:t>90 correct results out of 100</a:t>
            </a:r>
            <a:r>
              <a:rPr lang="en-US" sz="2100">
                <a:solidFill>
                  <a:schemeClr val="dk1"/>
                </a:solidFill>
              </a:rPr>
              <a:t>, then:</a:t>
            </a:r>
            <a:br>
              <a:rPr lang="en-US" sz="2100">
                <a:solidFill>
                  <a:schemeClr val="dk1"/>
                </a:solidFill>
              </a:rPr>
            </a:br>
            <a:r>
              <a:rPr lang="en-US" sz="2100">
                <a:solidFill>
                  <a:schemeClr val="dk1"/>
                </a:solidFill>
              </a:rPr>
              <a:t> Accuracy = 90 / 100 = </a:t>
            </a:r>
            <a:r>
              <a:rPr lang="en-US" sz="2100" b="1">
                <a:solidFill>
                  <a:schemeClr val="dk1"/>
                </a:solidFill>
              </a:rPr>
              <a:t>0.90 (90%)</a:t>
            </a:r>
            <a:endParaRPr sz="2100" b="1">
              <a:solidFill>
                <a:schemeClr val="dk1"/>
              </a:solidFill>
            </a:endParaRPr>
          </a:p>
        </p:txBody>
      </p:sp>
      <p:pic>
        <p:nvPicPr>
          <p:cNvPr id="434" name="Google Shape;434;g3c557cd45b1_0_0"/>
          <p:cNvPicPr preferRelativeResize="0"/>
          <p:nvPr/>
        </p:nvPicPr>
        <p:blipFill>
          <a:blip r:embed="rId3">
            <a:alphaModFix/>
          </a:blip>
          <a:stretch>
            <a:fillRect/>
          </a:stretch>
        </p:blipFill>
        <p:spPr>
          <a:xfrm>
            <a:off x="1442017" y="2990126"/>
            <a:ext cx="5840776" cy="126722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g3c557cd45b1_0_12"/>
          <p:cNvSpPr txBox="1"/>
          <p:nvPr/>
        </p:nvSpPr>
        <p:spPr>
          <a:xfrm>
            <a:off x="0" y="0"/>
            <a:ext cx="9144000" cy="6226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2800" b="1">
                <a:solidFill>
                  <a:schemeClr val="dk1"/>
                </a:solidFill>
              </a:rPr>
              <a:t>2. Precision</a:t>
            </a:r>
            <a:endParaRPr sz="2800" b="1">
              <a:solidFill>
                <a:schemeClr val="dk1"/>
              </a:solidFill>
            </a:endParaRPr>
          </a:p>
          <a:p>
            <a:pPr marL="0" lvl="0" indent="0" algn="l" rtl="0">
              <a:lnSpc>
                <a:spcPct val="115000"/>
              </a:lnSpc>
              <a:spcBef>
                <a:spcPts val="1200"/>
              </a:spcBef>
              <a:spcAft>
                <a:spcPts val="0"/>
              </a:spcAft>
              <a:buNone/>
            </a:pPr>
            <a:r>
              <a:rPr lang="en-US" sz="2200" b="1">
                <a:solidFill>
                  <a:schemeClr val="dk1"/>
                </a:solidFill>
              </a:rPr>
              <a:t>Definition:</a:t>
            </a:r>
            <a:br>
              <a:rPr lang="en-US" sz="2200" b="1">
                <a:solidFill>
                  <a:schemeClr val="dk1"/>
                </a:solidFill>
              </a:rPr>
            </a:br>
            <a:r>
              <a:rPr lang="en-US" sz="2200">
                <a:solidFill>
                  <a:schemeClr val="dk1"/>
                </a:solidFill>
              </a:rPr>
              <a:t> Precision measures how many of the predicted positive cases are actually positive.</a:t>
            </a:r>
            <a:endParaRPr sz="2200">
              <a:solidFill>
                <a:schemeClr val="dk1"/>
              </a:solidFill>
            </a:endParaRPr>
          </a:p>
          <a:p>
            <a:pPr marL="0" lvl="0" indent="0" algn="l" rtl="0">
              <a:lnSpc>
                <a:spcPct val="115000"/>
              </a:lnSpc>
              <a:spcBef>
                <a:spcPts val="1200"/>
              </a:spcBef>
              <a:spcAft>
                <a:spcPts val="0"/>
              </a:spcAft>
              <a:buNone/>
            </a:pPr>
            <a:r>
              <a:rPr lang="en-US" sz="2200" b="1">
                <a:solidFill>
                  <a:schemeClr val="dk1"/>
                </a:solidFill>
              </a:rPr>
              <a:t>Formula:</a:t>
            </a:r>
            <a:endParaRPr sz="2200" b="1">
              <a:solidFill>
                <a:schemeClr val="dk1"/>
              </a:solidFill>
            </a:endParaRPr>
          </a:p>
          <a:p>
            <a:pPr marL="0" lvl="0" indent="0" algn="l" rtl="0">
              <a:lnSpc>
                <a:spcPct val="115000"/>
              </a:lnSpc>
              <a:spcBef>
                <a:spcPts val="1200"/>
              </a:spcBef>
              <a:spcAft>
                <a:spcPts val="0"/>
              </a:spcAft>
              <a:buNone/>
            </a:pPr>
            <a:r>
              <a:rPr lang="en-US" sz="2200">
                <a:solidFill>
                  <a:schemeClr val="dk1"/>
                </a:solidFill>
              </a:rPr>
              <a:t>                            </a:t>
            </a:r>
            <a:endParaRPr sz="2200">
              <a:solidFill>
                <a:schemeClr val="dk1"/>
              </a:solidFill>
            </a:endParaRPr>
          </a:p>
          <a:p>
            <a:pPr marL="0" lvl="0" indent="0" algn="l" rtl="0">
              <a:lnSpc>
                <a:spcPct val="115000"/>
              </a:lnSpc>
              <a:spcBef>
                <a:spcPts val="1200"/>
              </a:spcBef>
              <a:spcAft>
                <a:spcPts val="0"/>
              </a:spcAft>
              <a:buNone/>
            </a:pPr>
            <a:endParaRPr sz="2200" b="1">
              <a:solidFill>
                <a:schemeClr val="dk1"/>
              </a:solidFill>
            </a:endParaRPr>
          </a:p>
          <a:p>
            <a:pPr marL="0" lvl="0" indent="0" algn="l" rtl="0">
              <a:lnSpc>
                <a:spcPct val="115000"/>
              </a:lnSpc>
              <a:spcBef>
                <a:spcPts val="1200"/>
              </a:spcBef>
              <a:spcAft>
                <a:spcPts val="0"/>
              </a:spcAft>
              <a:buNone/>
            </a:pPr>
            <a:r>
              <a:rPr lang="en-US" sz="2200" b="1">
                <a:solidFill>
                  <a:schemeClr val="dk1"/>
                </a:solidFill>
              </a:rPr>
              <a:t>Explanation:</a:t>
            </a:r>
            <a:br>
              <a:rPr lang="en-US" sz="2200" b="1">
                <a:solidFill>
                  <a:schemeClr val="dk1"/>
                </a:solidFill>
              </a:rPr>
            </a:br>
            <a:r>
              <a:rPr lang="en-US" sz="2200">
                <a:solidFill>
                  <a:schemeClr val="dk1"/>
                </a:solidFill>
              </a:rPr>
              <a:t> It tells how reliable the positive predictions of the model are.</a:t>
            </a:r>
            <a:endParaRPr sz="2200">
              <a:solidFill>
                <a:schemeClr val="dk1"/>
              </a:solidFill>
            </a:endParaRPr>
          </a:p>
          <a:p>
            <a:pPr marL="0" lvl="0" indent="0" algn="l" rtl="0">
              <a:lnSpc>
                <a:spcPct val="115000"/>
              </a:lnSpc>
              <a:spcBef>
                <a:spcPts val="1200"/>
              </a:spcBef>
              <a:spcAft>
                <a:spcPts val="1200"/>
              </a:spcAft>
              <a:buNone/>
            </a:pPr>
            <a:r>
              <a:rPr lang="en-US" sz="2200" b="1">
                <a:solidFill>
                  <a:schemeClr val="dk1"/>
                </a:solidFill>
              </a:rPr>
              <a:t>Example:</a:t>
            </a:r>
            <a:br>
              <a:rPr lang="en-US" sz="2200" b="1">
                <a:solidFill>
                  <a:schemeClr val="dk1"/>
                </a:solidFill>
              </a:rPr>
            </a:br>
            <a:r>
              <a:rPr lang="en-US" sz="2200">
                <a:solidFill>
                  <a:schemeClr val="dk1"/>
                </a:solidFill>
              </a:rPr>
              <a:t> If a model predicts </a:t>
            </a:r>
            <a:r>
              <a:rPr lang="en-US" sz="2200" b="1">
                <a:solidFill>
                  <a:schemeClr val="dk1"/>
                </a:solidFill>
              </a:rPr>
              <a:t>50 positive cases</a:t>
            </a:r>
            <a:r>
              <a:rPr lang="en-US" sz="2200">
                <a:solidFill>
                  <a:schemeClr val="dk1"/>
                </a:solidFill>
              </a:rPr>
              <a:t> and </a:t>
            </a:r>
            <a:r>
              <a:rPr lang="en-US" sz="2200" b="1">
                <a:solidFill>
                  <a:schemeClr val="dk1"/>
                </a:solidFill>
              </a:rPr>
              <a:t>40 are actually positive</a:t>
            </a:r>
            <a:r>
              <a:rPr lang="en-US" sz="2200">
                <a:solidFill>
                  <a:schemeClr val="dk1"/>
                </a:solidFill>
              </a:rPr>
              <a:t>, then:</a:t>
            </a:r>
            <a:br>
              <a:rPr lang="en-US" sz="2200">
                <a:solidFill>
                  <a:schemeClr val="dk1"/>
                </a:solidFill>
              </a:rPr>
            </a:br>
            <a:r>
              <a:rPr lang="en-US" sz="2200">
                <a:solidFill>
                  <a:schemeClr val="dk1"/>
                </a:solidFill>
              </a:rPr>
              <a:t> Precision = 40 / 50 = </a:t>
            </a:r>
            <a:r>
              <a:rPr lang="en-US" sz="2200" b="1">
                <a:solidFill>
                  <a:schemeClr val="dk1"/>
                </a:solidFill>
              </a:rPr>
              <a:t>0.80 (80%)</a:t>
            </a:r>
            <a:endParaRPr sz="2200" b="1">
              <a:solidFill>
                <a:schemeClr val="dk1"/>
              </a:solidFill>
            </a:endParaRPr>
          </a:p>
        </p:txBody>
      </p:sp>
      <p:pic>
        <p:nvPicPr>
          <p:cNvPr id="440" name="Google Shape;440;g3c557cd45b1_0_12"/>
          <p:cNvPicPr preferRelativeResize="0"/>
          <p:nvPr/>
        </p:nvPicPr>
        <p:blipFill>
          <a:blip r:embed="rId3">
            <a:alphaModFix/>
          </a:blip>
          <a:stretch>
            <a:fillRect/>
          </a:stretch>
        </p:blipFill>
        <p:spPr>
          <a:xfrm>
            <a:off x="2399279" y="2246997"/>
            <a:ext cx="3463051" cy="118200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g3c557cd45b1_0_24"/>
          <p:cNvSpPr txBox="1"/>
          <p:nvPr/>
        </p:nvSpPr>
        <p:spPr>
          <a:xfrm>
            <a:off x="0" y="0"/>
            <a:ext cx="9144000" cy="6300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2900" b="1">
                <a:solidFill>
                  <a:schemeClr val="dk1"/>
                </a:solidFill>
              </a:rPr>
              <a:t>3. Recall (Sensitivity)</a:t>
            </a:r>
            <a:endParaRPr sz="2900" b="1">
              <a:solidFill>
                <a:schemeClr val="dk1"/>
              </a:solidFill>
            </a:endParaRPr>
          </a:p>
          <a:p>
            <a:pPr marL="0" lvl="0" indent="0" algn="l" rtl="0">
              <a:lnSpc>
                <a:spcPct val="115000"/>
              </a:lnSpc>
              <a:spcBef>
                <a:spcPts val="1200"/>
              </a:spcBef>
              <a:spcAft>
                <a:spcPts val="0"/>
              </a:spcAft>
              <a:buNone/>
            </a:pPr>
            <a:r>
              <a:rPr lang="en-US" sz="2300" b="1">
                <a:solidFill>
                  <a:schemeClr val="dk1"/>
                </a:solidFill>
              </a:rPr>
              <a:t>Definition:</a:t>
            </a:r>
            <a:br>
              <a:rPr lang="en-US" sz="2300" b="1">
                <a:solidFill>
                  <a:schemeClr val="dk1"/>
                </a:solidFill>
              </a:rPr>
            </a:br>
            <a:r>
              <a:rPr lang="en-US" sz="2300">
                <a:solidFill>
                  <a:schemeClr val="dk1"/>
                </a:solidFill>
              </a:rPr>
              <a:t> Recall measures how many actual positive cases were correctly predicted by the model.</a:t>
            </a:r>
            <a:endParaRPr sz="2300">
              <a:solidFill>
                <a:schemeClr val="dk1"/>
              </a:solidFill>
            </a:endParaRPr>
          </a:p>
          <a:p>
            <a:pPr marL="0" lvl="0" indent="0" algn="l" rtl="0">
              <a:lnSpc>
                <a:spcPct val="115000"/>
              </a:lnSpc>
              <a:spcBef>
                <a:spcPts val="1200"/>
              </a:spcBef>
              <a:spcAft>
                <a:spcPts val="0"/>
              </a:spcAft>
              <a:buNone/>
            </a:pPr>
            <a:r>
              <a:rPr lang="en-US" sz="2300" b="1">
                <a:solidFill>
                  <a:schemeClr val="dk1"/>
                </a:solidFill>
              </a:rPr>
              <a:t>Formula:</a:t>
            </a:r>
            <a:endParaRPr sz="2300" b="1">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0"/>
              </a:spcBef>
              <a:spcAft>
                <a:spcPts val="0"/>
              </a:spcAft>
              <a:buNone/>
            </a:pPr>
            <a:endParaRPr sz="2300">
              <a:solidFill>
                <a:schemeClr val="dk1"/>
              </a:solidFill>
            </a:endParaRPr>
          </a:p>
          <a:p>
            <a:pPr marL="0" lvl="0" indent="0" algn="l" rtl="0">
              <a:lnSpc>
                <a:spcPct val="115000"/>
              </a:lnSpc>
              <a:spcBef>
                <a:spcPts val="1200"/>
              </a:spcBef>
              <a:spcAft>
                <a:spcPts val="0"/>
              </a:spcAft>
              <a:buNone/>
            </a:pPr>
            <a:r>
              <a:rPr lang="en-US" sz="2300" b="1">
                <a:solidFill>
                  <a:schemeClr val="dk1"/>
                </a:solidFill>
              </a:rPr>
              <a:t>Explanation:</a:t>
            </a:r>
            <a:br>
              <a:rPr lang="en-US" sz="2300" b="1">
                <a:solidFill>
                  <a:schemeClr val="dk1"/>
                </a:solidFill>
              </a:rPr>
            </a:br>
            <a:r>
              <a:rPr lang="en-US" sz="2300">
                <a:solidFill>
                  <a:schemeClr val="dk1"/>
                </a:solidFill>
              </a:rPr>
              <a:t> It shows the model’s ability to detect all positive instances.</a:t>
            </a:r>
            <a:endParaRPr sz="2300">
              <a:solidFill>
                <a:schemeClr val="dk1"/>
              </a:solidFill>
            </a:endParaRPr>
          </a:p>
          <a:p>
            <a:pPr marL="0" lvl="0" indent="0" algn="l" rtl="0">
              <a:lnSpc>
                <a:spcPct val="115000"/>
              </a:lnSpc>
              <a:spcBef>
                <a:spcPts val="1200"/>
              </a:spcBef>
              <a:spcAft>
                <a:spcPts val="1200"/>
              </a:spcAft>
              <a:buNone/>
            </a:pPr>
            <a:r>
              <a:rPr lang="en-US" sz="2300" b="1">
                <a:solidFill>
                  <a:schemeClr val="dk1"/>
                </a:solidFill>
              </a:rPr>
              <a:t>Example:</a:t>
            </a:r>
            <a:br>
              <a:rPr lang="en-US" sz="2300" b="1">
                <a:solidFill>
                  <a:schemeClr val="dk1"/>
                </a:solidFill>
              </a:rPr>
            </a:br>
            <a:r>
              <a:rPr lang="en-US" sz="2300">
                <a:solidFill>
                  <a:schemeClr val="dk1"/>
                </a:solidFill>
              </a:rPr>
              <a:t> If there are </a:t>
            </a:r>
            <a:r>
              <a:rPr lang="en-US" sz="2300" b="1">
                <a:solidFill>
                  <a:schemeClr val="dk1"/>
                </a:solidFill>
              </a:rPr>
              <a:t>60 actual positive cases</a:t>
            </a:r>
            <a:r>
              <a:rPr lang="en-US" sz="2300">
                <a:solidFill>
                  <a:schemeClr val="dk1"/>
                </a:solidFill>
              </a:rPr>
              <a:t> and the model detects </a:t>
            </a:r>
            <a:r>
              <a:rPr lang="en-US" sz="2300" b="1">
                <a:solidFill>
                  <a:schemeClr val="dk1"/>
                </a:solidFill>
              </a:rPr>
              <a:t>45</a:t>
            </a:r>
            <a:r>
              <a:rPr lang="en-US" sz="2300">
                <a:solidFill>
                  <a:schemeClr val="dk1"/>
                </a:solidFill>
              </a:rPr>
              <a:t>, then:</a:t>
            </a:r>
            <a:br>
              <a:rPr lang="en-US" sz="2300">
                <a:solidFill>
                  <a:schemeClr val="dk1"/>
                </a:solidFill>
              </a:rPr>
            </a:br>
            <a:r>
              <a:rPr lang="en-US" sz="2300">
                <a:solidFill>
                  <a:schemeClr val="dk1"/>
                </a:solidFill>
              </a:rPr>
              <a:t> Recall = 45 / 60 = </a:t>
            </a:r>
            <a:r>
              <a:rPr lang="en-US" sz="2300" b="1">
                <a:solidFill>
                  <a:schemeClr val="dk1"/>
                </a:solidFill>
              </a:rPr>
              <a:t>0.75 (75%)</a:t>
            </a:r>
            <a:endParaRPr sz="2300" b="1">
              <a:solidFill>
                <a:schemeClr val="dk1"/>
              </a:solidFill>
            </a:endParaRPr>
          </a:p>
        </p:txBody>
      </p:sp>
      <p:pic>
        <p:nvPicPr>
          <p:cNvPr id="446" name="Google Shape;446;g3c557cd45b1_0_24"/>
          <p:cNvPicPr preferRelativeResize="0"/>
          <p:nvPr/>
        </p:nvPicPr>
        <p:blipFill>
          <a:blip r:embed="rId3">
            <a:alphaModFix/>
          </a:blip>
          <a:stretch>
            <a:fillRect/>
          </a:stretch>
        </p:blipFill>
        <p:spPr>
          <a:xfrm>
            <a:off x="3151413" y="2505063"/>
            <a:ext cx="2676525" cy="92392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g3c557cd45b1_0_27"/>
          <p:cNvSpPr txBox="1"/>
          <p:nvPr/>
        </p:nvSpPr>
        <p:spPr>
          <a:xfrm>
            <a:off x="0" y="0"/>
            <a:ext cx="9076800" cy="689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2700" b="1">
                <a:solidFill>
                  <a:schemeClr val="dk1"/>
                </a:solidFill>
              </a:rPr>
              <a:t>4. F1-Score</a:t>
            </a:r>
            <a:endParaRPr sz="2700" b="1">
              <a:solidFill>
                <a:schemeClr val="dk1"/>
              </a:solidFill>
            </a:endParaRPr>
          </a:p>
          <a:p>
            <a:pPr marL="0" lvl="0" indent="0" algn="l" rtl="0">
              <a:lnSpc>
                <a:spcPct val="115000"/>
              </a:lnSpc>
              <a:spcBef>
                <a:spcPts val="1200"/>
              </a:spcBef>
              <a:spcAft>
                <a:spcPts val="0"/>
              </a:spcAft>
              <a:buNone/>
            </a:pPr>
            <a:r>
              <a:rPr lang="en-US" sz="2100" b="1">
                <a:solidFill>
                  <a:schemeClr val="dk1"/>
                </a:solidFill>
              </a:rPr>
              <a:t>Definition:</a:t>
            </a:r>
            <a:br>
              <a:rPr lang="en-US" sz="2100" b="1">
                <a:solidFill>
                  <a:schemeClr val="dk1"/>
                </a:solidFill>
              </a:rPr>
            </a:br>
            <a:r>
              <a:rPr lang="en-US" sz="2100">
                <a:solidFill>
                  <a:schemeClr val="dk1"/>
                </a:solidFill>
              </a:rPr>
              <a:t> F1-score is the harmonic mean of Precision and Recall.</a:t>
            </a:r>
            <a:endParaRPr sz="2100">
              <a:solidFill>
                <a:schemeClr val="dk1"/>
              </a:solidFill>
            </a:endParaRPr>
          </a:p>
          <a:p>
            <a:pPr marL="0" lvl="0" indent="0" algn="l" rtl="0">
              <a:lnSpc>
                <a:spcPct val="115000"/>
              </a:lnSpc>
              <a:spcBef>
                <a:spcPts val="1200"/>
              </a:spcBef>
              <a:spcAft>
                <a:spcPts val="0"/>
              </a:spcAft>
              <a:buNone/>
            </a:pPr>
            <a:r>
              <a:rPr lang="en-US" sz="2100" b="1">
                <a:solidFill>
                  <a:schemeClr val="dk1"/>
                </a:solidFill>
              </a:rPr>
              <a:t>Formula:</a:t>
            </a:r>
            <a:endParaRPr sz="2100" b="1">
              <a:solidFill>
                <a:schemeClr val="dk1"/>
              </a:solidFill>
            </a:endParaRPr>
          </a:p>
          <a:p>
            <a:pPr marL="0" lvl="0" indent="0" algn="l" rtl="0">
              <a:lnSpc>
                <a:spcPct val="115000"/>
              </a:lnSpc>
              <a:spcBef>
                <a:spcPts val="1200"/>
              </a:spcBef>
              <a:spcAft>
                <a:spcPts val="0"/>
              </a:spcAft>
              <a:buNone/>
            </a:pPr>
            <a:endParaRPr sz="2100">
              <a:solidFill>
                <a:schemeClr val="dk1"/>
              </a:solidFill>
            </a:endParaRPr>
          </a:p>
          <a:p>
            <a:pPr marL="0" lvl="0" indent="0" algn="l" rtl="0">
              <a:lnSpc>
                <a:spcPct val="115000"/>
              </a:lnSpc>
              <a:spcBef>
                <a:spcPts val="0"/>
              </a:spcBef>
              <a:spcAft>
                <a:spcPts val="0"/>
              </a:spcAft>
              <a:buNone/>
            </a:pPr>
            <a:endParaRPr sz="2100">
              <a:solidFill>
                <a:schemeClr val="dk1"/>
              </a:solidFill>
            </a:endParaRPr>
          </a:p>
          <a:p>
            <a:pPr marL="0" lvl="0" indent="0" algn="l" rtl="0">
              <a:lnSpc>
                <a:spcPct val="115000"/>
              </a:lnSpc>
              <a:spcBef>
                <a:spcPts val="1200"/>
              </a:spcBef>
              <a:spcAft>
                <a:spcPts val="0"/>
              </a:spcAft>
              <a:buNone/>
            </a:pPr>
            <a:endParaRPr sz="2100" b="1">
              <a:solidFill>
                <a:schemeClr val="dk1"/>
              </a:solidFill>
            </a:endParaRPr>
          </a:p>
          <a:p>
            <a:pPr marL="0" lvl="0" indent="0" algn="l" rtl="0">
              <a:lnSpc>
                <a:spcPct val="115000"/>
              </a:lnSpc>
              <a:spcBef>
                <a:spcPts val="1200"/>
              </a:spcBef>
              <a:spcAft>
                <a:spcPts val="0"/>
              </a:spcAft>
              <a:buNone/>
            </a:pPr>
            <a:r>
              <a:rPr lang="en-US" sz="2100" b="1">
                <a:solidFill>
                  <a:schemeClr val="dk1"/>
                </a:solidFill>
              </a:rPr>
              <a:t>Explanation:</a:t>
            </a:r>
            <a:br>
              <a:rPr lang="en-US" sz="2100" b="1">
                <a:solidFill>
                  <a:schemeClr val="dk1"/>
                </a:solidFill>
              </a:rPr>
            </a:br>
            <a:r>
              <a:rPr lang="en-US" sz="2100">
                <a:solidFill>
                  <a:schemeClr val="dk1"/>
                </a:solidFill>
              </a:rPr>
              <a:t> It balances Precision and Recall, especially useful when the dataset is imbalanced.</a:t>
            </a:r>
            <a:endParaRPr sz="2100">
              <a:solidFill>
                <a:schemeClr val="dk1"/>
              </a:solidFill>
            </a:endParaRPr>
          </a:p>
          <a:p>
            <a:pPr marL="0" lvl="0" indent="0" algn="l" rtl="0">
              <a:lnSpc>
                <a:spcPct val="115000"/>
              </a:lnSpc>
              <a:spcBef>
                <a:spcPts val="1200"/>
              </a:spcBef>
              <a:spcAft>
                <a:spcPts val="0"/>
              </a:spcAft>
              <a:buNone/>
            </a:pPr>
            <a:r>
              <a:rPr lang="en-US" sz="2100" b="1">
                <a:solidFill>
                  <a:schemeClr val="dk1"/>
                </a:solidFill>
              </a:rPr>
              <a:t>Example:</a:t>
            </a:r>
            <a:br>
              <a:rPr lang="en-US" sz="2100" b="1">
                <a:solidFill>
                  <a:schemeClr val="dk1"/>
                </a:solidFill>
              </a:rPr>
            </a:br>
            <a:r>
              <a:rPr lang="en-US" sz="2100">
                <a:solidFill>
                  <a:schemeClr val="dk1"/>
                </a:solidFill>
              </a:rPr>
              <a:t> If</a:t>
            </a:r>
            <a:br>
              <a:rPr lang="en-US" sz="2100">
                <a:solidFill>
                  <a:schemeClr val="dk1"/>
                </a:solidFill>
              </a:rPr>
            </a:br>
            <a:r>
              <a:rPr lang="en-US" sz="2100">
                <a:solidFill>
                  <a:schemeClr val="dk1"/>
                </a:solidFill>
              </a:rPr>
              <a:t> Precision = 0.80</a:t>
            </a:r>
            <a:br>
              <a:rPr lang="en-US" sz="2100">
                <a:solidFill>
                  <a:schemeClr val="dk1"/>
                </a:solidFill>
              </a:rPr>
            </a:br>
            <a:r>
              <a:rPr lang="en-US" sz="2100">
                <a:solidFill>
                  <a:schemeClr val="dk1"/>
                </a:solidFill>
              </a:rPr>
              <a:t> Recall = 0.75</a:t>
            </a:r>
            <a:endParaRPr sz="2100">
              <a:solidFill>
                <a:schemeClr val="dk1"/>
              </a:solidFill>
            </a:endParaRPr>
          </a:p>
          <a:p>
            <a:pPr marL="0" lvl="0" indent="0" algn="l" rtl="0">
              <a:lnSpc>
                <a:spcPct val="115000"/>
              </a:lnSpc>
              <a:spcBef>
                <a:spcPts val="1200"/>
              </a:spcBef>
              <a:spcAft>
                <a:spcPts val="1200"/>
              </a:spcAft>
              <a:buNone/>
            </a:pPr>
            <a:r>
              <a:rPr lang="en-US" sz="2100">
                <a:solidFill>
                  <a:schemeClr val="dk1"/>
                </a:solidFill>
              </a:rPr>
              <a:t>F1 Score = </a:t>
            </a:r>
            <a:r>
              <a:rPr lang="en-US" sz="2100" b="1">
                <a:solidFill>
                  <a:schemeClr val="dk1"/>
                </a:solidFill>
              </a:rPr>
              <a:t>0.77</a:t>
            </a:r>
            <a:endParaRPr sz="2100" b="1">
              <a:solidFill>
                <a:schemeClr val="dk1"/>
              </a:solidFill>
            </a:endParaRPr>
          </a:p>
        </p:txBody>
      </p:sp>
      <p:pic>
        <p:nvPicPr>
          <p:cNvPr id="452" name="Google Shape;452;g3c557cd45b1_0_27"/>
          <p:cNvPicPr preferRelativeResize="0"/>
          <p:nvPr/>
        </p:nvPicPr>
        <p:blipFill>
          <a:blip r:embed="rId3">
            <a:alphaModFix/>
          </a:blip>
          <a:stretch>
            <a:fillRect/>
          </a:stretch>
        </p:blipFill>
        <p:spPr>
          <a:xfrm>
            <a:off x="2309800" y="2006313"/>
            <a:ext cx="4524375" cy="117157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g3c557cd45b1_0_30"/>
          <p:cNvSpPr txBox="1"/>
          <p:nvPr/>
        </p:nvSpPr>
        <p:spPr>
          <a:xfrm>
            <a:off x="0" y="0"/>
            <a:ext cx="9076800" cy="6940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2600" b="1">
                <a:solidFill>
                  <a:schemeClr val="dk1"/>
                </a:solidFill>
              </a:rPr>
              <a:t>5. ROC AUC</a:t>
            </a:r>
            <a:endParaRPr sz="2600" b="1">
              <a:solidFill>
                <a:schemeClr val="dk1"/>
              </a:solidFill>
            </a:endParaRPr>
          </a:p>
          <a:p>
            <a:pPr marL="0" lvl="0" indent="0" algn="l" rtl="0">
              <a:lnSpc>
                <a:spcPct val="115000"/>
              </a:lnSpc>
              <a:spcBef>
                <a:spcPts val="1200"/>
              </a:spcBef>
              <a:spcAft>
                <a:spcPts val="0"/>
              </a:spcAft>
              <a:buNone/>
            </a:pPr>
            <a:r>
              <a:rPr lang="en-US" sz="2000" b="1">
                <a:solidFill>
                  <a:schemeClr val="dk1"/>
                </a:solidFill>
              </a:rPr>
              <a:t>Definition:</a:t>
            </a:r>
            <a:br>
              <a:rPr lang="en-US" sz="2000" b="1">
                <a:solidFill>
                  <a:schemeClr val="dk1"/>
                </a:solidFill>
              </a:rPr>
            </a:br>
            <a:r>
              <a:rPr lang="en-US" sz="2000">
                <a:solidFill>
                  <a:schemeClr val="dk1"/>
                </a:solidFill>
              </a:rPr>
              <a:t> ROC AUC measures the model's ability to distinguish between classes.</a:t>
            </a:r>
            <a:endParaRPr sz="2000">
              <a:solidFill>
                <a:schemeClr val="dk1"/>
              </a:solidFill>
            </a:endParaRPr>
          </a:p>
          <a:p>
            <a:pPr marL="0" lvl="0" indent="0" algn="l" rtl="0">
              <a:lnSpc>
                <a:spcPct val="115000"/>
              </a:lnSpc>
              <a:spcBef>
                <a:spcPts val="1200"/>
              </a:spcBef>
              <a:spcAft>
                <a:spcPts val="0"/>
              </a:spcAft>
              <a:buNone/>
            </a:pPr>
            <a:r>
              <a:rPr lang="en-US" sz="2000" b="1">
                <a:solidFill>
                  <a:schemeClr val="dk1"/>
                </a:solidFill>
              </a:rPr>
              <a:t>Formula:</a:t>
            </a:r>
            <a:endParaRPr sz="2000" b="1">
              <a:solidFill>
                <a:schemeClr val="dk1"/>
              </a:solidFill>
            </a:endParaRPr>
          </a:p>
          <a:p>
            <a:pPr marL="0" lvl="0" indent="0" algn="l" rtl="0">
              <a:lnSpc>
                <a:spcPct val="115000"/>
              </a:lnSpc>
              <a:spcBef>
                <a:spcPts val="1200"/>
              </a:spcBef>
              <a:spcAft>
                <a:spcPts val="0"/>
              </a:spcAft>
              <a:buNone/>
            </a:pPr>
            <a:endParaRPr sz="2000" b="1">
              <a:solidFill>
                <a:schemeClr val="dk1"/>
              </a:solidFill>
            </a:endParaRPr>
          </a:p>
          <a:p>
            <a:pPr marL="0" lvl="0" indent="0" algn="l" rtl="0">
              <a:lnSpc>
                <a:spcPct val="115000"/>
              </a:lnSpc>
              <a:spcBef>
                <a:spcPts val="1200"/>
              </a:spcBef>
              <a:spcAft>
                <a:spcPts val="0"/>
              </a:spcAft>
              <a:buNone/>
            </a:pPr>
            <a:endParaRPr sz="2000" b="1">
              <a:solidFill>
                <a:schemeClr val="dk1"/>
              </a:solidFill>
            </a:endParaRPr>
          </a:p>
          <a:p>
            <a:pPr marL="0" lvl="0" indent="0" algn="l" rtl="0">
              <a:lnSpc>
                <a:spcPct val="115000"/>
              </a:lnSpc>
              <a:spcBef>
                <a:spcPts val="1200"/>
              </a:spcBef>
              <a:spcAft>
                <a:spcPts val="0"/>
              </a:spcAft>
              <a:buNone/>
            </a:pPr>
            <a:endParaRPr sz="2000" b="1">
              <a:solidFill>
                <a:schemeClr val="dk1"/>
              </a:solidFill>
            </a:endParaRPr>
          </a:p>
          <a:p>
            <a:pPr marL="0" lvl="0" indent="0" algn="l" rtl="0">
              <a:lnSpc>
                <a:spcPct val="115000"/>
              </a:lnSpc>
              <a:spcBef>
                <a:spcPts val="1200"/>
              </a:spcBef>
              <a:spcAft>
                <a:spcPts val="0"/>
              </a:spcAft>
              <a:buNone/>
            </a:pPr>
            <a:endParaRPr sz="2000" b="1">
              <a:solidFill>
                <a:schemeClr val="dk1"/>
              </a:solidFill>
            </a:endParaRPr>
          </a:p>
          <a:p>
            <a:pPr marL="0" lvl="0" indent="0" algn="l" rtl="0">
              <a:lnSpc>
                <a:spcPct val="115000"/>
              </a:lnSpc>
              <a:spcBef>
                <a:spcPts val="1200"/>
              </a:spcBef>
              <a:spcAft>
                <a:spcPts val="0"/>
              </a:spcAft>
              <a:buNone/>
            </a:pPr>
            <a:r>
              <a:rPr lang="en-US" sz="2000" b="1">
                <a:solidFill>
                  <a:schemeClr val="dk1"/>
                </a:solidFill>
              </a:rPr>
              <a:t>Explanation:</a:t>
            </a:r>
            <a:br>
              <a:rPr lang="en-US" sz="2000" b="1">
                <a:solidFill>
                  <a:schemeClr val="dk1"/>
                </a:solidFill>
              </a:rPr>
            </a:br>
            <a:r>
              <a:rPr lang="en-US" sz="2000">
                <a:solidFill>
                  <a:schemeClr val="dk1"/>
                </a:solidFill>
              </a:rPr>
              <a:t> AUC (Area Under Curve) represents how well the model separates positive and negative classes.</a:t>
            </a:r>
            <a:endParaRPr sz="2000">
              <a:solidFill>
                <a:schemeClr val="dk1"/>
              </a:solidFill>
            </a:endParaRPr>
          </a:p>
          <a:p>
            <a:pPr marL="0" lvl="0" indent="0" algn="l" rtl="0">
              <a:lnSpc>
                <a:spcPct val="115000"/>
              </a:lnSpc>
              <a:spcBef>
                <a:spcPts val="1200"/>
              </a:spcBef>
              <a:spcAft>
                <a:spcPts val="0"/>
              </a:spcAft>
              <a:buNone/>
            </a:pPr>
            <a:r>
              <a:rPr lang="en-US" sz="2000" b="1">
                <a:solidFill>
                  <a:schemeClr val="dk1"/>
                </a:solidFill>
              </a:rPr>
              <a:t>Example:</a:t>
            </a:r>
            <a:endParaRPr sz="2000" b="1">
              <a:solidFill>
                <a:schemeClr val="dk1"/>
              </a:solidFill>
            </a:endParaRPr>
          </a:p>
          <a:p>
            <a:pPr marL="457200" lvl="0" indent="-355600" algn="l" rtl="0">
              <a:lnSpc>
                <a:spcPct val="115000"/>
              </a:lnSpc>
              <a:spcBef>
                <a:spcPts val="1200"/>
              </a:spcBef>
              <a:spcAft>
                <a:spcPts val="0"/>
              </a:spcAft>
              <a:buClr>
                <a:schemeClr val="dk1"/>
              </a:buClr>
              <a:buSzPts val="2000"/>
              <a:buChar char="●"/>
            </a:pPr>
            <a:r>
              <a:rPr lang="en-US" sz="2000">
                <a:solidFill>
                  <a:schemeClr val="dk1"/>
                </a:solidFill>
              </a:rPr>
              <a:t>AUC = </a:t>
            </a:r>
            <a:r>
              <a:rPr lang="en-US" sz="2000" b="1">
                <a:solidFill>
                  <a:schemeClr val="dk1"/>
                </a:solidFill>
              </a:rPr>
              <a:t>1.0 → Perfect model</a:t>
            </a:r>
            <a:br>
              <a:rPr lang="en-US" sz="2000" b="1">
                <a:solidFill>
                  <a:schemeClr val="dk1"/>
                </a:solidFill>
              </a:rPr>
            </a:br>
            <a:endParaRPr sz="20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US" sz="2000">
                <a:solidFill>
                  <a:schemeClr val="dk1"/>
                </a:solidFill>
              </a:rPr>
              <a:t>AUC = </a:t>
            </a:r>
            <a:r>
              <a:rPr lang="en-US" sz="2000" b="1">
                <a:solidFill>
                  <a:schemeClr val="dk1"/>
                </a:solidFill>
              </a:rPr>
              <a:t>0.5 → Random model</a:t>
            </a:r>
            <a:endParaRPr sz="2000" b="1">
              <a:solidFill>
                <a:schemeClr val="dk1"/>
              </a:solidFill>
            </a:endParaRPr>
          </a:p>
        </p:txBody>
      </p:sp>
      <p:pic>
        <p:nvPicPr>
          <p:cNvPr id="458" name="Google Shape;458;g3c557cd45b1_0_30"/>
          <p:cNvPicPr preferRelativeResize="0"/>
          <p:nvPr/>
        </p:nvPicPr>
        <p:blipFill>
          <a:blip r:embed="rId3">
            <a:alphaModFix/>
          </a:blip>
          <a:stretch>
            <a:fillRect/>
          </a:stretch>
        </p:blipFill>
        <p:spPr>
          <a:xfrm>
            <a:off x="1535100" y="1822100"/>
            <a:ext cx="7039174" cy="196182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3061</Words>
  <Application>Microsoft Office PowerPoint</Application>
  <PresentationFormat>On-screen Show (4:3)</PresentationFormat>
  <Paragraphs>598</Paragraphs>
  <Slides>66</Slides>
  <Notes>66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66</vt:i4>
      </vt:variant>
    </vt:vector>
  </HeadingPairs>
  <TitlesOfParts>
    <vt:vector size="70" baseType="lpstr">
      <vt:lpstr>Arial</vt:lpstr>
      <vt:lpstr>Roboto Mono</vt:lpstr>
      <vt:lpstr>Calibri</vt:lpstr>
      <vt:lpstr>Office Theme</vt:lpstr>
      <vt:lpstr>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of Supervised Learning</vt:lpstr>
      <vt:lpstr>Disadvantages of Supervised Learning</vt:lpstr>
      <vt:lpstr>Linear Regression in Machine Learning? </vt:lpstr>
      <vt:lpstr>PowerPoint Presentation</vt:lpstr>
      <vt:lpstr>What makes Linear Regression so Important? </vt:lpstr>
      <vt:lpstr>PowerPoint Presentation</vt:lpstr>
      <vt:lpstr>PowerPoint Presentation</vt:lpstr>
      <vt:lpstr>Example</vt:lpstr>
      <vt:lpstr>Multiple Linear Regression (MLR)?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Saurabh-ATR1080</dc:creator>
  <cp:lastModifiedBy>user</cp:lastModifiedBy>
  <cp:revision>6</cp:revision>
  <dcterms:created xsi:type="dcterms:W3CDTF">2026-02-14T02:35:57Z</dcterms:created>
  <dcterms:modified xsi:type="dcterms:W3CDTF">2026-06-29T10:32:08Z</dcterms:modified>
</cp:coreProperties>
</file>