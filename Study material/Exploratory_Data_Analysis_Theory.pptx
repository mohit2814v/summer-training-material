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GoogleSlidesCustomDataVersion2">
      <go:slidesCustomData xmlns:go="http://customooxmlschemas.google.com/" r:id="rId18" roundtripDataSignature="AMtx7miptJIqLsthUdWRSPXT49Ba44bl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22885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2913063" y="0"/>
            <a:ext cx="222885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22885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8: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9: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9: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1: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1: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2: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2:notes"/>
          <p:cNvSpPr txBox="1"/>
          <p:nvPr>
            <p:ph idx="12" type="sldNum"/>
          </p:nvPr>
        </p:nvSpPr>
        <p:spPr>
          <a:xfrm>
            <a:off x="2913063" y="8685213"/>
            <a:ext cx="222885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2.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1"/>
          <p:cNvSpPr/>
          <p:nvPr/>
        </p:nvSpPr>
        <p:spPr>
          <a:xfrm>
            <a:off x="0" y="0"/>
            <a:ext cx="3657600" cy="5143500"/>
          </a:xfrm>
          <a:prstGeom prst="rect">
            <a:avLst/>
          </a:prstGeom>
          <a:solidFill>
            <a:srgbClr val="20C9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57238" y="1500188"/>
            <a:ext cx="2143125" cy="2143125"/>
          </a:xfrm>
          <a:prstGeom prst="ellipse">
            <a:avLst/>
          </a:prstGeom>
          <a:solidFill>
            <a:srgbClr val="FFFFFF">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1"/>
          <p:cNvPicPr preferRelativeResize="0"/>
          <p:nvPr/>
        </p:nvPicPr>
        <p:blipFill rotWithShape="1">
          <a:blip r:embed="rId4">
            <a:alphaModFix/>
          </a:blip>
          <a:srcRect b="0" l="0" r="0" t="0"/>
          <a:stretch/>
        </p:blipFill>
        <p:spPr>
          <a:xfrm>
            <a:off x="1400175" y="2143125"/>
            <a:ext cx="857250" cy="857250"/>
          </a:xfrm>
          <a:prstGeom prst="rect">
            <a:avLst/>
          </a:prstGeom>
          <a:noFill/>
          <a:ln>
            <a:noFill/>
          </a:ln>
        </p:spPr>
      </p:pic>
      <p:sp>
        <p:nvSpPr>
          <p:cNvPr id="20" name="Google Shape;20;p1"/>
          <p:cNvSpPr/>
          <p:nvPr/>
        </p:nvSpPr>
        <p:spPr>
          <a:xfrm>
            <a:off x="3650456" y="514350"/>
            <a:ext cx="7144" cy="4114800"/>
          </a:xfrm>
          <a:prstGeom prst="rect">
            <a:avLst/>
          </a:prstGeom>
          <a:solidFill>
            <a:srgbClr val="21252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4229100" y="1457325"/>
            <a:ext cx="4486275" cy="2011635"/>
          </a:xfrm>
          <a:prstGeom prst="rect">
            <a:avLst/>
          </a:prstGeom>
          <a:noFill/>
          <a:ln>
            <a:noFill/>
          </a:ln>
        </p:spPr>
        <p:txBody>
          <a:bodyPr anchorCtr="0" anchor="t" bIns="0" lIns="0" spcFirstLastPara="1" rIns="0" wrap="square" tIns="0">
            <a:spAutoFit/>
          </a:bodyPr>
          <a:lstStyle/>
          <a:p>
            <a:pPr indent="0" lvl="0" marL="0" marR="0" rtl="0" algn="l">
              <a:lnSpc>
                <a:spcPct val="121469"/>
              </a:lnSpc>
              <a:spcBef>
                <a:spcPts val="0"/>
              </a:spcBef>
              <a:spcAft>
                <a:spcPts val="0"/>
              </a:spcAft>
              <a:buClr>
                <a:srgbClr val="212529"/>
              </a:buClr>
              <a:buSzPts val="3293"/>
              <a:buFont typeface="Calibri"/>
              <a:buNone/>
            </a:pPr>
            <a:r>
              <a:rPr b="1" i="0" lang="en-US" sz="3293" u="none" cap="none" strike="noStrike">
                <a:solidFill>
                  <a:srgbClr val="212529"/>
                </a:solidFill>
                <a:latin typeface="Calibri"/>
                <a:ea typeface="Calibri"/>
                <a:cs typeface="Calibri"/>
                <a:sym typeface="Calibri"/>
              </a:rPr>
              <a:t>Step-by-Step Exploratory Data Analysis (EDA) Using Python</a:t>
            </a:r>
            <a:endParaRPr b="0" i="0" sz="3293" u="none" cap="none" strike="noStrike">
              <a:solidFill>
                <a:schemeClr val="dk1"/>
              </a:solidFill>
              <a:latin typeface="Calibri"/>
              <a:ea typeface="Calibri"/>
              <a:cs typeface="Calibri"/>
              <a:sym typeface="Calibri"/>
            </a:endParaRPr>
          </a:p>
        </p:txBody>
      </p:sp>
      <p:sp>
        <p:nvSpPr>
          <p:cNvPr id="22" name="Google Shape;22;p1"/>
          <p:cNvSpPr/>
          <p:nvPr/>
        </p:nvSpPr>
        <p:spPr>
          <a:xfrm>
            <a:off x="4229100" y="3683273"/>
            <a:ext cx="4486275" cy="467916"/>
          </a:xfrm>
          <a:prstGeom prst="rect">
            <a:avLst/>
          </a:prstGeom>
          <a:noFill/>
          <a:ln>
            <a:noFill/>
          </a:ln>
        </p:spPr>
        <p:txBody>
          <a:bodyPr anchorCtr="0" anchor="t" bIns="0" lIns="0" spcFirstLastPara="1" rIns="0" wrap="square" tIns="0">
            <a:spAutoFit/>
          </a:bodyPr>
          <a:lstStyle/>
          <a:p>
            <a:pPr indent="0" lvl="0" marL="0" marR="0" rtl="0" algn="l">
              <a:lnSpc>
                <a:spcPct val="126083"/>
              </a:lnSpc>
              <a:spcBef>
                <a:spcPts val="0"/>
              </a:spcBef>
              <a:spcAft>
                <a:spcPts val="0"/>
              </a:spcAft>
              <a:buClr>
                <a:srgbClr val="495057"/>
              </a:buClr>
              <a:buSzPts val="1269"/>
              <a:buFont typeface="Calibri"/>
              <a:buNone/>
            </a:pPr>
            <a:r>
              <a:rPr b="0" i="0" lang="en-US" sz="1269" u="none" cap="none" strike="noStrike">
                <a:solidFill>
                  <a:srgbClr val="495057"/>
                </a:solidFill>
                <a:latin typeface="Calibri"/>
                <a:ea typeface="Calibri"/>
                <a:cs typeface="Calibri"/>
                <a:sym typeface="Calibri"/>
              </a:rPr>
              <a:t>Mastering Data Insights through Systematic Exploratory Analysis</a:t>
            </a:r>
            <a:endParaRPr b="0" i="0" sz="1269" u="none" cap="none" strike="noStrike">
              <a:solidFill>
                <a:schemeClr val="dk1"/>
              </a:solidFill>
              <a:latin typeface="Calibri"/>
              <a:ea typeface="Calibri"/>
              <a:cs typeface="Calibri"/>
              <a:sym typeface="Calibri"/>
            </a:endParaRPr>
          </a:p>
        </p:txBody>
      </p:sp>
      <p:sp>
        <p:nvSpPr>
          <p:cNvPr id="23" name="Google Shape;23;p1"/>
          <p:cNvSpPr txBox="1"/>
          <p:nvPr/>
        </p:nvSpPr>
        <p:spPr>
          <a:xfrm>
            <a:off x="4100100" y="4476625"/>
            <a:ext cx="5043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https://www.kaggle.com/datasets/sukhmanibedi/cars4u/data</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pic>
        <p:nvPicPr>
          <p:cNvPr descr="preencoded.png" id="29" name="Google Shape;29;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0" name="Google Shape;30;p2"/>
          <p:cNvSpPr/>
          <p:nvPr/>
        </p:nvSpPr>
        <p:spPr>
          <a:xfrm>
            <a:off x="0" y="0"/>
            <a:ext cx="36576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36504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28625" y="714375"/>
            <a:ext cx="571500" cy="571500"/>
          </a:xfrm>
          <a:prstGeom prst="ellipse">
            <a:avLst/>
          </a:prstGeom>
          <a:solidFill>
            <a:srgbClr val="20C997">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2"/>
          <p:cNvPicPr preferRelativeResize="0"/>
          <p:nvPr/>
        </p:nvPicPr>
        <p:blipFill rotWithShape="1">
          <a:blip r:embed="rId4">
            <a:alphaModFix/>
          </a:blip>
          <a:srcRect b="0" l="0" r="0" t="0"/>
          <a:stretch/>
        </p:blipFill>
        <p:spPr>
          <a:xfrm>
            <a:off x="600075" y="885825"/>
            <a:ext cx="228600" cy="228600"/>
          </a:xfrm>
          <a:prstGeom prst="rect">
            <a:avLst/>
          </a:prstGeom>
          <a:noFill/>
          <a:ln>
            <a:noFill/>
          </a:ln>
        </p:spPr>
      </p:pic>
      <p:sp>
        <p:nvSpPr>
          <p:cNvPr id="34" name="Google Shape;34;p2"/>
          <p:cNvSpPr/>
          <p:nvPr/>
        </p:nvSpPr>
        <p:spPr>
          <a:xfrm>
            <a:off x="428625" y="1428750"/>
            <a:ext cx="29432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0000"/>
              </a:buClr>
              <a:buSzPts val="1193"/>
              <a:buFont typeface="Calibri"/>
              <a:buNone/>
            </a:pPr>
            <a:r>
              <a:rPr b="1" i="0" lang="en-US" sz="1193" u="none" cap="none" strike="noStrike">
                <a:solidFill>
                  <a:srgbClr val="000000"/>
                </a:solidFill>
                <a:latin typeface="Calibri"/>
                <a:ea typeface="Calibri"/>
                <a:cs typeface="Calibri"/>
                <a:sym typeface="Calibri"/>
              </a:rPr>
              <a:t>Core Objectives</a:t>
            </a:r>
            <a:endParaRPr b="0" i="0" sz="1193" u="none" cap="none" strike="noStrike">
              <a:solidFill>
                <a:schemeClr val="dk1"/>
              </a:solidFill>
              <a:latin typeface="Calibri"/>
              <a:ea typeface="Calibri"/>
              <a:cs typeface="Calibri"/>
              <a:sym typeface="Calibri"/>
            </a:endParaRPr>
          </a:p>
        </p:txBody>
      </p:sp>
      <p:sp>
        <p:nvSpPr>
          <p:cNvPr id="35" name="Google Shape;35;p2"/>
          <p:cNvSpPr/>
          <p:nvPr/>
        </p:nvSpPr>
        <p:spPr>
          <a:xfrm>
            <a:off x="428625" y="1948458"/>
            <a:ext cx="676508" cy="341114"/>
          </a:xfrm>
          <a:prstGeom prst="rect">
            <a:avLst/>
          </a:prstGeom>
          <a:noFill/>
          <a:ln>
            <a:noFill/>
          </a:ln>
        </p:spPr>
        <p:txBody>
          <a:bodyPr anchorCtr="0" anchor="ctr" bIns="85075"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Objective</a:t>
            </a:r>
            <a:endParaRPr b="0" i="0" sz="784" u="none" cap="none" strike="noStrike">
              <a:solidFill>
                <a:schemeClr val="dk1"/>
              </a:solidFill>
              <a:latin typeface="Calibri"/>
              <a:ea typeface="Calibri"/>
              <a:cs typeface="Calibri"/>
              <a:sym typeface="Calibri"/>
            </a:endParaRPr>
          </a:p>
        </p:txBody>
      </p:sp>
      <p:sp>
        <p:nvSpPr>
          <p:cNvPr id="36" name="Google Shape;36;p2"/>
          <p:cNvSpPr/>
          <p:nvPr/>
        </p:nvSpPr>
        <p:spPr>
          <a:xfrm>
            <a:off x="1105133" y="1948458"/>
            <a:ext cx="2266717" cy="341114"/>
          </a:xfrm>
          <a:prstGeom prst="rect">
            <a:avLst/>
          </a:prstGeom>
          <a:noFill/>
          <a:ln>
            <a:noFill/>
          </a:ln>
        </p:spPr>
        <p:txBody>
          <a:bodyPr anchorCtr="0" anchor="ctr" bIns="85075"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Description</a:t>
            </a:r>
            <a:endParaRPr b="0" i="0" sz="784" u="none" cap="none" strike="noStrike">
              <a:solidFill>
                <a:schemeClr val="dk1"/>
              </a:solidFill>
              <a:latin typeface="Calibri"/>
              <a:ea typeface="Calibri"/>
              <a:cs typeface="Calibri"/>
              <a:sym typeface="Calibri"/>
            </a:endParaRPr>
          </a:p>
        </p:txBody>
      </p:sp>
      <p:sp>
        <p:nvSpPr>
          <p:cNvPr id="37" name="Google Shape;37;p2"/>
          <p:cNvSpPr/>
          <p:nvPr/>
        </p:nvSpPr>
        <p:spPr>
          <a:xfrm>
            <a:off x="428625" y="2403872"/>
            <a:ext cx="63130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Data Quality</a:t>
            </a:r>
            <a:endParaRPr b="0" i="0" sz="683" u="none" cap="none" strike="noStrike">
              <a:solidFill>
                <a:schemeClr val="dk1"/>
              </a:solidFill>
              <a:latin typeface="Calibri"/>
              <a:ea typeface="Calibri"/>
              <a:cs typeface="Calibri"/>
              <a:sym typeface="Calibri"/>
            </a:endParaRPr>
          </a:p>
        </p:txBody>
      </p:sp>
      <p:sp>
        <p:nvSpPr>
          <p:cNvPr id="38" name="Google Shape;38;p2"/>
          <p:cNvSpPr/>
          <p:nvPr/>
        </p:nvSpPr>
        <p:spPr>
          <a:xfrm>
            <a:off x="1105133" y="2289572"/>
            <a:ext cx="2266717" cy="360759"/>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Assess missing values, outliers, and errors.</a:t>
            </a:r>
            <a:endParaRPr b="0" i="0" sz="727" u="none" cap="none" strike="noStrike">
              <a:solidFill>
                <a:schemeClr val="dk1"/>
              </a:solidFill>
              <a:latin typeface="Calibri"/>
              <a:ea typeface="Calibri"/>
              <a:cs typeface="Calibri"/>
              <a:sym typeface="Calibri"/>
            </a:endParaRPr>
          </a:p>
        </p:txBody>
      </p:sp>
      <p:sp>
        <p:nvSpPr>
          <p:cNvPr id="39" name="Google Shape;39;p2"/>
          <p:cNvSpPr/>
          <p:nvPr/>
        </p:nvSpPr>
        <p:spPr>
          <a:xfrm>
            <a:off x="428625" y="2761059"/>
            <a:ext cx="429964"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Patterns</a:t>
            </a:r>
            <a:endParaRPr b="0" i="0" sz="683" u="none" cap="none" strike="noStrike">
              <a:solidFill>
                <a:schemeClr val="dk1"/>
              </a:solidFill>
              <a:latin typeface="Calibri"/>
              <a:ea typeface="Calibri"/>
              <a:cs typeface="Calibri"/>
              <a:sym typeface="Calibri"/>
            </a:endParaRPr>
          </a:p>
        </p:txBody>
      </p:sp>
      <p:sp>
        <p:nvSpPr>
          <p:cNvPr id="40" name="Google Shape;40;p2"/>
          <p:cNvSpPr/>
          <p:nvPr/>
        </p:nvSpPr>
        <p:spPr>
          <a:xfrm>
            <a:off x="1105133" y="2650331"/>
            <a:ext cx="2266717" cy="357188"/>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Identify trends and distributions in variables.</a:t>
            </a:r>
            <a:endParaRPr b="0" i="0" sz="727" u="none" cap="none" strike="noStrike">
              <a:solidFill>
                <a:schemeClr val="dk1"/>
              </a:solidFill>
              <a:latin typeface="Calibri"/>
              <a:ea typeface="Calibri"/>
              <a:cs typeface="Calibri"/>
              <a:sym typeface="Calibri"/>
            </a:endParaRPr>
          </a:p>
        </p:txBody>
      </p:sp>
      <p:sp>
        <p:nvSpPr>
          <p:cNvPr id="41" name="Google Shape;41;p2"/>
          <p:cNvSpPr/>
          <p:nvPr/>
        </p:nvSpPr>
        <p:spPr>
          <a:xfrm>
            <a:off x="428625" y="3186113"/>
            <a:ext cx="676508"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Relationships</a:t>
            </a:r>
            <a:endParaRPr b="0" i="0" sz="683" u="none" cap="none" strike="noStrike">
              <a:solidFill>
                <a:schemeClr val="dk1"/>
              </a:solidFill>
              <a:latin typeface="Calibri"/>
              <a:ea typeface="Calibri"/>
              <a:cs typeface="Calibri"/>
              <a:sym typeface="Calibri"/>
            </a:endParaRPr>
          </a:p>
        </p:txBody>
      </p:sp>
      <p:sp>
        <p:nvSpPr>
          <p:cNvPr id="42" name="Google Shape;42;p2"/>
          <p:cNvSpPr/>
          <p:nvPr/>
        </p:nvSpPr>
        <p:spPr>
          <a:xfrm>
            <a:off x="1105133" y="3007519"/>
            <a:ext cx="2266717" cy="492919"/>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Understand how features interact with each other.</a:t>
            </a:r>
            <a:endParaRPr b="0" i="0" sz="727" u="none" cap="none" strike="noStrike">
              <a:solidFill>
                <a:schemeClr val="dk1"/>
              </a:solidFill>
              <a:latin typeface="Calibri"/>
              <a:ea typeface="Calibri"/>
              <a:cs typeface="Calibri"/>
              <a:sym typeface="Calibri"/>
            </a:endParaRPr>
          </a:p>
        </p:txBody>
      </p:sp>
      <p:sp>
        <p:nvSpPr>
          <p:cNvPr id="43" name="Google Shape;43;p2"/>
          <p:cNvSpPr/>
          <p:nvPr/>
        </p:nvSpPr>
        <p:spPr>
          <a:xfrm>
            <a:off x="428625" y="3611166"/>
            <a:ext cx="556794"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Hypothesis</a:t>
            </a:r>
            <a:endParaRPr b="0" i="0" sz="683" u="none" cap="none" strike="noStrike">
              <a:solidFill>
                <a:schemeClr val="dk1"/>
              </a:solidFill>
              <a:latin typeface="Calibri"/>
              <a:ea typeface="Calibri"/>
              <a:cs typeface="Calibri"/>
              <a:sym typeface="Calibri"/>
            </a:endParaRPr>
          </a:p>
        </p:txBody>
      </p:sp>
      <p:sp>
        <p:nvSpPr>
          <p:cNvPr id="44" name="Google Shape;44;p2"/>
          <p:cNvSpPr/>
          <p:nvPr/>
        </p:nvSpPr>
        <p:spPr>
          <a:xfrm>
            <a:off x="1105133" y="3500438"/>
            <a:ext cx="2266717" cy="353616"/>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Formulate ideas for modeling and engineering.</a:t>
            </a:r>
            <a:endParaRPr b="0" i="0" sz="727" u="none" cap="none" strike="noStrike">
              <a:solidFill>
                <a:schemeClr val="dk1"/>
              </a:solidFill>
              <a:latin typeface="Calibri"/>
              <a:ea typeface="Calibri"/>
              <a:cs typeface="Calibri"/>
              <a:sym typeface="Calibri"/>
            </a:endParaRPr>
          </a:p>
        </p:txBody>
      </p:sp>
      <p:sp>
        <p:nvSpPr>
          <p:cNvPr id="45" name="Google Shape;45;p2"/>
          <p:cNvSpPr/>
          <p:nvPr/>
        </p:nvSpPr>
        <p:spPr>
          <a:xfrm>
            <a:off x="4229100" y="71437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EDA Provides the Foundation for Reliable Predictive Modeling</a:t>
            </a:r>
            <a:endParaRPr b="0" i="0" sz="1602" u="none" cap="none" strike="noStrike">
              <a:solidFill>
                <a:schemeClr val="dk1"/>
              </a:solidFill>
              <a:latin typeface="Calibri"/>
              <a:ea typeface="Calibri"/>
              <a:cs typeface="Calibri"/>
              <a:sym typeface="Calibri"/>
            </a:endParaRPr>
          </a:p>
        </p:txBody>
      </p:sp>
      <p:sp>
        <p:nvSpPr>
          <p:cNvPr id="46" name="Google Shape;46;p2"/>
          <p:cNvSpPr/>
          <p:nvPr/>
        </p:nvSpPr>
        <p:spPr>
          <a:xfrm>
            <a:off x="4229100" y="1548743"/>
            <a:ext cx="4486275" cy="914400"/>
          </a:xfrm>
          <a:prstGeom prst="rect">
            <a:avLst/>
          </a:prstGeom>
          <a:noFill/>
          <a:ln>
            <a:noFill/>
          </a:ln>
        </p:spPr>
        <p:txBody>
          <a:bodyPr anchorCtr="0" anchor="t" bIns="0" lIns="0" spcFirstLastPara="1" rIns="0" wrap="square" tIns="0">
            <a:spAutoFit/>
          </a:bodyPr>
          <a:lstStyle/>
          <a:p>
            <a:pPr indent="0" lvl="0" marL="0" marR="0" rtl="0" algn="l">
              <a:lnSpc>
                <a:spcPct val="171428"/>
              </a:lnSpc>
              <a:spcBef>
                <a:spcPts val="0"/>
              </a:spcBef>
              <a:spcAft>
                <a:spcPts val="0"/>
              </a:spcAft>
              <a:buClr>
                <a:srgbClr val="495057"/>
              </a:buClr>
              <a:buSzPts val="1050"/>
              <a:buFont typeface="Calibri"/>
              <a:buNone/>
            </a:pPr>
            <a:r>
              <a:rPr b="0" i="0" lang="en-US" sz="1050" u="none" cap="none" strike="noStrike">
                <a:solidFill>
                  <a:srgbClr val="495057"/>
                </a:solidFill>
                <a:latin typeface="Calibri"/>
                <a:ea typeface="Calibri"/>
                <a:cs typeface="Calibri"/>
                <a:sym typeface="Calibri"/>
              </a:rPr>
              <a:t>Exploratory Data Analysis (EDA) is a foundational method of analyzing datasets to understand their core characteristics. It involves summarizing data features and uncovering hidden relationships through visual and statistical techniques.</a:t>
            </a:r>
            <a:endParaRPr b="0" i="0" sz="1050" u="none" cap="none" strike="noStrike">
              <a:solidFill>
                <a:schemeClr val="dk1"/>
              </a:solidFill>
              <a:latin typeface="Calibri"/>
              <a:ea typeface="Calibri"/>
              <a:cs typeface="Calibri"/>
              <a:sym typeface="Calibri"/>
            </a:endParaRPr>
          </a:p>
        </p:txBody>
      </p:sp>
      <p:sp>
        <p:nvSpPr>
          <p:cNvPr id="47" name="Google Shape;47;p2"/>
          <p:cNvSpPr/>
          <p:nvPr/>
        </p:nvSpPr>
        <p:spPr>
          <a:xfrm>
            <a:off x="4229100" y="2677455"/>
            <a:ext cx="4486275" cy="685800"/>
          </a:xfrm>
          <a:prstGeom prst="rect">
            <a:avLst/>
          </a:prstGeom>
          <a:noFill/>
          <a:ln>
            <a:noFill/>
          </a:ln>
        </p:spPr>
        <p:txBody>
          <a:bodyPr anchorCtr="0" anchor="t" bIns="0" lIns="0" spcFirstLastPara="1" rIns="0" wrap="square" tIns="0">
            <a:spAutoFit/>
          </a:bodyPr>
          <a:lstStyle/>
          <a:p>
            <a:pPr indent="0" lvl="0" marL="0" marR="0" rtl="0" algn="l">
              <a:lnSpc>
                <a:spcPct val="171428"/>
              </a:lnSpc>
              <a:spcBef>
                <a:spcPts val="0"/>
              </a:spcBef>
              <a:spcAft>
                <a:spcPts val="0"/>
              </a:spcAft>
              <a:buClr>
                <a:srgbClr val="495057"/>
              </a:buClr>
              <a:buSzPts val="1050"/>
              <a:buFont typeface="Calibri"/>
              <a:buNone/>
            </a:pPr>
            <a:r>
              <a:rPr b="0" i="0" lang="en-US" sz="1050" u="none" cap="none" strike="noStrike">
                <a:solidFill>
                  <a:srgbClr val="495057"/>
                </a:solidFill>
                <a:latin typeface="Calibri"/>
                <a:ea typeface="Calibri"/>
                <a:cs typeface="Calibri"/>
                <a:sym typeface="Calibri"/>
              </a:rPr>
              <a:t>By performing EDA, data scientists gain deep insights that allow them to check assumptions, spot anomalies, and formulate robust hypotheses for further advanced analysis.</a:t>
            </a:r>
            <a:endParaRPr b="0" i="0" sz="1050" u="none" cap="none" strike="noStrike">
              <a:solidFill>
                <a:schemeClr val="dk1"/>
              </a:solidFill>
              <a:latin typeface="Calibri"/>
              <a:ea typeface="Calibri"/>
              <a:cs typeface="Calibri"/>
              <a:sym typeface="Calibri"/>
            </a:endParaRPr>
          </a:p>
        </p:txBody>
      </p:sp>
      <p:sp>
        <p:nvSpPr>
          <p:cNvPr id="48" name="Google Shape;48;p2"/>
          <p:cNvSpPr/>
          <p:nvPr/>
        </p:nvSpPr>
        <p:spPr>
          <a:xfrm>
            <a:off x="4229100" y="3877605"/>
            <a:ext cx="4486275" cy="298252"/>
          </a:xfrm>
          <a:prstGeom prst="rect">
            <a:avLst/>
          </a:prstGeom>
          <a:noFill/>
          <a:ln>
            <a:noFill/>
          </a:ln>
        </p:spPr>
        <p:txBody>
          <a:bodyPr anchorCtr="0" anchor="t" bIns="0" lIns="0" spcFirstLastPara="1" rIns="0" wrap="square" tIns="170050">
            <a:spAutoFit/>
          </a:bodyPr>
          <a:lstStyle/>
          <a:p>
            <a:pPr indent="0" lvl="0" marL="0" marR="0" rtl="0" algn="l">
              <a:lnSpc>
                <a:spcPct val="131894"/>
              </a:lnSpc>
              <a:spcBef>
                <a:spcPts val="0"/>
              </a:spcBef>
              <a:spcAft>
                <a:spcPts val="0"/>
              </a:spcAft>
              <a:buClr>
                <a:srgbClr val="495057"/>
              </a:buClr>
              <a:buSzPts val="834"/>
              <a:buFont typeface="Calibri"/>
              <a:buNone/>
            </a:pPr>
            <a:r>
              <a:rPr b="0" i="1" lang="en-US" sz="834" u="none" cap="none" strike="noStrike">
                <a:solidFill>
                  <a:srgbClr val="495057"/>
                </a:solidFill>
                <a:latin typeface="Calibri"/>
                <a:ea typeface="Calibri"/>
                <a:cs typeface="Calibri"/>
                <a:sym typeface="Calibri"/>
              </a:rPr>
              <a:t>"EDA is not just about plotting charts; it is a rigorous investigation of data integrity."</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reencoded.png" id="54" name="Google Shape;54;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5" name="Google Shape;55;p3"/>
          <p:cNvSpPr/>
          <p:nvPr/>
        </p:nvSpPr>
        <p:spPr>
          <a:xfrm>
            <a:off x="571500" y="714375"/>
            <a:ext cx="49434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Essential Python Libraries Power the EDA Workflow</a:t>
            </a:r>
            <a:endParaRPr b="0" i="0" sz="1602" u="none" cap="none" strike="noStrike">
              <a:solidFill>
                <a:schemeClr val="dk1"/>
              </a:solidFill>
              <a:latin typeface="Calibri"/>
              <a:ea typeface="Calibri"/>
              <a:cs typeface="Calibri"/>
              <a:sym typeface="Calibri"/>
            </a:endParaRPr>
          </a:p>
        </p:txBody>
      </p:sp>
      <p:pic>
        <p:nvPicPr>
          <p:cNvPr descr="preencoded.png" id="56" name="Google Shape;56;p3"/>
          <p:cNvPicPr preferRelativeResize="0"/>
          <p:nvPr/>
        </p:nvPicPr>
        <p:blipFill rotWithShape="1">
          <a:blip r:embed="rId4">
            <a:alphaModFix/>
          </a:blip>
          <a:srcRect b="0" l="0" r="0" t="0"/>
          <a:stretch/>
        </p:blipFill>
        <p:spPr>
          <a:xfrm>
            <a:off x="571500" y="1688046"/>
            <a:ext cx="171450" cy="171450"/>
          </a:xfrm>
          <a:prstGeom prst="rect">
            <a:avLst/>
          </a:prstGeom>
          <a:noFill/>
          <a:ln>
            <a:noFill/>
          </a:ln>
        </p:spPr>
      </p:pic>
      <p:sp>
        <p:nvSpPr>
          <p:cNvPr id="57" name="Google Shape;57;p3"/>
          <p:cNvSpPr/>
          <p:nvPr/>
        </p:nvSpPr>
        <p:spPr>
          <a:xfrm>
            <a:off x="885825" y="1620180"/>
            <a:ext cx="4629150"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212529"/>
              </a:buClr>
              <a:buSzPts val="987"/>
              <a:buFont typeface="Calibri"/>
              <a:buNone/>
            </a:pPr>
            <a:r>
              <a:rPr b="1" i="0" lang="en-US" sz="987" u="none" cap="none" strike="noStrike">
                <a:solidFill>
                  <a:srgbClr val="212529"/>
                </a:solidFill>
                <a:latin typeface="Calibri"/>
                <a:ea typeface="Calibri"/>
                <a:cs typeface="Calibri"/>
                <a:sym typeface="Calibri"/>
              </a:rPr>
              <a:t>Pandas &amp; NumPy</a:t>
            </a:r>
            <a:endParaRPr b="0" i="0" sz="987" u="none" cap="none" strike="noStrike">
              <a:solidFill>
                <a:schemeClr val="dk1"/>
              </a:solidFill>
              <a:latin typeface="Calibri"/>
              <a:ea typeface="Calibri"/>
              <a:cs typeface="Calibri"/>
              <a:sym typeface="Calibri"/>
            </a:endParaRPr>
          </a:p>
        </p:txBody>
      </p:sp>
      <p:sp>
        <p:nvSpPr>
          <p:cNvPr id="58" name="Google Shape;58;p3"/>
          <p:cNvSpPr/>
          <p:nvPr/>
        </p:nvSpPr>
        <p:spPr>
          <a:xfrm>
            <a:off x="885825" y="1850566"/>
            <a:ext cx="4629150"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The workhorses for data manipulation, cleaning, and handling complex numerical arrays.</a:t>
            </a:r>
            <a:endParaRPr b="0" i="0" sz="834" u="none" cap="none" strike="noStrike">
              <a:solidFill>
                <a:schemeClr val="dk1"/>
              </a:solidFill>
              <a:latin typeface="Calibri"/>
              <a:ea typeface="Calibri"/>
              <a:cs typeface="Calibri"/>
              <a:sym typeface="Calibri"/>
            </a:endParaRPr>
          </a:p>
        </p:txBody>
      </p:sp>
      <p:pic>
        <p:nvPicPr>
          <p:cNvPr descr="preencoded.png" id="59" name="Google Shape;59;p3"/>
          <p:cNvPicPr preferRelativeResize="0"/>
          <p:nvPr/>
        </p:nvPicPr>
        <p:blipFill rotWithShape="1">
          <a:blip r:embed="rId5">
            <a:alphaModFix/>
          </a:blip>
          <a:srcRect b="0" l="0" r="0" t="0"/>
          <a:stretch/>
        </p:blipFill>
        <p:spPr>
          <a:xfrm>
            <a:off x="571500" y="2511363"/>
            <a:ext cx="171450" cy="171450"/>
          </a:xfrm>
          <a:prstGeom prst="rect">
            <a:avLst/>
          </a:prstGeom>
          <a:noFill/>
          <a:ln>
            <a:noFill/>
          </a:ln>
        </p:spPr>
      </p:pic>
      <p:sp>
        <p:nvSpPr>
          <p:cNvPr id="60" name="Google Shape;60;p3"/>
          <p:cNvSpPr/>
          <p:nvPr/>
        </p:nvSpPr>
        <p:spPr>
          <a:xfrm>
            <a:off x="885825" y="2443497"/>
            <a:ext cx="4629150"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212529"/>
              </a:buClr>
              <a:buSzPts val="987"/>
              <a:buFont typeface="Calibri"/>
              <a:buNone/>
            </a:pPr>
            <a:r>
              <a:rPr b="1" i="0" lang="en-US" sz="987" u="none" cap="none" strike="noStrike">
                <a:solidFill>
                  <a:srgbClr val="212529"/>
                </a:solidFill>
                <a:latin typeface="Calibri"/>
                <a:ea typeface="Calibri"/>
                <a:cs typeface="Calibri"/>
                <a:sym typeface="Calibri"/>
              </a:rPr>
              <a:t>Matplotlib &amp; Seaborn</a:t>
            </a:r>
            <a:endParaRPr b="0" i="0" sz="987" u="none" cap="none" strike="noStrike">
              <a:solidFill>
                <a:schemeClr val="dk1"/>
              </a:solidFill>
              <a:latin typeface="Calibri"/>
              <a:ea typeface="Calibri"/>
              <a:cs typeface="Calibri"/>
              <a:sym typeface="Calibri"/>
            </a:endParaRPr>
          </a:p>
        </p:txBody>
      </p:sp>
      <p:sp>
        <p:nvSpPr>
          <p:cNvPr id="61" name="Google Shape;61;p3"/>
          <p:cNvSpPr/>
          <p:nvPr/>
        </p:nvSpPr>
        <p:spPr>
          <a:xfrm>
            <a:off x="885825" y="2673883"/>
            <a:ext cx="4629150"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Powerful libraries for creating both static, basic charts and advanced statistical visualizations.</a:t>
            </a:r>
            <a:endParaRPr b="0" i="0" sz="834" u="none" cap="none" strike="noStrike">
              <a:solidFill>
                <a:schemeClr val="dk1"/>
              </a:solidFill>
              <a:latin typeface="Calibri"/>
              <a:ea typeface="Calibri"/>
              <a:cs typeface="Calibri"/>
              <a:sym typeface="Calibri"/>
            </a:endParaRPr>
          </a:p>
        </p:txBody>
      </p:sp>
      <p:sp>
        <p:nvSpPr>
          <p:cNvPr id="62" name="Google Shape;62;p3"/>
          <p:cNvSpPr/>
          <p:nvPr/>
        </p:nvSpPr>
        <p:spPr>
          <a:xfrm>
            <a:off x="571500" y="3488271"/>
            <a:ext cx="4943475"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Workflow Tip</a:t>
            </a:r>
            <a:endParaRPr b="0" i="0" sz="683" u="none" cap="none" strike="noStrike">
              <a:solidFill>
                <a:schemeClr val="dk1"/>
              </a:solidFill>
              <a:latin typeface="Calibri"/>
              <a:ea typeface="Calibri"/>
              <a:cs typeface="Calibri"/>
              <a:sym typeface="Calibri"/>
            </a:endParaRPr>
          </a:p>
        </p:txBody>
      </p:sp>
      <p:sp>
        <p:nvSpPr>
          <p:cNvPr id="63" name="Google Shape;63;p3"/>
          <p:cNvSpPr/>
          <p:nvPr/>
        </p:nvSpPr>
        <p:spPr>
          <a:xfrm>
            <a:off x="571500" y="3695440"/>
            <a:ext cx="4943475" cy="310753"/>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95057"/>
              </a:buClr>
              <a:buSzPts val="834"/>
              <a:buFont typeface="Calibri"/>
              <a:buNone/>
            </a:pPr>
            <a:r>
              <a:rPr b="0" i="1" lang="en-US" sz="834" u="none" cap="none" strike="noStrike">
                <a:solidFill>
                  <a:srgbClr val="495057"/>
                </a:solidFill>
                <a:latin typeface="Calibri"/>
                <a:ea typeface="Calibri"/>
                <a:cs typeface="Calibri"/>
                <a:sym typeface="Calibri"/>
              </a:rPr>
              <a:t>Always use warnings.filterwarnings('ignore') to keep your analysis output clean and focused on insights.</a:t>
            </a:r>
            <a:endParaRPr b="0" i="0" sz="834" u="none" cap="none" strike="noStrike">
              <a:solidFill>
                <a:schemeClr val="dk1"/>
              </a:solidFill>
              <a:latin typeface="Calibri"/>
              <a:ea typeface="Calibri"/>
              <a:cs typeface="Calibri"/>
              <a:sym typeface="Calibri"/>
            </a:endParaRPr>
          </a:p>
        </p:txBody>
      </p:sp>
      <p:sp>
        <p:nvSpPr>
          <p:cNvPr id="64" name="Google Shape;64;p3"/>
          <p:cNvSpPr/>
          <p:nvPr/>
        </p:nvSpPr>
        <p:spPr>
          <a:xfrm>
            <a:off x="5943600" y="0"/>
            <a:ext cx="3200400" cy="5143500"/>
          </a:xfrm>
          <a:prstGeom prst="rect">
            <a:avLst/>
          </a:prstGeom>
          <a:solidFill>
            <a:srgbClr val="FD7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5943600" y="514350"/>
            <a:ext cx="7144" cy="4114800"/>
          </a:xfrm>
          <a:prstGeom prst="rect">
            <a:avLst/>
          </a:prstGeom>
          <a:solidFill>
            <a:srgbClr val="21252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57988" y="1071563"/>
            <a:ext cx="1571625" cy="1571625"/>
          </a:xfrm>
          <a:prstGeom prst="ellipse">
            <a:avLst/>
          </a:prstGeom>
          <a:solidFill>
            <a:srgbClr val="FFFFFF">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 name="Google Shape;67;p3"/>
          <p:cNvPicPr preferRelativeResize="0"/>
          <p:nvPr/>
        </p:nvPicPr>
        <p:blipFill rotWithShape="1">
          <a:blip r:embed="rId6">
            <a:alphaModFix/>
          </a:blip>
          <a:srcRect b="0" l="0" r="0" t="0"/>
          <a:stretch/>
        </p:blipFill>
        <p:spPr>
          <a:xfrm>
            <a:off x="7293769" y="1571625"/>
            <a:ext cx="500063" cy="571500"/>
          </a:xfrm>
          <a:prstGeom prst="rect">
            <a:avLst/>
          </a:prstGeom>
          <a:noFill/>
          <a:ln>
            <a:noFill/>
          </a:ln>
        </p:spPr>
      </p:pic>
      <p:sp>
        <p:nvSpPr>
          <p:cNvPr id="68" name="Google Shape;68;p3"/>
          <p:cNvSpPr/>
          <p:nvPr/>
        </p:nvSpPr>
        <p:spPr>
          <a:xfrm>
            <a:off x="6937502" y="2928938"/>
            <a:ext cx="1212596"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8F9FA"/>
              </a:buClr>
              <a:buSzPts val="683"/>
              <a:buFont typeface="Calibri"/>
              <a:buNone/>
            </a:pPr>
            <a:r>
              <a:rPr b="1" i="0" lang="en-US" sz="683" u="none" cap="none" strike="noStrike">
                <a:solidFill>
                  <a:srgbClr val="F8F9FA"/>
                </a:solidFill>
                <a:latin typeface="Calibri"/>
                <a:ea typeface="Calibri"/>
                <a:cs typeface="Calibri"/>
                <a:sym typeface="Calibri"/>
              </a:rPr>
              <a:t>Environment Setup</a:t>
            </a:r>
            <a:endParaRPr b="0" i="0" sz="683"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preencoded.png" id="74" name="Google Shape;74;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5" name="Google Shape;75;p4"/>
          <p:cNvSpPr/>
          <p:nvPr/>
        </p:nvSpPr>
        <p:spPr>
          <a:xfrm>
            <a:off x="0" y="0"/>
            <a:ext cx="3657600" cy="5143500"/>
          </a:xfrm>
          <a:prstGeom prst="rect">
            <a:avLst/>
          </a:prstGeom>
          <a:solidFill>
            <a:srgbClr val="2125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428625" y="714375"/>
            <a:ext cx="29432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20C997"/>
              </a:buClr>
              <a:buSzPts val="1193"/>
              <a:buFont typeface="Calibri"/>
              <a:buNone/>
            </a:pPr>
            <a:r>
              <a:rPr b="1" i="0" lang="en-US" sz="1193" u="none" cap="none" strike="noStrike">
                <a:solidFill>
                  <a:srgbClr val="20C997"/>
                </a:solidFill>
                <a:latin typeface="Calibri"/>
                <a:ea typeface="Calibri"/>
                <a:cs typeface="Calibri"/>
                <a:sym typeface="Calibri"/>
              </a:rPr>
              <a:t>Inspection Toolkit</a:t>
            </a:r>
            <a:endParaRPr b="0" i="0" sz="1193" u="none" cap="none" strike="noStrike">
              <a:solidFill>
                <a:schemeClr val="dk1"/>
              </a:solidFill>
              <a:latin typeface="Calibri"/>
              <a:ea typeface="Calibri"/>
              <a:cs typeface="Calibri"/>
              <a:sym typeface="Calibri"/>
            </a:endParaRPr>
          </a:p>
        </p:txBody>
      </p:sp>
      <p:sp>
        <p:nvSpPr>
          <p:cNvPr id="77" name="Google Shape;77;p4"/>
          <p:cNvSpPr/>
          <p:nvPr/>
        </p:nvSpPr>
        <p:spPr>
          <a:xfrm>
            <a:off x="428625" y="1305520"/>
            <a:ext cx="506453"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Tool</a:t>
            </a:r>
            <a:endParaRPr b="0" i="0" sz="683" u="none" cap="none" strike="noStrike">
              <a:solidFill>
                <a:schemeClr val="dk1"/>
              </a:solidFill>
              <a:latin typeface="Calibri"/>
              <a:ea typeface="Calibri"/>
              <a:cs typeface="Calibri"/>
              <a:sym typeface="Calibri"/>
            </a:endParaRPr>
          </a:p>
        </p:txBody>
      </p:sp>
      <p:sp>
        <p:nvSpPr>
          <p:cNvPr id="78" name="Google Shape;78;p4"/>
          <p:cNvSpPr/>
          <p:nvPr/>
        </p:nvSpPr>
        <p:spPr>
          <a:xfrm>
            <a:off x="935078" y="1305520"/>
            <a:ext cx="2436772"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Insight Provided</a:t>
            </a:r>
            <a:endParaRPr b="0" i="0" sz="683" u="none" cap="none" strike="noStrike">
              <a:solidFill>
                <a:schemeClr val="dk1"/>
              </a:solidFill>
              <a:latin typeface="Calibri"/>
              <a:ea typeface="Calibri"/>
              <a:cs typeface="Calibri"/>
              <a:sym typeface="Calibri"/>
            </a:endParaRPr>
          </a:p>
        </p:txBody>
      </p:sp>
      <p:sp>
        <p:nvSpPr>
          <p:cNvPr id="79" name="Google Shape;79;p4"/>
          <p:cNvSpPr/>
          <p:nvPr/>
        </p:nvSpPr>
        <p:spPr>
          <a:xfrm>
            <a:off x="428625" y="1741289"/>
            <a:ext cx="298252"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shape</a:t>
            </a:r>
            <a:endParaRPr b="0" i="0" sz="683" u="none" cap="none" strike="noStrike">
              <a:solidFill>
                <a:schemeClr val="dk1"/>
              </a:solidFill>
              <a:latin typeface="Calibri"/>
              <a:ea typeface="Calibri"/>
              <a:cs typeface="Calibri"/>
              <a:sym typeface="Calibri"/>
            </a:endParaRPr>
          </a:p>
        </p:txBody>
      </p:sp>
      <p:sp>
        <p:nvSpPr>
          <p:cNvPr id="80" name="Google Shape;80;p4"/>
          <p:cNvSpPr/>
          <p:nvPr/>
        </p:nvSpPr>
        <p:spPr>
          <a:xfrm>
            <a:off x="935078" y="1626989"/>
            <a:ext cx="2436772" cy="360759"/>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Reveals 7253 observations and 14 features.</a:t>
            </a:r>
            <a:endParaRPr b="0" i="0" sz="727" u="none" cap="none" strike="noStrike">
              <a:solidFill>
                <a:schemeClr val="dk1"/>
              </a:solidFill>
              <a:latin typeface="Calibri"/>
              <a:ea typeface="Calibri"/>
              <a:cs typeface="Calibri"/>
              <a:sym typeface="Calibri"/>
            </a:endParaRPr>
          </a:p>
        </p:txBody>
      </p:sp>
      <p:sp>
        <p:nvSpPr>
          <p:cNvPr id="81" name="Google Shape;81;p4"/>
          <p:cNvSpPr/>
          <p:nvPr/>
        </p:nvSpPr>
        <p:spPr>
          <a:xfrm>
            <a:off x="428625" y="2098477"/>
            <a:ext cx="316362"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head()</a:t>
            </a:r>
            <a:endParaRPr b="0" i="0" sz="683" u="none" cap="none" strike="noStrike">
              <a:solidFill>
                <a:schemeClr val="dk1"/>
              </a:solidFill>
              <a:latin typeface="Calibri"/>
              <a:ea typeface="Calibri"/>
              <a:cs typeface="Calibri"/>
              <a:sym typeface="Calibri"/>
            </a:endParaRPr>
          </a:p>
        </p:txBody>
      </p:sp>
      <p:sp>
        <p:nvSpPr>
          <p:cNvPr id="82" name="Google Shape;82;p4"/>
          <p:cNvSpPr/>
          <p:nvPr/>
        </p:nvSpPr>
        <p:spPr>
          <a:xfrm>
            <a:off x="935078" y="1987748"/>
            <a:ext cx="2436772" cy="357188"/>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Glimpse into actual data entries and formatting.</a:t>
            </a:r>
            <a:endParaRPr b="0" i="0" sz="727" u="none" cap="none" strike="noStrike">
              <a:solidFill>
                <a:schemeClr val="dk1"/>
              </a:solidFill>
              <a:latin typeface="Calibri"/>
              <a:ea typeface="Calibri"/>
              <a:cs typeface="Calibri"/>
              <a:sym typeface="Calibri"/>
            </a:endParaRPr>
          </a:p>
        </p:txBody>
      </p:sp>
      <p:sp>
        <p:nvSpPr>
          <p:cNvPr id="83" name="Google Shape;83;p4"/>
          <p:cNvSpPr/>
          <p:nvPr/>
        </p:nvSpPr>
        <p:spPr>
          <a:xfrm>
            <a:off x="428625" y="2455664"/>
            <a:ext cx="264654"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info()</a:t>
            </a:r>
            <a:endParaRPr b="0" i="0" sz="683" u="none" cap="none" strike="noStrike">
              <a:solidFill>
                <a:schemeClr val="dk1"/>
              </a:solidFill>
              <a:latin typeface="Calibri"/>
              <a:ea typeface="Calibri"/>
              <a:cs typeface="Calibri"/>
              <a:sym typeface="Calibri"/>
            </a:endParaRPr>
          </a:p>
        </p:txBody>
      </p:sp>
      <p:sp>
        <p:nvSpPr>
          <p:cNvPr id="84" name="Google Shape;84;p4"/>
          <p:cNvSpPr/>
          <p:nvPr/>
        </p:nvSpPr>
        <p:spPr>
          <a:xfrm>
            <a:off x="935078" y="2344936"/>
            <a:ext cx="2436772" cy="357188"/>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Identifies data types and missing value columns.</a:t>
            </a:r>
            <a:endParaRPr b="0" i="0" sz="727" u="none" cap="none" strike="noStrike">
              <a:solidFill>
                <a:schemeClr val="dk1"/>
              </a:solidFill>
              <a:latin typeface="Calibri"/>
              <a:ea typeface="Calibri"/>
              <a:cs typeface="Calibri"/>
              <a:sym typeface="Calibri"/>
            </a:endParaRPr>
          </a:p>
        </p:txBody>
      </p:sp>
      <p:sp>
        <p:nvSpPr>
          <p:cNvPr id="85" name="Google Shape;85;p4"/>
          <p:cNvSpPr/>
          <p:nvPr/>
        </p:nvSpPr>
        <p:spPr>
          <a:xfrm>
            <a:off x="428625" y="2812852"/>
            <a:ext cx="483570"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nunique()</a:t>
            </a:r>
            <a:endParaRPr b="0" i="0" sz="683" u="none" cap="none" strike="noStrike">
              <a:solidFill>
                <a:schemeClr val="dk1"/>
              </a:solidFill>
              <a:latin typeface="Calibri"/>
              <a:ea typeface="Calibri"/>
              <a:cs typeface="Calibri"/>
              <a:sym typeface="Calibri"/>
            </a:endParaRPr>
          </a:p>
        </p:txBody>
      </p:sp>
      <p:sp>
        <p:nvSpPr>
          <p:cNvPr id="86" name="Google Shape;86;p4"/>
          <p:cNvSpPr/>
          <p:nvPr/>
        </p:nvSpPr>
        <p:spPr>
          <a:xfrm>
            <a:off x="935078" y="2702123"/>
            <a:ext cx="2436772" cy="357188"/>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Distinguishes continuous vs categorical variables.</a:t>
            </a:r>
            <a:endParaRPr b="0" i="0" sz="727" u="none" cap="none" strike="noStrike">
              <a:solidFill>
                <a:schemeClr val="dk1"/>
              </a:solidFill>
              <a:latin typeface="Calibri"/>
              <a:ea typeface="Calibri"/>
              <a:cs typeface="Calibri"/>
              <a:sym typeface="Calibri"/>
            </a:endParaRPr>
          </a:p>
        </p:txBody>
      </p:sp>
      <p:sp>
        <p:nvSpPr>
          <p:cNvPr id="87" name="Google Shape;87;p4"/>
          <p:cNvSpPr/>
          <p:nvPr/>
        </p:nvSpPr>
        <p:spPr>
          <a:xfrm>
            <a:off x="4229100" y="71437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Initial Data Acquisition and Inspection Reveal Dataset Structure</a:t>
            </a:r>
            <a:endParaRPr b="0" i="0" sz="1602" u="none" cap="none" strike="noStrike">
              <a:solidFill>
                <a:schemeClr val="dk1"/>
              </a:solidFill>
              <a:latin typeface="Calibri"/>
              <a:ea typeface="Calibri"/>
              <a:cs typeface="Calibri"/>
              <a:sym typeface="Calibri"/>
            </a:endParaRPr>
          </a:p>
        </p:txBody>
      </p:sp>
      <p:sp>
        <p:nvSpPr>
          <p:cNvPr id="88" name="Google Shape;88;p4"/>
          <p:cNvSpPr/>
          <p:nvPr/>
        </p:nvSpPr>
        <p:spPr>
          <a:xfrm>
            <a:off x="4229100" y="1548743"/>
            <a:ext cx="4486275" cy="685800"/>
          </a:xfrm>
          <a:prstGeom prst="rect">
            <a:avLst/>
          </a:prstGeom>
          <a:noFill/>
          <a:ln>
            <a:noFill/>
          </a:ln>
        </p:spPr>
        <p:txBody>
          <a:bodyPr anchorCtr="0" anchor="t" bIns="0" lIns="0" spcFirstLastPara="1" rIns="0" wrap="square" tIns="0">
            <a:spAutoFit/>
          </a:bodyPr>
          <a:lstStyle/>
          <a:p>
            <a:pPr indent="0" lvl="0" marL="0" marR="0" rtl="0" algn="l">
              <a:lnSpc>
                <a:spcPct val="171428"/>
              </a:lnSpc>
              <a:spcBef>
                <a:spcPts val="0"/>
              </a:spcBef>
              <a:spcAft>
                <a:spcPts val="0"/>
              </a:spcAft>
              <a:buClr>
                <a:srgbClr val="495057"/>
              </a:buClr>
              <a:buSzPts val="1050"/>
              <a:buFont typeface="Calibri"/>
              <a:buNone/>
            </a:pPr>
            <a:r>
              <a:rPr b="0" i="0" lang="en-US" sz="1050" u="none" cap="none" strike="noStrike">
                <a:solidFill>
                  <a:srgbClr val="495057"/>
                </a:solidFill>
                <a:latin typeface="Calibri"/>
                <a:ea typeface="Calibri"/>
                <a:cs typeface="Calibri"/>
                <a:sym typeface="Calibri"/>
              </a:rPr>
              <a:t>Loading the data into a Pandas DataFrame is the starting point for analysis. The read_csv() function converts tabular data into a structured format ready for manipulation.</a:t>
            </a:r>
            <a:endParaRPr b="0" i="0" sz="1050" u="none" cap="none" strike="noStrike">
              <a:solidFill>
                <a:schemeClr val="dk1"/>
              </a:solidFill>
              <a:latin typeface="Calibri"/>
              <a:ea typeface="Calibri"/>
              <a:cs typeface="Calibri"/>
              <a:sym typeface="Calibri"/>
            </a:endParaRPr>
          </a:p>
        </p:txBody>
      </p:sp>
      <p:sp>
        <p:nvSpPr>
          <p:cNvPr id="89" name="Google Shape;89;p4"/>
          <p:cNvSpPr/>
          <p:nvPr/>
        </p:nvSpPr>
        <p:spPr>
          <a:xfrm>
            <a:off x="4229100" y="2448855"/>
            <a:ext cx="4486275" cy="532209"/>
          </a:xfrm>
          <a:prstGeom prst="rect">
            <a:avLst/>
          </a:prstGeom>
          <a:solidFill>
            <a:srgbClr val="212529">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229100" y="2448855"/>
            <a:ext cx="28575" cy="532209"/>
          </a:xfrm>
          <a:prstGeom prst="rect">
            <a:avLst/>
          </a:prstGeom>
          <a:solidFill>
            <a:srgbClr val="20C9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407694" y="2591730"/>
            <a:ext cx="4129088" cy="389334"/>
          </a:xfrm>
          <a:prstGeom prst="rect">
            <a:avLst/>
          </a:prstGeom>
          <a:noFill/>
          <a:ln>
            <a:noFill/>
          </a:ln>
        </p:spPr>
        <p:txBody>
          <a:bodyPr anchorCtr="0" anchor="t" bIns="170050" lIns="0" spcFirstLastPara="1" rIns="0" wrap="square" tIns="85075">
            <a:spAutoFit/>
          </a:bodyPr>
          <a:lstStyle/>
          <a:p>
            <a:pPr indent="0" lvl="0" marL="0" marR="0" rtl="0" algn="l">
              <a:lnSpc>
                <a:spcPct val="127388"/>
              </a:lnSpc>
              <a:spcBef>
                <a:spcPts val="0"/>
              </a:spcBef>
              <a:spcAft>
                <a:spcPts val="0"/>
              </a:spcAft>
              <a:buClr>
                <a:srgbClr val="212529"/>
              </a:buClr>
              <a:buSzPts val="942"/>
              <a:buFont typeface="Calibri"/>
              <a:buNone/>
            </a:pPr>
            <a:r>
              <a:rPr b="0" i="0" lang="en-US" sz="942" u="none" cap="none" strike="noStrike">
                <a:solidFill>
                  <a:srgbClr val="212529"/>
                </a:solidFill>
                <a:latin typeface="Calibri"/>
                <a:ea typeface="Calibri"/>
                <a:cs typeface="Calibri"/>
                <a:sym typeface="Calibri"/>
              </a:rPr>
              <a:t>data = pd.read_csv("used_cars.csv")</a:t>
            </a:r>
            <a:endParaRPr b="0" i="0" sz="942" u="none" cap="none" strike="noStrike">
              <a:solidFill>
                <a:schemeClr val="dk1"/>
              </a:solidFill>
              <a:latin typeface="Calibri"/>
              <a:ea typeface="Calibri"/>
              <a:cs typeface="Calibri"/>
              <a:sym typeface="Calibri"/>
            </a:endParaRPr>
          </a:p>
        </p:txBody>
      </p:sp>
      <p:sp>
        <p:nvSpPr>
          <p:cNvPr id="92" name="Google Shape;92;p4"/>
          <p:cNvSpPr/>
          <p:nvPr/>
        </p:nvSpPr>
        <p:spPr>
          <a:xfrm>
            <a:off x="4229100" y="3266815"/>
            <a:ext cx="4486275" cy="685800"/>
          </a:xfrm>
          <a:prstGeom prst="rect">
            <a:avLst/>
          </a:prstGeom>
          <a:noFill/>
          <a:ln>
            <a:noFill/>
          </a:ln>
        </p:spPr>
        <p:txBody>
          <a:bodyPr anchorCtr="0" anchor="t" bIns="0" lIns="0" spcFirstLastPara="1" rIns="0" wrap="square" tIns="0">
            <a:spAutoFit/>
          </a:bodyPr>
          <a:lstStyle/>
          <a:p>
            <a:pPr indent="0" lvl="0" marL="0" marR="0" rtl="0" algn="l">
              <a:lnSpc>
                <a:spcPct val="171428"/>
              </a:lnSpc>
              <a:spcBef>
                <a:spcPts val="0"/>
              </a:spcBef>
              <a:spcAft>
                <a:spcPts val="0"/>
              </a:spcAft>
              <a:buClr>
                <a:srgbClr val="495057"/>
              </a:buClr>
              <a:buSzPts val="1050"/>
              <a:buFont typeface="Calibri"/>
              <a:buNone/>
            </a:pPr>
            <a:r>
              <a:rPr b="0" i="0" lang="en-US" sz="1050" u="none" cap="none" strike="noStrike">
                <a:solidFill>
                  <a:srgbClr val="495057"/>
                </a:solidFill>
                <a:latin typeface="Calibri"/>
                <a:ea typeface="Calibri"/>
                <a:cs typeface="Calibri"/>
                <a:sym typeface="Calibri"/>
              </a:rPr>
              <a:t>Initial inspection tools provide an immediate overview of the dataset's scale and composition, allowing us to "listen" to the data before making any inferences.</a:t>
            </a:r>
            <a:endParaRPr b="0" i="0" sz="1050" u="none" cap="none" strike="noStrike">
              <a:solidFill>
                <a:schemeClr val="dk1"/>
              </a:solidFill>
              <a:latin typeface="Calibri"/>
              <a:ea typeface="Calibri"/>
              <a:cs typeface="Calibri"/>
              <a:sym typeface="Calibri"/>
            </a:endParaRPr>
          </a:p>
        </p:txBody>
      </p:sp>
      <p:pic>
        <p:nvPicPr>
          <p:cNvPr descr="preencoded.png" id="93" name="Google Shape;93;p4"/>
          <p:cNvPicPr preferRelativeResize="0"/>
          <p:nvPr/>
        </p:nvPicPr>
        <p:blipFill rotWithShape="1">
          <a:blip r:embed="rId4">
            <a:alphaModFix/>
          </a:blip>
          <a:srcRect b="0" l="0" r="0" t="0"/>
          <a:stretch/>
        </p:blipFill>
        <p:spPr>
          <a:xfrm>
            <a:off x="4229100" y="4309802"/>
            <a:ext cx="171450" cy="171450"/>
          </a:xfrm>
          <a:prstGeom prst="rect">
            <a:avLst/>
          </a:prstGeom>
          <a:noFill/>
          <a:ln>
            <a:noFill/>
          </a:ln>
        </p:spPr>
      </p:pic>
      <p:sp>
        <p:nvSpPr>
          <p:cNvPr id="94" name="Google Shape;94;p4"/>
          <p:cNvSpPr/>
          <p:nvPr/>
        </p:nvSpPr>
        <p:spPr>
          <a:xfrm>
            <a:off x="4507706" y="4317839"/>
            <a:ext cx="1887206"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Data Understanding Phase</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preencoded.png" id="100" name="Google Shape;100;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1" name="Google Shape;101;p5"/>
          <p:cNvSpPr/>
          <p:nvPr/>
        </p:nvSpPr>
        <p:spPr>
          <a:xfrm>
            <a:off x="0" y="0"/>
            <a:ext cx="45720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45648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571500" y="714375"/>
            <a:ext cx="3571875"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Data Integrity</a:t>
            </a:r>
            <a:endParaRPr b="0" i="0" sz="683" u="none" cap="none" strike="noStrike">
              <a:solidFill>
                <a:schemeClr val="dk1"/>
              </a:solidFill>
              <a:latin typeface="Calibri"/>
              <a:ea typeface="Calibri"/>
              <a:cs typeface="Calibri"/>
              <a:sym typeface="Calibri"/>
            </a:endParaRPr>
          </a:p>
        </p:txBody>
      </p:sp>
      <p:sp>
        <p:nvSpPr>
          <p:cNvPr id="104" name="Google Shape;104;p5"/>
          <p:cNvSpPr/>
          <p:nvPr/>
        </p:nvSpPr>
        <p:spPr>
          <a:xfrm>
            <a:off x="571500" y="992981"/>
            <a:ext cx="3571875" cy="822927"/>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Rigorous Data Quality Checks Identify Missing Values and Duplicates</a:t>
            </a:r>
            <a:endParaRPr b="0" i="0" sz="1602" u="none" cap="none" strike="noStrike">
              <a:solidFill>
                <a:schemeClr val="dk1"/>
              </a:solidFill>
              <a:latin typeface="Calibri"/>
              <a:ea typeface="Calibri"/>
              <a:cs typeface="Calibri"/>
              <a:sym typeface="Calibri"/>
            </a:endParaRPr>
          </a:p>
        </p:txBody>
      </p:sp>
      <p:sp>
        <p:nvSpPr>
          <p:cNvPr id="105" name="Google Shape;105;p5"/>
          <p:cNvSpPr/>
          <p:nvPr/>
        </p:nvSpPr>
        <p:spPr>
          <a:xfrm>
            <a:off x="571500" y="2101658"/>
            <a:ext cx="3571875" cy="617153"/>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942"/>
              <a:buFont typeface="Calibri"/>
              <a:buNone/>
            </a:pPr>
            <a:r>
              <a:rPr b="0" i="0" lang="en-US" sz="942" u="none" cap="none" strike="noStrike">
                <a:solidFill>
                  <a:srgbClr val="495057"/>
                </a:solidFill>
                <a:latin typeface="Calibri"/>
                <a:ea typeface="Calibri"/>
                <a:cs typeface="Calibri"/>
                <a:sym typeface="Calibri"/>
              </a:rPr>
              <a:t>Understanding the "gaps" in your data is crucial before proceeding to analysis. Missing values can significantly skew results if not handled correctly.</a:t>
            </a:r>
            <a:endParaRPr b="0" i="0" sz="942" u="none" cap="none" strike="noStrike">
              <a:solidFill>
                <a:schemeClr val="dk1"/>
              </a:solidFill>
              <a:latin typeface="Calibri"/>
              <a:ea typeface="Calibri"/>
              <a:cs typeface="Calibri"/>
              <a:sym typeface="Calibri"/>
            </a:endParaRPr>
          </a:p>
        </p:txBody>
      </p:sp>
      <p:sp>
        <p:nvSpPr>
          <p:cNvPr id="106" name="Google Shape;106;p5"/>
          <p:cNvSpPr/>
          <p:nvPr/>
        </p:nvSpPr>
        <p:spPr>
          <a:xfrm>
            <a:off x="571500" y="2995966"/>
            <a:ext cx="182389" cy="285750"/>
          </a:xfrm>
          <a:prstGeom prst="roundRect">
            <a:avLst>
              <a:gd fmla="val 16667" name="adj"/>
            </a:avLst>
          </a:prstGeom>
          <a:solidFill>
            <a:srgbClr val="20C9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5"/>
          <p:cNvPicPr preferRelativeResize="0"/>
          <p:nvPr/>
        </p:nvPicPr>
        <p:blipFill rotWithShape="1">
          <a:blip r:embed="rId4">
            <a:alphaModFix/>
          </a:blip>
          <a:srcRect b="0" l="0" r="0" t="0"/>
          <a:stretch/>
        </p:blipFill>
        <p:spPr>
          <a:xfrm>
            <a:off x="598401" y="3074547"/>
            <a:ext cx="128588" cy="128588"/>
          </a:xfrm>
          <a:prstGeom prst="rect">
            <a:avLst/>
          </a:prstGeom>
          <a:noFill/>
          <a:ln>
            <a:noFill/>
          </a:ln>
        </p:spPr>
      </p:pic>
      <p:sp>
        <p:nvSpPr>
          <p:cNvPr id="108" name="Google Shape;108;p5"/>
          <p:cNvSpPr/>
          <p:nvPr/>
        </p:nvSpPr>
        <p:spPr>
          <a:xfrm>
            <a:off x="861045" y="2933123"/>
            <a:ext cx="3282330" cy="411435"/>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885"/>
              <a:buFont typeface="Calibri"/>
              <a:buNone/>
            </a:pPr>
            <a:r>
              <a:rPr b="1" i="0" lang="en-US" sz="885" u="none" cap="none" strike="noStrike">
                <a:solidFill>
                  <a:srgbClr val="495057"/>
                </a:solidFill>
                <a:latin typeface="Calibri"/>
                <a:ea typeface="Calibri"/>
                <a:cs typeface="Calibri"/>
                <a:sym typeface="Calibri"/>
              </a:rPr>
              <a:t>Missing Value Impact:</a:t>
            </a:r>
            <a:r>
              <a:rPr b="0" i="0" lang="en-US" sz="942" u="none" cap="none" strike="noStrike">
                <a:solidFill>
                  <a:srgbClr val="495057"/>
                </a:solidFill>
                <a:latin typeface="Calibri"/>
                <a:ea typeface="Calibri"/>
                <a:cs typeface="Calibri"/>
                <a:sym typeface="Calibri"/>
              </a:rPr>
              <a:t> Identifying columns that need dropping or heavy imputation.</a:t>
            </a:r>
            <a:endParaRPr b="0" i="0" sz="885" u="none" cap="none" strike="noStrike">
              <a:solidFill>
                <a:schemeClr val="dk1"/>
              </a:solidFill>
              <a:latin typeface="Calibri"/>
              <a:ea typeface="Calibri"/>
              <a:cs typeface="Calibri"/>
              <a:sym typeface="Calibri"/>
            </a:endParaRPr>
          </a:p>
        </p:txBody>
      </p:sp>
      <p:sp>
        <p:nvSpPr>
          <p:cNvPr id="109" name="Google Shape;109;p5"/>
          <p:cNvSpPr/>
          <p:nvPr/>
        </p:nvSpPr>
        <p:spPr>
          <a:xfrm>
            <a:off x="571500" y="3550276"/>
            <a:ext cx="175999" cy="285750"/>
          </a:xfrm>
          <a:prstGeom prst="roundRect">
            <a:avLst>
              <a:gd fmla="val 16667" name="adj"/>
            </a:avLst>
          </a:prstGeom>
          <a:solidFill>
            <a:srgbClr val="20C9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5"/>
          <p:cNvPicPr preferRelativeResize="0"/>
          <p:nvPr/>
        </p:nvPicPr>
        <p:blipFill rotWithShape="1">
          <a:blip r:embed="rId5">
            <a:alphaModFix/>
          </a:blip>
          <a:srcRect b="0" l="0" r="0" t="0"/>
          <a:stretch/>
        </p:blipFill>
        <p:spPr>
          <a:xfrm>
            <a:off x="595192" y="3628858"/>
            <a:ext cx="128588" cy="128588"/>
          </a:xfrm>
          <a:prstGeom prst="rect">
            <a:avLst/>
          </a:prstGeom>
          <a:noFill/>
          <a:ln>
            <a:noFill/>
          </a:ln>
        </p:spPr>
      </p:pic>
      <p:sp>
        <p:nvSpPr>
          <p:cNvPr id="111" name="Google Shape;111;p5"/>
          <p:cNvSpPr/>
          <p:nvPr/>
        </p:nvSpPr>
        <p:spPr>
          <a:xfrm>
            <a:off x="854655" y="3487434"/>
            <a:ext cx="3288720" cy="411435"/>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885"/>
              <a:buFont typeface="Calibri"/>
              <a:buNone/>
            </a:pPr>
            <a:r>
              <a:rPr b="1" i="0" lang="en-US" sz="885" u="none" cap="none" strike="noStrike">
                <a:solidFill>
                  <a:srgbClr val="495057"/>
                </a:solidFill>
                <a:latin typeface="Calibri"/>
                <a:ea typeface="Calibri"/>
                <a:cs typeface="Calibri"/>
                <a:sym typeface="Calibri"/>
              </a:rPr>
              <a:t>Duplicate Detection:</a:t>
            </a:r>
            <a:r>
              <a:rPr b="0" i="0" lang="en-US" sz="942" u="none" cap="none" strike="noStrike">
                <a:solidFill>
                  <a:srgbClr val="495057"/>
                </a:solidFill>
                <a:latin typeface="Calibri"/>
                <a:ea typeface="Calibri"/>
                <a:cs typeface="Calibri"/>
                <a:sym typeface="Calibri"/>
              </a:rPr>
              <a:t> Ensuring observations aren't counted multiple times to avoid bias.</a:t>
            </a:r>
            <a:endParaRPr b="0" i="0" sz="885" u="none" cap="none" strike="noStrike">
              <a:solidFill>
                <a:schemeClr val="dk1"/>
              </a:solidFill>
              <a:latin typeface="Calibri"/>
              <a:ea typeface="Calibri"/>
              <a:cs typeface="Calibri"/>
              <a:sym typeface="Calibri"/>
            </a:endParaRPr>
          </a:p>
        </p:txBody>
      </p:sp>
      <p:sp>
        <p:nvSpPr>
          <p:cNvPr id="112" name="Google Shape;112;p5"/>
          <p:cNvSpPr/>
          <p:nvPr/>
        </p:nvSpPr>
        <p:spPr>
          <a:xfrm>
            <a:off x="4572000" y="0"/>
            <a:ext cx="4572000" cy="5143500"/>
          </a:xfrm>
          <a:prstGeom prst="rect">
            <a:avLst/>
          </a:prstGeom>
          <a:solidFill>
            <a:srgbClr val="20C997">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5000625" y="714375"/>
            <a:ext cx="357187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0000"/>
              </a:buClr>
              <a:buSzPts val="1193"/>
              <a:buFont typeface="Calibri"/>
              <a:buNone/>
            </a:pPr>
            <a:r>
              <a:rPr b="1" i="0" lang="en-US" sz="1193" u="none" cap="none" strike="noStrike">
                <a:solidFill>
                  <a:srgbClr val="000000"/>
                </a:solidFill>
                <a:latin typeface="Calibri"/>
                <a:ea typeface="Calibri"/>
                <a:cs typeface="Calibri"/>
                <a:sym typeface="Calibri"/>
              </a:rPr>
              <a:t>Missing Value Analysis</a:t>
            </a:r>
            <a:endParaRPr b="0" i="0" sz="1193" u="none" cap="none" strike="noStrike">
              <a:solidFill>
                <a:schemeClr val="dk1"/>
              </a:solidFill>
              <a:latin typeface="Calibri"/>
              <a:ea typeface="Calibri"/>
              <a:cs typeface="Calibri"/>
              <a:sym typeface="Calibri"/>
            </a:endParaRPr>
          </a:p>
        </p:txBody>
      </p:sp>
      <p:sp>
        <p:nvSpPr>
          <p:cNvPr id="114" name="Google Shape;114;p5"/>
          <p:cNvSpPr/>
          <p:nvPr/>
        </p:nvSpPr>
        <p:spPr>
          <a:xfrm>
            <a:off x="5000625" y="1162645"/>
            <a:ext cx="1945556" cy="376833"/>
          </a:xfrm>
          <a:prstGeom prst="rect">
            <a:avLst/>
          </a:prstGeom>
          <a:noFill/>
          <a:ln>
            <a:noFill/>
          </a:ln>
        </p:spPr>
        <p:txBody>
          <a:bodyPr anchorCtr="0" anchor="ctr" bIns="127500"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Feature</a:t>
            </a:r>
            <a:endParaRPr b="0" i="0" sz="784" u="none" cap="none" strike="noStrike">
              <a:solidFill>
                <a:schemeClr val="dk1"/>
              </a:solidFill>
              <a:latin typeface="Calibri"/>
              <a:ea typeface="Calibri"/>
              <a:cs typeface="Calibri"/>
              <a:sym typeface="Calibri"/>
            </a:endParaRPr>
          </a:p>
        </p:txBody>
      </p:sp>
      <p:sp>
        <p:nvSpPr>
          <p:cNvPr id="115" name="Google Shape;115;p5"/>
          <p:cNvSpPr/>
          <p:nvPr/>
        </p:nvSpPr>
        <p:spPr>
          <a:xfrm>
            <a:off x="6946181" y="1162645"/>
            <a:ext cx="1626319" cy="376833"/>
          </a:xfrm>
          <a:prstGeom prst="rect">
            <a:avLst/>
          </a:prstGeom>
          <a:noFill/>
          <a:ln>
            <a:noFill/>
          </a:ln>
        </p:spPr>
        <p:txBody>
          <a:bodyPr anchorCtr="0" anchor="ctr" bIns="127500"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Missing Percentage</a:t>
            </a:r>
            <a:endParaRPr b="0" i="0" sz="784" u="none" cap="none" strike="noStrike">
              <a:solidFill>
                <a:schemeClr val="dk1"/>
              </a:solidFill>
              <a:latin typeface="Calibri"/>
              <a:ea typeface="Calibri"/>
              <a:cs typeface="Calibri"/>
              <a:sym typeface="Calibri"/>
            </a:endParaRPr>
          </a:p>
        </p:txBody>
      </p:sp>
      <p:sp>
        <p:nvSpPr>
          <p:cNvPr id="116" name="Google Shape;116;p5"/>
          <p:cNvSpPr/>
          <p:nvPr/>
        </p:nvSpPr>
        <p:spPr>
          <a:xfrm>
            <a:off x="5000625" y="1689497"/>
            <a:ext cx="554813" cy="15537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New_Price</a:t>
            </a:r>
            <a:endParaRPr b="0" i="0" sz="834" u="none" cap="none" strike="noStrike">
              <a:solidFill>
                <a:schemeClr val="dk1"/>
              </a:solidFill>
              <a:latin typeface="Calibri"/>
              <a:ea typeface="Calibri"/>
              <a:cs typeface="Calibri"/>
              <a:sym typeface="Calibri"/>
            </a:endParaRPr>
          </a:p>
        </p:txBody>
      </p:sp>
      <p:sp>
        <p:nvSpPr>
          <p:cNvPr id="117" name="Google Shape;117;p5"/>
          <p:cNvSpPr/>
          <p:nvPr/>
        </p:nvSpPr>
        <p:spPr>
          <a:xfrm>
            <a:off x="5000625" y="1902023"/>
            <a:ext cx="1945556" cy="5715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6946181" y="1539478"/>
            <a:ext cx="1626319" cy="566142"/>
          </a:xfrm>
          <a:prstGeom prst="rect">
            <a:avLst/>
          </a:prstGeom>
          <a:noFill/>
          <a:ln>
            <a:noFill/>
          </a:ln>
        </p:spPr>
        <p:txBody>
          <a:bodyPr anchorCtr="0" anchor="ctr" bIns="170050" lIns="0" spcFirstLastPara="1" rIns="0" wrap="square" tIns="170050">
            <a:spAutoFit/>
          </a:bodyPr>
          <a:lstStyle/>
          <a:p>
            <a:pPr indent="0" lvl="0" marL="0" marR="0" rtl="0" algn="l">
              <a:lnSpc>
                <a:spcPct val="140306"/>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~86%</a:t>
            </a:r>
            <a:endParaRPr b="0" i="0" sz="784" u="none" cap="none" strike="noStrike">
              <a:solidFill>
                <a:schemeClr val="dk1"/>
              </a:solidFill>
              <a:latin typeface="Calibri"/>
              <a:ea typeface="Calibri"/>
              <a:cs typeface="Calibri"/>
              <a:sym typeface="Calibri"/>
            </a:endParaRPr>
          </a:p>
        </p:txBody>
      </p:sp>
      <p:sp>
        <p:nvSpPr>
          <p:cNvPr id="119" name="Google Shape;119;p5"/>
          <p:cNvSpPr/>
          <p:nvPr/>
        </p:nvSpPr>
        <p:spPr>
          <a:xfrm>
            <a:off x="5000625" y="2252067"/>
            <a:ext cx="265184" cy="15537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Price</a:t>
            </a:r>
            <a:endParaRPr b="0" i="0" sz="834" u="none" cap="none" strike="noStrike">
              <a:solidFill>
                <a:schemeClr val="dk1"/>
              </a:solidFill>
              <a:latin typeface="Calibri"/>
              <a:ea typeface="Calibri"/>
              <a:cs typeface="Calibri"/>
              <a:sym typeface="Calibri"/>
            </a:endParaRPr>
          </a:p>
        </p:txBody>
      </p:sp>
      <p:sp>
        <p:nvSpPr>
          <p:cNvPr id="120" name="Google Shape;120;p5"/>
          <p:cNvSpPr/>
          <p:nvPr/>
        </p:nvSpPr>
        <p:spPr>
          <a:xfrm>
            <a:off x="5000625" y="2464594"/>
            <a:ext cx="1945556" cy="5715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6946181" y="2105620"/>
            <a:ext cx="1626319" cy="562570"/>
          </a:xfrm>
          <a:prstGeom prst="rect">
            <a:avLst/>
          </a:prstGeom>
          <a:noFill/>
          <a:ln>
            <a:noFill/>
          </a:ln>
        </p:spPr>
        <p:txBody>
          <a:bodyPr anchorCtr="0" anchor="ctr" bIns="170050" lIns="0" spcFirstLastPara="1" rIns="0" wrap="square" tIns="170050">
            <a:spAutoFit/>
          </a:bodyPr>
          <a:lstStyle/>
          <a:p>
            <a:pPr indent="0" lvl="0" marL="0" marR="0" rtl="0" algn="l">
              <a:lnSpc>
                <a:spcPct val="140306"/>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~17%</a:t>
            </a:r>
            <a:endParaRPr b="0" i="0" sz="784" u="none" cap="none" strike="noStrike">
              <a:solidFill>
                <a:schemeClr val="dk1"/>
              </a:solidFill>
              <a:latin typeface="Calibri"/>
              <a:ea typeface="Calibri"/>
              <a:cs typeface="Calibri"/>
              <a:sym typeface="Calibri"/>
            </a:endParaRPr>
          </a:p>
        </p:txBody>
      </p:sp>
      <p:sp>
        <p:nvSpPr>
          <p:cNvPr id="122" name="Google Shape;122;p5"/>
          <p:cNvSpPr/>
          <p:nvPr/>
        </p:nvSpPr>
        <p:spPr>
          <a:xfrm>
            <a:off x="5000625" y="2814638"/>
            <a:ext cx="1336523" cy="15537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Mileage / Engine / Power</a:t>
            </a:r>
            <a:endParaRPr b="0" i="0" sz="834" u="none" cap="none" strike="noStrike">
              <a:solidFill>
                <a:schemeClr val="dk1"/>
              </a:solidFill>
              <a:latin typeface="Calibri"/>
              <a:ea typeface="Calibri"/>
              <a:cs typeface="Calibri"/>
              <a:sym typeface="Calibri"/>
            </a:endParaRPr>
          </a:p>
        </p:txBody>
      </p:sp>
      <p:sp>
        <p:nvSpPr>
          <p:cNvPr id="123" name="Google Shape;123;p5"/>
          <p:cNvSpPr/>
          <p:nvPr/>
        </p:nvSpPr>
        <p:spPr>
          <a:xfrm>
            <a:off x="5000625" y="3027164"/>
            <a:ext cx="1945556" cy="5715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946181" y="2668191"/>
            <a:ext cx="1626319" cy="562570"/>
          </a:xfrm>
          <a:prstGeom prst="rect">
            <a:avLst/>
          </a:prstGeom>
          <a:noFill/>
          <a:ln>
            <a:noFill/>
          </a:ln>
        </p:spPr>
        <p:txBody>
          <a:bodyPr anchorCtr="0" anchor="ctr" bIns="170050" lIns="0" spcFirstLastPara="1" rIns="0" wrap="square" tIns="170050">
            <a:spAutoFit/>
          </a:bodyPr>
          <a:lstStyle/>
          <a:p>
            <a:pPr indent="0" lvl="0" marL="0" marR="0" rtl="0" algn="l">
              <a:lnSpc>
                <a:spcPct val="131894"/>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&lt; 5%</a:t>
            </a:r>
            <a:endParaRPr b="0" i="0" sz="834" u="none" cap="none" strike="noStrike">
              <a:solidFill>
                <a:schemeClr val="dk1"/>
              </a:solidFill>
              <a:latin typeface="Calibri"/>
              <a:ea typeface="Calibri"/>
              <a:cs typeface="Calibri"/>
              <a:sym typeface="Calibri"/>
            </a:endParaRPr>
          </a:p>
        </p:txBody>
      </p:sp>
      <p:sp>
        <p:nvSpPr>
          <p:cNvPr id="125" name="Google Shape;125;p5"/>
          <p:cNvSpPr/>
          <p:nvPr/>
        </p:nvSpPr>
        <p:spPr>
          <a:xfrm>
            <a:off x="5000625" y="3234333"/>
            <a:ext cx="3571875" cy="557213"/>
          </a:xfrm>
          <a:prstGeom prst="rect">
            <a:avLst/>
          </a:prstGeom>
          <a:noFill/>
          <a:ln>
            <a:noFill/>
          </a:ln>
        </p:spPr>
        <p:txBody>
          <a:bodyPr anchorCtr="0" anchor="t" bIns="0" lIns="0" spcFirstLastPara="1" rIns="0" wrap="square" tIns="340225">
            <a:spAutoFit/>
          </a:bodyPr>
          <a:lstStyle/>
          <a:p>
            <a:pPr indent="0" lvl="0" marL="0" marR="0" rtl="0" algn="l">
              <a:lnSpc>
                <a:spcPct val="123796"/>
              </a:lnSpc>
              <a:spcBef>
                <a:spcPts val="0"/>
              </a:spcBef>
              <a:spcAft>
                <a:spcPts val="0"/>
              </a:spcAft>
              <a:buClr>
                <a:srgbClr val="495057"/>
              </a:buClr>
              <a:buSzPts val="727"/>
              <a:buFont typeface="Calibri"/>
              <a:buNone/>
            </a:pPr>
            <a:r>
              <a:rPr b="0" i="1" lang="en-US" sz="727" u="none" cap="none" strike="noStrike">
                <a:solidFill>
                  <a:srgbClr val="495057"/>
                </a:solidFill>
                <a:latin typeface="Calibri"/>
                <a:ea typeface="Calibri"/>
                <a:cs typeface="Calibri"/>
                <a:sym typeface="Calibri"/>
              </a:rPr>
              <a:t>*High missing percentages in 'New_Price' suggest it may not be a reliable predictor without significant imputation.</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0" y="0"/>
            <a:ext cx="3657600" cy="5143500"/>
          </a:xfrm>
          <a:prstGeom prst="rect">
            <a:avLst/>
          </a:prstGeom>
          <a:solidFill>
            <a:srgbClr val="20C9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971550" y="1071563"/>
            <a:ext cx="1714500" cy="1714500"/>
          </a:xfrm>
          <a:prstGeom prst="ellipse">
            <a:avLst/>
          </a:prstGeom>
          <a:solidFill>
            <a:srgbClr val="FFFFFF">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6"/>
          <p:cNvPicPr preferRelativeResize="0"/>
          <p:nvPr/>
        </p:nvPicPr>
        <p:blipFill rotWithShape="1">
          <a:blip r:embed="rId3">
            <a:alphaModFix/>
          </a:blip>
          <a:srcRect b="0" l="0" r="0" t="0"/>
          <a:stretch/>
        </p:blipFill>
        <p:spPr>
          <a:xfrm>
            <a:off x="1471613" y="1571625"/>
            <a:ext cx="714375" cy="714375"/>
          </a:xfrm>
          <a:prstGeom prst="rect">
            <a:avLst/>
          </a:prstGeom>
          <a:noFill/>
          <a:ln>
            <a:noFill/>
          </a:ln>
        </p:spPr>
      </p:pic>
      <p:sp>
        <p:nvSpPr>
          <p:cNvPr id="134" name="Google Shape;134;p6"/>
          <p:cNvSpPr/>
          <p:nvPr/>
        </p:nvSpPr>
        <p:spPr>
          <a:xfrm>
            <a:off x="1081134" y="3071813"/>
            <a:ext cx="1495332"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8F9FA"/>
              </a:buClr>
              <a:buSzPts val="683"/>
              <a:buFont typeface="Calibri"/>
              <a:buNone/>
            </a:pPr>
            <a:r>
              <a:rPr b="1" i="0" lang="en-US" sz="683" u="none" cap="none" strike="noStrike">
                <a:solidFill>
                  <a:srgbClr val="F8F9FA"/>
                </a:solidFill>
                <a:latin typeface="Calibri"/>
                <a:ea typeface="Calibri"/>
                <a:cs typeface="Calibri"/>
                <a:sym typeface="Calibri"/>
              </a:rPr>
              <a:t>Data Transformation</a:t>
            </a:r>
            <a:endParaRPr b="0" i="0" sz="683" u="none" cap="none" strike="noStrike">
              <a:solidFill>
                <a:schemeClr val="dk1"/>
              </a:solidFill>
              <a:latin typeface="Calibri"/>
              <a:ea typeface="Calibri"/>
              <a:cs typeface="Calibri"/>
              <a:sym typeface="Calibri"/>
            </a:endParaRPr>
          </a:p>
        </p:txBody>
      </p:sp>
      <p:sp>
        <p:nvSpPr>
          <p:cNvPr id="135" name="Google Shape;135;p6"/>
          <p:cNvSpPr/>
          <p:nvPr/>
        </p:nvSpPr>
        <p:spPr>
          <a:xfrm>
            <a:off x="3650456" y="514350"/>
            <a:ext cx="7144" cy="4114800"/>
          </a:xfrm>
          <a:prstGeom prst="rect">
            <a:avLst/>
          </a:prstGeom>
          <a:solidFill>
            <a:srgbClr val="21252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4229100" y="71437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Strategic Feature Engineering Transforms Raw Data into Insights</a:t>
            </a:r>
            <a:endParaRPr b="0" i="0" sz="1602" u="none" cap="none" strike="noStrike">
              <a:solidFill>
                <a:schemeClr val="dk1"/>
              </a:solidFill>
              <a:latin typeface="Calibri"/>
              <a:ea typeface="Calibri"/>
              <a:cs typeface="Calibri"/>
              <a:sym typeface="Calibri"/>
            </a:endParaRPr>
          </a:p>
        </p:txBody>
      </p:sp>
      <p:sp>
        <p:nvSpPr>
          <p:cNvPr id="137" name="Google Shape;137;p6"/>
          <p:cNvSpPr/>
          <p:nvPr/>
        </p:nvSpPr>
        <p:spPr>
          <a:xfrm>
            <a:off x="4229100" y="1548743"/>
            <a:ext cx="4486275" cy="617153"/>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942"/>
              <a:buFont typeface="Calibri"/>
              <a:buNone/>
            </a:pPr>
            <a:r>
              <a:rPr b="0" i="0" lang="en-US" sz="942" u="none" cap="none" strike="noStrike">
                <a:solidFill>
                  <a:srgbClr val="495057"/>
                </a:solidFill>
                <a:latin typeface="Calibri"/>
                <a:ea typeface="Calibri"/>
                <a:cs typeface="Calibri"/>
                <a:sym typeface="Calibri"/>
              </a:rPr>
              <a:t>Feature engineering is the process of using domain knowledge to create new, more predictive variables from raw data. This step is crucial for enhancing model performance and making data more intuitive.</a:t>
            </a:r>
            <a:endParaRPr b="0" i="0" sz="942" u="none" cap="none" strike="noStrike">
              <a:solidFill>
                <a:schemeClr val="dk1"/>
              </a:solidFill>
              <a:latin typeface="Calibri"/>
              <a:ea typeface="Calibri"/>
              <a:cs typeface="Calibri"/>
              <a:sym typeface="Calibri"/>
            </a:endParaRPr>
          </a:p>
        </p:txBody>
      </p:sp>
      <p:sp>
        <p:nvSpPr>
          <p:cNvPr id="138" name="Google Shape;138;p6"/>
          <p:cNvSpPr/>
          <p:nvPr/>
        </p:nvSpPr>
        <p:spPr>
          <a:xfrm>
            <a:off x="4229100" y="2451646"/>
            <a:ext cx="942110" cy="341114"/>
          </a:xfrm>
          <a:prstGeom prst="rect">
            <a:avLst/>
          </a:prstGeom>
          <a:noFill/>
          <a:ln>
            <a:noFill/>
          </a:ln>
        </p:spPr>
        <p:txBody>
          <a:bodyPr anchorCtr="0" anchor="ctr" bIns="85075"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Technique</a:t>
            </a:r>
            <a:endParaRPr b="0" i="0" sz="784" u="none" cap="none" strike="noStrike">
              <a:solidFill>
                <a:schemeClr val="dk1"/>
              </a:solidFill>
              <a:latin typeface="Calibri"/>
              <a:ea typeface="Calibri"/>
              <a:cs typeface="Calibri"/>
              <a:sym typeface="Calibri"/>
            </a:endParaRPr>
          </a:p>
        </p:txBody>
      </p:sp>
      <p:sp>
        <p:nvSpPr>
          <p:cNvPr id="139" name="Google Shape;139;p6"/>
          <p:cNvSpPr/>
          <p:nvPr/>
        </p:nvSpPr>
        <p:spPr>
          <a:xfrm>
            <a:off x="5171210" y="2451646"/>
            <a:ext cx="3544165" cy="341114"/>
          </a:xfrm>
          <a:prstGeom prst="rect">
            <a:avLst/>
          </a:prstGeom>
          <a:noFill/>
          <a:ln>
            <a:noFill/>
          </a:ln>
        </p:spPr>
        <p:txBody>
          <a:bodyPr anchorCtr="0" anchor="ctr" bIns="85075" lIns="0" spcFirstLastPara="1" rIns="0" wrap="square" tIns="12750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Action &amp; Insight</a:t>
            </a:r>
            <a:endParaRPr b="0" i="0" sz="784" u="none" cap="none" strike="noStrike">
              <a:solidFill>
                <a:schemeClr val="dk1"/>
              </a:solidFill>
              <a:latin typeface="Calibri"/>
              <a:ea typeface="Calibri"/>
              <a:cs typeface="Calibri"/>
              <a:sym typeface="Calibri"/>
            </a:endParaRPr>
          </a:p>
        </p:txBody>
      </p:sp>
      <p:sp>
        <p:nvSpPr>
          <p:cNvPr id="140" name="Google Shape;140;p6"/>
          <p:cNvSpPr/>
          <p:nvPr/>
        </p:nvSpPr>
        <p:spPr>
          <a:xfrm>
            <a:off x="4229100" y="2907060"/>
            <a:ext cx="501179" cy="292894"/>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FD7E14"/>
              </a:buClr>
              <a:buSzPts val="734"/>
              <a:buFont typeface="Calibri"/>
              <a:buNone/>
            </a:pPr>
            <a:r>
              <a:rPr b="1" i="0" lang="en-US" sz="734" u="none" cap="none" strike="noStrike">
                <a:solidFill>
                  <a:srgbClr val="FD7E14"/>
                </a:solidFill>
                <a:latin typeface="Calibri"/>
                <a:ea typeface="Calibri"/>
                <a:cs typeface="Calibri"/>
                <a:sym typeface="Calibri"/>
              </a:rPr>
              <a:t>Temporal Features</a:t>
            </a:r>
            <a:endParaRPr b="0" i="0" sz="734" u="none" cap="none" strike="noStrike">
              <a:solidFill>
                <a:schemeClr val="dk1"/>
              </a:solidFill>
              <a:latin typeface="Calibri"/>
              <a:ea typeface="Calibri"/>
              <a:cs typeface="Calibri"/>
              <a:sym typeface="Calibri"/>
            </a:endParaRPr>
          </a:p>
        </p:txBody>
      </p:sp>
      <p:sp>
        <p:nvSpPr>
          <p:cNvPr id="141" name="Google Shape;141;p6"/>
          <p:cNvSpPr/>
          <p:nvPr/>
        </p:nvSpPr>
        <p:spPr>
          <a:xfrm>
            <a:off x="5171210" y="2907060"/>
            <a:ext cx="1886062" cy="146447"/>
          </a:xfrm>
          <a:prstGeom prst="rect">
            <a:avLst/>
          </a:prstGeom>
          <a:noFill/>
          <a:ln>
            <a:noFill/>
          </a:ln>
        </p:spPr>
        <p:txBody>
          <a:bodyPr anchorCtr="0" anchor="t" bIns="0" lIns="0" spcFirstLastPara="1" rIns="0" wrap="square" tIns="0">
            <a:spAutoFit/>
          </a:bodyPr>
          <a:lstStyle/>
          <a:p>
            <a:pPr indent="0" lvl="0" marL="0" marR="0" rtl="0" algn="l">
              <a:lnSpc>
                <a:spcPct val="128205"/>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Converting manufacturing years into</a:t>
            </a:r>
            <a:endParaRPr b="0" i="0" sz="780" u="none" cap="none" strike="noStrike">
              <a:solidFill>
                <a:schemeClr val="dk1"/>
              </a:solidFill>
              <a:latin typeface="Calibri"/>
              <a:ea typeface="Calibri"/>
              <a:cs typeface="Calibri"/>
              <a:sym typeface="Calibri"/>
            </a:endParaRPr>
          </a:p>
        </p:txBody>
      </p:sp>
      <p:sp>
        <p:nvSpPr>
          <p:cNvPr id="142" name="Google Shape;142;p6"/>
          <p:cNvSpPr/>
          <p:nvPr/>
        </p:nvSpPr>
        <p:spPr>
          <a:xfrm>
            <a:off x="7057272" y="2907060"/>
            <a:ext cx="430774"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495057"/>
              </a:buClr>
              <a:buSzPts val="734"/>
              <a:buFont typeface="Calibri"/>
              <a:buNone/>
            </a:pPr>
            <a:r>
              <a:rPr b="1" i="0" lang="en-US" sz="734" u="none" cap="none" strike="noStrike">
                <a:solidFill>
                  <a:srgbClr val="495057"/>
                </a:solidFill>
                <a:latin typeface="Calibri"/>
                <a:ea typeface="Calibri"/>
                <a:cs typeface="Calibri"/>
                <a:sym typeface="Calibri"/>
              </a:rPr>
              <a:t>Car_Age</a:t>
            </a:r>
            <a:endParaRPr b="0" i="0" sz="734" u="none" cap="none" strike="noStrike">
              <a:solidFill>
                <a:schemeClr val="dk1"/>
              </a:solidFill>
              <a:latin typeface="Calibri"/>
              <a:ea typeface="Calibri"/>
              <a:cs typeface="Calibri"/>
              <a:sym typeface="Calibri"/>
            </a:endParaRPr>
          </a:p>
        </p:txBody>
      </p:sp>
      <p:sp>
        <p:nvSpPr>
          <p:cNvPr id="143" name="Google Shape;143;p6"/>
          <p:cNvSpPr/>
          <p:nvPr/>
        </p:nvSpPr>
        <p:spPr>
          <a:xfrm>
            <a:off x="4229100" y="3494633"/>
            <a:ext cx="802723"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FD7E14"/>
              </a:buClr>
              <a:buSzPts val="734"/>
              <a:buFont typeface="Calibri"/>
              <a:buNone/>
            </a:pPr>
            <a:r>
              <a:rPr b="1" i="0" lang="en-US" sz="734" u="none" cap="none" strike="noStrike">
                <a:solidFill>
                  <a:srgbClr val="FD7E14"/>
                </a:solidFill>
                <a:latin typeface="Calibri"/>
                <a:ea typeface="Calibri"/>
                <a:cs typeface="Calibri"/>
                <a:sym typeface="Calibri"/>
              </a:rPr>
              <a:t>Text Extraction</a:t>
            </a:r>
            <a:endParaRPr b="0" i="0" sz="734" u="none" cap="none" strike="noStrike">
              <a:solidFill>
                <a:schemeClr val="dk1"/>
              </a:solidFill>
              <a:latin typeface="Calibri"/>
              <a:ea typeface="Calibri"/>
              <a:cs typeface="Calibri"/>
              <a:sym typeface="Calibri"/>
            </a:endParaRPr>
          </a:p>
        </p:txBody>
      </p:sp>
      <p:sp>
        <p:nvSpPr>
          <p:cNvPr id="144" name="Google Shape;144;p6"/>
          <p:cNvSpPr/>
          <p:nvPr/>
        </p:nvSpPr>
        <p:spPr>
          <a:xfrm>
            <a:off x="5171210" y="3421410"/>
            <a:ext cx="1597940" cy="146447"/>
          </a:xfrm>
          <a:prstGeom prst="rect">
            <a:avLst/>
          </a:prstGeom>
          <a:noFill/>
          <a:ln>
            <a:noFill/>
          </a:ln>
        </p:spPr>
        <p:txBody>
          <a:bodyPr anchorCtr="0" anchor="t" bIns="0" lIns="0" spcFirstLastPara="1" rIns="0" wrap="square" tIns="0">
            <a:spAutoFit/>
          </a:bodyPr>
          <a:lstStyle/>
          <a:p>
            <a:pPr indent="0" lvl="0" marL="0" marR="0" rtl="0" algn="l">
              <a:lnSpc>
                <a:spcPct val="128205"/>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Splitting the Name column into</a:t>
            </a:r>
            <a:endParaRPr b="0" i="0" sz="780" u="none" cap="none" strike="noStrike">
              <a:solidFill>
                <a:schemeClr val="dk1"/>
              </a:solidFill>
              <a:latin typeface="Calibri"/>
              <a:ea typeface="Calibri"/>
              <a:cs typeface="Calibri"/>
              <a:sym typeface="Calibri"/>
            </a:endParaRPr>
          </a:p>
        </p:txBody>
      </p:sp>
      <p:sp>
        <p:nvSpPr>
          <p:cNvPr id="145" name="Google Shape;145;p6"/>
          <p:cNvSpPr/>
          <p:nvPr/>
        </p:nvSpPr>
        <p:spPr>
          <a:xfrm>
            <a:off x="6769150" y="3421410"/>
            <a:ext cx="321469"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495057"/>
              </a:buClr>
              <a:buSzPts val="734"/>
              <a:buFont typeface="Calibri"/>
              <a:buNone/>
            </a:pPr>
            <a:r>
              <a:rPr b="1" i="0" lang="en-US" sz="734" u="none" cap="none" strike="noStrike">
                <a:solidFill>
                  <a:srgbClr val="495057"/>
                </a:solidFill>
                <a:latin typeface="Calibri"/>
                <a:ea typeface="Calibri"/>
                <a:cs typeface="Calibri"/>
                <a:sym typeface="Calibri"/>
              </a:rPr>
              <a:t>Brand</a:t>
            </a:r>
            <a:endParaRPr b="0" i="0" sz="734" u="none" cap="none" strike="noStrike">
              <a:solidFill>
                <a:schemeClr val="dk1"/>
              </a:solidFill>
              <a:latin typeface="Calibri"/>
              <a:ea typeface="Calibri"/>
              <a:cs typeface="Calibri"/>
              <a:sym typeface="Calibri"/>
            </a:endParaRPr>
          </a:p>
        </p:txBody>
      </p:sp>
      <p:sp>
        <p:nvSpPr>
          <p:cNvPr id="146" name="Google Shape;146;p6"/>
          <p:cNvSpPr/>
          <p:nvPr/>
        </p:nvSpPr>
        <p:spPr>
          <a:xfrm>
            <a:off x="7090618" y="3421410"/>
            <a:ext cx="247966" cy="146447"/>
          </a:xfrm>
          <a:prstGeom prst="rect">
            <a:avLst/>
          </a:prstGeom>
          <a:noFill/>
          <a:ln>
            <a:noFill/>
          </a:ln>
        </p:spPr>
        <p:txBody>
          <a:bodyPr anchorCtr="0" anchor="t" bIns="0" lIns="0" spcFirstLastPara="1" rIns="0" wrap="square" tIns="0">
            <a:spAutoFit/>
          </a:bodyPr>
          <a:lstStyle/>
          <a:p>
            <a:pPr indent="0" lvl="0" marL="0" marR="0" rtl="0" algn="l">
              <a:lnSpc>
                <a:spcPct val="128205"/>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and</a:t>
            </a:r>
            <a:endParaRPr b="0" i="0" sz="780" u="none" cap="none" strike="noStrike">
              <a:solidFill>
                <a:schemeClr val="dk1"/>
              </a:solidFill>
              <a:latin typeface="Calibri"/>
              <a:ea typeface="Calibri"/>
              <a:cs typeface="Calibri"/>
              <a:sym typeface="Calibri"/>
            </a:endParaRPr>
          </a:p>
        </p:txBody>
      </p:sp>
      <p:sp>
        <p:nvSpPr>
          <p:cNvPr id="147" name="Google Shape;147;p6"/>
          <p:cNvSpPr/>
          <p:nvPr/>
        </p:nvSpPr>
        <p:spPr>
          <a:xfrm>
            <a:off x="7338585" y="3421410"/>
            <a:ext cx="331236"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495057"/>
              </a:buClr>
              <a:buSzPts val="734"/>
              <a:buFont typeface="Calibri"/>
              <a:buNone/>
            </a:pPr>
            <a:r>
              <a:rPr b="1" i="0" lang="en-US" sz="734" u="none" cap="none" strike="noStrike">
                <a:solidFill>
                  <a:srgbClr val="495057"/>
                </a:solidFill>
                <a:latin typeface="Calibri"/>
                <a:ea typeface="Calibri"/>
                <a:cs typeface="Calibri"/>
                <a:sym typeface="Calibri"/>
              </a:rPr>
              <a:t>Model</a:t>
            </a:r>
            <a:endParaRPr b="0" i="0" sz="734" u="none" cap="none" strike="noStrike">
              <a:solidFill>
                <a:schemeClr val="dk1"/>
              </a:solidFill>
              <a:latin typeface="Calibri"/>
              <a:ea typeface="Calibri"/>
              <a:cs typeface="Calibri"/>
              <a:sym typeface="Calibri"/>
            </a:endParaRPr>
          </a:p>
        </p:txBody>
      </p:sp>
      <p:sp>
        <p:nvSpPr>
          <p:cNvPr id="148" name="Google Shape;148;p6"/>
          <p:cNvSpPr/>
          <p:nvPr/>
        </p:nvSpPr>
        <p:spPr>
          <a:xfrm>
            <a:off x="4229100" y="4008983"/>
            <a:ext cx="826415"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FD7E14"/>
              </a:buClr>
              <a:buSzPts val="734"/>
              <a:buFont typeface="Calibri"/>
              <a:buNone/>
            </a:pPr>
            <a:r>
              <a:rPr b="1" i="0" lang="en-US" sz="734" u="none" cap="none" strike="noStrike">
                <a:solidFill>
                  <a:srgbClr val="FD7E14"/>
                </a:solidFill>
                <a:latin typeface="Calibri"/>
                <a:ea typeface="Calibri"/>
                <a:cs typeface="Calibri"/>
                <a:sym typeface="Calibri"/>
              </a:rPr>
              <a:t>Data Reduction</a:t>
            </a:r>
            <a:endParaRPr b="0" i="0" sz="734" u="none" cap="none" strike="noStrike">
              <a:solidFill>
                <a:schemeClr val="dk1"/>
              </a:solidFill>
              <a:latin typeface="Calibri"/>
              <a:ea typeface="Calibri"/>
              <a:cs typeface="Calibri"/>
              <a:sym typeface="Calibri"/>
            </a:endParaRPr>
          </a:p>
        </p:txBody>
      </p:sp>
      <p:sp>
        <p:nvSpPr>
          <p:cNvPr id="149" name="Google Shape;149;p6"/>
          <p:cNvSpPr/>
          <p:nvPr/>
        </p:nvSpPr>
        <p:spPr>
          <a:xfrm>
            <a:off x="5171210" y="3935760"/>
            <a:ext cx="2002120" cy="146447"/>
          </a:xfrm>
          <a:prstGeom prst="rect">
            <a:avLst/>
          </a:prstGeom>
          <a:noFill/>
          <a:ln>
            <a:noFill/>
          </a:ln>
        </p:spPr>
        <p:txBody>
          <a:bodyPr anchorCtr="0" anchor="t" bIns="0" lIns="0" spcFirstLastPara="1" rIns="0" wrap="square" tIns="0">
            <a:spAutoFit/>
          </a:bodyPr>
          <a:lstStyle/>
          <a:p>
            <a:pPr indent="0" lvl="0" marL="0" marR="0" rtl="0" algn="l">
              <a:lnSpc>
                <a:spcPct val="128205"/>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Dropping non-informative columns like</a:t>
            </a:r>
            <a:endParaRPr b="0" i="0" sz="780" u="none" cap="none" strike="noStrike">
              <a:solidFill>
                <a:schemeClr val="dk1"/>
              </a:solidFill>
              <a:latin typeface="Calibri"/>
              <a:ea typeface="Calibri"/>
              <a:cs typeface="Calibri"/>
              <a:sym typeface="Calibri"/>
            </a:endParaRPr>
          </a:p>
        </p:txBody>
      </p:sp>
      <p:sp>
        <p:nvSpPr>
          <p:cNvPr id="150" name="Google Shape;150;p6"/>
          <p:cNvSpPr/>
          <p:nvPr/>
        </p:nvSpPr>
        <p:spPr>
          <a:xfrm>
            <a:off x="7173330" y="3935760"/>
            <a:ext cx="243055" cy="146447"/>
          </a:xfrm>
          <a:prstGeom prst="rect">
            <a:avLst/>
          </a:prstGeom>
          <a:noFill/>
          <a:ln>
            <a:noFill/>
          </a:ln>
        </p:spPr>
        <p:txBody>
          <a:bodyPr anchorCtr="0" anchor="t" bIns="0" lIns="0" spcFirstLastPara="1" rIns="0" wrap="square" tIns="0">
            <a:spAutoFit/>
          </a:bodyPr>
          <a:lstStyle/>
          <a:p>
            <a:pPr indent="0" lvl="0" marL="0" marR="0" rtl="0" algn="l">
              <a:lnSpc>
                <a:spcPct val="136239"/>
              </a:lnSpc>
              <a:spcBef>
                <a:spcPts val="0"/>
              </a:spcBef>
              <a:spcAft>
                <a:spcPts val="0"/>
              </a:spcAft>
              <a:buClr>
                <a:srgbClr val="495057"/>
              </a:buClr>
              <a:buSzPts val="734"/>
              <a:buFont typeface="Calibri"/>
              <a:buNone/>
            </a:pPr>
            <a:r>
              <a:rPr b="1" i="0" lang="en-US" sz="734" u="none" cap="none" strike="noStrike">
                <a:solidFill>
                  <a:srgbClr val="495057"/>
                </a:solidFill>
                <a:latin typeface="Calibri"/>
                <a:ea typeface="Calibri"/>
                <a:cs typeface="Calibri"/>
                <a:sym typeface="Calibri"/>
              </a:rPr>
              <a:t>S.No</a:t>
            </a:r>
            <a:endParaRPr b="0" i="0" sz="734" u="none" cap="none" strike="noStrike">
              <a:solidFill>
                <a:schemeClr val="dk1"/>
              </a:solidFill>
              <a:latin typeface="Calibri"/>
              <a:ea typeface="Calibri"/>
              <a:cs typeface="Calibri"/>
              <a:sym typeface="Calibri"/>
            </a:endParaRPr>
          </a:p>
        </p:txBody>
      </p:sp>
      <p:sp>
        <p:nvSpPr>
          <p:cNvPr id="151" name="Google Shape;151;p6"/>
          <p:cNvSpPr/>
          <p:nvPr/>
        </p:nvSpPr>
        <p:spPr>
          <a:xfrm>
            <a:off x="4229100" y="4700141"/>
            <a:ext cx="4486275" cy="414338"/>
          </a:xfrm>
          <a:prstGeom prst="rect">
            <a:avLst/>
          </a:prstGeom>
          <a:noFill/>
          <a:ln>
            <a:noFill/>
          </a:ln>
        </p:spPr>
        <p:txBody>
          <a:bodyPr anchorCtr="0" anchor="t" bIns="0" lIns="0" spcFirstLastPara="1" rIns="0" wrap="square" tIns="170050">
            <a:spAutoFit/>
          </a:bodyPr>
          <a:lstStyle/>
          <a:p>
            <a:pPr indent="0" lvl="0" marL="0" marR="0" rtl="0" algn="l">
              <a:lnSpc>
                <a:spcPct val="123796"/>
              </a:lnSpc>
              <a:spcBef>
                <a:spcPts val="0"/>
              </a:spcBef>
              <a:spcAft>
                <a:spcPts val="0"/>
              </a:spcAft>
              <a:buClr>
                <a:srgbClr val="495057"/>
              </a:buClr>
              <a:buSzPts val="727"/>
              <a:buFont typeface="Calibri"/>
              <a:buNone/>
            </a:pPr>
            <a:r>
              <a:rPr b="0" i="1" lang="en-US" sz="727" u="none" cap="none" strike="noStrike">
                <a:solidFill>
                  <a:srgbClr val="495057"/>
                </a:solidFill>
                <a:latin typeface="Calibri"/>
                <a:ea typeface="Calibri"/>
                <a:cs typeface="Calibri"/>
                <a:sym typeface="Calibri"/>
              </a:rPr>
              <a:t>"The goal of feature engineering is to create meaningful data that captures the underlying patterns of the business problem."</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preencoded.png" id="157" name="Google Shape;157;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8" name="Google Shape;158;p7"/>
          <p:cNvSpPr/>
          <p:nvPr/>
        </p:nvSpPr>
        <p:spPr>
          <a:xfrm>
            <a:off x="0" y="0"/>
            <a:ext cx="36576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36504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28625" y="714375"/>
            <a:ext cx="571500" cy="571500"/>
          </a:xfrm>
          <a:prstGeom prst="ellipse">
            <a:avLst/>
          </a:prstGeom>
          <a:solidFill>
            <a:srgbClr val="FD7E1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7"/>
          <p:cNvPicPr preferRelativeResize="0"/>
          <p:nvPr/>
        </p:nvPicPr>
        <p:blipFill rotWithShape="1">
          <a:blip r:embed="rId4">
            <a:alphaModFix/>
          </a:blip>
          <a:srcRect b="0" l="0" r="0" t="0"/>
          <a:stretch/>
        </p:blipFill>
        <p:spPr>
          <a:xfrm>
            <a:off x="628650" y="885825"/>
            <a:ext cx="171450" cy="228600"/>
          </a:xfrm>
          <a:prstGeom prst="rect">
            <a:avLst/>
          </a:prstGeom>
          <a:noFill/>
          <a:ln>
            <a:noFill/>
          </a:ln>
        </p:spPr>
      </p:pic>
      <p:sp>
        <p:nvSpPr>
          <p:cNvPr id="162" name="Google Shape;162;p7"/>
          <p:cNvSpPr/>
          <p:nvPr/>
        </p:nvSpPr>
        <p:spPr>
          <a:xfrm>
            <a:off x="428625" y="1428750"/>
            <a:ext cx="29432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0000"/>
              </a:buClr>
              <a:buSzPts val="1193"/>
              <a:buFont typeface="Calibri"/>
              <a:buNone/>
            </a:pPr>
            <a:r>
              <a:rPr b="1" i="0" lang="en-US" sz="1193" u="none" cap="none" strike="noStrike">
                <a:solidFill>
                  <a:srgbClr val="000000"/>
                </a:solidFill>
                <a:latin typeface="Calibri"/>
                <a:ea typeface="Calibri"/>
                <a:cs typeface="Calibri"/>
                <a:sym typeface="Calibri"/>
              </a:rPr>
              <a:t>Statistical Flags</a:t>
            </a:r>
            <a:endParaRPr b="0" i="0" sz="1193" u="none" cap="none" strike="noStrike">
              <a:solidFill>
                <a:schemeClr val="dk1"/>
              </a:solidFill>
              <a:latin typeface="Calibri"/>
              <a:ea typeface="Calibri"/>
              <a:cs typeface="Calibri"/>
              <a:sym typeface="Calibri"/>
            </a:endParaRPr>
          </a:p>
        </p:txBody>
      </p:sp>
      <p:sp>
        <p:nvSpPr>
          <p:cNvPr id="163" name="Google Shape;163;p7"/>
          <p:cNvSpPr/>
          <p:nvPr/>
        </p:nvSpPr>
        <p:spPr>
          <a:xfrm>
            <a:off x="428625" y="1948458"/>
            <a:ext cx="978526"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Feature</a:t>
            </a:r>
            <a:endParaRPr b="0" i="0" sz="683" u="none" cap="none" strike="noStrike">
              <a:solidFill>
                <a:schemeClr val="dk1"/>
              </a:solidFill>
              <a:latin typeface="Calibri"/>
              <a:ea typeface="Calibri"/>
              <a:cs typeface="Calibri"/>
              <a:sym typeface="Calibri"/>
            </a:endParaRPr>
          </a:p>
        </p:txBody>
      </p:sp>
      <p:sp>
        <p:nvSpPr>
          <p:cNvPr id="164" name="Google Shape;164;p7"/>
          <p:cNvSpPr/>
          <p:nvPr/>
        </p:nvSpPr>
        <p:spPr>
          <a:xfrm>
            <a:off x="1407151" y="1948458"/>
            <a:ext cx="1964699"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Observation</a:t>
            </a:r>
            <a:endParaRPr b="0" i="0" sz="683" u="none" cap="none" strike="noStrike">
              <a:solidFill>
                <a:schemeClr val="dk1"/>
              </a:solidFill>
              <a:latin typeface="Calibri"/>
              <a:ea typeface="Calibri"/>
              <a:cs typeface="Calibri"/>
              <a:sym typeface="Calibri"/>
            </a:endParaRPr>
          </a:p>
        </p:txBody>
      </p:sp>
      <p:sp>
        <p:nvSpPr>
          <p:cNvPr id="165" name="Google Shape;165;p7"/>
          <p:cNvSpPr/>
          <p:nvPr/>
        </p:nvSpPr>
        <p:spPr>
          <a:xfrm>
            <a:off x="428625" y="2362795"/>
            <a:ext cx="518368"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KM Driven</a:t>
            </a:r>
            <a:endParaRPr b="0" i="0" sz="683" u="none" cap="none" strike="noStrike">
              <a:solidFill>
                <a:schemeClr val="dk1"/>
              </a:solidFill>
              <a:latin typeface="Calibri"/>
              <a:ea typeface="Calibri"/>
              <a:cs typeface="Calibri"/>
              <a:sym typeface="Calibri"/>
            </a:endParaRPr>
          </a:p>
        </p:txBody>
      </p:sp>
      <p:sp>
        <p:nvSpPr>
          <p:cNvPr id="166" name="Google Shape;166;p7"/>
          <p:cNvSpPr/>
          <p:nvPr/>
        </p:nvSpPr>
        <p:spPr>
          <a:xfrm>
            <a:off x="1407151" y="2269927"/>
            <a:ext cx="1964699" cy="317897"/>
          </a:xfrm>
          <a:prstGeom prst="rect">
            <a:avLst/>
          </a:prstGeom>
          <a:noFill/>
          <a:ln>
            <a:noFill/>
          </a:ln>
        </p:spPr>
        <p:txBody>
          <a:bodyPr anchorCtr="0" anchor="ctr" bIns="102100" lIns="0" spcFirstLastPara="1" rIns="0" wrap="square" tIns="1021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Max 650k KM (Outlier)</a:t>
            </a:r>
            <a:endParaRPr b="0" i="0" sz="727" u="none" cap="none" strike="noStrike">
              <a:solidFill>
                <a:schemeClr val="dk1"/>
              </a:solidFill>
              <a:latin typeface="Calibri"/>
              <a:ea typeface="Calibri"/>
              <a:cs typeface="Calibri"/>
              <a:sym typeface="Calibri"/>
            </a:endParaRPr>
          </a:p>
        </p:txBody>
      </p:sp>
      <p:sp>
        <p:nvSpPr>
          <p:cNvPr id="167" name="Google Shape;167;p7"/>
          <p:cNvSpPr/>
          <p:nvPr/>
        </p:nvSpPr>
        <p:spPr>
          <a:xfrm>
            <a:off x="428625" y="2677120"/>
            <a:ext cx="397259"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Mileage</a:t>
            </a:r>
            <a:endParaRPr b="0" i="0" sz="683" u="none" cap="none" strike="noStrike">
              <a:solidFill>
                <a:schemeClr val="dk1"/>
              </a:solidFill>
              <a:latin typeface="Calibri"/>
              <a:ea typeface="Calibri"/>
              <a:cs typeface="Calibri"/>
              <a:sym typeface="Calibri"/>
            </a:endParaRPr>
          </a:p>
        </p:txBody>
      </p:sp>
      <p:sp>
        <p:nvSpPr>
          <p:cNvPr id="168" name="Google Shape;168;p7"/>
          <p:cNvSpPr/>
          <p:nvPr/>
        </p:nvSpPr>
        <p:spPr>
          <a:xfrm>
            <a:off x="1407151" y="2587823"/>
            <a:ext cx="1964699" cy="314325"/>
          </a:xfrm>
          <a:prstGeom prst="rect">
            <a:avLst/>
          </a:prstGeom>
          <a:noFill/>
          <a:ln>
            <a:noFill/>
          </a:ln>
        </p:spPr>
        <p:txBody>
          <a:bodyPr anchorCtr="0" anchor="ctr" bIns="102100" lIns="0" spcFirstLastPara="1" rIns="0" wrap="square" tIns="1021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Min 0 (Entry Error)</a:t>
            </a:r>
            <a:endParaRPr b="0" i="0" sz="727" u="none" cap="none" strike="noStrike">
              <a:solidFill>
                <a:schemeClr val="dk1"/>
              </a:solidFill>
              <a:latin typeface="Calibri"/>
              <a:ea typeface="Calibri"/>
              <a:cs typeface="Calibri"/>
              <a:sym typeface="Calibri"/>
            </a:endParaRPr>
          </a:p>
        </p:txBody>
      </p:sp>
      <p:sp>
        <p:nvSpPr>
          <p:cNvPr id="169" name="Google Shape;169;p7"/>
          <p:cNvSpPr/>
          <p:nvPr/>
        </p:nvSpPr>
        <p:spPr>
          <a:xfrm>
            <a:off x="428625" y="2991445"/>
            <a:ext cx="34036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Engine</a:t>
            </a:r>
            <a:endParaRPr b="0" i="0" sz="683" u="none" cap="none" strike="noStrike">
              <a:solidFill>
                <a:schemeClr val="dk1"/>
              </a:solidFill>
              <a:latin typeface="Calibri"/>
              <a:ea typeface="Calibri"/>
              <a:cs typeface="Calibri"/>
              <a:sym typeface="Calibri"/>
            </a:endParaRPr>
          </a:p>
        </p:txBody>
      </p:sp>
      <p:sp>
        <p:nvSpPr>
          <p:cNvPr id="170" name="Google Shape;170;p7"/>
          <p:cNvSpPr/>
          <p:nvPr/>
        </p:nvSpPr>
        <p:spPr>
          <a:xfrm>
            <a:off x="1407151" y="2902148"/>
            <a:ext cx="1964699" cy="314325"/>
          </a:xfrm>
          <a:prstGeom prst="rect">
            <a:avLst/>
          </a:prstGeom>
          <a:noFill/>
          <a:ln>
            <a:noFill/>
          </a:ln>
        </p:spPr>
        <p:txBody>
          <a:bodyPr anchorCtr="0" anchor="ctr" bIns="102100" lIns="0" spcFirstLastPara="1" rIns="0" wrap="square" tIns="1021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Right-skewed data</a:t>
            </a:r>
            <a:endParaRPr b="0" i="0" sz="727" u="none" cap="none" strike="noStrike">
              <a:solidFill>
                <a:schemeClr val="dk1"/>
              </a:solidFill>
              <a:latin typeface="Calibri"/>
              <a:ea typeface="Calibri"/>
              <a:cs typeface="Calibri"/>
              <a:sym typeface="Calibri"/>
            </a:endParaRPr>
          </a:p>
        </p:txBody>
      </p:sp>
      <p:sp>
        <p:nvSpPr>
          <p:cNvPr id="171" name="Google Shape;171;p7"/>
          <p:cNvSpPr/>
          <p:nvPr/>
        </p:nvSpPr>
        <p:spPr>
          <a:xfrm>
            <a:off x="428625" y="3305770"/>
            <a:ext cx="249250"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Price</a:t>
            </a:r>
            <a:endParaRPr b="0" i="0" sz="683" u="none" cap="none" strike="noStrike">
              <a:solidFill>
                <a:schemeClr val="dk1"/>
              </a:solidFill>
              <a:latin typeface="Calibri"/>
              <a:ea typeface="Calibri"/>
              <a:cs typeface="Calibri"/>
              <a:sym typeface="Calibri"/>
            </a:endParaRPr>
          </a:p>
        </p:txBody>
      </p:sp>
      <p:sp>
        <p:nvSpPr>
          <p:cNvPr id="172" name="Google Shape;172;p7"/>
          <p:cNvSpPr/>
          <p:nvPr/>
        </p:nvSpPr>
        <p:spPr>
          <a:xfrm>
            <a:off x="1407151" y="3216473"/>
            <a:ext cx="1964699" cy="314325"/>
          </a:xfrm>
          <a:prstGeom prst="rect">
            <a:avLst/>
          </a:prstGeom>
          <a:noFill/>
          <a:ln>
            <a:noFill/>
          </a:ln>
        </p:spPr>
        <p:txBody>
          <a:bodyPr anchorCtr="0" anchor="ctr" bIns="102100" lIns="0" spcFirstLastPara="1" rIns="0" wrap="square" tIns="1021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Max 160k (Outlier)</a:t>
            </a:r>
            <a:endParaRPr b="0" i="0" sz="727" u="none" cap="none" strike="noStrike">
              <a:solidFill>
                <a:schemeClr val="dk1"/>
              </a:solidFill>
              <a:latin typeface="Calibri"/>
              <a:ea typeface="Calibri"/>
              <a:cs typeface="Calibri"/>
              <a:sym typeface="Calibri"/>
            </a:endParaRPr>
          </a:p>
        </p:txBody>
      </p:sp>
      <p:sp>
        <p:nvSpPr>
          <p:cNvPr id="173" name="Google Shape;173;p7"/>
          <p:cNvSpPr/>
          <p:nvPr/>
        </p:nvSpPr>
        <p:spPr>
          <a:xfrm>
            <a:off x="428625" y="3534370"/>
            <a:ext cx="2943225" cy="485775"/>
          </a:xfrm>
          <a:prstGeom prst="rect">
            <a:avLst/>
          </a:prstGeom>
          <a:noFill/>
          <a:ln>
            <a:noFill/>
          </a:ln>
        </p:spPr>
        <p:txBody>
          <a:bodyPr anchorCtr="0" anchor="t" bIns="0" lIns="0" spcFirstLastPara="1" rIns="0" wrap="square" tIns="255125">
            <a:spAutoFit/>
          </a:bodyPr>
          <a:lstStyle/>
          <a:p>
            <a:pPr indent="0" lvl="0" marL="0" marR="0" rtl="0" algn="l">
              <a:lnSpc>
                <a:spcPct val="123796"/>
              </a:lnSpc>
              <a:spcBef>
                <a:spcPts val="0"/>
              </a:spcBef>
              <a:spcAft>
                <a:spcPts val="0"/>
              </a:spcAft>
              <a:buClr>
                <a:srgbClr val="495057"/>
              </a:buClr>
              <a:buSzPts val="727"/>
              <a:buFont typeface="Calibri"/>
              <a:buNone/>
            </a:pPr>
            <a:r>
              <a:rPr b="0" i="1" lang="en-US" sz="727" u="none" cap="none" strike="noStrike">
                <a:solidFill>
                  <a:srgbClr val="495057"/>
                </a:solidFill>
                <a:latin typeface="Calibri"/>
                <a:ea typeface="Calibri"/>
                <a:cs typeface="Calibri"/>
                <a:sym typeface="Calibri"/>
              </a:rPr>
              <a:t>Using data.describe().T to transpose the summary for better readability of numerical features.</a:t>
            </a:r>
            <a:endParaRPr b="0" i="0" sz="727" u="none" cap="none" strike="noStrike">
              <a:solidFill>
                <a:schemeClr val="dk1"/>
              </a:solidFill>
              <a:latin typeface="Calibri"/>
              <a:ea typeface="Calibri"/>
              <a:cs typeface="Calibri"/>
              <a:sym typeface="Calibri"/>
            </a:endParaRPr>
          </a:p>
        </p:txBody>
      </p:sp>
      <p:sp>
        <p:nvSpPr>
          <p:cNvPr id="174" name="Google Shape;174;p7"/>
          <p:cNvSpPr/>
          <p:nvPr/>
        </p:nvSpPr>
        <p:spPr>
          <a:xfrm>
            <a:off x="4229100" y="71437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Statistical Summaries Expose Outliers and Data Distribution</a:t>
            </a:r>
            <a:endParaRPr b="0" i="0" sz="1602" u="none" cap="none" strike="noStrike">
              <a:solidFill>
                <a:schemeClr val="dk1"/>
              </a:solidFill>
              <a:latin typeface="Calibri"/>
              <a:ea typeface="Calibri"/>
              <a:cs typeface="Calibri"/>
              <a:sym typeface="Calibri"/>
            </a:endParaRPr>
          </a:p>
        </p:txBody>
      </p:sp>
      <p:sp>
        <p:nvSpPr>
          <p:cNvPr id="175" name="Google Shape;175;p7"/>
          <p:cNvSpPr/>
          <p:nvPr/>
        </p:nvSpPr>
        <p:spPr>
          <a:xfrm>
            <a:off x="4421981" y="1548743"/>
            <a:ext cx="4293394"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Detecting Outliers</a:t>
            </a:r>
            <a:endParaRPr b="0" i="0" sz="885" u="none" cap="none" strike="noStrike">
              <a:solidFill>
                <a:schemeClr val="dk1"/>
              </a:solidFill>
              <a:latin typeface="Calibri"/>
              <a:ea typeface="Calibri"/>
              <a:cs typeface="Calibri"/>
              <a:sym typeface="Calibri"/>
            </a:endParaRPr>
          </a:p>
        </p:txBody>
      </p:sp>
      <p:sp>
        <p:nvSpPr>
          <p:cNvPr id="176" name="Google Shape;176;p7"/>
          <p:cNvSpPr/>
          <p:nvPr/>
        </p:nvSpPr>
        <p:spPr>
          <a:xfrm>
            <a:off x="4421981" y="1759483"/>
            <a:ext cx="4293394"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Extreme values in Kilometers Driven and Price indicate potential outliers that could disproportionately influence model performance.</a:t>
            </a:r>
            <a:endParaRPr b="0" i="0" sz="834" u="none" cap="none" strike="noStrike">
              <a:solidFill>
                <a:schemeClr val="dk1"/>
              </a:solidFill>
              <a:latin typeface="Calibri"/>
              <a:ea typeface="Calibri"/>
              <a:cs typeface="Calibri"/>
              <a:sym typeface="Calibri"/>
            </a:endParaRPr>
          </a:p>
        </p:txBody>
      </p:sp>
      <p:sp>
        <p:nvSpPr>
          <p:cNvPr id="177" name="Google Shape;177;p7"/>
          <p:cNvSpPr/>
          <p:nvPr/>
        </p:nvSpPr>
        <p:spPr>
          <a:xfrm>
            <a:off x="4421981" y="2280977"/>
            <a:ext cx="4293394"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Spotting Entry Errors</a:t>
            </a:r>
            <a:endParaRPr b="0" i="0" sz="885" u="none" cap="none" strike="noStrike">
              <a:solidFill>
                <a:schemeClr val="dk1"/>
              </a:solidFill>
              <a:latin typeface="Calibri"/>
              <a:ea typeface="Calibri"/>
              <a:cs typeface="Calibri"/>
              <a:sym typeface="Calibri"/>
            </a:endParaRPr>
          </a:p>
        </p:txBody>
      </p:sp>
      <p:sp>
        <p:nvSpPr>
          <p:cNvPr id="178" name="Google Shape;178;p7"/>
          <p:cNvSpPr/>
          <p:nvPr/>
        </p:nvSpPr>
        <p:spPr>
          <a:xfrm>
            <a:off x="4421981" y="2491718"/>
            <a:ext cx="4293394"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A minimum value of 0 for Mileage is a clear data entry issue, as functional vehicles cannot have zero fuel efficiency.</a:t>
            </a:r>
            <a:endParaRPr b="0" i="0" sz="834" u="none" cap="none" strike="noStrike">
              <a:solidFill>
                <a:schemeClr val="dk1"/>
              </a:solidFill>
              <a:latin typeface="Calibri"/>
              <a:ea typeface="Calibri"/>
              <a:cs typeface="Calibri"/>
              <a:sym typeface="Calibri"/>
            </a:endParaRPr>
          </a:p>
        </p:txBody>
      </p:sp>
      <p:sp>
        <p:nvSpPr>
          <p:cNvPr id="179" name="Google Shape;179;p7"/>
          <p:cNvSpPr/>
          <p:nvPr/>
        </p:nvSpPr>
        <p:spPr>
          <a:xfrm>
            <a:off x="4421981" y="3013211"/>
            <a:ext cx="4293394"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Skewness Analysis</a:t>
            </a:r>
            <a:endParaRPr b="0" i="0" sz="885" u="none" cap="none" strike="noStrike">
              <a:solidFill>
                <a:schemeClr val="dk1"/>
              </a:solidFill>
              <a:latin typeface="Calibri"/>
              <a:ea typeface="Calibri"/>
              <a:cs typeface="Calibri"/>
              <a:sym typeface="Calibri"/>
            </a:endParaRPr>
          </a:p>
        </p:txBody>
      </p:sp>
      <p:sp>
        <p:nvSpPr>
          <p:cNvPr id="180" name="Google Shape;180;p7"/>
          <p:cNvSpPr/>
          <p:nvPr/>
        </p:nvSpPr>
        <p:spPr>
          <a:xfrm>
            <a:off x="4421981" y="3223952"/>
            <a:ext cx="4293394"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Engine and Power variables show right-skewness, suggesting the need for normalization or log transformation in later steps.</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preencoded.png" id="186" name="Google Shape;186;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7" name="Google Shape;187;p8"/>
          <p:cNvSpPr/>
          <p:nvPr/>
        </p:nvSpPr>
        <p:spPr>
          <a:xfrm>
            <a:off x="5862" y="0"/>
            <a:ext cx="45720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45648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428625" y="571500"/>
            <a:ext cx="385762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Univariate Analysis: Numerical Variables</a:t>
            </a:r>
            <a:endParaRPr b="0" i="0" sz="1602" u="none" cap="none" strike="noStrike">
              <a:solidFill>
                <a:schemeClr val="dk1"/>
              </a:solidFill>
              <a:latin typeface="Calibri"/>
              <a:ea typeface="Calibri"/>
              <a:cs typeface="Calibri"/>
              <a:sym typeface="Calibri"/>
            </a:endParaRPr>
          </a:p>
        </p:txBody>
      </p:sp>
      <p:pic>
        <p:nvPicPr>
          <p:cNvPr descr="preencoded.png" id="190" name="Google Shape;190;p8"/>
          <p:cNvPicPr preferRelativeResize="0"/>
          <p:nvPr/>
        </p:nvPicPr>
        <p:blipFill rotWithShape="1">
          <a:blip r:embed="rId4">
            <a:alphaModFix/>
          </a:blip>
          <a:srcRect b="0" l="0" r="0" t="0"/>
          <a:stretch/>
        </p:blipFill>
        <p:spPr>
          <a:xfrm>
            <a:off x="428625" y="1357647"/>
            <a:ext cx="142875" cy="128588"/>
          </a:xfrm>
          <a:prstGeom prst="rect">
            <a:avLst/>
          </a:prstGeom>
          <a:noFill/>
          <a:ln>
            <a:noFill/>
          </a:ln>
        </p:spPr>
      </p:pic>
      <p:sp>
        <p:nvSpPr>
          <p:cNvPr id="191" name="Google Shape;191;p8"/>
          <p:cNvSpPr/>
          <p:nvPr/>
        </p:nvSpPr>
        <p:spPr>
          <a:xfrm>
            <a:off x="642938" y="1334430"/>
            <a:ext cx="189608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0C997"/>
              </a:buClr>
              <a:buSzPts val="885"/>
              <a:buFont typeface="Calibri"/>
              <a:buNone/>
            </a:pPr>
            <a:r>
              <a:rPr b="1" i="0" lang="en-US" sz="885" u="none" cap="none" strike="noStrike">
                <a:solidFill>
                  <a:srgbClr val="20C997"/>
                </a:solidFill>
                <a:latin typeface="Calibri"/>
                <a:ea typeface="Calibri"/>
                <a:cs typeface="Calibri"/>
                <a:sym typeface="Calibri"/>
              </a:rPr>
              <a:t>Distribution &amp; Spread</a:t>
            </a:r>
            <a:endParaRPr b="0" i="0" sz="885" u="none" cap="none" strike="noStrike">
              <a:solidFill>
                <a:schemeClr val="dk1"/>
              </a:solidFill>
              <a:latin typeface="Calibri"/>
              <a:ea typeface="Calibri"/>
              <a:cs typeface="Calibri"/>
              <a:sym typeface="Calibri"/>
            </a:endParaRPr>
          </a:p>
        </p:txBody>
      </p:sp>
      <p:sp>
        <p:nvSpPr>
          <p:cNvPr id="192" name="Google Shape;192;p8"/>
          <p:cNvSpPr/>
          <p:nvPr/>
        </p:nvSpPr>
        <p:spPr>
          <a:xfrm>
            <a:off x="428625" y="1652327"/>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193" name="Google Shape;193;p8"/>
          <p:cNvSpPr/>
          <p:nvPr/>
        </p:nvSpPr>
        <p:spPr>
          <a:xfrm>
            <a:off x="607219" y="1659471"/>
            <a:ext cx="692107"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Histograms:</a:t>
            </a:r>
            <a:endParaRPr b="0" i="0" sz="784" u="none" cap="none" strike="noStrike">
              <a:solidFill>
                <a:schemeClr val="dk1"/>
              </a:solidFill>
              <a:latin typeface="Calibri"/>
              <a:ea typeface="Calibri"/>
              <a:cs typeface="Calibri"/>
              <a:sym typeface="Calibri"/>
            </a:endParaRPr>
          </a:p>
        </p:txBody>
      </p:sp>
      <p:sp>
        <p:nvSpPr>
          <p:cNvPr id="194" name="Google Shape;194;p8"/>
          <p:cNvSpPr/>
          <p:nvPr/>
        </p:nvSpPr>
        <p:spPr>
          <a:xfrm>
            <a:off x="1193419" y="1682919"/>
            <a:ext cx="3281130"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Used to visualize the frequency distribution and identify skewness in variables like Price.</a:t>
            </a:r>
            <a:endParaRPr b="0" i="0" sz="834" u="none" cap="none" strike="noStrike">
              <a:solidFill>
                <a:schemeClr val="dk1"/>
              </a:solidFill>
              <a:latin typeface="Calibri"/>
              <a:ea typeface="Calibri"/>
              <a:cs typeface="Calibri"/>
              <a:sym typeface="Calibri"/>
            </a:endParaRPr>
          </a:p>
        </p:txBody>
      </p:sp>
      <p:sp>
        <p:nvSpPr>
          <p:cNvPr id="195" name="Google Shape;195;p8"/>
          <p:cNvSpPr/>
          <p:nvPr/>
        </p:nvSpPr>
        <p:spPr>
          <a:xfrm>
            <a:off x="428625" y="2102383"/>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196" name="Google Shape;196;p8"/>
          <p:cNvSpPr/>
          <p:nvPr/>
        </p:nvSpPr>
        <p:spPr>
          <a:xfrm>
            <a:off x="607219" y="2109527"/>
            <a:ext cx="557464"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Box Plots:</a:t>
            </a:r>
            <a:endParaRPr b="0" i="0" sz="784" u="none" cap="none" strike="noStrike">
              <a:solidFill>
                <a:schemeClr val="dk1"/>
              </a:solidFill>
              <a:latin typeface="Calibri"/>
              <a:ea typeface="Calibri"/>
              <a:cs typeface="Calibri"/>
              <a:sym typeface="Calibri"/>
            </a:endParaRPr>
          </a:p>
        </p:txBody>
      </p:sp>
      <p:sp>
        <p:nvSpPr>
          <p:cNvPr id="197" name="Google Shape;197;p8"/>
          <p:cNvSpPr/>
          <p:nvPr/>
        </p:nvSpPr>
        <p:spPr>
          <a:xfrm>
            <a:off x="1064455" y="2115389"/>
            <a:ext cx="3423419"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Essential for spotting outliers and understanding the quartiles of the data.</a:t>
            </a:r>
            <a:endParaRPr b="0" i="0" sz="834" u="none" cap="none" strike="noStrike">
              <a:solidFill>
                <a:schemeClr val="dk1"/>
              </a:solidFill>
              <a:latin typeface="Calibri"/>
              <a:ea typeface="Calibri"/>
              <a:cs typeface="Calibri"/>
              <a:sym typeface="Calibri"/>
            </a:endParaRPr>
          </a:p>
        </p:txBody>
      </p:sp>
      <p:sp>
        <p:nvSpPr>
          <p:cNvPr id="198" name="Google Shape;198;p8"/>
          <p:cNvSpPr/>
          <p:nvPr/>
        </p:nvSpPr>
        <p:spPr>
          <a:xfrm>
            <a:off x="428625" y="2552440"/>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199" name="Google Shape;199;p8"/>
          <p:cNvSpPr/>
          <p:nvPr/>
        </p:nvSpPr>
        <p:spPr>
          <a:xfrm>
            <a:off x="607219" y="2559583"/>
            <a:ext cx="695874"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Key Finding:</a:t>
            </a:r>
            <a:endParaRPr b="0" i="0" sz="784" u="none" cap="none" strike="noStrike">
              <a:solidFill>
                <a:schemeClr val="dk1"/>
              </a:solidFill>
              <a:latin typeface="Calibri"/>
              <a:ea typeface="Calibri"/>
              <a:cs typeface="Calibri"/>
              <a:sym typeface="Calibri"/>
            </a:endParaRPr>
          </a:p>
        </p:txBody>
      </p:sp>
      <p:sp>
        <p:nvSpPr>
          <p:cNvPr id="200" name="Google Shape;200;p8"/>
          <p:cNvSpPr/>
          <p:nvPr/>
        </p:nvSpPr>
        <p:spPr>
          <a:xfrm>
            <a:off x="1164109" y="2577169"/>
            <a:ext cx="3416694"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Price and Kilometers Driven are significantly right-skewed, requiring transformation.</a:t>
            </a:r>
            <a:endParaRPr b="0" i="0" sz="834" u="none" cap="none" strike="noStrike">
              <a:solidFill>
                <a:schemeClr val="dk1"/>
              </a:solidFill>
              <a:latin typeface="Calibri"/>
              <a:ea typeface="Calibri"/>
              <a:cs typeface="Calibri"/>
              <a:sym typeface="Calibri"/>
            </a:endParaRPr>
          </a:p>
        </p:txBody>
      </p:sp>
      <p:sp>
        <p:nvSpPr>
          <p:cNvPr id="201" name="Google Shape;201;p8"/>
          <p:cNvSpPr/>
          <p:nvPr/>
        </p:nvSpPr>
        <p:spPr>
          <a:xfrm>
            <a:off x="428625" y="3263243"/>
            <a:ext cx="787654" cy="173236"/>
          </a:xfrm>
          <a:prstGeom prst="rect">
            <a:avLst/>
          </a:prstGeom>
          <a:solidFill>
            <a:srgbClr val="2125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428625" y="3263243"/>
            <a:ext cx="787654" cy="173236"/>
          </a:xfrm>
          <a:prstGeom prst="rect">
            <a:avLst/>
          </a:prstGeom>
          <a:noFill/>
          <a:ln>
            <a:noFill/>
          </a:ln>
        </p:spPr>
        <p:txBody>
          <a:bodyPr anchorCtr="0" anchor="t" bIns="34025" lIns="102100" spcFirstLastPara="1" rIns="102100" wrap="square" tIns="34025">
            <a:spAutoFit/>
          </a:bodyPr>
          <a:lstStyle/>
          <a:p>
            <a:pPr indent="0" lvl="0" marL="0" marR="0" rtl="0" algn="l">
              <a:lnSpc>
                <a:spcPct val="136986"/>
              </a:lnSpc>
              <a:spcBef>
                <a:spcPts val="0"/>
              </a:spcBef>
              <a:spcAft>
                <a:spcPts val="0"/>
              </a:spcAft>
              <a:buClr>
                <a:srgbClr val="F8F9FA"/>
              </a:buClr>
              <a:buSzPts val="584"/>
              <a:buFont typeface="Calibri"/>
              <a:buNone/>
            </a:pPr>
            <a:r>
              <a:rPr b="1" i="0" lang="en-US" sz="584" u="none" cap="none" strike="noStrike">
                <a:solidFill>
                  <a:srgbClr val="F8F9FA"/>
                </a:solidFill>
                <a:latin typeface="Calibri"/>
                <a:ea typeface="Calibri"/>
                <a:cs typeface="Calibri"/>
                <a:sym typeface="Calibri"/>
              </a:rPr>
              <a:t>Data Quality</a:t>
            </a:r>
            <a:endParaRPr b="0" i="0" sz="584" u="none" cap="none" strike="noStrike">
              <a:solidFill>
                <a:schemeClr val="dk1"/>
              </a:solidFill>
              <a:latin typeface="Calibri"/>
              <a:ea typeface="Calibri"/>
              <a:cs typeface="Calibri"/>
              <a:sym typeface="Calibri"/>
            </a:endParaRPr>
          </a:p>
        </p:txBody>
      </p:sp>
      <p:sp>
        <p:nvSpPr>
          <p:cNvPr id="203" name="Google Shape;203;p8"/>
          <p:cNvSpPr/>
          <p:nvPr/>
        </p:nvSpPr>
        <p:spPr>
          <a:xfrm>
            <a:off x="428625" y="3507916"/>
            <a:ext cx="3857625" cy="271463"/>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1" lang="en-US" sz="727" u="none" cap="none" strike="noStrike">
                <a:solidFill>
                  <a:srgbClr val="495057"/>
                </a:solidFill>
                <a:latin typeface="Calibri"/>
                <a:ea typeface="Calibri"/>
                <a:cs typeface="Calibri"/>
                <a:sym typeface="Calibri"/>
              </a:rPr>
              <a:t>Outliers in Kilometers Driven (up to 650k) and 0-mileage entries were identified as critical data entry issues.</a:t>
            </a:r>
            <a:endParaRPr b="0" i="0" sz="727" u="none" cap="none" strike="noStrike">
              <a:solidFill>
                <a:schemeClr val="dk1"/>
              </a:solidFill>
              <a:latin typeface="Calibri"/>
              <a:ea typeface="Calibri"/>
              <a:cs typeface="Calibri"/>
              <a:sym typeface="Calibri"/>
            </a:endParaRPr>
          </a:p>
        </p:txBody>
      </p:sp>
      <p:sp>
        <p:nvSpPr>
          <p:cNvPr id="204" name="Google Shape;204;p8"/>
          <p:cNvSpPr/>
          <p:nvPr/>
        </p:nvSpPr>
        <p:spPr>
          <a:xfrm>
            <a:off x="5000625" y="571500"/>
            <a:ext cx="3714750" cy="27430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Categorical Insights</a:t>
            </a:r>
            <a:endParaRPr b="0" i="0" sz="1602" u="none" cap="none" strike="noStrike">
              <a:solidFill>
                <a:schemeClr val="dk1"/>
              </a:solidFill>
              <a:latin typeface="Calibri"/>
              <a:ea typeface="Calibri"/>
              <a:cs typeface="Calibri"/>
              <a:sym typeface="Calibri"/>
            </a:endParaRPr>
          </a:p>
        </p:txBody>
      </p:sp>
      <p:pic>
        <p:nvPicPr>
          <p:cNvPr descr="preencoded.png" id="205" name="Google Shape;205;p8"/>
          <p:cNvPicPr preferRelativeResize="0"/>
          <p:nvPr/>
        </p:nvPicPr>
        <p:blipFill rotWithShape="1">
          <a:blip r:embed="rId5">
            <a:alphaModFix/>
          </a:blip>
          <a:srcRect b="0" l="0" r="0" t="0"/>
          <a:stretch/>
        </p:blipFill>
        <p:spPr>
          <a:xfrm>
            <a:off x="5000625" y="1083339"/>
            <a:ext cx="142875" cy="128588"/>
          </a:xfrm>
          <a:prstGeom prst="rect">
            <a:avLst/>
          </a:prstGeom>
          <a:noFill/>
          <a:ln>
            <a:noFill/>
          </a:ln>
        </p:spPr>
      </p:pic>
      <p:sp>
        <p:nvSpPr>
          <p:cNvPr id="206" name="Google Shape;206;p8"/>
          <p:cNvSpPr/>
          <p:nvPr/>
        </p:nvSpPr>
        <p:spPr>
          <a:xfrm>
            <a:off x="5214938" y="1060121"/>
            <a:ext cx="1694157"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0C997"/>
              </a:buClr>
              <a:buSzPts val="885"/>
              <a:buFont typeface="Calibri"/>
              <a:buNone/>
            </a:pPr>
            <a:r>
              <a:rPr b="1" i="0" lang="en-US" sz="885" u="none" cap="none" strike="noStrike">
                <a:solidFill>
                  <a:srgbClr val="20C997"/>
                </a:solidFill>
                <a:latin typeface="Calibri"/>
                <a:ea typeface="Calibri"/>
                <a:cs typeface="Calibri"/>
                <a:sym typeface="Calibri"/>
              </a:rPr>
              <a:t>Frequency Patterns</a:t>
            </a:r>
            <a:endParaRPr b="0" i="0" sz="885" u="none" cap="none" strike="noStrike">
              <a:solidFill>
                <a:schemeClr val="dk1"/>
              </a:solidFill>
              <a:latin typeface="Calibri"/>
              <a:ea typeface="Calibri"/>
              <a:cs typeface="Calibri"/>
              <a:sym typeface="Calibri"/>
            </a:endParaRPr>
          </a:p>
        </p:txBody>
      </p:sp>
      <p:sp>
        <p:nvSpPr>
          <p:cNvPr id="207" name="Google Shape;207;p8"/>
          <p:cNvSpPr/>
          <p:nvPr/>
        </p:nvSpPr>
        <p:spPr>
          <a:xfrm>
            <a:off x="5000625" y="1378018"/>
            <a:ext cx="3714750" cy="214312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8"/>
          <p:cNvPicPr preferRelativeResize="0"/>
          <p:nvPr/>
        </p:nvPicPr>
        <p:blipFill rotWithShape="1">
          <a:blip r:embed="rId6">
            <a:alphaModFix/>
          </a:blip>
          <a:srcRect b="0" l="0" r="0" t="0"/>
          <a:stretch/>
        </p:blipFill>
        <p:spPr>
          <a:xfrm>
            <a:off x="5000625" y="1520893"/>
            <a:ext cx="3714750" cy="2000250"/>
          </a:xfrm>
          <a:prstGeom prst="rect">
            <a:avLst/>
          </a:prstGeom>
          <a:noFill/>
          <a:ln>
            <a:noFill/>
          </a:ln>
        </p:spPr>
      </p:pic>
      <p:sp>
        <p:nvSpPr>
          <p:cNvPr id="209" name="Google Shape;209;p8"/>
          <p:cNvSpPr/>
          <p:nvPr/>
        </p:nvSpPr>
        <p:spPr>
          <a:xfrm>
            <a:off x="5000625" y="3664018"/>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210" name="Google Shape;210;p8"/>
          <p:cNvSpPr/>
          <p:nvPr/>
        </p:nvSpPr>
        <p:spPr>
          <a:xfrm>
            <a:off x="5179219" y="3671162"/>
            <a:ext cx="571388"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Fuel Type:</a:t>
            </a:r>
            <a:endParaRPr b="0" i="0" sz="784" u="none" cap="none" strike="noStrike">
              <a:solidFill>
                <a:schemeClr val="dk1"/>
              </a:solidFill>
              <a:latin typeface="Calibri"/>
              <a:ea typeface="Calibri"/>
              <a:cs typeface="Calibri"/>
              <a:sym typeface="Calibri"/>
            </a:endParaRPr>
          </a:p>
        </p:txBody>
      </p:sp>
      <p:sp>
        <p:nvSpPr>
          <p:cNvPr id="211" name="Google Shape;211;p8"/>
          <p:cNvSpPr/>
          <p:nvPr/>
        </p:nvSpPr>
        <p:spPr>
          <a:xfrm>
            <a:off x="5647058" y="3678472"/>
            <a:ext cx="3322820"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~53% of cars are Diesel, indicating a preference for performance.</a:t>
            </a:r>
            <a:endParaRPr b="0" i="0" sz="834" u="none" cap="none" strike="noStrike">
              <a:solidFill>
                <a:schemeClr val="dk1"/>
              </a:solidFill>
              <a:latin typeface="Calibri"/>
              <a:ea typeface="Calibri"/>
              <a:cs typeface="Calibri"/>
              <a:sym typeface="Calibri"/>
            </a:endParaRPr>
          </a:p>
        </p:txBody>
      </p:sp>
      <p:sp>
        <p:nvSpPr>
          <p:cNvPr id="212" name="Google Shape;212;p8"/>
          <p:cNvSpPr/>
          <p:nvPr/>
        </p:nvSpPr>
        <p:spPr>
          <a:xfrm>
            <a:off x="5000625" y="4114074"/>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213" name="Google Shape;213;p8"/>
          <p:cNvSpPr/>
          <p:nvPr/>
        </p:nvSpPr>
        <p:spPr>
          <a:xfrm>
            <a:off x="5179219" y="4121218"/>
            <a:ext cx="785031"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Transmission:</a:t>
            </a:r>
            <a:endParaRPr b="0" i="0" sz="784" u="none" cap="none" strike="noStrike">
              <a:solidFill>
                <a:schemeClr val="dk1"/>
              </a:solidFill>
              <a:latin typeface="Calibri"/>
              <a:ea typeface="Calibri"/>
              <a:cs typeface="Calibri"/>
              <a:sym typeface="Calibri"/>
            </a:endParaRPr>
          </a:p>
        </p:txBody>
      </p:sp>
      <p:sp>
        <p:nvSpPr>
          <p:cNvPr id="214" name="Google Shape;214;p8"/>
          <p:cNvSpPr/>
          <p:nvPr/>
        </p:nvSpPr>
        <p:spPr>
          <a:xfrm>
            <a:off x="5806453" y="4121218"/>
            <a:ext cx="2910101"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~72% of the dataset consists of Manual transmission cars.</a:t>
            </a:r>
            <a:endParaRPr b="0" i="0" sz="834" u="none" cap="none" strike="noStrike">
              <a:solidFill>
                <a:schemeClr val="dk1"/>
              </a:solidFill>
              <a:latin typeface="Calibri"/>
              <a:ea typeface="Calibri"/>
              <a:cs typeface="Calibri"/>
              <a:sym typeface="Calibri"/>
            </a:endParaRPr>
          </a:p>
        </p:txBody>
      </p:sp>
      <p:sp>
        <p:nvSpPr>
          <p:cNvPr id="215" name="Google Shape;215;p8"/>
          <p:cNvSpPr/>
          <p:nvPr/>
        </p:nvSpPr>
        <p:spPr>
          <a:xfrm>
            <a:off x="5000625" y="4564131"/>
            <a:ext cx="114300" cy="171450"/>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FD7E14"/>
              </a:buClr>
              <a:buSzPts val="784"/>
              <a:buFont typeface="Calibri"/>
              <a:buNone/>
            </a:pPr>
            <a:r>
              <a:rPr b="1" i="0" lang="en-US" sz="784" u="none" cap="none" strike="noStrike">
                <a:solidFill>
                  <a:srgbClr val="FD7E14"/>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216" name="Google Shape;216;p8"/>
          <p:cNvSpPr/>
          <p:nvPr/>
        </p:nvSpPr>
        <p:spPr>
          <a:xfrm>
            <a:off x="5179219" y="4571274"/>
            <a:ext cx="526014" cy="155377"/>
          </a:xfrm>
          <a:prstGeom prst="rect">
            <a:avLst/>
          </a:prstGeom>
          <a:noFill/>
          <a:ln>
            <a:noFill/>
          </a:ln>
        </p:spPr>
        <p:txBody>
          <a:bodyPr anchorCtr="0" anchor="t" bIns="0" lIns="0" spcFirstLastPara="1" rIns="0" wrap="square" tIns="0">
            <a:spAutoFit/>
          </a:bodyPr>
          <a:lstStyle/>
          <a:p>
            <a:pPr indent="0" lvl="0" marL="0" marR="0" rtl="0" algn="l">
              <a:lnSpc>
                <a:spcPct val="178571"/>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Location:</a:t>
            </a:r>
            <a:endParaRPr b="0" i="0" sz="784" u="none" cap="none" strike="noStrike">
              <a:solidFill>
                <a:schemeClr val="dk1"/>
              </a:solidFill>
              <a:latin typeface="Calibri"/>
              <a:ea typeface="Calibri"/>
              <a:cs typeface="Calibri"/>
              <a:sym typeface="Calibri"/>
            </a:endParaRPr>
          </a:p>
        </p:txBody>
      </p:sp>
      <p:sp>
        <p:nvSpPr>
          <p:cNvPr id="217" name="Google Shape;217;p8"/>
          <p:cNvSpPr/>
          <p:nvPr/>
        </p:nvSpPr>
        <p:spPr>
          <a:xfrm>
            <a:off x="5624731" y="4582998"/>
            <a:ext cx="3495526" cy="326827"/>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Mumbai, Hyderabad, and Coimbatore are the top hubs for used cars.</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preencoded.png" id="223" name="Google Shape;223;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4" name="Google Shape;224;p9"/>
          <p:cNvSpPr/>
          <p:nvPr/>
        </p:nvSpPr>
        <p:spPr>
          <a:xfrm>
            <a:off x="0" y="0"/>
            <a:ext cx="3657600" cy="5143500"/>
          </a:xfrm>
          <a:prstGeom prst="rect">
            <a:avLst/>
          </a:prstGeom>
          <a:solidFill>
            <a:srgbClr val="2125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428625" y="714375"/>
            <a:ext cx="2943225" cy="173236"/>
          </a:xfrm>
          <a:prstGeom prst="rect">
            <a:avLst/>
          </a:prstGeom>
          <a:solidFill>
            <a:srgbClr val="FD7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428625" y="714375"/>
            <a:ext cx="2943225" cy="173236"/>
          </a:xfrm>
          <a:prstGeom prst="rect">
            <a:avLst/>
          </a:prstGeom>
          <a:noFill/>
          <a:ln>
            <a:noFill/>
          </a:ln>
        </p:spPr>
        <p:txBody>
          <a:bodyPr anchorCtr="0" anchor="t" bIns="34025" lIns="102100" spcFirstLastPara="1" rIns="102100" wrap="square" tIns="34025">
            <a:spAutoFit/>
          </a:bodyPr>
          <a:lstStyle/>
          <a:p>
            <a:pPr indent="0" lvl="0" marL="0" marR="0" rtl="0" algn="l">
              <a:lnSpc>
                <a:spcPct val="136986"/>
              </a:lnSpc>
              <a:spcBef>
                <a:spcPts val="0"/>
              </a:spcBef>
              <a:spcAft>
                <a:spcPts val="0"/>
              </a:spcAft>
              <a:buClr>
                <a:srgbClr val="F8F9FA"/>
              </a:buClr>
              <a:buSzPts val="584"/>
              <a:buFont typeface="Calibri"/>
              <a:buNone/>
            </a:pPr>
            <a:r>
              <a:rPr b="1" i="0" lang="en-US" sz="584" u="none" cap="none" strike="noStrike">
                <a:solidFill>
                  <a:srgbClr val="F8F9FA"/>
                </a:solidFill>
                <a:latin typeface="Calibri"/>
                <a:ea typeface="Calibri"/>
                <a:cs typeface="Calibri"/>
                <a:sym typeface="Calibri"/>
              </a:rPr>
              <a:t>Implementation</a:t>
            </a:r>
            <a:endParaRPr b="0" i="0" sz="584" u="none" cap="none" strike="noStrike">
              <a:solidFill>
                <a:schemeClr val="dk1"/>
              </a:solidFill>
              <a:latin typeface="Calibri"/>
              <a:ea typeface="Calibri"/>
              <a:cs typeface="Calibri"/>
              <a:sym typeface="Calibri"/>
            </a:endParaRPr>
          </a:p>
        </p:txBody>
      </p:sp>
      <p:sp>
        <p:nvSpPr>
          <p:cNvPr id="227" name="Google Shape;227;p9"/>
          <p:cNvSpPr/>
          <p:nvPr/>
        </p:nvSpPr>
        <p:spPr>
          <a:xfrm>
            <a:off x="428625" y="1030486"/>
            <a:ext cx="29432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20C997"/>
              </a:buClr>
              <a:buSzPts val="1193"/>
              <a:buFont typeface="Calibri"/>
              <a:buNone/>
            </a:pPr>
            <a:r>
              <a:rPr b="1" i="0" lang="en-US" sz="1193" u="none" cap="none" strike="noStrike">
                <a:solidFill>
                  <a:srgbClr val="20C997"/>
                </a:solidFill>
                <a:latin typeface="Calibri"/>
                <a:ea typeface="Calibri"/>
                <a:cs typeface="Calibri"/>
                <a:sym typeface="Calibri"/>
              </a:rPr>
              <a:t>Log Transformation</a:t>
            </a:r>
            <a:endParaRPr b="0" i="0" sz="1193" u="none" cap="none" strike="noStrike">
              <a:solidFill>
                <a:schemeClr val="dk1"/>
              </a:solidFill>
              <a:latin typeface="Calibri"/>
              <a:ea typeface="Calibri"/>
              <a:cs typeface="Calibri"/>
              <a:sym typeface="Calibri"/>
            </a:endParaRPr>
          </a:p>
        </p:txBody>
      </p:sp>
      <p:sp>
        <p:nvSpPr>
          <p:cNvPr id="228" name="Google Shape;228;p9"/>
          <p:cNvSpPr/>
          <p:nvPr/>
        </p:nvSpPr>
        <p:spPr>
          <a:xfrm>
            <a:off x="428625" y="1550194"/>
            <a:ext cx="2943225" cy="98575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428625" y="1550194"/>
            <a:ext cx="28575" cy="985754"/>
          </a:xfrm>
          <a:prstGeom prst="rect">
            <a:avLst/>
          </a:prstGeom>
          <a:solidFill>
            <a:srgbClr val="FD7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571500" y="1693069"/>
            <a:ext cx="2657475" cy="211438"/>
          </a:xfrm>
          <a:prstGeom prst="rect">
            <a:avLst/>
          </a:prstGeom>
          <a:noFill/>
          <a:ln>
            <a:noFill/>
          </a:ln>
        </p:spPr>
        <p:txBody>
          <a:bodyPr anchorCtr="0" anchor="t" bIns="85075" lIns="0" spcFirstLastPara="1" rIns="0" wrap="square" tIns="0">
            <a:spAutoFit/>
          </a:bodyPr>
          <a:lstStyle/>
          <a:p>
            <a:pPr indent="0" lvl="0" marL="0" marR="0" rtl="0" algn="l">
              <a:lnSpc>
                <a:spcPct val="151306"/>
              </a:lnSpc>
              <a:spcBef>
                <a:spcPts val="0"/>
              </a:spcBef>
              <a:spcAft>
                <a:spcPts val="0"/>
              </a:spcAft>
              <a:buClr>
                <a:srgbClr val="FD7E14"/>
              </a:buClr>
              <a:buSzPts val="727"/>
              <a:buFont typeface="Calibri"/>
              <a:buNone/>
            </a:pPr>
            <a:r>
              <a:rPr b="0" i="0" lang="en-US" sz="727" u="none" cap="none" strike="noStrike">
                <a:solidFill>
                  <a:srgbClr val="FD7E14"/>
                </a:solidFill>
                <a:latin typeface="Calibri"/>
                <a:ea typeface="Calibri"/>
                <a:cs typeface="Calibri"/>
                <a:sym typeface="Calibri"/>
              </a:rPr>
              <a:t># Applying Log Transformation</a:t>
            </a:r>
            <a:endParaRPr b="0" i="0" sz="727" u="none" cap="none" strike="noStrike">
              <a:solidFill>
                <a:schemeClr val="dk1"/>
              </a:solidFill>
              <a:latin typeface="Calibri"/>
              <a:ea typeface="Calibri"/>
              <a:cs typeface="Calibri"/>
              <a:sym typeface="Calibri"/>
            </a:endParaRPr>
          </a:p>
        </p:txBody>
      </p:sp>
      <p:sp>
        <p:nvSpPr>
          <p:cNvPr id="231" name="Google Shape;231;p9"/>
          <p:cNvSpPr/>
          <p:nvPr/>
        </p:nvSpPr>
        <p:spPr>
          <a:xfrm>
            <a:off x="571500" y="1904507"/>
            <a:ext cx="2657475" cy="140001"/>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def log_transform(data, col):</a:t>
            </a:r>
            <a:endParaRPr b="0" i="0" sz="727" u="none" cap="none" strike="noStrike">
              <a:solidFill>
                <a:schemeClr val="dk1"/>
              </a:solidFill>
              <a:latin typeface="Calibri"/>
              <a:ea typeface="Calibri"/>
              <a:cs typeface="Calibri"/>
              <a:sym typeface="Calibri"/>
            </a:endParaRPr>
          </a:p>
        </p:txBody>
      </p:sp>
      <p:sp>
        <p:nvSpPr>
          <p:cNvPr id="232" name="Google Shape;232;p9"/>
          <p:cNvSpPr/>
          <p:nvPr/>
        </p:nvSpPr>
        <p:spPr>
          <a:xfrm>
            <a:off x="571500" y="2044508"/>
            <a:ext cx="2657475" cy="140001"/>
          </a:xfrm>
          <a:prstGeom prst="rect">
            <a:avLst/>
          </a:prstGeom>
          <a:noFill/>
          <a:ln>
            <a:noFill/>
          </a:ln>
        </p:spPr>
        <p:txBody>
          <a:bodyPr anchorCtr="0" anchor="t" bIns="0" lIns="170050" spcFirstLastPara="1" rIns="0" wrap="square" tIns="0">
            <a:spAutoFit/>
          </a:bodyPr>
          <a:lstStyle/>
          <a:p>
            <a:pPr indent="0" lvl="0" marL="0" marR="0" rtl="0" algn="l">
              <a:lnSpc>
                <a:spcPct val="15130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for colname in col:</a:t>
            </a:r>
            <a:endParaRPr b="0" i="0" sz="727" u="none" cap="none" strike="noStrike">
              <a:solidFill>
                <a:schemeClr val="dk1"/>
              </a:solidFill>
              <a:latin typeface="Calibri"/>
              <a:ea typeface="Calibri"/>
              <a:cs typeface="Calibri"/>
              <a:sym typeface="Calibri"/>
            </a:endParaRPr>
          </a:p>
        </p:txBody>
      </p:sp>
      <p:sp>
        <p:nvSpPr>
          <p:cNvPr id="233" name="Google Shape;233;p9"/>
          <p:cNvSpPr/>
          <p:nvPr/>
        </p:nvSpPr>
        <p:spPr>
          <a:xfrm>
            <a:off x="571500" y="2184509"/>
            <a:ext cx="2657475" cy="140001"/>
          </a:xfrm>
          <a:prstGeom prst="rect">
            <a:avLst/>
          </a:prstGeom>
          <a:noFill/>
          <a:ln>
            <a:noFill/>
          </a:ln>
        </p:spPr>
        <p:txBody>
          <a:bodyPr anchorCtr="0" anchor="t" bIns="0" lIns="340225" spcFirstLastPara="1" rIns="0" wrap="square" tIns="0">
            <a:spAutoFit/>
          </a:bodyPr>
          <a:lstStyle/>
          <a:p>
            <a:pPr indent="0" lvl="0" marL="0" marR="0" rtl="0" algn="l">
              <a:lnSpc>
                <a:spcPct val="15130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data[colname + '_log'] = np.log(data[colname])</a:t>
            </a:r>
            <a:endParaRPr b="0" i="0" sz="727" u="none" cap="none" strike="noStrike">
              <a:solidFill>
                <a:schemeClr val="dk1"/>
              </a:solidFill>
              <a:latin typeface="Calibri"/>
              <a:ea typeface="Calibri"/>
              <a:cs typeface="Calibri"/>
              <a:sym typeface="Calibri"/>
            </a:endParaRPr>
          </a:p>
        </p:txBody>
      </p:sp>
      <p:sp>
        <p:nvSpPr>
          <p:cNvPr id="234" name="Google Shape;234;p9"/>
          <p:cNvSpPr/>
          <p:nvPr/>
        </p:nvSpPr>
        <p:spPr>
          <a:xfrm>
            <a:off x="571500" y="2324509"/>
            <a:ext cx="2657475" cy="211438"/>
          </a:xfrm>
          <a:prstGeom prst="rect">
            <a:avLst/>
          </a:prstGeom>
          <a:noFill/>
          <a:ln>
            <a:noFill/>
          </a:ln>
        </p:spPr>
        <p:txBody>
          <a:bodyPr anchorCtr="0" anchor="t" bIns="0" lIns="0" spcFirstLastPara="1" rIns="0" wrap="square" tIns="85075">
            <a:spAutoFit/>
          </a:bodyPr>
          <a:lstStyle/>
          <a:p>
            <a:pPr indent="0" lvl="0" marL="0" marR="0" rtl="0" algn="l">
              <a:lnSpc>
                <a:spcPct val="151306"/>
              </a:lnSpc>
              <a:spcBef>
                <a:spcPts val="0"/>
              </a:spcBef>
              <a:spcAft>
                <a:spcPts val="0"/>
              </a:spcAft>
              <a:buClr>
                <a:srgbClr val="F8F9FA"/>
              </a:buClr>
              <a:buSzPts val="727"/>
              <a:buFont typeface="Calibri"/>
              <a:buNone/>
            </a:pPr>
            <a:r>
              <a:rPr b="0" i="0" lang="en-US" sz="727" u="none" cap="none" strike="noStrike">
                <a:solidFill>
                  <a:srgbClr val="F8F9FA"/>
                </a:solidFill>
                <a:latin typeface="Calibri"/>
                <a:ea typeface="Calibri"/>
                <a:cs typeface="Calibri"/>
                <a:sym typeface="Calibri"/>
              </a:rPr>
              <a:t>log_transform(data, ['Price', 'Kilometers_Driven'])</a:t>
            </a:r>
            <a:endParaRPr b="0" i="0" sz="727" u="none" cap="none" strike="noStrike">
              <a:solidFill>
                <a:schemeClr val="dk1"/>
              </a:solidFill>
              <a:latin typeface="Calibri"/>
              <a:ea typeface="Calibri"/>
              <a:cs typeface="Calibri"/>
              <a:sym typeface="Calibri"/>
            </a:endParaRPr>
          </a:p>
        </p:txBody>
      </p:sp>
      <p:sp>
        <p:nvSpPr>
          <p:cNvPr id="235" name="Google Shape;235;p9"/>
          <p:cNvSpPr/>
          <p:nvPr/>
        </p:nvSpPr>
        <p:spPr>
          <a:xfrm>
            <a:off x="428625" y="2535948"/>
            <a:ext cx="2943225" cy="557213"/>
          </a:xfrm>
          <a:prstGeom prst="rect">
            <a:avLst/>
          </a:prstGeom>
          <a:noFill/>
          <a:ln>
            <a:noFill/>
          </a:ln>
        </p:spPr>
        <p:txBody>
          <a:bodyPr anchorCtr="0" anchor="t" bIns="0" lIns="0" spcFirstLastPara="1" rIns="0" wrap="square" tIns="340225">
            <a:spAutoFit/>
          </a:bodyPr>
          <a:lstStyle/>
          <a:p>
            <a:pPr indent="0" lvl="0" marL="0" marR="0" rtl="0" algn="l">
              <a:lnSpc>
                <a:spcPct val="123796"/>
              </a:lnSpc>
              <a:spcBef>
                <a:spcPts val="0"/>
              </a:spcBef>
              <a:spcAft>
                <a:spcPts val="0"/>
              </a:spcAft>
              <a:buClr>
                <a:srgbClr val="ADB5BD"/>
              </a:buClr>
              <a:buSzPts val="727"/>
              <a:buFont typeface="Calibri"/>
              <a:buNone/>
            </a:pPr>
            <a:r>
              <a:rPr b="0" i="1" lang="en-US" sz="727" u="none" cap="none" strike="noStrike">
                <a:solidFill>
                  <a:srgbClr val="ADB5BD"/>
                </a:solidFill>
                <a:latin typeface="Calibri"/>
                <a:ea typeface="Calibri"/>
                <a:cs typeface="Calibri"/>
                <a:sym typeface="Calibri"/>
              </a:rPr>
              <a:t>Log transformation helps in normalization, ensuring variables maintain a standard scale with others.</a:t>
            </a:r>
            <a:endParaRPr b="0" i="0" sz="727" u="none" cap="none" strike="noStrike">
              <a:solidFill>
                <a:schemeClr val="dk1"/>
              </a:solidFill>
              <a:latin typeface="Calibri"/>
              <a:ea typeface="Calibri"/>
              <a:cs typeface="Calibri"/>
              <a:sym typeface="Calibri"/>
            </a:endParaRPr>
          </a:p>
        </p:txBody>
      </p:sp>
      <p:sp>
        <p:nvSpPr>
          <p:cNvPr id="236" name="Google Shape;236;p9"/>
          <p:cNvSpPr/>
          <p:nvPr/>
        </p:nvSpPr>
        <p:spPr>
          <a:xfrm>
            <a:off x="4229100" y="71437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Data Transformation Normalizes Skewed Features for Better Scaling</a:t>
            </a:r>
            <a:endParaRPr b="0" i="0" sz="1602" u="none" cap="none" strike="noStrike">
              <a:solidFill>
                <a:schemeClr val="dk1"/>
              </a:solidFill>
              <a:latin typeface="Calibri"/>
              <a:ea typeface="Calibri"/>
              <a:cs typeface="Calibri"/>
              <a:sym typeface="Calibri"/>
            </a:endParaRPr>
          </a:p>
        </p:txBody>
      </p:sp>
      <p:sp>
        <p:nvSpPr>
          <p:cNvPr id="237" name="Google Shape;237;p9"/>
          <p:cNvSpPr/>
          <p:nvPr/>
        </p:nvSpPr>
        <p:spPr>
          <a:xfrm>
            <a:off x="4229100" y="1548743"/>
            <a:ext cx="4486275" cy="617153"/>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942"/>
              <a:buFont typeface="Calibri"/>
              <a:buNone/>
            </a:pPr>
            <a:r>
              <a:rPr b="0" i="0" lang="en-US" sz="942" u="none" cap="none" strike="noStrike">
                <a:solidFill>
                  <a:srgbClr val="495057"/>
                </a:solidFill>
                <a:latin typeface="Calibri"/>
                <a:ea typeface="Calibri"/>
                <a:cs typeface="Calibri"/>
                <a:sym typeface="Calibri"/>
              </a:rPr>
              <a:t>When variables like </a:t>
            </a:r>
            <a:r>
              <a:rPr b="1" i="0" lang="en-US" sz="885" u="none" cap="none" strike="noStrike">
                <a:solidFill>
                  <a:srgbClr val="495057"/>
                </a:solidFill>
                <a:latin typeface="Calibri"/>
                <a:ea typeface="Calibri"/>
                <a:cs typeface="Calibri"/>
                <a:sym typeface="Calibri"/>
              </a:rPr>
              <a:t>Price</a:t>
            </a:r>
            <a:r>
              <a:rPr b="0" i="0" lang="en-US" sz="942" u="none" cap="none" strike="noStrike">
                <a:solidFill>
                  <a:srgbClr val="495057"/>
                </a:solidFill>
                <a:latin typeface="Calibri"/>
                <a:ea typeface="Calibri"/>
                <a:cs typeface="Calibri"/>
                <a:sym typeface="Calibri"/>
              </a:rPr>
              <a:t> or </a:t>
            </a:r>
            <a:r>
              <a:rPr b="1" i="0" lang="en-US" sz="885" u="none" cap="none" strike="noStrike">
                <a:solidFill>
                  <a:srgbClr val="495057"/>
                </a:solidFill>
                <a:latin typeface="Calibri"/>
                <a:ea typeface="Calibri"/>
                <a:cs typeface="Calibri"/>
                <a:sym typeface="Calibri"/>
              </a:rPr>
              <a:t>Kilometers_Driven</a:t>
            </a:r>
            <a:r>
              <a:rPr b="0" i="0" lang="en-US" sz="942" u="none" cap="none" strike="noStrike">
                <a:solidFill>
                  <a:srgbClr val="495057"/>
                </a:solidFill>
                <a:latin typeface="Calibri"/>
                <a:ea typeface="Calibri"/>
                <a:cs typeface="Calibri"/>
                <a:sym typeface="Calibri"/>
              </a:rPr>
              <a:t> are highly skewed, they can negatively impact statistical models. Log transformation is a powerful technique to address this.</a:t>
            </a:r>
            <a:endParaRPr b="0" i="0" sz="942" u="none" cap="none" strike="noStrike">
              <a:solidFill>
                <a:schemeClr val="dk1"/>
              </a:solidFill>
              <a:latin typeface="Calibri"/>
              <a:ea typeface="Calibri"/>
              <a:cs typeface="Calibri"/>
              <a:sym typeface="Calibri"/>
            </a:endParaRPr>
          </a:p>
        </p:txBody>
      </p:sp>
      <p:pic>
        <p:nvPicPr>
          <p:cNvPr descr="preencoded.png" id="238" name="Google Shape;238;p9"/>
          <p:cNvPicPr preferRelativeResize="0"/>
          <p:nvPr/>
        </p:nvPicPr>
        <p:blipFill rotWithShape="1">
          <a:blip r:embed="rId4">
            <a:alphaModFix/>
          </a:blip>
          <a:srcRect b="0" l="0" r="0" t="0"/>
          <a:stretch/>
        </p:blipFill>
        <p:spPr>
          <a:xfrm>
            <a:off x="4229100" y="2448074"/>
            <a:ext cx="214313" cy="171450"/>
          </a:xfrm>
          <a:prstGeom prst="rect">
            <a:avLst/>
          </a:prstGeom>
          <a:noFill/>
          <a:ln>
            <a:noFill/>
          </a:ln>
        </p:spPr>
      </p:pic>
      <p:sp>
        <p:nvSpPr>
          <p:cNvPr id="239" name="Google Shape;239;p9"/>
          <p:cNvSpPr/>
          <p:nvPr/>
        </p:nvSpPr>
        <p:spPr>
          <a:xfrm>
            <a:off x="4586288" y="2380208"/>
            <a:ext cx="412908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Normalization</a:t>
            </a:r>
            <a:endParaRPr b="0" i="0" sz="885" u="none" cap="none" strike="noStrike">
              <a:solidFill>
                <a:schemeClr val="dk1"/>
              </a:solidFill>
              <a:latin typeface="Calibri"/>
              <a:ea typeface="Calibri"/>
              <a:cs typeface="Calibri"/>
              <a:sym typeface="Calibri"/>
            </a:endParaRPr>
          </a:p>
        </p:txBody>
      </p:sp>
      <p:sp>
        <p:nvSpPr>
          <p:cNvPr id="240" name="Google Shape;240;p9"/>
          <p:cNvSpPr/>
          <p:nvPr/>
        </p:nvSpPr>
        <p:spPr>
          <a:xfrm>
            <a:off x="4586288" y="2590949"/>
            <a:ext cx="4129088"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Applying np.log helps in bringing skewed data closer to a normal distribution, making it more suitable for linear models.</a:t>
            </a:r>
            <a:endParaRPr b="0" i="0" sz="834" u="none" cap="none" strike="noStrike">
              <a:solidFill>
                <a:schemeClr val="dk1"/>
              </a:solidFill>
              <a:latin typeface="Calibri"/>
              <a:ea typeface="Calibri"/>
              <a:cs typeface="Calibri"/>
              <a:sym typeface="Calibri"/>
            </a:endParaRPr>
          </a:p>
        </p:txBody>
      </p:sp>
      <p:pic>
        <p:nvPicPr>
          <p:cNvPr descr="preencoded.png" id="241" name="Google Shape;241;p9"/>
          <p:cNvPicPr preferRelativeResize="0"/>
          <p:nvPr/>
        </p:nvPicPr>
        <p:blipFill rotWithShape="1">
          <a:blip r:embed="rId5">
            <a:alphaModFix/>
          </a:blip>
          <a:srcRect b="0" l="0" r="0" t="0"/>
          <a:stretch/>
        </p:blipFill>
        <p:spPr>
          <a:xfrm>
            <a:off x="4229100" y="3180308"/>
            <a:ext cx="171450" cy="171450"/>
          </a:xfrm>
          <a:prstGeom prst="rect">
            <a:avLst/>
          </a:prstGeom>
          <a:noFill/>
          <a:ln>
            <a:noFill/>
          </a:ln>
        </p:spPr>
      </p:pic>
      <p:sp>
        <p:nvSpPr>
          <p:cNvPr id="242" name="Google Shape;242;p9"/>
          <p:cNvSpPr/>
          <p:nvPr/>
        </p:nvSpPr>
        <p:spPr>
          <a:xfrm>
            <a:off x="4543425" y="3112443"/>
            <a:ext cx="417195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Standardization</a:t>
            </a:r>
            <a:endParaRPr b="0" i="0" sz="885" u="none" cap="none" strike="noStrike">
              <a:solidFill>
                <a:schemeClr val="dk1"/>
              </a:solidFill>
              <a:latin typeface="Calibri"/>
              <a:ea typeface="Calibri"/>
              <a:cs typeface="Calibri"/>
              <a:sym typeface="Calibri"/>
            </a:endParaRPr>
          </a:p>
        </p:txBody>
      </p:sp>
      <p:sp>
        <p:nvSpPr>
          <p:cNvPr id="243" name="Google Shape;243;p9"/>
          <p:cNvSpPr/>
          <p:nvPr/>
        </p:nvSpPr>
        <p:spPr>
          <a:xfrm>
            <a:off x="4543425" y="3323183"/>
            <a:ext cx="4171950"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834"/>
              <a:buFont typeface="Calibri"/>
              <a:buNone/>
            </a:pPr>
            <a:r>
              <a:rPr b="0" i="0" lang="en-US" sz="834" u="none" cap="none" strike="noStrike">
                <a:solidFill>
                  <a:srgbClr val="495057"/>
                </a:solidFill>
                <a:latin typeface="Calibri"/>
                <a:ea typeface="Calibri"/>
                <a:cs typeface="Calibri"/>
                <a:sym typeface="Calibri"/>
              </a:rPr>
              <a:t>It ensures that variables with large scales do not disproportionately influence the analysis compared to smaller-scale variables.</a:t>
            </a:r>
            <a:endParaRPr b="0" i="0" sz="834" u="none" cap="none" strike="noStrike">
              <a:solidFill>
                <a:schemeClr val="dk1"/>
              </a:solidFill>
              <a:latin typeface="Calibri"/>
              <a:ea typeface="Calibri"/>
              <a:cs typeface="Calibri"/>
              <a:sym typeface="Calibri"/>
            </a:endParaRPr>
          </a:p>
        </p:txBody>
      </p:sp>
      <p:pic>
        <p:nvPicPr>
          <p:cNvPr descr="preencoded.png" id="244" name="Google Shape;244;p9"/>
          <p:cNvPicPr preferRelativeResize="0"/>
          <p:nvPr/>
        </p:nvPicPr>
        <p:blipFill rotWithShape="1">
          <a:blip r:embed="rId6">
            <a:alphaModFix/>
          </a:blip>
          <a:srcRect b="0" l="0" r="0" t="0"/>
          <a:stretch/>
        </p:blipFill>
        <p:spPr>
          <a:xfrm>
            <a:off x="4229100" y="4087564"/>
            <a:ext cx="114300" cy="114300"/>
          </a:xfrm>
          <a:prstGeom prst="rect">
            <a:avLst/>
          </a:prstGeom>
          <a:noFill/>
          <a:ln>
            <a:noFill/>
          </a:ln>
        </p:spPr>
      </p:pic>
      <p:sp>
        <p:nvSpPr>
          <p:cNvPr id="245" name="Google Shape;245;p9"/>
          <p:cNvSpPr/>
          <p:nvPr/>
        </p:nvSpPr>
        <p:spPr>
          <a:xfrm>
            <a:off x="4414838" y="4066133"/>
            <a:ext cx="3061767"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Result: Improved data symmetry and model stability.</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preencoded.png" id="251" name="Google Shape;251;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2" name="Google Shape;252;p10"/>
          <p:cNvSpPr/>
          <p:nvPr/>
        </p:nvSpPr>
        <p:spPr>
          <a:xfrm>
            <a:off x="0" y="0"/>
            <a:ext cx="36576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36504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428625" y="714375"/>
            <a:ext cx="2943225"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FD7E14"/>
              </a:buClr>
              <a:buSzPts val="683"/>
              <a:buFont typeface="Calibri"/>
              <a:buNone/>
            </a:pPr>
            <a:r>
              <a:rPr b="1" i="0" lang="en-US" sz="683" u="none" cap="none" strike="noStrike">
                <a:solidFill>
                  <a:srgbClr val="FD7E14"/>
                </a:solidFill>
                <a:latin typeface="Calibri"/>
                <a:ea typeface="Calibri"/>
                <a:cs typeface="Calibri"/>
                <a:sym typeface="Calibri"/>
              </a:rPr>
              <a:t>Categorical Impact</a:t>
            </a:r>
            <a:endParaRPr b="0" i="0" sz="683" u="none" cap="none" strike="noStrike">
              <a:solidFill>
                <a:schemeClr val="dk1"/>
              </a:solidFill>
              <a:latin typeface="Calibri"/>
              <a:ea typeface="Calibri"/>
              <a:cs typeface="Calibri"/>
              <a:sym typeface="Calibri"/>
            </a:endParaRPr>
          </a:p>
        </p:txBody>
      </p:sp>
      <p:sp>
        <p:nvSpPr>
          <p:cNvPr id="255" name="Google Shape;255;p10"/>
          <p:cNvSpPr/>
          <p:nvPr/>
        </p:nvSpPr>
        <p:spPr>
          <a:xfrm>
            <a:off x="428625" y="992981"/>
            <a:ext cx="29432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0000"/>
              </a:buClr>
              <a:buSzPts val="1193"/>
              <a:buFont typeface="Calibri"/>
              <a:buNone/>
            </a:pPr>
            <a:r>
              <a:rPr b="1" i="0" lang="en-US" sz="1193" u="none" cap="none" strike="noStrike">
                <a:solidFill>
                  <a:srgbClr val="000000"/>
                </a:solidFill>
                <a:latin typeface="Calibri"/>
                <a:ea typeface="Calibri"/>
                <a:cs typeface="Calibri"/>
                <a:sym typeface="Calibri"/>
              </a:rPr>
              <a:t>Transmission vs Price</a:t>
            </a:r>
            <a:endParaRPr b="0" i="0" sz="1193" u="none" cap="none" strike="noStrike">
              <a:solidFill>
                <a:schemeClr val="dk1"/>
              </a:solidFill>
              <a:latin typeface="Calibri"/>
              <a:ea typeface="Calibri"/>
              <a:cs typeface="Calibri"/>
              <a:sym typeface="Calibri"/>
            </a:endParaRPr>
          </a:p>
        </p:txBody>
      </p:sp>
      <p:sp>
        <p:nvSpPr>
          <p:cNvPr id="256" name="Google Shape;256;p10"/>
          <p:cNvSpPr/>
          <p:nvPr/>
        </p:nvSpPr>
        <p:spPr>
          <a:xfrm>
            <a:off x="428625" y="1512689"/>
            <a:ext cx="2943225" cy="250031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7" name="Google Shape;257;p10"/>
          <p:cNvPicPr preferRelativeResize="0"/>
          <p:nvPr/>
        </p:nvPicPr>
        <p:blipFill rotWithShape="1">
          <a:blip r:embed="rId4">
            <a:alphaModFix/>
          </a:blip>
          <a:srcRect b="0" l="0" r="0" t="0"/>
          <a:stretch/>
        </p:blipFill>
        <p:spPr>
          <a:xfrm>
            <a:off x="428625" y="1655564"/>
            <a:ext cx="2936081" cy="2357438"/>
          </a:xfrm>
          <a:prstGeom prst="rect">
            <a:avLst/>
          </a:prstGeom>
          <a:noFill/>
          <a:ln>
            <a:noFill/>
          </a:ln>
        </p:spPr>
      </p:pic>
      <p:sp>
        <p:nvSpPr>
          <p:cNvPr id="258" name="Google Shape;258;p10"/>
          <p:cNvSpPr/>
          <p:nvPr/>
        </p:nvSpPr>
        <p:spPr>
          <a:xfrm>
            <a:off x="428625" y="4013002"/>
            <a:ext cx="2943225" cy="485775"/>
          </a:xfrm>
          <a:prstGeom prst="rect">
            <a:avLst/>
          </a:prstGeom>
          <a:noFill/>
          <a:ln>
            <a:noFill/>
          </a:ln>
        </p:spPr>
        <p:txBody>
          <a:bodyPr anchorCtr="0" anchor="t" bIns="0" lIns="0" spcFirstLastPara="1" rIns="0" wrap="square" tIns="255125">
            <a:spAutoFit/>
          </a:bodyPr>
          <a:lstStyle/>
          <a:p>
            <a:pPr indent="0" lvl="0" marL="0" marR="0" rtl="0" algn="l">
              <a:lnSpc>
                <a:spcPct val="123796"/>
              </a:lnSpc>
              <a:spcBef>
                <a:spcPts val="0"/>
              </a:spcBef>
              <a:spcAft>
                <a:spcPts val="0"/>
              </a:spcAft>
              <a:buClr>
                <a:srgbClr val="495057"/>
              </a:buClr>
              <a:buSzPts val="727"/>
              <a:buFont typeface="Calibri"/>
              <a:buNone/>
            </a:pPr>
            <a:r>
              <a:rPr b="0" i="1" lang="en-US" sz="727" u="none" cap="none" strike="noStrike">
                <a:solidFill>
                  <a:srgbClr val="495057"/>
                </a:solidFill>
                <a:latin typeface="Calibri"/>
                <a:ea typeface="Calibri"/>
                <a:cs typeface="Calibri"/>
                <a:sym typeface="Calibri"/>
              </a:rPr>
              <a:t>Automatic cars consistently command a higher average price compared to manual variants across all locations.</a:t>
            </a:r>
            <a:endParaRPr b="0" i="0" sz="727" u="none" cap="none" strike="noStrike">
              <a:solidFill>
                <a:schemeClr val="dk1"/>
              </a:solidFill>
              <a:latin typeface="Calibri"/>
              <a:ea typeface="Calibri"/>
              <a:cs typeface="Calibri"/>
              <a:sym typeface="Calibri"/>
            </a:endParaRPr>
          </a:p>
        </p:txBody>
      </p:sp>
      <p:sp>
        <p:nvSpPr>
          <p:cNvPr id="259" name="Google Shape;259;p10"/>
          <p:cNvSpPr/>
          <p:nvPr/>
        </p:nvSpPr>
        <p:spPr>
          <a:xfrm>
            <a:off x="4229100" y="88582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Bivariate Analysis Uncovers Critical Relationships Between Features</a:t>
            </a:r>
            <a:endParaRPr b="0" i="0" sz="1602" u="none" cap="none" strike="noStrike">
              <a:solidFill>
                <a:schemeClr val="dk1"/>
              </a:solidFill>
              <a:latin typeface="Calibri"/>
              <a:ea typeface="Calibri"/>
              <a:cs typeface="Calibri"/>
              <a:sym typeface="Calibri"/>
            </a:endParaRPr>
          </a:p>
        </p:txBody>
      </p:sp>
      <p:sp>
        <p:nvSpPr>
          <p:cNvPr id="260" name="Google Shape;260;p10"/>
          <p:cNvSpPr/>
          <p:nvPr/>
        </p:nvSpPr>
        <p:spPr>
          <a:xfrm>
            <a:off x="4229100" y="1720193"/>
            <a:ext cx="4486275" cy="411435"/>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942"/>
              <a:buFont typeface="Calibri"/>
              <a:buNone/>
            </a:pPr>
            <a:r>
              <a:rPr b="0" i="0" lang="en-US" sz="942" u="none" cap="none" strike="noStrike">
                <a:solidFill>
                  <a:srgbClr val="495057"/>
                </a:solidFill>
                <a:latin typeface="Calibri"/>
                <a:ea typeface="Calibri"/>
                <a:cs typeface="Calibri"/>
                <a:sym typeface="Calibri"/>
              </a:rPr>
              <a:t>Bivariate analysis explores how two variables interact, helping us identify which factors directly influence the target variable, the car price.</a:t>
            </a:r>
            <a:endParaRPr b="0" i="0" sz="942" u="none" cap="none" strike="noStrike">
              <a:solidFill>
                <a:schemeClr val="dk1"/>
              </a:solidFill>
              <a:latin typeface="Calibri"/>
              <a:ea typeface="Calibri"/>
              <a:cs typeface="Calibri"/>
              <a:sym typeface="Calibri"/>
            </a:endParaRPr>
          </a:p>
        </p:txBody>
      </p:sp>
      <p:pic>
        <p:nvPicPr>
          <p:cNvPr descr="preencoded.png" id="261" name="Google Shape;261;p10"/>
          <p:cNvPicPr preferRelativeResize="0"/>
          <p:nvPr/>
        </p:nvPicPr>
        <p:blipFill rotWithShape="1">
          <a:blip r:embed="rId5">
            <a:alphaModFix/>
          </a:blip>
          <a:srcRect b="0" l="0" r="0" t="0"/>
          <a:stretch/>
        </p:blipFill>
        <p:spPr>
          <a:xfrm>
            <a:off x="4229100" y="2397733"/>
            <a:ext cx="96441" cy="128588"/>
          </a:xfrm>
          <a:prstGeom prst="rect">
            <a:avLst/>
          </a:prstGeom>
          <a:noFill/>
          <a:ln>
            <a:noFill/>
          </a:ln>
        </p:spPr>
      </p:pic>
      <p:sp>
        <p:nvSpPr>
          <p:cNvPr id="262" name="Google Shape;262;p10"/>
          <p:cNvSpPr/>
          <p:nvPr/>
        </p:nvSpPr>
        <p:spPr>
          <a:xfrm>
            <a:off x="4432697" y="2345941"/>
            <a:ext cx="4282678"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Performance Drivers:</a:t>
            </a:r>
            <a:r>
              <a:rPr b="0" i="0" lang="en-US" sz="834" u="none" cap="none" strike="noStrike">
                <a:solidFill>
                  <a:srgbClr val="495057"/>
                </a:solidFill>
                <a:latin typeface="Calibri"/>
                <a:ea typeface="Calibri"/>
                <a:cs typeface="Calibri"/>
                <a:sym typeface="Calibri"/>
              </a:rPr>
              <a:t> Engine size and Power show a strong positive correlation with Price. As performance increases, so does the value.</a:t>
            </a:r>
            <a:endParaRPr b="0" i="0" sz="784" u="none" cap="none" strike="noStrike">
              <a:solidFill>
                <a:schemeClr val="dk1"/>
              </a:solidFill>
              <a:latin typeface="Calibri"/>
              <a:ea typeface="Calibri"/>
              <a:cs typeface="Calibri"/>
              <a:sym typeface="Calibri"/>
            </a:endParaRPr>
          </a:p>
        </p:txBody>
      </p:sp>
      <p:pic>
        <p:nvPicPr>
          <p:cNvPr descr="preencoded.png" id="263" name="Google Shape;263;p10"/>
          <p:cNvPicPr preferRelativeResize="0"/>
          <p:nvPr/>
        </p:nvPicPr>
        <p:blipFill rotWithShape="1">
          <a:blip r:embed="rId6">
            <a:alphaModFix/>
          </a:blip>
          <a:srcRect b="0" l="0" r="0" t="0"/>
          <a:stretch/>
        </p:blipFill>
        <p:spPr>
          <a:xfrm>
            <a:off x="4229100" y="2883508"/>
            <a:ext cx="96441" cy="128588"/>
          </a:xfrm>
          <a:prstGeom prst="rect">
            <a:avLst/>
          </a:prstGeom>
          <a:noFill/>
          <a:ln>
            <a:noFill/>
          </a:ln>
        </p:spPr>
      </p:pic>
      <p:sp>
        <p:nvSpPr>
          <p:cNvPr id="264" name="Google Shape;264;p10"/>
          <p:cNvSpPr/>
          <p:nvPr/>
        </p:nvSpPr>
        <p:spPr>
          <a:xfrm>
            <a:off x="4432697" y="2831716"/>
            <a:ext cx="4282678"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Depreciation:</a:t>
            </a:r>
            <a:r>
              <a:rPr b="0" i="0" lang="en-US" sz="834" u="none" cap="none" strike="noStrike">
                <a:solidFill>
                  <a:srgbClr val="495057"/>
                </a:solidFill>
                <a:latin typeface="Calibri"/>
                <a:ea typeface="Calibri"/>
                <a:cs typeface="Calibri"/>
                <a:sym typeface="Calibri"/>
              </a:rPr>
              <a:t> Car Age shows a strong negative correlation with Price. Recent models are significantly more expensive.</a:t>
            </a:r>
            <a:endParaRPr b="0" i="0" sz="784" u="none" cap="none" strike="noStrike">
              <a:solidFill>
                <a:schemeClr val="dk1"/>
              </a:solidFill>
              <a:latin typeface="Calibri"/>
              <a:ea typeface="Calibri"/>
              <a:cs typeface="Calibri"/>
              <a:sym typeface="Calibri"/>
            </a:endParaRPr>
          </a:p>
        </p:txBody>
      </p:sp>
      <p:pic>
        <p:nvPicPr>
          <p:cNvPr descr="preencoded.png" id="265" name="Google Shape;265;p10"/>
          <p:cNvPicPr preferRelativeResize="0"/>
          <p:nvPr/>
        </p:nvPicPr>
        <p:blipFill rotWithShape="1">
          <a:blip r:embed="rId7">
            <a:alphaModFix/>
          </a:blip>
          <a:srcRect b="0" l="0" r="0" t="0"/>
          <a:stretch/>
        </p:blipFill>
        <p:spPr>
          <a:xfrm>
            <a:off x="4229100" y="3369283"/>
            <a:ext cx="128588" cy="128588"/>
          </a:xfrm>
          <a:prstGeom prst="rect">
            <a:avLst/>
          </a:prstGeom>
          <a:noFill/>
          <a:ln>
            <a:noFill/>
          </a:ln>
        </p:spPr>
      </p:pic>
      <p:sp>
        <p:nvSpPr>
          <p:cNvPr id="266" name="Google Shape;266;p10"/>
          <p:cNvSpPr/>
          <p:nvPr/>
        </p:nvSpPr>
        <p:spPr>
          <a:xfrm>
            <a:off x="4464844" y="3317491"/>
            <a:ext cx="4250531"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Fuel Efficiency:</a:t>
            </a:r>
            <a:r>
              <a:rPr b="0" i="0" lang="en-US" sz="834" u="none" cap="none" strike="noStrike">
                <a:solidFill>
                  <a:srgbClr val="495057"/>
                </a:solidFill>
                <a:latin typeface="Calibri"/>
                <a:ea typeface="Calibri"/>
                <a:cs typeface="Calibri"/>
                <a:sym typeface="Calibri"/>
              </a:rPr>
              <a:t> Mileage is negatively correlated with Power and Engine size, reflecting the performance-efficiency trade-off.</a:t>
            </a:r>
            <a:endParaRPr b="0" i="0" sz="784" u="none" cap="none" strike="noStrike">
              <a:solidFill>
                <a:schemeClr val="dk1"/>
              </a:solidFill>
              <a:latin typeface="Calibri"/>
              <a:ea typeface="Calibri"/>
              <a:cs typeface="Calibri"/>
              <a:sym typeface="Calibri"/>
            </a:endParaRPr>
          </a:p>
        </p:txBody>
      </p:sp>
      <p:pic>
        <p:nvPicPr>
          <p:cNvPr descr="preencoded.png" id="267" name="Google Shape;267;p10"/>
          <p:cNvPicPr preferRelativeResize="0"/>
          <p:nvPr/>
        </p:nvPicPr>
        <p:blipFill rotWithShape="1">
          <a:blip r:embed="rId8">
            <a:alphaModFix/>
          </a:blip>
          <a:srcRect b="0" l="0" r="0" t="0"/>
          <a:stretch/>
        </p:blipFill>
        <p:spPr>
          <a:xfrm>
            <a:off x="4229100" y="3855058"/>
            <a:ext cx="160734" cy="128588"/>
          </a:xfrm>
          <a:prstGeom prst="rect">
            <a:avLst/>
          </a:prstGeom>
          <a:noFill/>
          <a:ln>
            <a:noFill/>
          </a:ln>
        </p:spPr>
      </p:pic>
      <p:sp>
        <p:nvSpPr>
          <p:cNvPr id="268" name="Google Shape;268;p10"/>
          <p:cNvSpPr/>
          <p:nvPr/>
        </p:nvSpPr>
        <p:spPr>
          <a:xfrm>
            <a:off x="4496991" y="3803266"/>
            <a:ext cx="4218384" cy="3429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495057"/>
              </a:buClr>
              <a:buSzPts val="784"/>
              <a:buFont typeface="Calibri"/>
              <a:buNone/>
            </a:pPr>
            <a:r>
              <a:rPr b="1" i="0" lang="en-US" sz="784" u="none" cap="none" strike="noStrike">
                <a:solidFill>
                  <a:srgbClr val="495057"/>
                </a:solidFill>
                <a:latin typeface="Calibri"/>
                <a:ea typeface="Calibri"/>
                <a:cs typeface="Calibri"/>
                <a:sym typeface="Calibri"/>
              </a:rPr>
              <a:t>Ownership:</a:t>
            </a:r>
            <a:r>
              <a:rPr b="0" i="0" lang="en-US" sz="834" u="none" cap="none" strike="noStrike">
                <a:solidFill>
                  <a:srgbClr val="495057"/>
                </a:solidFill>
                <a:latin typeface="Calibri"/>
                <a:ea typeface="Calibri"/>
                <a:cs typeface="Calibri"/>
                <a:sym typeface="Calibri"/>
              </a:rPr>
              <a:t> First-owner cars command higher prices, followed by second-owner vehicles.</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preencoded.png" id="274" name="Google Shape;274;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5" name="Google Shape;275;p11"/>
          <p:cNvSpPr/>
          <p:nvPr/>
        </p:nvSpPr>
        <p:spPr>
          <a:xfrm>
            <a:off x="0" y="0"/>
            <a:ext cx="5486400" cy="5143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5479256" y="0"/>
            <a:ext cx="7144" cy="5143500"/>
          </a:xfrm>
          <a:prstGeom prst="rect">
            <a:avLst/>
          </a:prstGeom>
          <a:solidFill>
            <a:srgbClr val="E9E9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428625" y="571500"/>
            <a:ext cx="47720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20C997"/>
              </a:buClr>
              <a:buSzPts val="1193"/>
              <a:buFont typeface="Calibri"/>
              <a:buNone/>
            </a:pPr>
            <a:r>
              <a:rPr b="1" i="0" lang="en-US" sz="1193" u="none" cap="none" strike="noStrike">
                <a:solidFill>
                  <a:srgbClr val="20C997"/>
                </a:solidFill>
                <a:latin typeface="Calibri"/>
                <a:ea typeface="Calibri"/>
                <a:cs typeface="Calibri"/>
                <a:sym typeface="Calibri"/>
              </a:rPr>
              <a:t>Correlation Matrix</a:t>
            </a:r>
            <a:endParaRPr b="0" i="0" sz="1193" u="none" cap="none" strike="noStrike">
              <a:solidFill>
                <a:schemeClr val="dk1"/>
              </a:solidFill>
              <a:latin typeface="Calibri"/>
              <a:ea typeface="Calibri"/>
              <a:cs typeface="Calibri"/>
              <a:sym typeface="Calibri"/>
            </a:endParaRPr>
          </a:p>
        </p:txBody>
      </p:sp>
      <p:sp>
        <p:nvSpPr>
          <p:cNvPr id="278" name="Google Shape;278;p11"/>
          <p:cNvSpPr/>
          <p:nvPr/>
        </p:nvSpPr>
        <p:spPr>
          <a:xfrm>
            <a:off x="1581141" y="976908"/>
            <a:ext cx="876281" cy="187523"/>
          </a:xfrm>
          <a:prstGeom prst="rect">
            <a:avLst/>
          </a:prstGeom>
          <a:noFill/>
          <a:ln>
            <a:noFill/>
          </a:ln>
        </p:spPr>
        <p:txBody>
          <a:bodyPr anchorCtr="0" anchor="ctr" bIns="85075" lIns="0" spcFirstLastPara="1" rIns="0" wrap="square" tIns="0">
            <a:spAutoFit/>
          </a:bodyPr>
          <a:lstStyle/>
          <a:p>
            <a:pPr indent="0" lvl="0" marL="0" marR="0" rtl="0" algn="ctr">
              <a:lnSpc>
                <a:spcPct val="136986"/>
              </a:lnSpc>
              <a:spcBef>
                <a:spcPts val="0"/>
              </a:spcBef>
              <a:spcAft>
                <a:spcPts val="0"/>
              </a:spcAft>
              <a:buClr>
                <a:srgbClr val="495057"/>
              </a:buClr>
              <a:buSzPts val="584"/>
              <a:buFont typeface="Calibri"/>
              <a:buNone/>
            </a:pPr>
            <a:r>
              <a:rPr b="1" i="0" lang="en-US" sz="584" u="none" cap="none" strike="noStrike">
                <a:solidFill>
                  <a:srgbClr val="495057"/>
                </a:solidFill>
                <a:latin typeface="Calibri"/>
                <a:ea typeface="Calibri"/>
                <a:cs typeface="Calibri"/>
                <a:sym typeface="Calibri"/>
              </a:rPr>
              <a:t>Price</a:t>
            </a:r>
            <a:endParaRPr b="0" i="0" sz="584" u="none" cap="none" strike="noStrike">
              <a:solidFill>
                <a:schemeClr val="dk1"/>
              </a:solidFill>
              <a:latin typeface="Calibri"/>
              <a:ea typeface="Calibri"/>
              <a:cs typeface="Calibri"/>
              <a:sym typeface="Calibri"/>
            </a:endParaRPr>
          </a:p>
        </p:txBody>
      </p:sp>
      <p:sp>
        <p:nvSpPr>
          <p:cNvPr id="279" name="Google Shape;279;p11"/>
          <p:cNvSpPr/>
          <p:nvPr/>
        </p:nvSpPr>
        <p:spPr>
          <a:xfrm>
            <a:off x="2485997" y="976908"/>
            <a:ext cx="876281" cy="187523"/>
          </a:xfrm>
          <a:prstGeom prst="rect">
            <a:avLst/>
          </a:prstGeom>
          <a:noFill/>
          <a:ln>
            <a:noFill/>
          </a:ln>
        </p:spPr>
        <p:txBody>
          <a:bodyPr anchorCtr="0" anchor="ctr" bIns="85075" lIns="0" spcFirstLastPara="1" rIns="0" wrap="square" tIns="0">
            <a:spAutoFit/>
          </a:bodyPr>
          <a:lstStyle/>
          <a:p>
            <a:pPr indent="0" lvl="0" marL="0" marR="0" rtl="0" algn="ctr">
              <a:lnSpc>
                <a:spcPct val="136986"/>
              </a:lnSpc>
              <a:spcBef>
                <a:spcPts val="0"/>
              </a:spcBef>
              <a:spcAft>
                <a:spcPts val="0"/>
              </a:spcAft>
              <a:buClr>
                <a:srgbClr val="495057"/>
              </a:buClr>
              <a:buSzPts val="584"/>
              <a:buFont typeface="Calibri"/>
              <a:buNone/>
            </a:pPr>
            <a:r>
              <a:rPr b="1" i="0" lang="en-US" sz="584" u="none" cap="none" strike="noStrike">
                <a:solidFill>
                  <a:srgbClr val="495057"/>
                </a:solidFill>
                <a:latin typeface="Calibri"/>
                <a:ea typeface="Calibri"/>
                <a:cs typeface="Calibri"/>
                <a:sym typeface="Calibri"/>
              </a:rPr>
              <a:t>Engine</a:t>
            </a:r>
            <a:endParaRPr b="0" i="0" sz="584" u="none" cap="none" strike="noStrike">
              <a:solidFill>
                <a:schemeClr val="dk1"/>
              </a:solidFill>
              <a:latin typeface="Calibri"/>
              <a:ea typeface="Calibri"/>
              <a:cs typeface="Calibri"/>
              <a:sym typeface="Calibri"/>
            </a:endParaRPr>
          </a:p>
        </p:txBody>
      </p:sp>
      <p:sp>
        <p:nvSpPr>
          <p:cNvPr id="280" name="Google Shape;280;p11"/>
          <p:cNvSpPr/>
          <p:nvPr/>
        </p:nvSpPr>
        <p:spPr>
          <a:xfrm>
            <a:off x="3390853" y="976908"/>
            <a:ext cx="876281" cy="187523"/>
          </a:xfrm>
          <a:prstGeom prst="rect">
            <a:avLst/>
          </a:prstGeom>
          <a:noFill/>
          <a:ln>
            <a:noFill/>
          </a:ln>
        </p:spPr>
        <p:txBody>
          <a:bodyPr anchorCtr="0" anchor="ctr" bIns="85075" lIns="0" spcFirstLastPara="1" rIns="0" wrap="square" tIns="0">
            <a:spAutoFit/>
          </a:bodyPr>
          <a:lstStyle/>
          <a:p>
            <a:pPr indent="0" lvl="0" marL="0" marR="0" rtl="0" algn="ctr">
              <a:lnSpc>
                <a:spcPct val="136986"/>
              </a:lnSpc>
              <a:spcBef>
                <a:spcPts val="0"/>
              </a:spcBef>
              <a:spcAft>
                <a:spcPts val="0"/>
              </a:spcAft>
              <a:buClr>
                <a:srgbClr val="495057"/>
              </a:buClr>
              <a:buSzPts val="584"/>
              <a:buFont typeface="Calibri"/>
              <a:buNone/>
            </a:pPr>
            <a:r>
              <a:rPr b="1" i="0" lang="en-US" sz="584" u="none" cap="none" strike="noStrike">
                <a:solidFill>
                  <a:srgbClr val="495057"/>
                </a:solidFill>
                <a:latin typeface="Calibri"/>
                <a:ea typeface="Calibri"/>
                <a:cs typeface="Calibri"/>
                <a:sym typeface="Calibri"/>
              </a:rPr>
              <a:t>Power</a:t>
            </a:r>
            <a:endParaRPr b="0" i="0" sz="584" u="none" cap="none" strike="noStrike">
              <a:solidFill>
                <a:schemeClr val="dk1"/>
              </a:solidFill>
              <a:latin typeface="Calibri"/>
              <a:ea typeface="Calibri"/>
              <a:cs typeface="Calibri"/>
              <a:sym typeface="Calibri"/>
            </a:endParaRPr>
          </a:p>
        </p:txBody>
      </p:sp>
      <p:sp>
        <p:nvSpPr>
          <p:cNvPr id="281" name="Google Shape;281;p11"/>
          <p:cNvSpPr/>
          <p:nvPr/>
        </p:nvSpPr>
        <p:spPr>
          <a:xfrm>
            <a:off x="4295710" y="976908"/>
            <a:ext cx="876365" cy="187523"/>
          </a:xfrm>
          <a:prstGeom prst="rect">
            <a:avLst/>
          </a:prstGeom>
          <a:noFill/>
          <a:ln>
            <a:noFill/>
          </a:ln>
        </p:spPr>
        <p:txBody>
          <a:bodyPr anchorCtr="0" anchor="ctr" bIns="85075" lIns="0" spcFirstLastPara="1" rIns="0" wrap="square" tIns="0">
            <a:spAutoFit/>
          </a:bodyPr>
          <a:lstStyle/>
          <a:p>
            <a:pPr indent="0" lvl="0" marL="0" marR="0" rtl="0" algn="ctr">
              <a:lnSpc>
                <a:spcPct val="136986"/>
              </a:lnSpc>
              <a:spcBef>
                <a:spcPts val="0"/>
              </a:spcBef>
              <a:spcAft>
                <a:spcPts val="0"/>
              </a:spcAft>
              <a:buClr>
                <a:srgbClr val="495057"/>
              </a:buClr>
              <a:buSzPts val="584"/>
              <a:buFont typeface="Calibri"/>
              <a:buNone/>
            </a:pPr>
            <a:r>
              <a:rPr b="1" i="0" lang="en-US" sz="584" u="none" cap="none" strike="noStrike">
                <a:solidFill>
                  <a:srgbClr val="495057"/>
                </a:solidFill>
                <a:latin typeface="Calibri"/>
                <a:ea typeface="Calibri"/>
                <a:cs typeface="Calibri"/>
                <a:sym typeface="Calibri"/>
              </a:rPr>
              <a:t>Mileage</a:t>
            </a:r>
            <a:endParaRPr b="0" i="0" sz="584" u="none" cap="none" strike="noStrike">
              <a:solidFill>
                <a:schemeClr val="dk1"/>
              </a:solidFill>
              <a:latin typeface="Calibri"/>
              <a:ea typeface="Calibri"/>
              <a:cs typeface="Calibri"/>
              <a:sym typeface="Calibri"/>
            </a:endParaRPr>
          </a:p>
        </p:txBody>
      </p:sp>
      <p:sp>
        <p:nvSpPr>
          <p:cNvPr id="282" name="Google Shape;282;p11"/>
          <p:cNvSpPr/>
          <p:nvPr/>
        </p:nvSpPr>
        <p:spPr>
          <a:xfrm>
            <a:off x="457200" y="1193006"/>
            <a:ext cx="1095366" cy="571500"/>
          </a:xfrm>
          <a:prstGeom prst="rect">
            <a:avLst/>
          </a:prstGeom>
          <a:noFill/>
          <a:ln>
            <a:noFill/>
          </a:ln>
        </p:spPr>
        <p:txBody>
          <a:bodyPr anchorCtr="0" anchor="ctr" bIns="0" lIns="0" spcFirstLastPara="1" rIns="127500" wrap="square" tIns="0">
            <a:spAutoFit/>
          </a:bodyPr>
          <a:lstStyle/>
          <a:p>
            <a:pPr indent="0" lvl="0" marL="0" marR="0" rtl="0" algn="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Price</a:t>
            </a:r>
            <a:endParaRPr b="0" i="0" sz="683" u="none" cap="none" strike="noStrike">
              <a:solidFill>
                <a:schemeClr val="dk1"/>
              </a:solidFill>
              <a:latin typeface="Calibri"/>
              <a:ea typeface="Calibri"/>
              <a:cs typeface="Calibri"/>
              <a:sym typeface="Calibri"/>
            </a:endParaRPr>
          </a:p>
        </p:txBody>
      </p:sp>
      <p:sp>
        <p:nvSpPr>
          <p:cNvPr id="283" name="Google Shape;283;p11"/>
          <p:cNvSpPr/>
          <p:nvPr/>
        </p:nvSpPr>
        <p:spPr>
          <a:xfrm>
            <a:off x="1581141" y="1193006"/>
            <a:ext cx="876281" cy="57150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1581141" y="119300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1.00</a:t>
            </a:r>
            <a:endParaRPr b="0" i="0" sz="683" u="none" cap="none" strike="noStrike">
              <a:solidFill>
                <a:schemeClr val="dk1"/>
              </a:solidFill>
              <a:latin typeface="Calibri"/>
              <a:ea typeface="Calibri"/>
              <a:cs typeface="Calibri"/>
              <a:sym typeface="Calibri"/>
            </a:endParaRPr>
          </a:p>
        </p:txBody>
      </p:sp>
      <p:sp>
        <p:nvSpPr>
          <p:cNvPr id="285" name="Google Shape;285;p11"/>
          <p:cNvSpPr/>
          <p:nvPr/>
        </p:nvSpPr>
        <p:spPr>
          <a:xfrm>
            <a:off x="2485997" y="1193006"/>
            <a:ext cx="876281" cy="571500"/>
          </a:xfrm>
          <a:prstGeom prst="rect">
            <a:avLst/>
          </a:prstGeom>
          <a:solidFill>
            <a:srgbClr val="20C997">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2485997" y="119300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0.69</a:t>
            </a:r>
            <a:endParaRPr b="0" i="0" sz="683" u="none" cap="none" strike="noStrike">
              <a:solidFill>
                <a:schemeClr val="dk1"/>
              </a:solidFill>
              <a:latin typeface="Calibri"/>
              <a:ea typeface="Calibri"/>
              <a:cs typeface="Calibri"/>
              <a:sym typeface="Calibri"/>
            </a:endParaRPr>
          </a:p>
        </p:txBody>
      </p:sp>
      <p:sp>
        <p:nvSpPr>
          <p:cNvPr id="287" name="Google Shape;287;p11"/>
          <p:cNvSpPr/>
          <p:nvPr/>
        </p:nvSpPr>
        <p:spPr>
          <a:xfrm>
            <a:off x="3390853" y="1193006"/>
            <a:ext cx="876281" cy="571500"/>
          </a:xfrm>
          <a:prstGeom prst="rect">
            <a:avLst/>
          </a:prstGeom>
          <a:solidFill>
            <a:srgbClr val="20C997">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3390853" y="119300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0.77</a:t>
            </a:r>
            <a:endParaRPr b="0" i="0" sz="683" u="none" cap="none" strike="noStrike">
              <a:solidFill>
                <a:schemeClr val="dk1"/>
              </a:solidFill>
              <a:latin typeface="Calibri"/>
              <a:ea typeface="Calibri"/>
              <a:cs typeface="Calibri"/>
              <a:sym typeface="Calibri"/>
            </a:endParaRPr>
          </a:p>
        </p:txBody>
      </p:sp>
      <p:sp>
        <p:nvSpPr>
          <p:cNvPr id="289" name="Google Shape;289;p11"/>
          <p:cNvSpPr/>
          <p:nvPr/>
        </p:nvSpPr>
        <p:spPr>
          <a:xfrm>
            <a:off x="4295710" y="1193006"/>
            <a:ext cx="876365" cy="571500"/>
          </a:xfrm>
          <a:prstGeom prst="rect">
            <a:avLst/>
          </a:prstGeom>
          <a:solidFill>
            <a:srgbClr val="FD7E14">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4295710" y="1193006"/>
            <a:ext cx="876365"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-0.31</a:t>
            </a:r>
            <a:endParaRPr b="0" i="0" sz="683" u="none" cap="none" strike="noStrike">
              <a:solidFill>
                <a:schemeClr val="dk1"/>
              </a:solidFill>
              <a:latin typeface="Calibri"/>
              <a:ea typeface="Calibri"/>
              <a:cs typeface="Calibri"/>
              <a:sym typeface="Calibri"/>
            </a:endParaRPr>
          </a:p>
        </p:txBody>
      </p:sp>
      <p:sp>
        <p:nvSpPr>
          <p:cNvPr id="291" name="Google Shape;291;p11"/>
          <p:cNvSpPr/>
          <p:nvPr/>
        </p:nvSpPr>
        <p:spPr>
          <a:xfrm>
            <a:off x="457200" y="1793081"/>
            <a:ext cx="1095366" cy="571500"/>
          </a:xfrm>
          <a:prstGeom prst="rect">
            <a:avLst/>
          </a:prstGeom>
          <a:noFill/>
          <a:ln>
            <a:noFill/>
          </a:ln>
        </p:spPr>
        <p:txBody>
          <a:bodyPr anchorCtr="0" anchor="ctr" bIns="0" lIns="0" spcFirstLastPara="1" rIns="127500" wrap="square" tIns="0">
            <a:spAutoFit/>
          </a:bodyPr>
          <a:lstStyle/>
          <a:p>
            <a:pPr indent="0" lvl="0" marL="0" marR="0" rtl="0" algn="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Engine</a:t>
            </a:r>
            <a:endParaRPr b="0" i="0" sz="683" u="none" cap="none" strike="noStrike">
              <a:solidFill>
                <a:schemeClr val="dk1"/>
              </a:solidFill>
              <a:latin typeface="Calibri"/>
              <a:ea typeface="Calibri"/>
              <a:cs typeface="Calibri"/>
              <a:sym typeface="Calibri"/>
            </a:endParaRPr>
          </a:p>
        </p:txBody>
      </p:sp>
      <p:sp>
        <p:nvSpPr>
          <p:cNvPr id="292" name="Google Shape;292;p11"/>
          <p:cNvSpPr/>
          <p:nvPr/>
        </p:nvSpPr>
        <p:spPr>
          <a:xfrm>
            <a:off x="1581141" y="1793081"/>
            <a:ext cx="876281" cy="571500"/>
          </a:xfrm>
          <a:prstGeom prst="rect">
            <a:avLst/>
          </a:prstGeom>
          <a:solidFill>
            <a:srgbClr val="20C997">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1581141" y="179308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0.69</a:t>
            </a:r>
            <a:endParaRPr b="0" i="0" sz="683" u="none" cap="none" strike="noStrike">
              <a:solidFill>
                <a:schemeClr val="dk1"/>
              </a:solidFill>
              <a:latin typeface="Calibri"/>
              <a:ea typeface="Calibri"/>
              <a:cs typeface="Calibri"/>
              <a:sym typeface="Calibri"/>
            </a:endParaRPr>
          </a:p>
        </p:txBody>
      </p:sp>
      <p:sp>
        <p:nvSpPr>
          <p:cNvPr id="294" name="Google Shape;294;p11"/>
          <p:cNvSpPr/>
          <p:nvPr/>
        </p:nvSpPr>
        <p:spPr>
          <a:xfrm>
            <a:off x="2485997" y="1793081"/>
            <a:ext cx="876281" cy="57150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2485997" y="179308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1.00</a:t>
            </a:r>
            <a:endParaRPr b="0" i="0" sz="683" u="none" cap="none" strike="noStrike">
              <a:solidFill>
                <a:schemeClr val="dk1"/>
              </a:solidFill>
              <a:latin typeface="Calibri"/>
              <a:ea typeface="Calibri"/>
              <a:cs typeface="Calibri"/>
              <a:sym typeface="Calibri"/>
            </a:endParaRPr>
          </a:p>
        </p:txBody>
      </p:sp>
      <p:sp>
        <p:nvSpPr>
          <p:cNvPr id="296" name="Google Shape;296;p11"/>
          <p:cNvSpPr/>
          <p:nvPr/>
        </p:nvSpPr>
        <p:spPr>
          <a:xfrm>
            <a:off x="3390853" y="1793081"/>
            <a:ext cx="876281" cy="571500"/>
          </a:xfrm>
          <a:prstGeom prst="rect">
            <a:avLst/>
          </a:prstGeom>
          <a:solidFill>
            <a:srgbClr val="20C997">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3390853" y="179308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0.86</a:t>
            </a:r>
            <a:endParaRPr b="0" i="0" sz="683" u="none" cap="none" strike="noStrike">
              <a:solidFill>
                <a:schemeClr val="dk1"/>
              </a:solidFill>
              <a:latin typeface="Calibri"/>
              <a:ea typeface="Calibri"/>
              <a:cs typeface="Calibri"/>
              <a:sym typeface="Calibri"/>
            </a:endParaRPr>
          </a:p>
        </p:txBody>
      </p:sp>
      <p:sp>
        <p:nvSpPr>
          <p:cNvPr id="298" name="Google Shape;298;p11"/>
          <p:cNvSpPr/>
          <p:nvPr/>
        </p:nvSpPr>
        <p:spPr>
          <a:xfrm>
            <a:off x="4295710" y="1793081"/>
            <a:ext cx="876365" cy="571500"/>
          </a:xfrm>
          <a:prstGeom prst="rect">
            <a:avLst/>
          </a:prstGeom>
          <a:solidFill>
            <a:srgbClr val="FD7E1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4295710" y="1793081"/>
            <a:ext cx="876365"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-0.71</a:t>
            </a:r>
            <a:endParaRPr b="0" i="0" sz="683" u="none" cap="none" strike="noStrike">
              <a:solidFill>
                <a:schemeClr val="dk1"/>
              </a:solidFill>
              <a:latin typeface="Calibri"/>
              <a:ea typeface="Calibri"/>
              <a:cs typeface="Calibri"/>
              <a:sym typeface="Calibri"/>
            </a:endParaRPr>
          </a:p>
        </p:txBody>
      </p:sp>
      <p:sp>
        <p:nvSpPr>
          <p:cNvPr id="300" name="Google Shape;300;p11"/>
          <p:cNvSpPr/>
          <p:nvPr/>
        </p:nvSpPr>
        <p:spPr>
          <a:xfrm>
            <a:off x="457200" y="2393156"/>
            <a:ext cx="1095366" cy="571500"/>
          </a:xfrm>
          <a:prstGeom prst="rect">
            <a:avLst/>
          </a:prstGeom>
          <a:noFill/>
          <a:ln>
            <a:noFill/>
          </a:ln>
        </p:spPr>
        <p:txBody>
          <a:bodyPr anchorCtr="0" anchor="ctr" bIns="0" lIns="0" spcFirstLastPara="1" rIns="127500" wrap="square" tIns="0">
            <a:spAutoFit/>
          </a:bodyPr>
          <a:lstStyle/>
          <a:p>
            <a:pPr indent="0" lvl="0" marL="0" marR="0" rtl="0" algn="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Power</a:t>
            </a:r>
            <a:endParaRPr b="0" i="0" sz="683" u="none" cap="none" strike="noStrike">
              <a:solidFill>
                <a:schemeClr val="dk1"/>
              </a:solidFill>
              <a:latin typeface="Calibri"/>
              <a:ea typeface="Calibri"/>
              <a:cs typeface="Calibri"/>
              <a:sym typeface="Calibri"/>
            </a:endParaRPr>
          </a:p>
        </p:txBody>
      </p:sp>
      <p:sp>
        <p:nvSpPr>
          <p:cNvPr id="301" name="Google Shape;301;p11"/>
          <p:cNvSpPr/>
          <p:nvPr/>
        </p:nvSpPr>
        <p:spPr>
          <a:xfrm>
            <a:off x="1581141" y="2393156"/>
            <a:ext cx="876281" cy="571500"/>
          </a:xfrm>
          <a:prstGeom prst="rect">
            <a:avLst/>
          </a:prstGeom>
          <a:solidFill>
            <a:srgbClr val="20C997">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1581141" y="239315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0.77</a:t>
            </a:r>
            <a:endParaRPr b="0" i="0" sz="683" u="none" cap="none" strike="noStrike">
              <a:solidFill>
                <a:schemeClr val="dk1"/>
              </a:solidFill>
              <a:latin typeface="Calibri"/>
              <a:ea typeface="Calibri"/>
              <a:cs typeface="Calibri"/>
              <a:sym typeface="Calibri"/>
            </a:endParaRPr>
          </a:p>
        </p:txBody>
      </p:sp>
      <p:sp>
        <p:nvSpPr>
          <p:cNvPr id="303" name="Google Shape;303;p11"/>
          <p:cNvSpPr/>
          <p:nvPr/>
        </p:nvSpPr>
        <p:spPr>
          <a:xfrm>
            <a:off x="2485997" y="2393156"/>
            <a:ext cx="876281" cy="571500"/>
          </a:xfrm>
          <a:prstGeom prst="rect">
            <a:avLst/>
          </a:prstGeom>
          <a:solidFill>
            <a:srgbClr val="20C997">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2485997" y="239315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0.86</a:t>
            </a:r>
            <a:endParaRPr b="0" i="0" sz="683" u="none" cap="none" strike="noStrike">
              <a:solidFill>
                <a:schemeClr val="dk1"/>
              </a:solidFill>
              <a:latin typeface="Calibri"/>
              <a:ea typeface="Calibri"/>
              <a:cs typeface="Calibri"/>
              <a:sym typeface="Calibri"/>
            </a:endParaRPr>
          </a:p>
        </p:txBody>
      </p:sp>
      <p:sp>
        <p:nvSpPr>
          <p:cNvPr id="305" name="Google Shape;305;p11"/>
          <p:cNvSpPr/>
          <p:nvPr/>
        </p:nvSpPr>
        <p:spPr>
          <a:xfrm>
            <a:off x="3390853" y="2393156"/>
            <a:ext cx="876281" cy="57150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3390853" y="2393156"/>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1.00</a:t>
            </a:r>
            <a:endParaRPr b="0" i="0" sz="683" u="none" cap="none" strike="noStrike">
              <a:solidFill>
                <a:schemeClr val="dk1"/>
              </a:solidFill>
              <a:latin typeface="Calibri"/>
              <a:ea typeface="Calibri"/>
              <a:cs typeface="Calibri"/>
              <a:sym typeface="Calibri"/>
            </a:endParaRPr>
          </a:p>
        </p:txBody>
      </p:sp>
      <p:sp>
        <p:nvSpPr>
          <p:cNvPr id="307" name="Google Shape;307;p11"/>
          <p:cNvSpPr/>
          <p:nvPr/>
        </p:nvSpPr>
        <p:spPr>
          <a:xfrm>
            <a:off x="4295710" y="2393156"/>
            <a:ext cx="876365" cy="571500"/>
          </a:xfrm>
          <a:prstGeom prst="rect">
            <a:avLst/>
          </a:prstGeom>
          <a:solidFill>
            <a:srgbClr val="FD7E1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4295710" y="2393156"/>
            <a:ext cx="876365"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-0.70</a:t>
            </a:r>
            <a:endParaRPr b="0" i="0" sz="683" u="none" cap="none" strike="noStrike">
              <a:solidFill>
                <a:schemeClr val="dk1"/>
              </a:solidFill>
              <a:latin typeface="Calibri"/>
              <a:ea typeface="Calibri"/>
              <a:cs typeface="Calibri"/>
              <a:sym typeface="Calibri"/>
            </a:endParaRPr>
          </a:p>
        </p:txBody>
      </p:sp>
      <p:sp>
        <p:nvSpPr>
          <p:cNvPr id="309" name="Google Shape;309;p11"/>
          <p:cNvSpPr/>
          <p:nvPr/>
        </p:nvSpPr>
        <p:spPr>
          <a:xfrm>
            <a:off x="457200" y="2993231"/>
            <a:ext cx="1095366" cy="571500"/>
          </a:xfrm>
          <a:prstGeom prst="rect">
            <a:avLst/>
          </a:prstGeom>
          <a:noFill/>
          <a:ln>
            <a:noFill/>
          </a:ln>
        </p:spPr>
        <p:txBody>
          <a:bodyPr anchorCtr="0" anchor="ctr" bIns="0" lIns="0" spcFirstLastPara="1" rIns="127500" wrap="square" tIns="0">
            <a:spAutoFit/>
          </a:bodyPr>
          <a:lstStyle/>
          <a:p>
            <a:pPr indent="0" lvl="0" marL="0" marR="0" rtl="0" algn="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Mileage</a:t>
            </a:r>
            <a:endParaRPr b="0" i="0" sz="683" u="none" cap="none" strike="noStrike">
              <a:solidFill>
                <a:schemeClr val="dk1"/>
              </a:solidFill>
              <a:latin typeface="Calibri"/>
              <a:ea typeface="Calibri"/>
              <a:cs typeface="Calibri"/>
              <a:sym typeface="Calibri"/>
            </a:endParaRPr>
          </a:p>
        </p:txBody>
      </p:sp>
      <p:sp>
        <p:nvSpPr>
          <p:cNvPr id="310" name="Google Shape;310;p11"/>
          <p:cNvSpPr/>
          <p:nvPr/>
        </p:nvSpPr>
        <p:spPr>
          <a:xfrm>
            <a:off x="1581141" y="2993231"/>
            <a:ext cx="876281" cy="571500"/>
          </a:xfrm>
          <a:prstGeom prst="rect">
            <a:avLst/>
          </a:prstGeom>
          <a:solidFill>
            <a:srgbClr val="FD7E14">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1581141" y="299323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-0.31</a:t>
            </a:r>
            <a:endParaRPr b="0" i="0" sz="683" u="none" cap="none" strike="noStrike">
              <a:solidFill>
                <a:schemeClr val="dk1"/>
              </a:solidFill>
              <a:latin typeface="Calibri"/>
              <a:ea typeface="Calibri"/>
              <a:cs typeface="Calibri"/>
              <a:sym typeface="Calibri"/>
            </a:endParaRPr>
          </a:p>
        </p:txBody>
      </p:sp>
      <p:sp>
        <p:nvSpPr>
          <p:cNvPr id="312" name="Google Shape;312;p11"/>
          <p:cNvSpPr/>
          <p:nvPr/>
        </p:nvSpPr>
        <p:spPr>
          <a:xfrm>
            <a:off x="2485997" y="2993231"/>
            <a:ext cx="876281" cy="571500"/>
          </a:xfrm>
          <a:prstGeom prst="rect">
            <a:avLst/>
          </a:prstGeom>
          <a:solidFill>
            <a:srgbClr val="FD7E1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2485997" y="299323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-0.71</a:t>
            </a:r>
            <a:endParaRPr b="0" i="0" sz="683" u="none" cap="none" strike="noStrike">
              <a:solidFill>
                <a:schemeClr val="dk1"/>
              </a:solidFill>
              <a:latin typeface="Calibri"/>
              <a:ea typeface="Calibri"/>
              <a:cs typeface="Calibri"/>
              <a:sym typeface="Calibri"/>
            </a:endParaRPr>
          </a:p>
        </p:txBody>
      </p:sp>
      <p:sp>
        <p:nvSpPr>
          <p:cNvPr id="314" name="Google Shape;314;p11"/>
          <p:cNvSpPr/>
          <p:nvPr/>
        </p:nvSpPr>
        <p:spPr>
          <a:xfrm>
            <a:off x="3390853" y="2993231"/>
            <a:ext cx="876281" cy="571500"/>
          </a:xfrm>
          <a:prstGeom prst="rect">
            <a:avLst/>
          </a:prstGeom>
          <a:solidFill>
            <a:srgbClr val="FD7E1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3390853" y="2993231"/>
            <a:ext cx="876281"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-0.70</a:t>
            </a:r>
            <a:endParaRPr b="0" i="0" sz="683" u="none" cap="none" strike="noStrike">
              <a:solidFill>
                <a:schemeClr val="dk1"/>
              </a:solidFill>
              <a:latin typeface="Calibri"/>
              <a:ea typeface="Calibri"/>
              <a:cs typeface="Calibri"/>
              <a:sym typeface="Calibri"/>
            </a:endParaRPr>
          </a:p>
        </p:txBody>
      </p:sp>
      <p:sp>
        <p:nvSpPr>
          <p:cNvPr id="316" name="Google Shape;316;p11"/>
          <p:cNvSpPr/>
          <p:nvPr/>
        </p:nvSpPr>
        <p:spPr>
          <a:xfrm>
            <a:off x="4295710" y="2993231"/>
            <a:ext cx="876365" cy="571500"/>
          </a:xfrm>
          <a:prstGeom prst="rect">
            <a:avLst/>
          </a:prstGeom>
          <a:solidFill>
            <a:srgbClr val="E9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4295710" y="2993231"/>
            <a:ext cx="876365" cy="571500"/>
          </a:xfrm>
          <a:prstGeom prst="rect">
            <a:avLst/>
          </a:prstGeom>
          <a:noFill/>
          <a:ln>
            <a:noFill/>
          </a:ln>
        </p:spPr>
        <p:txBody>
          <a:bodyPr anchorCtr="0" anchor="ctr" bIns="0" lIns="0" spcFirstLastPara="1" rIns="0" wrap="square" tIns="0">
            <a:spAutoFit/>
          </a:bodyPr>
          <a:lstStyle/>
          <a:p>
            <a:pPr indent="0" lvl="0" marL="0" marR="0" rtl="0" algn="ctr">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1.00</a:t>
            </a:r>
            <a:endParaRPr b="0" i="0" sz="683" u="none" cap="none" strike="noStrike">
              <a:solidFill>
                <a:schemeClr val="dk1"/>
              </a:solidFill>
              <a:latin typeface="Calibri"/>
              <a:ea typeface="Calibri"/>
              <a:cs typeface="Calibri"/>
              <a:sym typeface="Calibri"/>
            </a:endParaRPr>
          </a:p>
        </p:txBody>
      </p:sp>
      <p:sp>
        <p:nvSpPr>
          <p:cNvPr id="318" name="Google Shape;318;p11"/>
          <p:cNvSpPr/>
          <p:nvPr/>
        </p:nvSpPr>
        <p:spPr>
          <a:xfrm>
            <a:off x="592931" y="3807619"/>
            <a:ext cx="311869"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495057"/>
              </a:buClr>
              <a:buSzPts val="621"/>
              <a:buFont typeface="Calibri"/>
              <a:buNone/>
            </a:pPr>
            <a:r>
              <a:rPr b="0" i="0" lang="en-US" sz="621" u="none" cap="none" strike="noStrike">
                <a:solidFill>
                  <a:srgbClr val="495057"/>
                </a:solidFill>
                <a:latin typeface="Calibri"/>
                <a:ea typeface="Calibri"/>
                <a:cs typeface="Calibri"/>
                <a:sym typeface="Calibri"/>
              </a:rPr>
              <a:t>Positive</a:t>
            </a:r>
            <a:endParaRPr b="0" i="0" sz="621" u="none" cap="none" strike="noStrike">
              <a:solidFill>
                <a:schemeClr val="dk1"/>
              </a:solidFill>
              <a:latin typeface="Calibri"/>
              <a:ea typeface="Calibri"/>
              <a:cs typeface="Calibri"/>
              <a:sym typeface="Calibri"/>
            </a:endParaRPr>
          </a:p>
        </p:txBody>
      </p:sp>
      <p:sp>
        <p:nvSpPr>
          <p:cNvPr id="319" name="Google Shape;319;p11"/>
          <p:cNvSpPr/>
          <p:nvPr/>
        </p:nvSpPr>
        <p:spPr>
          <a:xfrm>
            <a:off x="1211982" y="3807619"/>
            <a:ext cx="359280"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495057"/>
              </a:buClr>
              <a:buSzPts val="621"/>
              <a:buFont typeface="Calibri"/>
              <a:buNone/>
            </a:pPr>
            <a:r>
              <a:rPr b="0" i="0" lang="en-US" sz="621" u="none" cap="none" strike="noStrike">
                <a:solidFill>
                  <a:srgbClr val="495057"/>
                </a:solidFill>
                <a:latin typeface="Calibri"/>
                <a:ea typeface="Calibri"/>
                <a:cs typeface="Calibri"/>
                <a:sym typeface="Calibri"/>
              </a:rPr>
              <a:t>Negative</a:t>
            </a:r>
            <a:endParaRPr b="0" i="0" sz="621" u="none" cap="none" strike="noStrike">
              <a:solidFill>
                <a:schemeClr val="dk1"/>
              </a:solidFill>
              <a:latin typeface="Calibri"/>
              <a:ea typeface="Calibri"/>
              <a:cs typeface="Calibri"/>
              <a:sym typeface="Calibri"/>
            </a:endParaRPr>
          </a:p>
        </p:txBody>
      </p:sp>
      <p:sp>
        <p:nvSpPr>
          <p:cNvPr id="320" name="Google Shape;320;p11"/>
          <p:cNvSpPr/>
          <p:nvPr/>
        </p:nvSpPr>
        <p:spPr>
          <a:xfrm>
            <a:off x="1878443" y="3807619"/>
            <a:ext cx="301349"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495057"/>
              </a:buClr>
              <a:buSzPts val="621"/>
              <a:buFont typeface="Calibri"/>
              <a:buNone/>
            </a:pPr>
            <a:r>
              <a:rPr b="0" i="0" lang="en-US" sz="621" u="none" cap="none" strike="noStrike">
                <a:solidFill>
                  <a:srgbClr val="495057"/>
                </a:solidFill>
                <a:latin typeface="Calibri"/>
                <a:ea typeface="Calibri"/>
                <a:cs typeface="Calibri"/>
                <a:sym typeface="Calibri"/>
              </a:rPr>
              <a:t>Neutral</a:t>
            </a:r>
            <a:endParaRPr b="0" i="0" sz="621" u="none" cap="none" strike="noStrike">
              <a:solidFill>
                <a:schemeClr val="dk1"/>
              </a:solidFill>
              <a:latin typeface="Calibri"/>
              <a:ea typeface="Calibri"/>
              <a:cs typeface="Calibri"/>
              <a:sym typeface="Calibri"/>
            </a:endParaRPr>
          </a:p>
        </p:txBody>
      </p:sp>
      <p:sp>
        <p:nvSpPr>
          <p:cNvPr id="321" name="Google Shape;321;p11"/>
          <p:cNvSpPr/>
          <p:nvPr/>
        </p:nvSpPr>
        <p:spPr>
          <a:xfrm>
            <a:off x="5915025" y="571500"/>
            <a:ext cx="2800350" cy="822927"/>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Multivariate Heatmaps Reveal Complex Interdependencies</a:t>
            </a:r>
            <a:endParaRPr b="0" i="0" sz="1602" u="none" cap="none" strike="noStrike">
              <a:solidFill>
                <a:schemeClr val="dk1"/>
              </a:solidFill>
              <a:latin typeface="Calibri"/>
              <a:ea typeface="Calibri"/>
              <a:cs typeface="Calibri"/>
              <a:sym typeface="Calibri"/>
            </a:endParaRPr>
          </a:p>
        </p:txBody>
      </p:sp>
      <p:pic>
        <p:nvPicPr>
          <p:cNvPr descr="preencoded.png" id="322" name="Google Shape;322;p11"/>
          <p:cNvPicPr preferRelativeResize="0"/>
          <p:nvPr/>
        </p:nvPicPr>
        <p:blipFill rotWithShape="1">
          <a:blip r:embed="rId4">
            <a:alphaModFix/>
          </a:blip>
          <a:srcRect b="0" l="0" r="0" t="0"/>
          <a:stretch/>
        </p:blipFill>
        <p:spPr>
          <a:xfrm>
            <a:off x="5915025" y="1742684"/>
            <a:ext cx="178594" cy="142875"/>
          </a:xfrm>
          <a:prstGeom prst="rect">
            <a:avLst/>
          </a:prstGeom>
          <a:noFill/>
          <a:ln>
            <a:noFill/>
          </a:ln>
        </p:spPr>
      </p:pic>
      <p:sp>
        <p:nvSpPr>
          <p:cNvPr id="323" name="Google Shape;323;p11"/>
          <p:cNvSpPr/>
          <p:nvPr/>
        </p:nvSpPr>
        <p:spPr>
          <a:xfrm>
            <a:off x="6200775" y="1680177"/>
            <a:ext cx="251460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Strongest Links</a:t>
            </a:r>
            <a:endParaRPr b="0" i="0" sz="885" u="none" cap="none" strike="noStrike">
              <a:solidFill>
                <a:schemeClr val="dk1"/>
              </a:solidFill>
              <a:latin typeface="Calibri"/>
              <a:ea typeface="Calibri"/>
              <a:cs typeface="Calibri"/>
              <a:sym typeface="Calibri"/>
            </a:endParaRPr>
          </a:p>
        </p:txBody>
      </p:sp>
      <p:sp>
        <p:nvSpPr>
          <p:cNvPr id="324" name="Google Shape;324;p11"/>
          <p:cNvSpPr/>
          <p:nvPr/>
        </p:nvSpPr>
        <p:spPr>
          <a:xfrm>
            <a:off x="6200775" y="1890917"/>
            <a:ext cx="2514600" cy="482203"/>
          </a:xfrm>
          <a:prstGeom prst="rect">
            <a:avLst/>
          </a:prstGeom>
          <a:noFill/>
          <a:ln>
            <a:noFill/>
          </a:ln>
        </p:spPr>
        <p:txBody>
          <a:bodyPr anchorCtr="0" anchor="t" bIns="0" lIns="0" spcFirstLastPara="1" rIns="0" wrap="square" tIns="0">
            <a:spAutoFit/>
          </a:bodyPr>
          <a:lstStyle/>
          <a:p>
            <a:pPr indent="0" lvl="0" marL="0" marR="0" rtl="0" algn="l">
              <a:lnSpc>
                <a:spcPct val="166666"/>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Engine and Power show a very strong positive correlation (0.86), indicating they scale together in performance vehicles.</a:t>
            </a:r>
            <a:endParaRPr b="0" i="0" sz="780" u="none" cap="none" strike="noStrike">
              <a:solidFill>
                <a:schemeClr val="dk1"/>
              </a:solidFill>
              <a:latin typeface="Calibri"/>
              <a:ea typeface="Calibri"/>
              <a:cs typeface="Calibri"/>
              <a:sym typeface="Calibri"/>
            </a:endParaRPr>
          </a:p>
        </p:txBody>
      </p:sp>
      <p:pic>
        <p:nvPicPr>
          <p:cNvPr descr="preencoded.png" id="325" name="Google Shape;325;p11"/>
          <p:cNvPicPr preferRelativeResize="0"/>
          <p:nvPr/>
        </p:nvPicPr>
        <p:blipFill rotWithShape="1">
          <a:blip r:embed="rId5">
            <a:alphaModFix/>
          </a:blip>
          <a:srcRect b="0" l="0" r="0" t="0"/>
          <a:stretch/>
        </p:blipFill>
        <p:spPr>
          <a:xfrm>
            <a:off x="5915025" y="2649941"/>
            <a:ext cx="142875" cy="142875"/>
          </a:xfrm>
          <a:prstGeom prst="rect">
            <a:avLst/>
          </a:prstGeom>
          <a:noFill/>
          <a:ln>
            <a:noFill/>
          </a:ln>
        </p:spPr>
      </p:pic>
      <p:sp>
        <p:nvSpPr>
          <p:cNvPr id="326" name="Google Shape;326;p11"/>
          <p:cNvSpPr/>
          <p:nvPr/>
        </p:nvSpPr>
        <p:spPr>
          <a:xfrm>
            <a:off x="6165056" y="2587433"/>
            <a:ext cx="2550319"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Performance Trade-offs</a:t>
            </a:r>
            <a:endParaRPr b="0" i="0" sz="885" u="none" cap="none" strike="noStrike">
              <a:solidFill>
                <a:schemeClr val="dk1"/>
              </a:solidFill>
              <a:latin typeface="Calibri"/>
              <a:ea typeface="Calibri"/>
              <a:cs typeface="Calibri"/>
              <a:sym typeface="Calibri"/>
            </a:endParaRPr>
          </a:p>
        </p:txBody>
      </p:sp>
      <p:sp>
        <p:nvSpPr>
          <p:cNvPr id="327" name="Google Shape;327;p11"/>
          <p:cNvSpPr/>
          <p:nvPr/>
        </p:nvSpPr>
        <p:spPr>
          <a:xfrm>
            <a:off x="6165056" y="2798173"/>
            <a:ext cx="2550319" cy="482203"/>
          </a:xfrm>
          <a:prstGeom prst="rect">
            <a:avLst/>
          </a:prstGeom>
          <a:noFill/>
          <a:ln>
            <a:noFill/>
          </a:ln>
        </p:spPr>
        <p:txBody>
          <a:bodyPr anchorCtr="0" anchor="t" bIns="0" lIns="0" spcFirstLastPara="1" rIns="0" wrap="square" tIns="0">
            <a:spAutoFit/>
          </a:bodyPr>
          <a:lstStyle/>
          <a:p>
            <a:pPr indent="0" lvl="0" marL="0" marR="0" rtl="0" algn="l">
              <a:lnSpc>
                <a:spcPct val="166666"/>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Mileage is negatively correlated with Engine and Power, reflecting the inherent trade-off between power and fuel efficiency.</a:t>
            </a:r>
            <a:endParaRPr b="0" i="0" sz="780" u="none" cap="none" strike="noStrike">
              <a:solidFill>
                <a:schemeClr val="dk1"/>
              </a:solidFill>
              <a:latin typeface="Calibri"/>
              <a:ea typeface="Calibri"/>
              <a:cs typeface="Calibri"/>
              <a:sym typeface="Calibri"/>
            </a:endParaRPr>
          </a:p>
        </p:txBody>
      </p:sp>
      <p:pic>
        <p:nvPicPr>
          <p:cNvPr descr="preencoded.png" id="328" name="Google Shape;328;p11"/>
          <p:cNvPicPr preferRelativeResize="0"/>
          <p:nvPr/>
        </p:nvPicPr>
        <p:blipFill rotWithShape="1">
          <a:blip r:embed="rId6">
            <a:alphaModFix/>
          </a:blip>
          <a:srcRect b="0" l="0" r="0" t="0"/>
          <a:stretch/>
        </p:blipFill>
        <p:spPr>
          <a:xfrm>
            <a:off x="5915025" y="3557197"/>
            <a:ext cx="89297" cy="142875"/>
          </a:xfrm>
          <a:prstGeom prst="rect">
            <a:avLst/>
          </a:prstGeom>
          <a:noFill/>
          <a:ln>
            <a:noFill/>
          </a:ln>
        </p:spPr>
      </p:pic>
      <p:sp>
        <p:nvSpPr>
          <p:cNvPr id="329" name="Google Shape;329;p11"/>
          <p:cNvSpPr/>
          <p:nvPr/>
        </p:nvSpPr>
        <p:spPr>
          <a:xfrm>
            <a:off x="6111478" y="3494689"/>
            <a:ext cx="2603897"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12529"/>
              </a:buClr>
              <a:buSzPts val="885"/>
              <a:buFont typeface="Calibri"/>
              <a:buNone/>
            </a:pPr>
            <a:r>
              <a:rPr b="1" i="0" lang="en-US" sz="885" u="none" cap="none" strike="noStrike">
                <a:solidFill>
                  <a:srgbClr val="212529"/>
                </a:solidFill>
                <a:latin typeface="Calibri"/>
                <a:ea typeface="Calibri"/>
                <a:cs typeface="Calibri"/>
                <a:sym typeface="Calibri"/>
              </a:rPr>
              <a:t>Price Drivers</a:t>
            </a:r>
            <a:endParaRPr b="0" i="0" sz="885" u="none" cap="none" strike="noStrike">
              <a:solidFill>
                <a:schemeClr val="dk1"/>
              </a:solidFill>
              <a:latin typeface="Calibri"/>
              <a:ea typeface="Calibri"/>
              <a:cs typeface="Calibri"/>
              <a:sym typeface="Calibri"/>
            </a:endParaRPr>
          </a:p>
        </p:txBody>
      </p:sp>
      <p:sp>
        <p:nvSpPr>
          <p:cNvPr id="330" name="Google Shape;330;p11"/>
          <p:cNvSpPr/>
          <p:nvPr/>
        </p:nvSpPr>
        <p:spPr>
          <a:xfrm>
            <a:off x="6111478" y="3705430"/>
            <a:ext cx="2603897" cy="482203"/>
          </a:xfrm>
          <a:prstGeom prst="rect">
            <a:avLst/>
          </a:prstGeom>
          <a:noFill/>
          <a:ln>
            <a:noFill/>
          </a:ln>
        </p:spPr>
        <p:txBody>
          <a:bodyPr anchorCtr="0" anchor="t" bIns="0" lIns="0" spcFirstLastPara="1" rIns="0" wrap="square" tIns="0">
            <a:spAutoFit/>
          </a:bodyPr>
          <a:lstStyle/>
          <a:p>
            <a:pPr indent="0" lvl="0" marL="0" marR="0" rtl="0" algn="l">
              <a:lnSpc>
                <a:spcPct val="166666"/>
              </a:lnSpc>
              <a:spcBef>
                <a:spcPts val="0"/>
              </a:spcBef>
              <a:spcAft>
                <a:spcPts val="0"/>
              </a:spcAft>
              <a:buClr>
                <a:srgbClr val="495057"/>
              </a:buClr>
              <a:buSzPts val="780"/>
              <a:buFont typeface="Calibri"/>
              <a:buNone/>
            </a:pPr>
            <a:r>
              <a:rPr b="0" i="0" lang="en-US" sz="780" u="none" cap="none" strike="noStrike">
                <a:solidFill>
                  <a:srgbClr val="495057"/>
                </a:solidFill>
                <a:latin typeface="Calibri"/>
                <a:ea typeface="Calibri"/>
                <a:cs typeface="Calibri"/>
                <a:sym typeface="Calibri"/>
              </a:rPr>
              <a:t>Power (0.77) and Engine size (0.69) are the most significant positive drivers of used car prices in this dataset.</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preencoded.png" id="336" name="Google Shape;336;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37" name="Google Shape;337;p12"/>
          <p:cNvSpPr/>
          <p:nvPr/>
        </p:nvSpPr>
        <p:spPr>
          <a:xfrm>
            <a:off x="0" y="0"/>
            <a:ext cx="3657600" cy="5143500"/>
          </a:xfrm>
          <a:prstGeom prst="rect">
            <a:avLst/>
          </a:prstGeom>
          <a:solidFill>
            <a:srgbClr val="2125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428625" y="714375"/>
            <a:ext cx="857250" cy="857250"/>
          </a:xfrm>
          <a:prstGeom prst="ellipse">
            <a:avLst/>
          </a:prstGeom>
          <a:solidFill>
            <a:srgbClr val="20C997">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9" name="Google Shape;339;p12"/>
          <p:cNvPicPr preferRelativeResize="0"/>
          <p:nvPr/>
        </p:nvPicPr>
        <p:blipFill rotWithShape="1">
          <a:blip r:embed="rId4">
            <a:alphaModFix/>
          </a:blip>
          <a:srcRect b="0" l="0" r="0" t="0"/>
          <a:stretch/>
        </p:blipFill>
        <p:spPr>
          <a:xfrm>
            <a:off x="642938" y="928688"/>
            <a:ext cx="428625" cy="428625"/>
          </a:xfrm>
          <a:prstGeom prst="rect">
            <a:avLst/>
          </a:prstGeom>
          <a:noFill/>
          <a:ln>
            <a:noFill/>
          </a:ln>
        </p:spPr>
      </p:pic>
      <p:sp>
        <p:nvSpPr>
          <p:cNvPr id="340" name="Google Shape;340;p12"/>
          <p:cNvSpPr/>
          <p:nvPr/>
        </p:nvSpPr>
        <p:spPr>
          <a:xfrm>
            <a:off x="428625" y="1857375"/>
            <a:ext cx="2943225" cy="273248"/>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20C997"/>
              </a:buClr>
              <a:buSzPts val="1397"/>
              <a:buFont typeface="Calibri"/>
              <a:buNone/>
            </a:pPr>
            <a:r>
              <a:rPr b="1" i="0" lang="en-US" sz="1397" u="none" cap="none" strike="noStrike">
                <a:solidFill>
                  <a:srgbClr val="20C997"/>
                </a:solidFill>
                <a:latin typeface="Calibri"/>
                <a:ea typeface="Calibri"/>
                <a:cs typeface="Calibri"/>
                <a:sym typeface="Calibri"/>
              </a:rPr>
              <a:t>Final Conclusion</a:t>
            </a:r>
            <a:endParaRPr b="0" i="0" sz="1397" u="none" cap="none" strike="noStrike">
              <a:solidFill>
                <a:schemeClr val="dk1"/>
              </a:solidFill>
              <a:latin typeface="Calibri"/>
              <a:ea typeface="Calibri"/>
              <a:cs typeface="Calibri"/>
              <a:sym typeface="Calibri"/>
            </a:endParaRPr>
          </a:p>
        </p:txBody>
      </p:sp>
      <p:sp>
        <p:nvSpPr>
          <p:cNvPr id="341" name="Google Shape;341;p12"/>
          <p:cNvSpPr/>
          <p:nvPr/>
        </p:nvSpPr>
        <p:spPr>
          <a:xfrm>
            <a:off x="428625" y="2344936"/>
            <a:ext cx="2943225" cy="822871"/>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F8F9FA"/>
              </a:buClr>
              <a:buSzPts val="942"/>
              <a:buFont typeface="Calibri"/>
              <a:buNone/>
            </a:pPr>
            <a:r>
              <a:rPr b="0" i="0" lang="en-US" sz="942" u="none" cap="none" strike="noStrike">
                <a:solidFill>
                  <a:srgbClr val="F8F9FA"/>
                </a:solidFill>
                <a:latin typeface="Calibri"/>
                <a:ea typeface="Calibri"/>
                <a:cs typeface="Calibri"/>
                <a:sym typeface="Calibri"/>
              </a:rPr>
              <a:t>EDA is an essential, iterative process that ensures data quality and provides the deep insights necessary for robust predictive modeling.</a:t>
            </a:r>
            <a:endParaRPr b="0" i="0" sz="942" u="none" cap="none" strike="noStrike">
              <a:solidFill>
                <a:schemeClr val="dk1"/>
              </a:solidFill>
              <a:latin typeface="Calibri"/>
              <a:ea typeface="Calibri"/>
              <a:cs typeface="Calibri"/>
              <a:sym typeface="Calibri"/>
            </a:endParaRPr>
          </a:p>
        </p:txBody>
      </p:sp>
      <p:sp>
        <p:nvSpPr>
          <p:cNvPr id="342" name="Google Shape;342;p12"/>
          <p:cNvSpPr/>
          <p:nvPr/>
        </p:nvSpPr>
        <p:spPr>
          <a:xfrm>
            <a:off x="428625" y="3310682"/>
            <a:ext cx="2943225" cy="617153"/>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F8F9FA"/>
              </a:buClr>
              <a:buSzPts val="942"/>
              <a:buFont typeface="Calibri"/>
              <a:buNone/>
            </a:pPr>
            <a:r>
              <a:rPr b="0" i="0" lang="en-US" sz="942" u="none" cap="none" strike="noStrike">
                <a:solidFill>
                  <a:srgbClr val="F8F9FA"/>
                </a:solidFill>
                <a:latin typeface="Calibri"/>
                <a:ea typeface="Calibri"/>
                <a:cs typeface="Calibri"/>
                <a:sym typeface="Calibri"/>
              </a:rPr>
              <a:t>By uncovering patterns and addressing anomalies, we transform raw data into a reliable foundation for machine learning success.</a:t>
            </a:r>
            <a:endParaRPr b="0" i="0" sz="942" u="none" cap="none" strike="noStrike">
              <a:solidFill>
                <a:schemeClr val="dk1"/>
              </a:solidFill>
              <a:latin typeface="Calibri"/>
              <a:ea typeface="Calibri"/>
              <a:cs typeface="Calibri"/>
              <a:sym typeface="Calibri"/>
            </a:endParaRPr>
          </a:p>
        </p:txBody>
      </p:sp>
      <p:sp>
        <p:nvSpPr>
          <p:cNvPr id="343" name="Google Shape;343;p12"/>
          <p:cNvSpPr/>
          <p:nvPr/>
        </p:nvSpPr>
        <p:spPr>
          <a:xfrm>
            <a:off x="428625" y="4741664"/>
            <a:ext cx="2943225"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495057"/>
              </a:buClr>
              <a:buSzPts val="621"/>
              <a:buFont typeface="Calibri"/>
              <a:buNone/>
            </a:pPr>
            <a:r>
              <a:rPr b="0" i="0" lang="en-US" sz="621" u="none" cap="none" strike="noStrike">
                <a:solidFill>
                  <a:srgbClr val="495057"/>
                </a:solidFill>
                <a:latin typeface="Calibri"/>
                <a:ea typeface="Calibri"/>
                <a:cs typeface="Calibri"/>
                <a:sym typeface="Calibri"/>
              </a:rPr>
              <a:t>Analytics Vidhya Guide</a:t>
            </a:r>
            <a:endParaRPr b="0" i="0" sz="621" u="none" cap="none" strike="noStrike">
              <a:solidFill>
                <a:schemeClr val="dk1"/>
              </a:solidFill>
              <a:latin typeface="Calibri"/>
              <a:ea typeface="Calibri"/>
              <a:cs typeface="Calibri"/>
              <a:sym typeface="Calibri"/>
            </a:endParaRPr>
          </a:p>
        </p:txBody>
      </p:sp>
      <p:sp>
        <p:nvSpPr>
          <p:cNvPr id="344" name="Google Shape;344;p12"/>
          <p:cNvSpPr/>
          <p:nvPr/>
        </p:nvSpPr>
        <p:spPr>
          <a:xfrm>
            <a:off x="4229100" y="885825"/>
            <a:ext cx="4486275" cy="54861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212529"/>
              </a:buClr>
              <a:buSzPts val="1602"/>
              <a:buFont typeface="Calibri"/>
              <a:buNone/>
            </a:pPr>
            <a:r>
              <a:rPr b="1" i="0" lang="en-US" sz="1602" u="none" cap="none" strike="noStrike">
                <a:solidFill>
                  <a:srgbClr val="212529"/>
                </a:solidFill>
                <a:latin typeface="Calibri"/>
                <a:ea typeface="Calibri"/>
                <a:cs typeface="Calibri"/>
                <a:sym typeface="Calibri"/>
              </a:rPr>
              <a:t>Systematic Data Imputation Ensures a Complete and Clean Dataset</a:t>
            </a:r>
            <a:endParaRPr b="0" i="0" sz="1602" u="none" cap="none" strike="noStrike">
              <a:solidFill>
                <a:schemeClr val="dk1"/>
              </a:solidFill>
              <a:latin typeface="Calibri"/>
              <a:ea typeface="Calibri"/>
              <a:cs typeface="Calibri"/>
              <a:sym typeface="Calibri"/>
            </a:endParaRPr>
          </a:p>
        </p:txBody>
      </p:sp>
      <p:sp>
        <p:nvSpPr>
          <p:cNvPr id="345" name="Google Shape;345;p12"/>
          <p:cNvSpPr/>
          <p:nvPr/>
        </p:nvSpPr>
        <p:spPr>
          <a:xfrm>
            <a:off x="4229100" y="1720193"/>
            <a:ext cx="4486275" cy="411435"/>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495057"/>
              </a:buClr>
              <a:buSzPts val="942"/>
              <a:buFont typeface="Calibri"/>
              <a:buNone/>
            </a:pPr>
            <a:r>
              <a:rPr b="0" i="0" lang="en-US" sz="942" u="none" cap="none" strike="noStrike">
                <a:solidFill>
                  <a:srgbClr val="495057"/>
                </a:solidFill>
                <a:latin typeface="Calibri"/>
                <a:ea typeface="Calibri"/>
                <a:cs typeface="Calibri"/>
                <a:sym typeface="Calibri"/>
              </a:rPr>
              <a:t>Addressing missing values requires a blend of statistical techniques and domain knowledge to maintain the integrity of the dataset.</a:t>
            </a:r>
            <a:endParaRPr b="0" i="0" sz="942" u="none" cap="none" strike="noStrike">
              <a:solidFill>
                <a:schemeClr val="dk1"/>
              </a:solidFill>
              <a:latin typeface="Calibri"/>
              <a:ea typeface="Calibri"/>
              <a:cs typeface="Calibri"/>
              <a:sym typeface="Calibri"/>
            </a:endParaRPr>
          </a:p>
        </p:txBody>
      </p:sp>
      <p:sp>
        <p:nvSpPr>
          <p:cNvPr id="346" name="Google Shape;346;p12"/>
          <p:cNvSpPr/>
          <p:nvPr/>
        </p:nvSpPr>
        <p:spPr>
          <a:xfrm>
            <a:off x="4229100" y="2345941"/>
            <a:ext cx="824043"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Strategy</a:t>
            </a:r>
            <a:endParaRPr b="0" i="0" sz="683" u="none" cap="none" strike="noStrike">
              <a:solidFill>
                <a:schemeClr val="dk1"/>
              </a:solidFill>
              <a:latin typeface="Calibri"/>
              <a:ea typeface="Calibri"/>
              <a:cs typeface="Calibri"/>
              <a:sym typeface="Calibri"/>
            </a:endParaRPr>
          </a:p>
        </p:txBody>
      </p:sp>
      <p:sp>
        <p:nvSpPr>
          <p:cNvPr id="347" name="Google Shape;347;p12"/>
          <p:cNvSpPr/>
          <p:nvPr/>
        </p:nvSpPr>
        <p:spPr>
          <a:xfrm>
            <a:off x="5053143" y="2345941"/>
            <a:ext cx="3662232" cy="321469"/>
          </a:xfrm>
          <a:prstGeom prst="rect">
            <a:avLst/>
          </a:prstGeom>
          <a:noFill/>
          <a:ln>
            <a:noFill/>
          </a:ln>
        </p:spPr>
        <p:txBody>
          <a:bodyPr anchorCtr="0" anchor="ctr" bIns="85075" lIns="0" spcFirstLastPara="1" rIns="0" wrap="square" tIns="127500">
            <a:spAutoFit/>
          </a:bodyPr>
          <a:lstStyle/>
          <a:p>
            <a:pPr indent="0" lvl="0" marL="0" marR="0" rtl="0" algn="l">
              <a:lnSpc>
                <a:spcPct val="131771"/>
              </a:lnSpc>
              <a:spcBef>
                <a:spcPts val="0"/>
              </a:spcBef>
              <a:spcAft>
                <a:spcPts val="0"/>
              </a:spcAft>
              <a:buClr>
                <a:srgbClr val="20C997"/>
              </a:buClr>
              <a:buSzPts val="683"/>
              <a:buFont typeface="Calibri"/>
              <a:buNone/>
            </a:pPr>
            <a:r>
              <a:rPr b="1" i="0" lang="en-US" sz="683" u="none" cap="none" strike="noStrike">
                <a:solidFill>
                  <a:srgbClr val="20C997"/>
                </a:solidFill>
                <a:latin typeface="Calibri"/>
                <a:ea typeface="Calibri"/>
                <a:cs typeface="Calibri"/>
                <a:sym typeface="Calibri"/>
              </a:rPr>
              <a:t>Application</a:t>
            </a:r>
            <a:endParaRPr b="0" i="0" sz="683" u="none" cap="none" strike="noStrike">
              <a:solidFill>
                <a:schemeClr val="dk1"/>
              </a:solidFill>
              <a:latin typeface="Calibri"/>
              <a:ea typeface="Calibri"/>
              <a:cs typeface="Calibri"/>
              <a:sym typeface="Calibri"/>
            </a:endParaRPr>
          </a:p>
        </p:txBody>
      </p:sp>
      <p:sp>
        <p:nvSpPr>
          <p:cNvPr id="348" name="Google Shape;348;p12"/>
          <p:cNvSpPr/>
          <p:nvPr/>
        </p:nvSpPr>
        <p:spPr>
          <a:xfrm>
            <a:off x="4229100" y="2781709"/>
            <a:ext cx="694199"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Mean/Median</a:t>
            </a:r>
            <a:endParaRPr b="0" i="0" sz="683" u="none" cap="none" strike="noStrike">
              <a:solidFill>
                <a:schemeClr val="dk1"/>
              </a:solidFill>
              <a:latin typeface="Calibri"/>
              <a:ea typeface="Calibri"/>
              <a:cs typeface="Calibri"/>
              <a:sym typeface="Calibri"/>
            </a:endParaRPr>
          </a:p>
        </p:txBody>
      </p:sp>
      <p:sp>
        <p:nvSpPr>
          <p:cNvPr id="349" name="Google Shape;349;p12"/>
          <p:cNvSpPr/>
          <p:nvPr/>
        </p:nvSpPr>
        <p:spPr>
          <a:xfrm>
            <a:off x="5053143" y="2781709"/>
            <a:ext cx="1062354"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Used for variables like</a:t>
            </a:r>
            <a:endParaRPr b="0" i="0" sz="727" u="none" cap="none" strike="noStrike">
              <a:solidFill>
                <a:schemeClr val="dk1"/>
              </a:solidFill>
              <a:latin typeface="Calibri"/>
              <a:ea typeface="Calibri"/>
              <a:cs typeface="Calibri"/>
              <a:sym typeface="Calibri"/>
            </a:endParaRPr>
          </a:p>
        </p:txBody>
      </p:sp>
      <p:sp>
        <p:nvSpPr>
          <p:cNvPr id="350" name="Google Shape;350;p12"/>
          <p:cNvSpPr/>
          <p:nvPr/>
        </p:nvSpPr>
        <p:spPr>
          <a:xfrm>
            <a:off x="6115496" y="2781709"/>
            <a:ext cx="397259"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95057"/>
              </a:buClr>
              <a:buSzPts val="683"/>
              <a:buFont typeface="Calibri"/>
              <a:buNone/>
            </a:pPr>
            <a:r>
              <a:rPr b="1" i="0" lang="en-US" sz="683" u="none" cap="none" strike="noStrike">
                <a:solidFill>
                  <a:srgbClr val="495057"/>
                </a:solidFill>
                <a:latin typeface="Calibri"/>
                <a:ea typeface="Calibri"/>
                <a:cs typeface="Calibri"/>
                <a:sym typeface="Calibri"/>
              </a:rPr>
              <a:t>Mileage</a:t>
            </a:r>
            <a:endParaRPr b="0" i="0" sz="683" u="none" cap="none" strike="noStrike">
              <a:solidFill>
                <a:schemeClr val="dk1"/>
              </a:solidFill>
              <a:latin typeface="Calibri"/>
              <a:ea typeface="Calibri"/>
              <a:cs typeface="Calibri"/>
              <a:sym typeface="Calibri"/>
            </a:endParaRPr>
          </a:p>
        </p:txBody>
      </p:sp>
      <p:sp>
        <p:nvSpPr>
          <p:cNvPr id="351" name="Google Shape;351;p12"/>
          <p:cNvSpPr/>
          <p:nvPr/>
        </p:nvSpPr>
        <p:spPr>
          <a:xfrm>
            <a:off x="6512756" y="2781709"/>
            <a:ext cx="1507192"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where the distribution is stable.</a:t>
            </a:r>
            <a:endParaRPr b="0" i="0" sz="727" u="none" cap="none" strike="noStrike">
              <a:solidFill>
                <a:schemeClr val="dk1"/>
              </a:solidFill>
              <a:latin typeface="Calibri"/>
              <a:ea typeface="Calibri"/>
              <a:cs typeface="Calibri"/>
              <a:sym typeface="Calibri"/>
            </a:endParaRPr>
          </a:p>
        </p:txBody>
      </p:sp>
      <p:sp>
        <p:nvSpPr>
          <p:cNvPr id="352" name="Google Shape;352;p12"/>
          <p:cNvSpPr/>
          <p:nvPr/>
        </p:nvSpPr>
        <p:spPr>
          <a:xfrm>
            <a:off x="4229100" y="3138897"/>
            <a:ext cx="72269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Domain-Based</a:t>
            </a:r>
            <a:endParaRPr b="0" i="0" sz="683" u="none" cap="none" strike="noStrike">
              <a:solidFill>
                <a:schemeClr val="dk1"/>
              </a:solidFill>
              <a:latin typeface="Calibri"/>
              <a:ea typeface="Calibri"/>
              <a:cs typeface="Calibri"/>
              <a:sym typeface="Calibri"/>
            </a:endParaRPr>
          </a:p>
        </p:txBody>
      </p:sp>
      <p:sp>
        <p:nvSpPr>
          <p:cNvPr id="353" name="Google Shape;353;p12"/>
          <p:cNvSpPr/>
          <p:nvPr/>
        </p:nvSpPr>
        <p:spPr>
          <a:xfrm>
            <a:off x="5053143" y="3138897"/>
            <a:ext cx="304447"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Filling</a:t>
            </a:r>
            <a:endParaRPr b="0" i="0" sz="727" u="none" cap="none" strike="noStrike">
              <a:solidFill>
                <a:schemeClr val="dk1"/>
              </a:solidFill>
              <a:latin typeface="Calibri"/>
              <a:ea typeface="Calibri"/>
              <a:cs typeface="Calibri"/>
              <a:sym typeface="Calibri"/>
            </a:endParaRPr>
          </a:p>
        </p:txBody>
      </p:sp>
      <p:sp>
        <p:nvSpPr>
          <p:cNvPr id="354" name="Google Shape;354;p12"/>
          <p:cNvSpPr/>
          <p:nvPr/>
        </p:nvSpPr>
        <p:spPr>
          <a:xfrm>
            <a:off x="5357589" y="3138897"/>
            <a:ext cx="26775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95057"/>
              </a:buClr>
              <a:buSzPts val="683"/>
              <a:buFont typeface="Calibri"/>
              <a:buNone/>
            </a:pPr>
            <a:r>
              <a:rPr b="1" i="0" lang="en-US" sz="683" u="none" cap="none" strike="noStrike">
                <a:solidFill>
                  <a:srgbClr val="495057"/>
                </a:solidFill>
                <a:latin typeface="Calibri"/>
                <a:ea typeface="Calibri"/>
                <a:cs typeface="Calibri"/>
                <a:sym typeface="Calibri"/>
              </a:rPr>
              <a:t>Seats</a:t>
            </a:r>
            <a:endParaRPr b="0" i="0" sz="683" u="none" cap="none" strike="noStrike">
              <a:solidFill>
                <a:schemeClr val="dk1"/>
              </a:solidFill>
              <a:latin typeface="Calibri"/>
              <a:ea typeface="Calibri"/>
              <a:cs typeface="Calibri"/>
              <a:sym typeface="Calibri"/>
            </a:endParaRPr>
          </a:p>
        </p:txBody>
      </p:sp>
      <p:sp>
        <p:nvSpPr>
          <p:cNvPr id="355" name="Google Shape;355;p12"/>
          <p:cNvSpPr/>
          <p:nvPr/>
        </p:nvSpPr>
        <p:spPr>
          <a:xfrm>
            <a:off x="5625340" y="3138897"/>
            <a:ext cx="153842"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or</a:t>
            </a:r>
            <a:endParaRPr b="0" i="0" sz="727" u="none" cap="none" strike="noStrike">
              <a:solidFill>
                <a:schemeClr val="dk1"/>
              </a:solidFill>
              <a:latin typeface="Calibri"/>
              <a:ea typeface="Calibri"/>
              <a:cs typeface="Calibri"/>
              <a:sym typeface="Calibri"/>
            </a:endParaRPr>
          </a:p>
        </p:txBody>
      </p:sp>
      <p:sp>
        <p:nvSpPr>
          <p:cNvPr id="356" name="Google Shape;356;p12"/>
          <p:cNvSpPr/>
          <p:nvPr/>
        </p:nvSpPr>
        <p:spPr>
          <a:xfrm>
            <a:off x="5779182" y="3138897"/>
            <a:ext cx="34036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95057"/>
              </a:buClr>
              <a:buSzPts val="683"/>
              <a:buFont typeface="Calibri"/>
              <a:buNone/>
            </a:pPr>
            <a:r>
              <a:rPr b="1" i="0" lang="en-US" sz="683" u="none" cap="none" strike="noStrike">
                <a:solidFill>
                  <a:srgbClr val="495057"/>
                </a:solidFill>
                <a:latin typeface="Calibri"/>
                <a:ea typeface="Calibri"/>
                <a:cs typeface="Calibri"/>
                <a:sym typeface="Calibri"/>
              </a:rPr>
              <a:t>Engine</a:t>
            </a:r>
            <a:endParaRPr b="0" i="0" sz="683" u="none" cap="none" strike="noStrike">
              <a:solidFill>
                <a:schemeClr val="dk1"/>
              </a:solidFill>
              <a:latin typeface="Calibri"/>
              <a:ea typeface="Calibri"/>
              <a:cs typeface="Calibri"/>
              <a:sym typeface="Calibri"/>
            </a:endParaRPr>
          </a:p>
        </p:txBody>
      </p:sp>
      <p:sp>
        <p:nvSpPr>
          <p:cNvPr id="357" name="Google Shape;357;p12"/>
          <p:cNvSpPr/>
          <p:nvPr/>
        </p:nvSpPr>
        <p:spPr>
          <a:xfrm>
            <a:off x="6119543" y="3138897"/>
            <a:ext cx="2145274"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values based on similar Brand/Model entries.</a:t>
            </a:r>
            <a:endParaRPr b="0" i="0" sz="727" u="none" cap="none" strike="noStrike">
              <a:solidFill>
                <a:schemeClr val="dk1"/>
              </a:solidFill>
              <a:latin typeface="Calibri"/>
              <a:ea typeface="Calibri"/>
              <a:cs typeface="Calibri"/>
              <a:sym typeface="Calibri"/>
            </a:endParaRPr>
          </a:p>
        </p:txBody>
      </p:sp>
      <p:sp>
        <p:nvSpPr>
          <p:cNvPr id="358" name="Google Shape;358;p12"/>
          <p:cNvSpPr/>
          <p:nvPr/>
        </p:nvSpPr>
        <p:spPr>
          <a:xfrm>
            <a:off x="4229100" y="3496084"/>
            <a:ext cx="400971"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212529"/>
              </a:buClr>
              <a:buSzPts val="683"/>
              <a:buFont typeface="Calibri"/>
              <a:buNone/>
            </a:pPr>
            <a:r>
              <a:rPr b="1" i="0" lang="en-US" sz="683" u="none" cap="none" strike="noStrike">
                <a:solidFill>
                  <a:srgbClr val="212529"/>
                </a:solidFill>
                <a:latin typeface="Calibri"/>
                <a:ea typeface="Calibri"/>
                <a:cs typeface="Calibri"/>
                <a:sym typeface="Calibri"/>
              </a:rPr>
              <a:t>Zero-Fill</a:t>
            </a:r>
            <a:endParaRPr b="0" i="0" sz="683" u="none" cap="none" strike="noStrike">
              <a:solidFill>
                <a:schemeClr val="dk1"/>
              </a:solidFill>
              <a:latin typeface="Calibri"/>
              <a:ea typeface="Calibri"/>
              <a:cs typeface="Calibri"/>
              <a:sym typeface="Calibri"/>
            </a:endParaRPr>
          </a:p>
        </p:txBody>
      </p:sp>
      <p:sp>
        <p:nvSpPr>
          <p:cNvPr id="359" name="Google Shape;359;p12"/>
          <p:cNvSpPr/>
          <p:nvPr/>
        </p:nvSpPr>
        <p:spPr>
          <a:xfrm>
            <a:off x="5053143" y="3385356"/>
            <a:ext cx="3662232" cy="357188"/>
          </a:xfrm>
          <a:prstGeom prst="rect">
            <a:avLst/>
          </a:prstGeom>
          <a:noFill/>
          <a:ln>
            <a:noFill/>
          </a:ln>
        </p:spPr>
        <p:txBody>
          <a:bodyPr anchorCtr="0" anchor="ctr" bIns="127500" lIns="0" spcFirstLastPara="1" rIns="0" wrap="square" tIns="127500">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Handling specific entry errors before applying statistical averages.</a:t>
            </a:r>
            <a:endParaRPr b="0" i="0" sz="727" u="none" cap="none" strike="noStrike">
              <a:solidFill>
                <a:schemeClr val="dk1"/>
              </a:solidFill>
              <a:latin typeface="Calibri"/>
              <a:ea typeface="Calibri"/>
              <a:cs typeface="Calibri"/>
              <a:sym typeface="Calibri"/>
            </a:endParaRPr>
          </a:p>
        </p:txBody>
      </p:sp>
      <p:sp>
        <p:nvSpPr>
          <p:cNvPr id="360" name="Google Shape;360;p12"/>
          <p:cNvSpPr/>
          <p:nvPr/>
        </p:nvSpPr>
        <p:spPr>
          <a:xfrm>
            <a:off x="4229100" y="4031866"/>
            <a:ext cx="4486275"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212529"/>
              </a:buClr>
              <a:buSzPts val="784"/>
              <a:buFont typeface="Calibri"/>
              <a:buNone/>
            </a:pPr>
            <a:r>
              <a:rPr b="1" i="0" lang="en-US" sz="784" u="none" cap="none" strike="noStrike">
                <a:solidFill>
                  <a:srgbClr val="212529"/>
                </a:solidFill>
                <a:latin typeface="Calibri"/>
                <a:ea typeface="Calibri"/>
                <a:cs typeface="Calibri"/>
                <a:sym typeface="Calibri"/>
              </a:rPr>
              <a:t>Ready for Modeling</a:t>
            </a:r>
            <a:endParaRPr b="0" i="0" sz="784" u="none" cap="none" strike="noStrike">
              <a:solidFill>
                <a:schemeClr val="dk1"/>
              </a:solidFill>
              <a:latin typeface="Calibri"/>
              <a:ea typeface="Calibri"/>
              <a:cs typeface="Calibri"/>
              <a:sym typeface="Calibri"/>
            </a:endParaRPr>
          </a:p>
        </p:txBody>
      </p:sp>
      <p:sp>
        <p:nvSpPr>
          <p:cNvPr id="361" name="Google Shape;361;p12"/>
          <p:cNvSpPr/>
          <p:nvPr/>
        </p:nvSpPr>
        <p:spPr>
          <a:xfrm>
            <a:off x="4229100" y="4187242"/>
            <a:ext cx="4486275" cy="342900"/>
          </a:xfrm>
          <a:prstGeom prst="rect">
            <a:avLst/>
          </a:prstGeom>
          <a:noFill/>
          <a:ln>
            <a:noFill/>
          </a:ln>
        </p:spPr>
        <p:txBody>
          <a:bodyPr anchorCtr="0" anchor="t" bIns="0" lIns="0" spcFirstLastPara="1" rIns="0" wrap="square" tIns="85075">
            <a:spAutoFit/>
          </a:bodyPr>
          <a:lstStyle/>
          <a:p>
            <a:pPr indent="0" lvl="0" marL="0" marR="0" rtl="0" algn="l">
              <a:lnSpc>
                <a:spcPct val="123796"/>
              </a:lnSpc>
              <a:spcBef>
                <a:spcPts val="0"/>
              </a:spcBef>
              <a:spcAft>
                <a:spcPts val="0"/>
              </a:spcAft>
              <a:buClr>
                <a:srgbClr val="495057"/>
              </a:buClr>
              <a:buSzPts val="727"/>
              <a:buFont typeface="Calibri"/>
              <a:buNone/>
            </a:pPr>
            <a:r>
              <a:rPr b="0" i="0" lang="en-US" sz="727" u="none" cap="none" strike="noStrike">
                <a:solidFill>
                  <a:srgbClr val="495057"/>
                </a:solidFill>
                <a:latin typeface="Calibri"/>
                <a:ea typeface="Calibri"/>
                <a:cs typeface="Calibri"/>
                <a:sym typeface="Calibri"/>
              </a:rPr>
              <a:t>Finalizing the imputation step ensures the data is normalized, standardized, and ready for advanced machine learning algorithms.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2026-02-09T16:32:08Z</dcterms:created>
  <dc:creator>PptxGenJS</dc:creator>
</cp:coreProperties>
</file>