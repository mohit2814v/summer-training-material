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6858000" cy="9144000"/>
  <p:embeddedFontLst>
    <p:embeddedFont>
      <p:font typeface="Roboto Mono" charset="0"/>
      <p:regular r:id="rId17"/>
      <p:bold r:id="rId18"/>
      <p:italic r:id="rId19"/>
      <p:boldItalic r:id="rId20"/>
    </p:embeddedFont>
    <p:embeddedFont>
      <p:font typeface="Nunito" charset="0"/>
      <p:regular r:id="rId21"/>
      <p:bold r:id="rId22"/>
      <p:italic r:id="rId23"/>
      <p:bold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08A9E502-B065-4AE6-982A-26E55CB36CF0}">
  <a:tblStyle styleId="{08A9E502-B065-4AE6-982A-26E55CB36CF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6" d="100"/>
          <a:sy n="106" d="100"/>
        </p:scale>
        <p:origin x="-116" y="-9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239618545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3eead58a7e8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eead58a7e8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eead58a7e8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eead58a7e8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3eead58a7e8_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3eead58a7e8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3eead58a7e8_0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 name="Google Shape;73;g3eead58a7e8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3eead58a7e8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3eead58a7e8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3eead58a7e8_0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3eead58a7e8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3eead58a7e8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3eead58a7e8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eead58a7e8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eead58a7e8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3eead58a7e8_0_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3eead58a7e8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eead58a7e8_0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3eead58a7e8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3eead58a7e8_0_10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3eead58a7e8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eead58a7e8_0_1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3eead58a7e8_0_1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3eead58a7e8_0_1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3eead58a7e8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1239393"/>
            <a:ext cx="8520600" cy="2052600"/>
          </a:xfrm>
          <a:prstGeom prst="rect">
            <a:avLst/>
          </a:prstGeom>
        </p:spPr>
        <p:txBody>
          <a:bodyPr spcFirstLastPara="1" wrap="square" lIns="91425" tIns="91425" rIns="91425" bIns="91425" anchor="b" anchorCtr="0">
            <a:normAutofit/>
          </a:bodyPr>
          <a:lstStyle/>
          <a:p>
            <a:pPr marL="0" lvl="0" indent="0" algn="l" rtl="0">
              <a:lnSpc>
                <a:spcPct val="125000"/>
              </a:lnSpc>
              <a:spcBef>
                <a:spcPts val="0"/>
              </a:spcBef>
              <a:spcAft>
                <a:spcPts val="0"/>
              </a:spcAft>
              <a:buClr>
                <a:schemeClr val="dk1"/>
              </a:buClr>
              <a:buSzPct val="33110"/>
              <a:buFont typeface="Arial"/>
              <a:buNone/>
            </a:pPr>
            <a:r>
              <a:rPr lang="en" sz="3322" b="1">
                <a:solidFill>
                  <a:srgbClr val="273239"/>
                </a:solidFill>
                <a:highlight>
                  <a:srgbClr val="FFFFFF"/>
                </a:highlight>
              </a:rPr>
              <a:t>Handling Missing Values in Machine Learning</a:t>
            </a:r>
            <a:endParaRPr sz="3322" b="1">
              <a:solidFill>
                <a:srgbClr val="273239"/>
              </a:solidFill>
              <a:highlight>
                <a:srgbClr val="FFFFFF"/>
              </a:highlight>
            </a:endParaRPr>
          </a:p>
          <a:p>
            <a:pPr marL="0" lvl="0" indent="0" algn="ctr"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4"/>
          <p:cNvSpPr txBox="1"/>
          <p:nvPr/>
        </p:nvSpPr>
        <p:spPr>
          <a:xfrm>
            <a:off x="0" y="0"/>
            <a:ext cx="9144000" cy="2040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a:t>Missing data occurs when certain records in a dataset are empty, represented as NaN, None, or placeholder values such as "Unknown". If these missing entries are not addressed appropriately, they can lower model performance, introduce bias, and cause issues with algorithms that expect complete datasets.</a:t>
            </a:r>
            <a:endParaRPr/>
          </a:p>
          <a:p>
            <a:pPr marL="457200" lvl="0" indent="-298450" algn="l" rtl="0">
              <a:lnSpc>
                <a:spcPct val="115000"/>
              </a:lnSpc>
              <a:spcBef>
                <a:spcPts val="1200"/>
              </a:spcBef>
              <a:spcAft>
                <a:spcPts val="0"/>
              </a:spcAft>
              <a:buClr>
                <a:schemeClr val="dk1"/>
              </a:buClr>
              <a:buSzPts val="1100"/>
              <a:buChar char="●"/>
            </a:pPr>
            <a:r>
              <a:rPr lang="en"/>
              <a:t>Improves model reliability</a:t>
            </a:r>
            <a:endParaRPr/>
          </a:p>
          <a:p>
            <a:pPr marL="457200" lvl="0" indent="-298450" algn="l" rtl="0">
              <a:lnSpc>
                <a:spcPct val="115000"/>
              </a:lnSpc>
              <a:spcBef>
                <a:spcPts val="0"/>
              </a:spcBef>
              <a:spcAft>
                <a:spcPts val="0"/>
              </a:spcAft>
              <a:buClr>
                <a:schemeClr val="dk1"/>
              </a:buClr>
              <a:buSzPts val="1100"/>
              <a:buChar char="●"/>
            </a:pPr>
            <a:r>
              <a:rPr lang="en"/>
              <a:t>Reduces potential bias</a:t>
            </a:r>
            <a:endParaRPr/>
          </a:p>
          <a:p>
            <a:pPr marL="457200" lvl="0" indent="-298450" algn="l" rtl="0">
              <a:lnSpc>
                <a:spcPct val="115000"/>
              </a:lnSpc>
              <a:spcBef>
                <a:spcPts val="0"/>
              </a:spcBef>
              <a:spcAft>
                <a:spcPts val="0"/>
              </a:spcAft>
              <a:buClr>
                <a:schemeClr val="dk1"/>
              </a:buClr>
              <a:buSzPts val="1100"/>
              <a:buChar char="●"/>
            </a:pPr>
            <a:r>
              <a:rPr lang="en"/>
              <a:t>Preserves the amount of available data</a:t>
            </a:r>
            <a:endParaRPr/>
          </a:p>
          <a:p>
            <a:pPr marL="457200" lvl="0" indent="-298450" algn="l" rtl="0">
              <a:lnSpc>
                <a:spcPct val="115000"/>
              </a:lnSpc>
              <a:spcBef>
                <a:spcPts val="0"/>
              </a:spcBef>
              <a:spcAft>
                <a:spcPts val="0"/>
              </a:spcAft>
              <a:buClr>
                <a:schemeClr val="dk1"/>
              </a:buClr>
              <a:buSzPts val="1100"/>
              <a:buChar char="●"/>
            </a:pPr>
            <a:r>
              <a:rPr lang="en"/>
              <a:t>Ensures proper functioning of machine learning algorithms</a:t>
            </a:r>
            <a:endParaRPr/>
          </a:p>
        </p:txBody>
      </p:sp>
      <p:pic>
        <p:nvPicPr>
          <p:cNvPr id="60" name="Google Shape;60;p14"/>
          <p:cNvPicPr preferRelativeResize="0"/>
          <p:nvPr/>
        </p:nvPicPr>
        <p:blipFill>
          <a:blip r:embed="rId3">
            <a:alphaModFix/>
          </a:blip>
          <a:stretch>
            <a:fillRect/>
          </a:stretch>
        </p:blipFill>
        <p:spPr>
          <a:xfrm>
            <a:off x="1924424" y="2145552"/>
            <a:ext cx="5445376" cy="2745233"/>
          </a:xfrm>
          <a:prstGeom prst="rect">
            <a:avLst/>
          </a:prstGeom>
          <a:noFill/>
          <a:ln w="28575" cap="flat" cmpd="sng">
            <a:solidFill>
              <a:schemeClr val="accent5"/>
            </a:solidFill>
            <a:prstDash val="solid"/>
            <a:round/>
            <a:headEnd type="none" w="sm" len="sm"/>
            <a:tailEnd type="none" w="sm" len="sm"/>
          </a:ln>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5"/>
          <p:cNvSpPr txBox="1"/>
          <p:nvPr/>
        </p:nvSpPr>
        <p:spPr>
          <a:xfrm>
            <a:off x="0" y="0"/>
            <a:ext cx="9219300" cy="5278851"/>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n" sz="1100" b="1" u="sng" dirty="0">
                <a:solidFill>
                  <a:schemeClr val="dk1"/>
                </a:solidFill>
              </a:rPr>
              <a:t>Missing Values</a:t>
            </a:r>
            <a:endParaRPr sz="1100" b="1" u="sng" dirty="0">
              <a:solidFill>
                <a:schemeClr val="dk1"/>
              </a:solidFill>
            </a:endParaRPr>
          </a:p>
          <a:p>
            <a:pPr marL="0" lvl="0" indent="0" algn="l" rtl="0">
              <a:lnSpc>
                <a:spcPct val="115000"/>
              </a:lnSpc>
              <a:spcBef>
                <a:spcPts val="1200"/>
              </a:spcBef>
              <a:spcAft>
                <a:spcPts val="0"/>
              </a:spcAft>
              <a:buNone/>
            </a:pPr>
            <a:r>
              <a:rPr lang="en" sz="1100" b="1" dirty="0">
                <a:solidFill>
                  <a:schemeClr val="dk1"/>
                </a:solidFill>
              </a:rPr>
              <a:t>Causes of Missing Data in a Dataset</a:t>
            </a:r>
            <a:endParaRPr sz="1100" b="1" dirty="0">
              <a:solidFill>
                <a:schemeClr val="dk1"/>
              </a:solidFill>
            </a:endParaRPr>
          </a:p>
          <a:p>
            <a:pPr marL="0" lvl="0" indent="0" algn="l" rtl="0">
              <a:lnSpc>
                <a:spcPct val="115000"/>
              </a:lnSpc>
              <a:spcBef>
                <a:spcPts val="1200"/>
              </a:spcBef>
              <a:spcAft>
                <a:spcPts val="0"/>
              </a:spcAft>
              <a:buNone/>
            </a:pPr>
            <a:r>
              <a:rPr lang="en" sz="1100" dirty="0">
                <a:solidFill>
                  <a:schemeClr val="dk1"/>
                </a:solidFill>
              </a:rPr>
              <a:t>Missing data can arise for a variety of reasons, and recognizing the underlying cause is essential for choosing the most suitable treatment approach. Some common causes include:</a:t>
            </a:r>
            <a:endParaRPr sz="1100" dirty="0">
              <a:solidFill>
                <a:schemeClr val="dk1"/>
              </a:solidFill>
            </a:endParaRPr>
          </a:p>
          <a:p>
            <a:pPr marL="457200" lvl="0" indent="-298450" algn="l" rtl="0">
              <a:lnSpc>
                <a:spcPct val="115000"/>
              </a:lnSpc>
              <a:spcBef>
                <a:spcPts val="1200"/>
              </a:spcBef>
              <a:spcAft>
                <a:spcPts val="0"/>
              </a:spcAft>
              <a:buClr>
                <a:schemeClr val="dk1"/>
              </a:buClr>
              <a:buSzPts val="1100"/>
              <a:buChar char="●"/>
            </a:pPr>
            <a:r>
              <a:rPr lang="en" sz="1100" b="1" dirty="0">
                <a:solidFill>
                  <a:schemeClr val="dk1"/>
                </a:solidFill>
              </a:rPr>
              <a:t>System failures:</a:t>
            </a:r>
            <a:r>
              <a:rPr lang="en" sz="1100" dirty="0">
                <a:solidFill>
                  <a:schemeClr val="dk1"/>
                </a:solidFill>
              </a:rPr>
              <a:t> Problems during data collection, storage, or transmission may result in missing records.</a:t>
            </a:r>
            <a:endParaRPr sz="1100"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b="1" dirty="0">
                <a:solidFill>
                  <a:schemeClr val="dk1"/>
                </a:solidFill>
              </a:rPr>
              <a:t>Manual mistakes:</a:t>
            </a:r>
            <a:r>
              <a:rPr lang="en" sz="1100" dirty="0">
                <a:solidFill>
                  <a:schemeClr val="dk1"/>
                </a:solidFill>
              </a:rPr>
              <a:t> Data entry errors or omissions made by users or operators.</a:t>
            </a:r>
            <a:endParaRPr sz="1100"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b="1" dirty="0">
                <a:solidFill>
                  <a:schemeClr val="dk1"/>
                </a:solidFill>
              </a:rPr>
              <a:t>Confidentiality restrictions:</a:t>
            </a:r>
            <a:r>
              <a:rPr lang="en" sz="1100" dirty="0">
                <a:solidFill>
                  <a:schemeClr val="dk1"/>
                </a:solidFill>
              </a:rPr>
              <a:t> Certain sensitive details may be intentionally withheld to protect privacy.</a:t>
            </a:r>
            <a:endParaRPr sz="1100"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b="1" dirty="0">
                <a:solidFill>
                  <a:schemeClr val="dk1"/>
                </a:solidFill>
              </a:rPr>
              <a:t>Processing and integration errors:</a:t>
            </a:r>
            <a:r>
              <a:rPr lang="en" sz="1100" dirty="0">
                <a:solidFill>
                  <a:schemeClr val="dk1"/>
                </a:solidFill>
              </a:rPr>
              <a:t> Missing values introduced while cleaning, transforming, or merging datasets.</a:t>
            </a:r>
            <a:endParaRPr sz="1100" dirty="0">
              <a:solidFill>
                <a:schemeClr val="dk1"/>
              </a:solidFill>
            </a:endParaRPr>
          </a:p>
          <a:p>
            <a:pPr marL="0" lvl="0" indent="0" algn="l" rtl="0">
              <a:lnSpc>
                <a:spcPct val="115000"/>
              </a:lnSpc>
              <a:spcBef>
                <a:spcPts val="1200"/>
              </a:spcBef>
              <a:spcAft>
                <a:spcPts val="0"/>
              </a:spcAft>
              <a:buNone/>
            </a:pPr>
            <a:r>
              <a:rPr lang="en" sz="1100" dirty="0">
                <a:solidFill>
                  <a:schemeClr val="dk1"/>
                </a:solidFill>
              </a:rPr>
              <a:t>Understanding why values are absent helps determine their effect on data quality, identify possible biases, and decide whether techniques such as imputation or record deletion are appropriate.</a:t>
            </a:r>
            <a:endParaRPr sz="1100" dirty="0">
              <a:solidFill>
                <a:schemeClr val="dk1"/>
              </a:solidFill>
            </a:endParaRPr>
          </a:p>
          <a:p>
            <a:pPr marL="0" lvl="0" indent="0" algn="l" rtl="0">
              <a:lnSpc>
                <a:spcPct val="115000"/>
              </a:lnSpc>
              <a:spcBef>
                <a:spcPts val="1400"/>
              </a:spcBef>
              <a:spcAft>
                <a:spcPts val="0"/>
              </a:spcAft>
              <a:buNone/>
            </a:pPr>
            <a:r>
              <a:rPr lang="en" sz="1100" b="1" u="sng" dirty="0">
                <a:solidFill>
                  <a:schemeClr val="dk1"/>
                </a:solidFill>
              </a:rPr>
              <a:t>Categories of Missing Values</a:t>
            </a:r>
            <a:endParaRPr sz="1100" b="1" u="sng" dirty="0">
              <a:solidFill>
                <a:schemeClr val="dk1"/>
              </a:solidFill>
            </a:endParaRPr>
          </a:p>
          <a:p>
            <a:pPr marL="0" lvl="0" indent="0" algn="l" rtl="0">
              <a:lnSpc>
                <a:spcPct val="115000"/>
              </a:lnSpc>
              <a:spcBef>
                <a:spcPts val="1200"/>
              </a:spcBef>
              <a:spcAft>
                <a:spcPts val="0"/>
              </a:spcAft>
              <a:buNone/>
            </a:pPr>
            <a:r>
              <a:rPr lang="en" sz="1100" b="1" dirty="0">
                <a:solidFill>
                  <a:schemeClr val="dk1"/>
                </a:solidFill>
              </a:rPr>
              <a:t>MCAR (Missing Completely at Random)</a:t>
            </a:r>
            <a:br>
              <a:rPr lang="en" sz="1100" b="1" dirty="0">
                <a:solidFill>
                  <a:schemeClr val="dk1"/>
                </a:solidFill>
              </a:rPr>
            </a:br>
            <a:r>
              <a:rPr lang="en" sz="1100" dirty="0">
                <a:solidFill>
                  <a:schemeClr val="dk1"/>
                </a:solidFill>
              </a:rPr>
              <a:t> The occurrence of missing values is entirely random and has no relationship with any observed or unobserved variable in the dataset.</a:t>
            </a:r>
            <a:endParaRPr sz="1100" dirty="0">
              <a:solidFill>
                <a:schemeClr val="dk1"/>
              </a:solidFill>
            </a:endParaRPr>
          </a:p>
          <a:p>
            <a:pPr marL="0" lvl="0" indent="0" algn="l" rtl="0">
              <a:lnSpc>
                <a:spcPct val="115000"/>
              </a:lnSpc>
              <a:spcBef>
                <a:spcPts val="1200"/>
              </a:spcBef>
              <a:spcAft>
                <a:spcPts val="0"/>
              </a:spcAft>
              <a:buNone/>
            </a:pPr>
            <a:r>
              <a:rPr lang="en" sz="1100" b="1" dirty="0">
                <a:solidFill>
                  <a:schemeClr val="dk1"/>
                </a:solidFill>
              </a:rPr>
              <a:t>MAR (Missing at Random)</a:t>
            </a:r>
            <a:br>
              <a:rPr lang="en" sz="1100" b="1" dirty="0">
                <a:solidFill>
                  <a:schemeClr val="dk1"/>
                </a:solidFill>
              </a:rPr>
            </a:br>
            <a:r>
              <a:rPr lang="en" sz="1100" dirty="0">
                <a:solidFill>
                  <a:schemeClr val="dk1"/>
                </a:solidFill>
              </a:rPr>
              <a:t> The missingness is associated with other available variables in the dataset but not with the missing value itself.</a:t>
            </a:r>
            <a:endParaRPr sz="1100" dirty="0">
              <a:solidFill>
                <a:schemeClr val="dk1"/>
              </a:solidFill>
            </a:endParaRPr>
          </a:p>
          <a:p>
            <a:pPr marL="0" lvl="0" indent="0" algn="l" rtl="0">
              <a:lnSpc>
                <a:spcPct val="115000"/>
              </a:lnSpc>
              <a:spcBef>
                <a:spcPts val="1200"/>
              </a:spcBef>
              <a:spcAft>
                <a:spcPts val="1200"/>
              </a:spcAft>
              <a:buNone/>
            </a:pPr>
            <a:r>
              <a:rPr lang="en" sz="1100" b="1" dirty="0">
                <a:solidFill>
                  <a:schemeClr val="dk1"/>
                </a:solidFill>
              </a:rPr>
              <a:t>MNAR (Missing Not at Random)</a:t>
            </a:r>
            <a:br>
              <a:rPr lang="en" sz="1100" b="1" dirty="0">
                <a:solidFill>
                  <a:schemeClr val="dk1"/>
                </a:solidFill>
              </a:rPr>
            </a:br>
            <a:r>
              <a:rPr lang="en" sz="1100" dirty="0">
                <a:solidFill>
                  <a:schemeClr val="dk1"/>
                </a:solidFill>
              </a:rPr>
              <a:t> The probability of a value being missing is directly linked to the missing value. For example, individuals with very high salaries may choose not to disclose their income.</a:t>
            </a:r>
            <a:endParaRPr sz="1100" dirty="0">
              <a:solidFill>
                <a:schemeClr val="dk1"/>
              </a:solidFill>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6"/>
          <p:cNvSpPr txBox="1"/>
          <p:nvPr/>
        </p:nvSpPr>
        <p:spPr>
          <a:xfrm>
            <a:off x="0" y="0"/>
            <a:ext cx="9144000" cy="2319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n" sz="1800" b="1">
                <a:solidFill>
                  <a:schemeClr val="dk1"/>
                </a:solidFill>
              </a:rPr>
              <a:t>Methods for Identifying Missing Data</a:t>
            </a:r>
            <a:endParaRPr sz="1800" b="1">
              <a:solidFill>
                <a:schemeClr val="dk1"/>
              </a:solidFill>
            </a:endParaRPr>
          </a:p>
          <a:p>
            <a:pPr marL="0" lvl="0" indent="0" algn="l" rtl="0">
              <a:lnSpc>
                <a:spcPct val="115000"/>
              </a:lnSpc>
              <a:spcBef>
                <a:spcPts val="1200"/>
              </a:spcBef>
              <a:spcAft>
                <a:spcPts val="1200"/>
              </a:spcAft>
              <a:buNone/>
            </a:pPr>
            <a:r>
              <a:rPr lang="en" sz="1600">
                <a:solidFill>
                  <a:schemeClr val="dk1"/>
                </a:solidFill>
              </a:rPr>
              <a:t>Finding and handling missing values is a crucial step in data preprocessing and analysis. Pandas provides several built-in functions that help identify, eliminate, and fill missing values within a DataFrame. These functions make it easier to detect null entries and apply appropriate techniques for data cleaning.</a:t>
            </a:r>
            <a:br>
              <a:rPr lang="en" sz="1600">
                <a:solidFill>
                  <a:schemeClr val="dk1"/>
                </a:solidFill>
              </a:rPr>
            </a:br>
            <a:r>
              <a:rPr lang="en" sz="1600">
                <a:solidFill>
                  <a:schemeClr val="dk1"/>
                </a:solidFill>
              </a:rPr>
              <a:t/>
            </a:r>
            <a:br>
              <a:rPr lang="en" sz="1600">
                <a:solidFill>
                  <a:schemeClr val="dk1"/>
                </a:solidFill>
              </a:rPr>
            </a:br>
            <a:r>
              <a:rPr lang="en" sz="1600">
                <a:solidFill>
                  <a:schemeClr val="dk1"/>
                </a:solidFill>
              </a:rPr>
              <a:t>Following are the functions with their descriptions :</a:t>
            </a:r>
            <a:endParaRPr sz="1600">
              <a:solidFill>
                <a:schemeClr val="dk1"/>
              </a:solidFill>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graphicFrame>
        <p:nvGraphicFramePr>
          <p:cNvPr id="75" name="Google Shape;75;p17"/>
          <p:cNvGraphicFramePr/>
          <p:nvPr/>
        </p:nvGraphicFramePr>
        <p:xfrm>
          <a:off x="1078825" y="133350"/>
          <a:ext cx="7111150" cy="4617200"/>
        </p:xfrm>
        <a:graphic>
          <a:graphicData uri="http://schemas.openxmlformats.org/drawingml/2006/table">
            <a:tbl>
              <a:tblPr>
                <a:solidFill>
                  <a:srgbClr val="FFFFFF"/>
                </a:solidFill>
                <a:tableStyleId>{08A9E502-B065-4AE6-982A-26E55CB36CF0}</a:tableStyleId>
              </a:tblPr>
              <a:tblGrid>
                <a:gridCol w="2909700"/>
                <a:gridCol w="4201450"/>
              </a:tblGrid>
              <a:tr h="535175">
                <a:tc>
                  <a:txBody>
                    <a:bodyPr/>
                    <a:lstStyle/>
                    <a:p>
                      <a:pPr marL="0" lvl="0" indent="0" algn="ctr" rtl="0">
                        <a:lnSpc>
                          <a:spcPct val="120000"/>
                        </a:lnSpc>
                        <a:spcBef>
                          <a:spcPts val="0"/>
                        </a:spcBef>
                        <a:spcAft>
                          <a:spcPts val="800"/>
                        </a:spcAft>
                        <a:buNone/>
                      </a:pPr>
                      <a:r>
                        <a:rPr lang="en" sz="1250">
                          <a:solidFill>
                            <a:srgbClr val="273239"/>
                          </a:solidFill>
                          <a:highlight>
                            <a:srgbClr val="FFFFFF"/>
                          </a:highlight>
                          <a:latin typeface="Nunito"/>
                          <a:ea typeface="Nunito"/>
                          <a:cs typeface="Nunito"/>
                          <a:sym typeface="Nunito"/>
                        </a:rPr>
                        <a:t>.isnull()</a:t>
                      </a:r>
                      <a:endParaRPr sz="1250">
                        <a:solidFill>
                          <a:srgbClr val="273239"/>
                        </a:solidFill>
                        <a:highlight>
                          <a:srgbClr val="FFFFFF"/>
                        </a:highlight>
                        <a:latin typeface="Nunito"/>
                        <a:ea typeface="Nunito"/>
                        <a:cs typeface="Nunito"/>
                        <a:sym typeface="Nunito"/>
                      </a:endParaRPr>
                    </a:p>
                  </a:txBody>
                  <a:tcPr marL="95250" marR="95250" marT="133350" marB="133350" anchor="ctr">
                    <a:lnL w="6350" cap="flat" cmpd="sng">
                      <a:solidFill>
                        <a:schemeClr val="dk1"/>
                      </a:solidFill>
                      <a:prstDash val="solid"/>
                      <a:round/>
                      <a:headEnd type="none" w="sm" len="sm"/>
                      <a:tailEnd type="none" w="sm" len="sm"/>
                    </a:lnL>
                    <a:lnR w="6350" cap="flat" cmpd="sng">
                      <a:solidFill>
                        <a:schemeClr val="dk1"/>
                      </a:solidFill>
                      <a:prstDash val="solid"/>
                      <a:round/>
                      <a:headEnd type="none" w="sm" len="sm"/>
                      <a:tailEnd type="none" w="sm" len="sm"/>
                    </a:lnR>
                    <a:lnT w="6350" cap="flat" cmpd="sng">
                      <a:solidFill>
                        <a:schemeClr val="dk1"/>
                      </a:solidFill>
                      <a:prstDash val="solid"/>
                      <a:round/>
                      <a:headEnd type="none" w="sm" len="sm"/>
                      <a:tailEnd type="none" w="sm" len="sm"/>
                    </a:lnT>
                    <a:lnB w="6350" cap="flat" cmpd="sng">
                      <a:solidFill>
                        <a:schemeClr val="dk1"/>
                      </a:solidFill>
                      <a:prstDash val="solid"/>
                      <a:round/>
                      <a:headEnd type="none" w="sm" len="sm"/>
                      <a:tailEnd type="none" w="sm" len="sm"/>
                    </a:lnB>
                  </a:tcPr>
                </a:tc>
                <a:tc>
                  <a:txBody>
                    <a:bodyPr/>
                    <a:lstStyle/>
                    <a:p>
                      <a:pPr marL="0" lvl="0" indent="0" algn="ctr" rtl="0">
                        <a:lnSpc>
                          <a:spcPct val="120000"/>
                        </a:lnSpc>
                        <a:spcBef>
                          <a:spcPts val="0"/>
                        </a:spcBef>
                        <a:spcAft>
                          <a:spcPts val="800"/>
                        </a:spcAft>
                        <a:buNone/>
                      </a:pPr>
                      <a:r>
                        <a:rPr lang="en" sz="1250">
                          <a:solidFill>
                            <a:srgbClr val="273239"/>
                          </a:solidFill>
                          <a:highlight>
                            <a:srgbClr val="FFFFFF"/>
                          </a:highlight>
                          <a:latin typeface="Nunito"/>
                          <a:ea typeface="Nunito"/>
                          <a:cs typeface="Nunito"/>
                          <a:sym typeface="Nunito"/>
                        </a:rPr>
                        <a:t>Detect missing values</a:t>
                      </a:r>
                      <a:endParaRPr sz="1250">
                        <a:solidFill>
                          <a:srgbClr val="273239"/>
                        </a:solidFill>
                        <a:highlight>
                          <a:srgbClr val="FFFFFF"/>
                        </a:highlight>
                        <a:latin typeface="Nunito"/>
                        <a:ea typeface="Nunito"/>
                        <a:cs typeface="Nunito"/>
                        <a:sym typeface="Nunito"/>
                      </a:endParaRPr>
                    </a:p>
                  </a:txBody>
                  <a:tcPr marL="95250" marR="95250" marT="133350" marB="133350" anchor="ctr">
                    <a:lnL w="6350" cap="flat" cmpd="sng">
                      <a:solidFill>
                        <a:schemeClr val="dk1"/>
                      </a:solidFill>
                      <a:prstDash val="solid"/>
                      <a:round/>
                      <a:headEnd type="none" w="sm" len="sm"/>
                      <a:tailEnd type="none" w="sm" len="sm"/>
                    </a:lnL>
                    <a:lnR w="6350" cap="flat" cmpd="sng">
                      <a:solidFill>
                        <a:schemeClr val="dk1"/>
                      </a:solidFill>
                      <a:prstDash val="solid"/>
                      <a:round/>
                      <a:headEnd type="none" w="sm" len="sm"/>
                      <a:tailEnd type="none" w="sm" len="sm"/>
                    </a:lnR>
                    <a:lnT w="6350" cap="flat" cmpd="sng">
                      <a:solidFill>
                        <a:schemeClr val="dk1"/>
                      </a:solidFill>
                      <a:prstDash val="solid"/>
                      <a:round/>
                      <a:headEnd type="none" w="sm" len="sm"/>
                      <a:tailEnd type="none" w="sm" len="sm"/>
                    </a:lnT>
                    <a:lnB w="6350" cap="flat" cmpd="sng">
                      <a:solidFill>
                        <a:schemeClr val="dk1"/>
                      </a:solidFill>
                      <a:prstDash val="solid"/>
                      <a:round/>
                      <a:headEnd type="none" w="sm" len="sm"/>
                      <a:tailEnd type="none" w="sm" len="sm"/>
                    </a:lnB>
                  </a:tcPr>
                </a:tc>
              </a:tr>
              <a:tr h="535175">
                <a:tc>
                  <a:txBody>
                    <a:bodyPr/>
                    <a:lstStyle/>
                    <a:p>
                      <a:pPr marL="0" lvl="0" indent="0" algn="ctr" rtl="0">
                        <a:lnSpc>
                          <a:spcPct val="120000"/>
                        </a:lnSpc>
                        <a:spcBef>
                          <a:spcPts val="0"/>
                        </a:spcBef>
                        <a:spcAft>
                          <a:spcPts val="800"/>
                        </a:spcAft>
                        <a:buNone/>
                      </a:pPr>
                      <a:r>
                        <a:rPr lang="en" sz="1250">
                          <a:solidFill>
                            <a:srgbClr val="273239"/>
                          </a:solidFill>
                          <a:highlight>
                            <a:srgbClr val="FFFFFF"/>
                          </a:highlight>
                          <a:latin typeface="Nunito"/>
                          <a:ea typeface="Nunito"/>
                          <a:cs typeface="Nunito"/>
                          <a:sym typeface="Nunito"/>
                        </a:rPr>
                        <a:t>.notnull()</a:t>
                      </a:r>
                      <a:endParaRPr sz="1250">
                        <a:solidFill>
                          <a:srgbClr val="273239"/>
                        </a:solidFill>
                        <a:highlight>
                          <a:srgbClr val="FFFFFF"/>
                        </a:highlight>
                        <a:latin typeface="Nunito"/>
                        <a:ea typeface="Nunito"/>
                        <a:cs typeface="Nunito"/>
                        <a:sym typeface="Nunito"/>
                      </a:endParaRPr>
                    </a:p>
                  </a:txBody>
                  <a:tcPr marL="95250" marR="95250" marT="133350" marB="133350" anchor="ctr">
                    <a:lnL w="6350" cap="flat" cmpd="sng">
                      <a:solidFill>
                        <a:schemeClr val="dk1"/>
                      </a:solidFill>
                      <a:prstDash val="solid"/>
                      <a:round/>
                      <a:headEnd type="none" w="sm" len="sm"/>
                      <a:tailEnd type="none" w="sm" len="sm"/>
                    </a:lnL>
                    <a:lnR w="6350" cap="flat" cmpd="sng">
                      <a:solidFill>
                        <a:schemeClr val="dk1"/>
                      </a:solidFill>
                      <a:prstDash val="solid"/>
                      <a:round/>
                      <a:headEnd type="none" w="sm" len="sm"/>
                      <a:tailEnd type="none" w="sm" len="sm"/>
                    </a:lnR>
                    <a:lnT w="6350" cap="flat" cmpd="sng">
                      <a:solidFill>
                        <a:schemeClr val="dk1"/>
                      </a:solidFill>
                      <a:prstDash val="solid"/>
                      <a:round/>
                      <a:headEnd type="none" w="sm" len="sm"/>
                      <a:tailEnd type="none" w="sm" len="sm"/>
                    </a:lnT>
                    <a:lnB w="6350" cap="flat" cmpd="sng">
                      <a:solidFill>
                        <a:schemeClr val="dk1"/>
                      </a:solidFill>
                      <a:prstDash val="solid"/>
                      <a:round/>
                      <a:headEnd type="none" w="sm" len="sm"/>
                      <a:tailEnd type="none" w="sm" len="sm"/>
                    </a:lnB>
                  </a:tcPr>
                </a:tc>
                <a:tc>
                  <a:txBody>
                    <a:bodyPr/>
                    <a:lstStyle/>
                    <a:p>
                      <a:pPr marL="0" lvl="0" indent="0" algn="ctr" rtl="0">
                        <a:lnSpc>
                          <a:spcPct val="120000"/>
                        </a:lnSpc>
                        <a:spcBef>
                          <a:spcPts val="0"/>
                        </a:spcBef>
                        <a:spcAft>
                          <a:spcPts val="800"/>
                        </a:spcAft>
                        <a:buNone/>
                      </a:pPr>
                      <a:r>
                        <a:rPr lang="en" sz="1250">
                          <a:solidFill>
                            <a:srgbClr val="273239"/>
                          </a:solidFill>
                          <a:highlight>
                            <a:srgbClr val="FFFFFF"/>
                          </a:highlight>
                          <a:latin typeface="Nunito"/>
                          <a:ea typeface="Nunito"/>
                          <a:cs typeface="Nunito"/>
                          <a:sym typeface="Nunito"/>
                        </a:rPr>
                        <a:t>Detect non-missing values</a:t>
                      </a:r>
                      <a:endParaRPr sz="1250">
                        <a:solidFill>
                          <a:srgbClr val="273239"/>
                        </a:solidFill>
                        <a:highlight>
                          <a:srgbClr val="FFFFFF"/>
                        </a:highlight>
                        <a:latin typeface="Nunito"/>
                        <a:ea typeface="Nunito"/>
                        <a:cs typeface="Nunito"/>
                        <a:sym typeface="Nunito"/>
                      </a:endParaRPr>
                    </a:p>
                  </a:txBody>
                  <a:tcPr marL="95250" marR="95250" marT="133350" marB="133350" anchor="ctr">
                    <a:lnL w="6350" cap="flat" cmpd="sng">
                      <a:solidFill>
                        <a:schemeClr val="dk1"/>
                      </a:solidFill>
                      <a:prstDash val="solid"/>
                      <a:round/>
                      <a:headEnd type="none" w="sm" len="sm"/>
                      <a:tailEnd type="none" w="sm" len="sm"/>
                    </a:lnL>
                    <a:lnR w="6350" cap="flat" cmpd="sng">
                      <a:solidFill>
                        <a:schemeClr val="dk1"/>
                      </a:solidFill>
                      <a:prstDash val="solid"/>
                      <a:round/>
                      <a:headEnd type="none" w="sm" len="sm"/>
                      <a:tailEnd type="none" w="sm" len="sm"/>
                    </a:lnR>
                    <a:lnT w="6350" cap="flat" cmpd="sng">
                      <a:solidFill>
                        <a:schemeClr val="dk1"/>
                      </a:solidFill>
                      <a:prstDash val="solid"/>
                      <a:round/>
                      <a:headEnd type="none" w="sm" len="sm"/>
                      <a:tailEnd type="none" w="sm" len="sm"/>
                    </a:lnT>
                    <a:lnB w="6350" cap="flat" cmpd="sng">
                      <a:solidFill>
                        <a:schemeClr val="dk1"/>
                      </a:solidFill>
                      <a:prstDash val="solid"/>
                      <a:round/>
                      <a:headEnd type="none" w="sm" len="sm"/>
                      <a:tailEnd type="none" w="sm" len="sm"/>
                    </a:lnB>
                  </a:tcPr>
                </a:tc>
              </a:tr>
              <a:tr h="535175">
                <a:tc>
                  <a:txBody>
                    <a:bodyPr/>
                    <a:lstStyle/>
                    <a:p>
                      <a:pPr marL="0" lvl="0" indent="0" algn="ctr" rtl="0">
                        <a:lnSpc>
                          <a:spcPct val="120000"/>
                        </a:lnSpc>
                        <a:spcBef>
                          <a:spcPts val="0"/>
                        </a:spcBef>
                        <a:spcAft>
                          <a:spcPts val="800"/>
                        </a:spcAft>
                        <a:buNone/>
                      </a:pPr>
                      <a:r>
                        <a:rPr lang="en" sz="1250">
                          <a:solidFill>
                            <a:srgbClr val="273239"/>
                          </a:solidFill>
                          <a:highlight>
                            <a:srgbClr val="FFFFFF"/>
                          </a:highlight>
                          <a:latin typeface="Nunito"/>
                          <a:ea typeface="Nunito"/>
                          <a:cs typeface="Nunito"/>
                          <a:sym typeface="Nunito"/>
                        </a:rPr>
                        <a:t>.info()</a:t>
                      </a:r>
                      <a:endParaRPr sz="1250">
                        <a:solidFill>
                          <a:srgbClr val="273239"/>
                        </a:solidFill>
                        <a:highlight>
                          <a:srgbClr val="FFFFFF"/>
                        </a:highlight>
                        <a:latin typeface="Nunito"/>
                        <a:ea typeface="Nunito"/>
                        <a:cs typeface="Nunito"/>
                        <a:sym typeface="Nunito"/>
                      </a:endParaRPr>
                    </a:p>
                  </a:txBody>
                  <a:tcPr marL="95250" marR="95250" marT="133350" marB="133350" anchor="ctr">
                    <a:lnL w="6350" cap="flat" cmpd="sng">
                      <a:solidFill>
                        <a:schemeClr val="dk1"/>
                      </a:solidFill>
                      <a:prstDash val="solid"/>
                      <a:round/>
                      <a:headEnd type="none" w="sm" len="sm"/>
                      <a:tailEnd type="none" w="sm" len="sm"/>
                    </a:lnL>
                    <a:lnR w="6350" cap="flat" cmpd="sng">
                      <a:solidFill>
                        <a:schemeClr val="dk1"/>
                      </a:solidFill>
                      <a:prstDash val="solid"/>
                      <a:round/>
                      <a:headEnd type="none" w="sm" len="sm"/>
                      <a:tailEnd type="none" w="sm" len="sm"/>
                    </a:lnR>
                    <a:lnT w="6350" cap="flat" cmpd="sng">
                      <a:solidFill>
                        <a:schemeClr val="dk1"/>
                      </a:solidFill>
                      <a:prstDash val="solid"/>
                      <a:round/>
                      <a:headEnd type="none" w="sm" len="sm"/>
                      <a:tailEnd type="none" w="sm" len="sm"/>
                    </a:lnT>
                    <a:lnB w="6350" cap="flat" cmpd="sng">
                      <a:solidFill>
                        <a:schemeClr val="dk1"/>
                      </a:solidFill>
                      <a:prstDash val="solid"/>
                      <a:round/>
                      <a:headEnd type="none" w="sm" len="sm"/>
                      <a:tailEnd type="none" w="sm" len="sm"/>
                    </a:lnB>
                  </a:tcPr>
                </a:tc>
                <a:tc>
                  <a:txBody>
                    <a:bodyPr/>
                    <a:lstStyle/>
                    <a:p>
                      <a:pPr marL="0" lvl="0" indent="0" algn="ctr" rtl="0">
                        <a:lnSpc>
                          <a:spcPct val="120000"/>
                        </a:lnSpc>
                        <a:spcBef>
                          <a:spcPts val="0"/>
                        </a:spcBef>
                        <a:spcAft>
                          <a:spcPts val="800"/>
                        </a:spcAft>
                        <a:buNone/>
                      </a:pPr>
                      <a:r>
                        <a:rPr lang="en" sz="1250">
                          <a:solidFill>
                            <a:srgbClr val="273239"/>
                          </a:solidFill>
                          <a:highlight>
                            <a:srgbClr val="FFFFFF"/>
                          </a:highlight>
                          <a:latin typeface="Nunito"/>
                          <a:ea typeface="Nunito"/>
                          <a:cs typeface="Nunito"/>
                          <a:sym typeface="Nunito"/>
                        </a:rPr>
                        <a:t>Summary with missing counts</a:t>
                      </a:r>
                      <a:endParaRPr sz="1250">
                        <a:solidFill>
                          <a:srgbClr val="273239"/>
                        </a:solidFill>
                        <a:highlight>
                          <a:srgbClr val="FFFFFF"/>
                        </a:highlight>
                        <a:latin typeface="Nunito"/>
                        <a:ea typeface="Nunito"/>
                        <a:cs typeface="Nunito"/>
                        <a:sym typeface="Nunito"/>
                      </a:endParaRPr>
                    </a:p>
                  </a:txBody>
                  <a:tcPr marL="95250" marR="95250" marT="133350" marB="133350" anchor="ctr">
                    <a:lnL w="6350" cap="flat" cmpd="sng">
                      <a:solidFill>
                        <a:schemeClr val="dk1"/>
                      </a:solidFill>
                      <a:prstDash val="solid"/>
                      <a:round/>
                      <a:headEnd type="none" w="sm" len="sm"/>
                      <a:tailEnd type="none" w="sm" len="sm"/>
                    </a:lnL>
                    <a:lnR w="6350" cap="flat" cmpd="sng">
                      <a:solidFill>
                        <a:schemeClr val="dk1"/>
                      </a:solidFill>
                      <a:prstDash val="solid"/>
                      <a:round/>
                      <a:headEnd type="none" w="sm" len="sm"/>
                      <a:tailEnd type="none" w="sm" len="sm"/>
                    </a:lnR>
                    <a:lnT w="6350" cap="flat" cmpd="sng">
                      <a:solidFill>
                        <a:schemeClr val="dk1"/>
                      </a:solidFill>
                      <a:prstDash val="solid"/>
                      <a:round/>
                      <a:headEnd type="none" w="sm" len="sm"/>
                      <a:tailEnd type="none" w="sm" len="sm"/>
                    </a:lnT>
                    <a:lnB w="6350" cap="flat" cmpd="sng">
                      <a:solidFill>
                        <a:schemeClr val="dk1"/>
                      </a:solidFill>
                      <a:prstDash val="solid"/>
                      <a:round/>
                      <a:headEnd type="none" w="sm" len="sm"/>
                      <a:tailEnd type="none" w="sm" len="sm"/>
                    </a:lnB>
                  </a:tcPr>
                </a:tc>
              </a:tr>
              <a:tr h="535175">
                <a:tc>
                  <a:txBody>
                    <a:bodyPr/>
                    <a:lstStyle/>
                    <a:p>
                      <a:pPr marL="0" lvl="0" indent="0" algn="ctr" rtl="0">
                        <a:lnSpc>
                          <a:spcPct val="120000"/>
                        </a:lnSpc>
                        <a:spcBef>
                          <a:spcPts val="0"/>
                        </a:spcBef>
                        <a:spcAft>
                          <a:spcPts val="800"/>
                        </a:spcAft>
                        <a:buNone/>
                      </a:pPr>
                      <a:r>
                        <a:rPr lang="en" sz="1250">
                          <a:solidFill>
                            <a:srgbClr val="273239"/>
                          </a:solidFill>
                          <a:highlight>
                            <a:srgbClr val="FFFFFF"/>
                          </a:highlight>
                          <a:latin typeface="Nunito"/>
                          <a:ea typeface="Nunito"/>
                          <a:cs typeface="Nunito"/>
                          <a:sym typeface="Nunito"/>
                        </a:rPr>
                        <a:t>.isna()</a:t>
                      </a:r>
                      <a:endParaRPr sz="1250">
                        <a:solidFill>
                          <a:srgbClr val="273239"/>
                        </a:solidFill>
                        <a:highlight>
                          <a:srgbClr val="FFFFFF"/>
                        </a:highlight>
                        <a:latin typeface="Nunito"/>
                        <a:ea typeface="Nunito"/>
                        <a:cs typeface="Nunito"/>
                        <a:sym typeface="Nunito"/>
                      </a:endParaRPr>
                    </a:p>
                  </a:txBody>
                  <a:tcPr marL="95250" marR="95250" marT="133350" marB="133350" anchor="ctr">
                    <a:lnL w="6350" cap="flat" cmpd="sng">
                      <a:solidFill>
                        <a:schemeClr val="dk1"/>
                      </a:solidFill>
                      <a:prstDash val="solid"/>
                      <a:round/>
                      <a:headEnd type="none" w="sm" len="sm"/>
                      <a:tailEnd type="none" w="sm" len="sm"/>
                    </a:lnL>
                    <a:lnR w="6350" cap="flat" cmpd="sng">
                      <a:solidFill>
                        <a:schemeClr val="dk1"/>
                      </a:solidFill>
                      <a:prstDash val="solid"/>
                      <a:round/>
                      <a:headEnd type="none" w="sm" len="sm"/>
                      <a:tailEnd type="none" w="sm" len="sm"/>
                    </a:lnR>
                    <a:lnT w="6350" cap="flat" cmpd="sng">
                      <a:solidFill>
                        <a:schemeClr val="dk1"/>
                      </a:solidFill>
                      <a:prstDash val="solid"/>
                      <a:round/>
                      <a:headEnd type="none" w="sm" len="sm"/>
                      <a:tailEnd type="none" w="sm" len="sm"/>
                    </a:lnT>
                    <a:lnB w="6350" cap="flat" cmpd="sng">
                      <a:solidFill>
                        <a:schemeClr val="dk1"/>
                      </a:solidFill>
                      <a:prstDash val="solid"/>
                      <a:round/>
                      <a:headEnd type="none" w="sm" len="sm"/>
                      <a:tailEnd type="none" w="sm" len="sm"/>
                    </a:lnB>
                  </a:tcPr>
                </a:tc>
                <a:tc>
                  <a:txBody>
                    <a:bodyPr/>
                    <a:lstStyle/>
                    <a:p>
                      <a:pPr marL="0" lvl="0" indent="0" algn="ctr" rtl="0">
                        <a:lnSpc>
                          <a:spcPct val="120000"/>
                        </a:lnSpc>
                        <a:spcBef>
                          <a:spcPts val="0"/>
                        </a:spcBef>
                        <a:spcAft>
                          <a:spcPts val="800"/>
                        </a:spcAft>
                        <a:buNone/>
                      </a:pPr>
                      <a:r>
                        <a:rPr lang="en" sz="1250">
                          <a:solidFill>
                            <a:srgbClr val="273239"/>
                          </a:solidFill>
                          <a:highlight>
                            <a:srgbClr val="FFFFFF"/>
                          </a:highlight>
                          <a:latin typeface="Nunito"/>
                          <a:ea typeface="Nunito"/>
                          <a:cs typeface="Nunito"/>
                          <a:sym typeface="Nunito"/>
                        </a:rPr>
                        <a:t>Same as isnull().</a:t>
                      </a:r>
                      <a:endParaRPr sz="1250">
                        <a:solidFill>
                          <a:srgbClr val="273239"/>
                        </a:solidFill>
                        <a:highlight>
                          <a:srgbClr val="FFFFFF"/>
                        </a:highlight>
                        <a:latin typeface="Nunito"/>
                        <a:ea typeface="Nunito"/>
                        <a:cs typeface="Nunito"/>
                        <a:sym typeface="Nunito"/>
                      </a:endParaRPr>
                    </a:p>
                  </a:txBody>
                  <a:tcPr marL="95250" marR="95250" marT="133350" marB="133350" anchor="ctr">
                    <a:lnL w="6350" cap="flat" cmpd="sng">
                      <a:solidFill>
                        <a:schemeClr val="dk1"/>
                      </a:solidFill>
                      <a:prstDash val="solid"/>
                      <a:round/>
                      <a:headEnd type="none" w="sm" len="sm"/>
                      <a:tailEnd type="none" w="sm" len="sm"/>
                    </a:lnL>
                    <a:lnR w="6350" cap="flat" cmpd="sng">
                      <a:solidFill>
                        <a:schemeClr val="dk1"/>
                      </a:solidFill>
                      <a:prstDash val="solid"/>
                      <a:round/>
                      <a:headEnd type="none" w="sm" len="sm"/>
                      <a:tailEnd type="none" w="sm" len="sm"/>
                    </a:lnR>
                    <a:lnT w="6350" cap="flat" cmpd="sng">
                      <a:solidFill>
                        <a:schemeClr val="dk1"/>
                      </a:solidFill>
                      <a:prstDash val="solid"/>
                      <a:round/>
                      <a:headEnd type="none" w="sm" len="sm"/>
                      <a:tailEnd type="none" w="sm" len="sm"/>
                    </a:lnT>
                    <a:lnB w="6350" cap="flat" cmpd="sng">
                      <a:solidFill>
                        <a:schemeClr val="dk1"/>
                      </a:solidFill>
                      <a:prstDash val="solid"/>
                      <a:round/>
                      <a:headEnd type="none" w="sm" len="sm"/>
                      <a:tailEnd type="none" w="sm" len="sm"/>
                    </a:lnB>
                  </a:tcPr>
                </a:tc>
              </a:tr>
              <a:tr h="441725">
                <a:tc>
                  <a:txBody>
                    <a:bodyPr/>
                    <a:lstStyle/>
                    <a:p>
                      <a:pPr marL="0" lvl="0" indent="0" algn="ctr" rtl="0">
                        <a:lnSpc>
                          <a:spcPct val="120000"/>
                        </a:lnSpc>
                        <a:spcBef>
                          <a:spcPts val="0"/>
                        </a:spcBef>
                        <a:spcAft>
                          <a:spcPts val="0"/>
                        </a:spcAft>
                        <a:buNone/>
                      </a:pPr>
                      <a:r>
                        <a:rPr lang="en" sz="1250">
                          <a:solidFill>
                            <a:srgbClr val="273239"/>
                          </a:solidFill>
                          <a:highlight>
                            <a:srgbClr val="FFFFFF"/>
                          </a:highlight>
                          <a:latin typeface="Nunito"/>
                          <a:ea typeface="Nunito"/>
                          <a:cs typeface="Nunito"/>
                          <a:sym typeface="Nunito"/>
                        </a:rPr>
                        <a:t>dropna()</a:t>
                      </a:r>
                      <a:endParaRPr sz="1250">
                        <a:solidFill>
                          <a:srgbClr val="273239"/>
                        </a:solidFill>
                        <a:highlight>
                          <a:srgbClr val="FFFFFF"/>
                        </a:highlight>
                        <a:latin typeface="Nunito"/>
                        <a:ea typeface="Nunito"/>
                        <a:cs typeface="Nunito"/>
                        <a:sym typeface="Nunito"/>
                      </a:endParaRPr>
                    </a:p>
                  </a:txBody>
                  <a:tcPr marL="95250" marR="95250" marT="133350" marB="133350" anchor="ctr">
                    <a:lnL w="6350" cap="flat" cmpd="sng">
                      <a:solidFill>
                        <a:schemeClr val="dk1"/>
                      </a:solidFill>
                      <a:prstDash val="solid"/>
                      <a:round/>
                      <a:headEnd type="none" w="sm" len="sm"/>
                      <a:tailEnd type="none" w="sm" len="sm"/>
                    </a:lnL>
                    <a:lnR w="6350" cap="flat" cmpd="sng">
                      <a:solidFill>
                        <a:schemeClr val="dk1"/>
                      </a:solidFill>
                      <a:prstDash val="solid"/>
                      <a:round/>
                      <a:headEnd type="none" w="sm" len="sm"/>
                      <a:tailEnd type="none" w="sm" len="sm"/>
                    </a:lnR>
                    <a:lnT w="6350" cap="flat" cmpd="sng">
                      <a:solidFill>
                        <a:schemeClr val="dk1"/>
                      </a:solidFill>
                      <a:prstDash val="solid"/>
                      <a:round/>
                      <a:headEnd type="none" w="sm" len="sm"/>
                      <a:tailEnd type="none" w="sm" len="sm"/>
                    </a:lnT>
                    <a:lnB w="6350" cap="flat" cmpd="sng">
                      <a:solidFill>
                        <a:schemeClr val="dk1"/>
                      </a:solidFill>
                      <a:prstDash val="solid"/>
                      <a:round/>
                      <a:headEnd type="none" w="sm" len="sm"/>
                      <a:tailEnd type="none" w="sm" len="sm"/>
                    </a:lnB>
                  </a:tcPr>
                </a:tc>
                <a:tc>
                  <a:txBody>
                    <a:bodyPr/>
                    <a:lstStyle/>
                    <a:p>
                      <a:pPr marL="0" lvl="0" indent="0" algn="ctr" rtl="0">
                        <a:lnSpc>
                          <a:spcPct val="120000"/>
                        </a:lnSpc>
                        <a:spcBef>
                          <a:spcPts val="0"/>
                        </a:spcBef>
                        <a:spcAft>
                          <a:spcPts val="0"/>
                        </a:spcAft>
                        <a:buNone/>
                      </a:pPr>
                      <a:r>
                        <a:rPr lang="en" sz="1250">
                          <a:solidFill>
                            <a:srgbClr val="273239"/>
                          </a:solidFill>
                          <a:highlight>
                            <a:srgbClr val="FFFFFF"/>
                          </a:highlight>
                          <a:latin typeface="Nunito"/>
                          <a:ea typeface="Nunito"/>
                          <a:cs typeface="Nunito"/>
                          <a:sym typeface="Nunito"/>
                        </a:rPr>
                        <a:t>Remove missing rows/columns</a:t>
                      </a:r>
                      <a:endParaRPr sz="1250">
                        <a:solidFill>
                          <a:srgbClr val="273239"/>
                        </a:solidFill>
                        <a:highlight>
                          <a:srgbClr val="FFFFFF"/>
                        </a:highlight>
                        <a:latin typeface="Nunito"/>
                        <a:ea typeface="Nunito"/>
                        <a:cs typeface="Nunito"/>
                        <a:sym typeface="Nunito"/>
                      </a:endParaRPr>
                    </a:p>
                  </a:txBody>
                  <a:tcPr marL="95250" marR="95250" marT="133350" marB="133350" anchor="ctr">
                    <a:lnL w="6350" cap="flat" cmpd="sng">
                      <a:solidFill>
                        <a:schemeClr val="dk1"/>
                      </a:solidFill>
                      <a:prstDash val="solid"/>
                      <a:round/>
                      <a:headEnd type="none" w="sm" len="sm"/>
                      <a:tailEnd type="none" w="sm" len="sm"/>
                    </a:lnL>
                    <a:lnR w="6350" cap="flat" cmpd="sng">
                      <a:solidFill>
                        <a:schemeClr val="dk1"/>
                      </a:solidFill>
                      <a:prstDash val="solid"/>
                      <a:round/>
                      <a:headEnd type="none" w="sm" len="sm"/>
                      <a:tailEnd type="none" w="sm" len="sm"/>
                    </a:lnR>
                    <a:lnT w="6350" cap="flat" cmpd="sng">
                      <a:solidFill>
                        <a:schemeClr val="dk1"/>
                      </a:solidFill>
                      <a:prstDash val="solid"/>
                      <a:round/>
                      <a:headEnd type="none" w="sm" len="sm"/>
                      <a:tailEnd type="none" w="sm" len="sm"/>
                    </a:lnT>
                    <a:lnB w="6350" cap="flat" cmpd="sng">
                      <a:solidFill>
                        <a:schemeClr val="dk1"/>
                      </a:solidFill>
                      <a:prstDash val="solid"/>
                      <a:round/>
                      <a:headEnd type="none" w="sm" len="sm"/>
                      <a:tailEnd type="none" w="sm" len="sm"/>
                    </a:lnB>
                  </a:tcPr>
                </a:tc>
              </a:tr>
              <a:tr h="441725">
                <a:tc>
                  <a:txBody>
                    <a:bodyPr/>
                    <a:lstStyle/>
                    <a:p>
                      <a:pPr marL="0" lvl="0" indent="0" algn="ctr" rtl="0">
                        <a:lnSpc>
                          <a:spcPct val="120000"/>
                        </a:lnSpc>
                        <a:spcBef>
                          <a:spcPts val="0"/>
                        </a:spcBef>
                        <a:spcAft>
                          <a:spcPts val="0"/>
                        </a:spcAft>
                        <a:buNone/>
                      </a:pPr>
                      <a:r>
                        <a:rPr lang="en" sz="1250">
                          <a:solidFill>
                            <a:srgbClr val="273239"/>
                          </a:solidFill>
                          <a:highlight>
                            <a:srgbClr val="FFFFFF"/>
                          </a:highlight>
                          <a:latin typeface="Nunito"/>
                          <a:ea typeface="Nunito"/>
                          <a:cs typeface="Nunito"/>
                          <a:sym typeface="Nunito"/>
                        </a:rPr>
                        <a:t>fillna()</a:t>
                      </a:r>
                      <a:endParaRPr sz="1250">
                        <a:solidFill>
                          <a:srgbClr val="273239"/>
                        </a:solidFill>
                        <a:highlight>
                          <a:srgbClr val="FFFFFF"/>
                        </a:highlight>
                        <a:latin typeface="Nunito"/>
                        <a:ea typeface="Nunito"/>
                        <a:cs typeface="Nunito"/>
                        <a:sym typeface="Nunito"/>
                      </a:endParaRPr>
                    </a:p>
                  </a:txBody>
                  <a:tcPr marL="95250" marR="95250" marT="133350" marB="133350" anchor="ctr">
                    <a:lnL w="6350" cap="flat" cmpd="sng">
                      <a:solidFill>
                        <a:schemeClr val="dk1"/>
                      </a:solidFill>
                      <a:prstDash val="solid"/>
                      <a:round/>
                      <a:headEnd type="none" w="sm" len="sm"/>
                      <a:tailEnd type="none" w="sm" len="sm"/>
                    </a:lnL>
                    <a:lnR w="6350" cap="flat" cmpd="sng">
                      <a:solidFill>
                        <a:schemeClr val="dk1"/>
                      </a:solidFill>
                      <a:prstDash val="solid"/>
                      <a:round/>
                      <a:headEnd type="none" w="sm" len="sm"/>
                      <a:tailEnd type="none" w="sm" len="sm"/>
                    </a:lnR>
                    <a:lnT w="6350" cap="flat" cmpd="sng">
                      <a:solidFill>
                        <a:schemeClr val="dk1"/>
                      </a:solidFill>
                      <a:prstDash val="solid"/>
                      <a:round/>
                      <a:headEnd type="none" w="sm" len="sm"/>
                      <a:tailEnd type="none" w="sm" len="sm"/>
                    </a:lnT>
                    <a:lnB w="6350" cap="flat" cmpd="sng">
                      <a:solidFill>
                        <a:schemeClr val="dk1"/>
                      </a:solidFill>
                      <a:prstDash val="solid"/>
                      <a:round/>
                      <a:headEnd type="none" w="sm" len="sm"/>
                      <a:tailEnd type="none" w="sm" len="sm"/>
                    </a:lnB>
                  </a:tcPr>
                </a:tc>
                <a:tc>
                  <a:txBody>
                    <a:bodyPr/>
                    <a:lstStyle/>
                    <a:p>
                      <a:pPr marL="0" lvl="0" indent="0" algn="ctr" rtl="0">
                        <a:lnSpc>
                          <a:spcPct val="120000"/>
                        </a:lnSpc>
                        <a:spcBef>
                          <a:spcPts val="0"/>
                        </a:spcBef>
                        <a:spcAft>
                          <a:spcPts val="0"/>
                        </a:spcAft>
                        <a:buNone/>
                      </a:pPr>
                      <a:r>
                        <a:rPr lang="en" sz="1250">
                          <a:solidFill>
                            <a:srgbClr val="273239"/>
                          </a:solidFill>
                          <a:highlight>
                            <a:srgbClr val="FFFFFF"/>
                          </a:highlight>
                          <a:latin typeface="Nunito"/>
                          <a:ea typeface="Nunito"/>
                          <a:cs typeface="Nunito"/>
                          <a:sym typeface="Nunito"/>
                        </a:rPr>
                        <a:t>Fill missing values</a:t>
                      </a:r>
                      <a:endParaRPr sz="1250">
                        <a:solidFill>
                          <a:srgbClr val="273239"/>
                        </a:solidFill>
                        <a:highlight>
                          <a:srgbClr val="FFFFFF"/>
                        </a:highlight>
                        <a:latin typeface="Nunito"/>
                        <a:ea typeface="Nunito"/>
                        <a:cs typeface="Nunito"/>
                        <a:sym typeface="Nunito"/>
                      </a:endParaRPr>
                    </a:p>
                  </a:txBody>
                  <a:tcPr marL="95250" marR="95250" marT="133350" marB="133350" anchor="ctr">
                    <a:lnL w="6350" cap="flat" cmpd="sng">
                      <a:solidFill>
                        <a:schemeClr val="dk1"/>
                      </a:solidFill>
                      <a:prstDash val="solid"/>
                      <a:round/>
                      <a:headEnd type="none" w="sm" len="sm"/>
                      <a:tailEnd type="none" w="sm" len="sm"/>
                    </a:lnL>
                    <a:lnR w="6350" cap="flat" cmpd="sng">
                      <a:solidFill>
                        <a:schemeClr val="dk1"/>
                      </a:solidFill>
                      <a:prstDash val="solid"/>
                      <a:round/>
                      <a:headEnd type="none" w="sm" len="sm"/>
                      <a:tailEnd type="none" w="sm" len="sm"/>
                    </a:lnR>
                    <a:lnT w="6350" cap="flat" cmpd="sng">
                      <a:solidFill>
                        <a:schemeClr val="dk1"/>
                      </a:solidFill>
                      <a:prstDash val="solid"/>
                      <a:round/>
                      <a:headEnd type="none" w="sm" len="sm"/>
                      <a:tailEnd type="none" w="sm" len="sm"/>
                    </a:lnT>
                    <a:lnB w="6350" cap="flat" cmpd="sng">
                      <a:solidFill>
                        <a:schemeClr val="dk1"/>
                      </a:solidFill>
                      <a:prstDash val="solid"/>
                      <a:round/>
                      <a:headEnd type="none" w="sm" len="sm"/>
                      <a:tailEnd type="none" w="sm" len="sm"/>
                    </a:lnB>
                  </a:tcPr>
                </a:tc>
              </a:tr>
              <a:tr h="441725">
                <a:tc>
                  <a:txBody>
                    <a:bodyPr/>
                    <a:lstStyle/>
                    <a:p>
                      <a:pPr marL="0" lvl="0" indent="0" algn="ctr" rtl="0">
                        <a:lnSpc>
                          <a:spcPct val="120000"/>
                        </a:lnSpc>
                        <a:spcBef>
                          <a:spcPts val="0"/>
                        </a:spcBef>
                        <a:spcAft>
                          <a:spcPts val="0"/>
                        </a:spcAft>
                        <a:buNone/>
                      </a:pPr>
                      <a:r>
                        <a:rPr lang="en" sz="1250">
                          <a:solidFill>
                            <a:srgbClr val="273239"/>
                          </a:solidFill>
                          <a:highlight>
                            <a:srgbClr val="FFFFFF"/>
                          </a:highlight>
                          <a:latin typeface="Nunito"/>
                          <a:ea typeface="Nunito"/>
                          <a:cs typeface="Nunito"/>
                          <a:sym typeface="Nunito"/>
                        </a:rPr>
                        <a:t>replace()</a:t>
                      </a:r>
                      <a:endParaRPr sz="1250">
                        <a:solidFill>
                          <a:srgbClr val="273239"/>
                        </a:solidFill>
                        <a:highlight>
                          <a:srgbClr val="FFFFFF"/>
                        </a:highlight>
                        <a:latin typeface="Nunito"/>
                        <a:ea typeface="Nunito"/>
                        <a:cs typeface="Nunito"/>
                        <a:sym typeface="Nunito"/>
                      </a:endParaRPr>
                    </a:p>
                  </a:txBody>
                  <a:tcPr marL="95250" marR="95250" marT="133350" marB="133350" anchor="ctr">
                    <a:lnL w="6350" cap="flat" cmpd="sng">
                      <a:solidFill>
                        <a:schemeClr val="dk1"/>
                      </a:solidFill>
                      <a:prstDash val="solid"/>
                      <a:round/>
                      <a:headEnd type="none" w="sm" len="sm"/>
                      <a:tailEnd type="none" w="sm" len="sm"/>
                    </a:lnL>
                    <a:lnR w="6350" cap="flat" cmpd="sng">
                      <a:solidFill>
                        <a:schemeClr val="dk1"/>
                      </a:solidFill>
                      <a:prstDash val="solid"/>
                      <a:round/>
                      <a:headEnd type="none" w="sm" len="sm"/>
                      <a:tailEnd type="none" w="sm" len="sm"/>
                    </a:lnR>
                    <a:lnT w="6350" cap="flat" cmpd="sng">
                      <a:solidFill>
                        <a:schemeClr val="dk1"/>
                      </a:solidFill>
                      <a:prstDash val="solid"/>
                      <a:round/>
                      <a:headEnd type="none" w="sm" len="sm"/>
                      <a:tailEnd type="none" w="sm" len="sm"/>
                    </a:lnT>
                    <a:lnB w="6350" cap="flat" cmpd="sng">
                      <a:solidFill>
                        <a:schemeClr val="dk1"/>
                      </a:solidFill>
                      <a:prstDash val="solid"/>
                      <a:round/>
                      <a:headEnd type="none" w="sm" len="sm"/>
                      <a:tailEnd type="none" w="sm" len="sm"/>
                    </a:lnB>
                  </a:tcPr>
                </a:tc>
                <a:tc>
                  <a:txBody>
                    <a:bodyPr/>
                    <a:lstStyle/>
                    <a:p>
                      <a:pPr marL="0" lvl="0" indent="0" algn="ctr" rtl="0">
                        <a:lnSpc>
                          <a:spcPct val="120000"/>
                        </a:lnSpc>
                        <a:spcBef>
                          <a:spcPts val="0"/>
                        </a:spcBef>
                        <a:spcAft>
                          <a:spcPts val="0"/>
                        </a:spcAft>
                        <a:buNone/>
                      </a:pPr>
                      <a:r>
                        <a:rPr lang="en" sz="1250">
                          <a:solidFill>
                            <a:srgbClr val="273239"/>
                          </a:solidFill>
                          <a:highlight>
                            <a:srgbClr val="FFFFFF"/>
                          </a:highlight>
                          <a:latin typeface="Nunito"/>
                          <a:ea typeface="Nunito"/>
                          <a:cs typeface="Nunito"/>
                          <a:sym typeface="Nunito"/>
                        </a:rPr>
                        <a:t>Replace specific values</a:t>
                      </a:r>
                      <a:endParaRPr sz="1250">
                        <a:solidFill>
                          <a:srgbClr val="273239"/>
                        </a:solidFill>
                        <a:highlight>
                          <a:srgbClr val="FFFFFF"/>
                        </a:highlight>
                        <a:latin typeface="Nunito"/>
                        <a:ea typeface="Nunito"/>
                        <a:cs typeface="Nunito"/>
                        <a:sym typeface="Nunito"/>
                      </a:endParaRPr>
                    </a:p>
                  </a:txBody>
                  <a:tcPr marL="95250" marR="95250" marT="133350" marB="133350" anchor="ctr">
                    <a:lnL w="6350" cap="flat" cmpd="sng">
                      <a:solidFill>
                        <a:schemeClr val="dk1"/>
                      </a:solidFill>
                      <a:prstDash val="solid"/>
                      <a:round/>
                      <a:headEnd type="none" w="sm" len="sm"/>
                      <a:tailEnd type="none" w="sm" len="sm"/>
                    </a:lnL>
                    <a:lnR w="6350" cap="flat" cmpd="sng">
                      <a:solidFill>
                        <a:schemeClr val="dk1"/>
                      </a:solidFill>
                      <a:prstDash val="solid"/>
                      <a:round/>
                      <a:headEnd type="none" w="sm" len="sm"/>
                      <a:tailEnd type="none" w="sm" len="sm"/>
                    </a:lnR>
                    <a:lnT w="6350" cap="flat" cmpd="sng">
                      <a:solidFill>
                        <a:schemeClr val="dk1"/>
                      </a:solidFill>
                      <a:prstDash val="solid"/>
                      <a:round/>
                      <a:headEnd type="none" w="sm" len="sm"/>
                      <a:tailEnd type="none" w="sm" len="sm"/>
                    </a:lnT>
                    <a:lnB w="6350" cap="flat" cmpd="sng">
                      <a:solidFill>
                        <a:schemeClr val="dk1"/>
                      </a:solidFill>
                      <a:prstDash val="solid"/>
                      <a:round/>
                      <a:headEnd type="none" w="sm" len="sm"/>
                      <a:tailEnd type="none" w="sm" len="sm"/>
                    </a:lnB>
                  </a:tcPr>
                </a:tc>
              </a:tr>
              <a:tr h="441725">
                <a:tc>
                  <a:txBody>
                    <a:bodyPr/>
                    <a:lstStyle/>
                    <a:p>
                      <a:pPr marL="0" lvl="0" indent="0" algn="ctr" rtl="0">
                        <a:lnSpc>
                          <a:spcPct val="120000"/>
                        </a:lnSpc>
                        <a:spcBef>
                          <a:spcPts val="0"/>
                        </a:spcBef>
                        <a:spcAft>
                          <a:spcPts val="0"/>
                        </a:spcAft>
                        <a:buNone/>
                      </a:pPr>
                      <a:r>
                        <a:rPr lang="en" sz="1250">
                          <a:solidFill>
                            <a:srgbClr val="273239"/>
                          </a:solidFill>
                          <a:highlight>
                            <a:srgbClr val="FFFFFF"/>
                          </a:highlight>
                          <a:latin typeface="Nunito"/>
                          <a:ea typeface="Nunito"/>
                          <a:cs typeface="Nunito"/>
                          <a:sym typeface="Nunito"/>
                        </a:rPr>
                        <a:t>drop_duplicates()</a:t>
                      </a:r>
                      <a:endParaRPr sz="1250">
                        <a:solidFill>
                          <a:srgbClr val="273239"/>
                        </a:solidFill>
                        <a:highlight>
                          <a:srgbClr val="FFFFFF"/>
                        </a:highlight>
                        <a:latin typeface="Nunito"/>
                        <a:ea typeface="Nunito"/>
                        <a:cs typeface="Nunito"/>
                        <a:sym typeface="Nunito"/>
                      </a:endParaRPr>
                    </a:p>
                  </a:txBody>
                  <a:tcPr marL="95250" marR="95250" marT="133350" marB="133350" anchor="ctr">
                    <a:lnL w="6350" cap="flat" cmpd="sng">
                      <a:solidFill>
                        <a:schemeClr val="dk1"/>
                      </a:solidFill>
                      <a:prstDash val="solid"/>
                      <a:round/>
                      <a:headEnd type="none" w="sm" len="sm"/>
                      <a:tailEnd type="none" w="sm" len="sm"/>
                    </a:lnL>
                    <a:lnR w="6350" cap="flat" cmpd="sng">
                      <a:solidFill>
                        <a:schemeClr val="dk1"/>
                      </a:solidFill>
                      <a:prstDash val="solid"/>
                      <a:round/>
                      <a:headEnd type="none" w="sm" len="sm"/>
                      <a:tailEnd type="none" w="sm" len="sm"/>
                    </a:lnR>
                    <a:lnT w="6350" cap="flat" cmpd="sng">
                      <a:solidFill>
                        <a:schemeClr val="dk1"/>
                      </a:solidFill>
                      <a:prstDash val="solid"/>
                      <a:round/>
                      <a:headEnd type="none" w="sm" len="sm"/>
                      <a:tailEnd type="none" w="sm" len="sm"/>
                    </a:lnT>
                    <a:lnB w="6350" cap="flat" cmpd="sng">
                      <a:solidFill>
                        <a:schemeClr val="dk1"/>
                      </a:solidFill>
                      <a:prstDash val="solid"/>
                      <a:round/>
                      <a:headEnd type="none" w="sm" len="sm"/>
                      <a:tailEnd type="none" w="sm" len="sm"/>
                    </a:lnB>
                  </a:tcPr>
                </a:tc>
                <a:tc>
                  <a:txBody>
                    <a:bodyPr/>
                    <a:lstStyle/>
                    <a:p>
                      <a:pPr marL="0" lvl="0" indent="0" algn="ctr" rtl="0">
                        <a:lnSpc>
                          <a:spcPct val="120000"/>
                        </a:lnSpc>
                        <a:spcBef>
                          <a:spcPts val="0"/>
                        </a:spcBef>
                        <a:spcAft>
                          <a:spcPts val="0"/>
                        </a:spcAft>
                        <a:buNone/>
                      </a:pPr>
                      <a:r>
                        <a:rPr lang="en" sz="1250">
                          <a:solidFill>
                            <a:srgbClr val="273239"/>
                          </a:solidFill>
                          <a:highlight>
                            <a:srgbClr val="FFFFFF"/>
                          </a:highlight>
                          <a:latin typeface="Nunito"/>
                          <a:ea typeface="Nunito"/>
                          <a:cs typeface="Nunito"/>
                          <a:sym typeface="Nunito"/>
                        </a:rPr>
                        <a:t>Remove duplicate rows</a:t>
                      </a:r>
                      <a:endParaRPr sz="1250">
                        <a:solidFill>
                          <a:srgbClr val="273239"/>
                        </a:solidFill>
                        <a:highlight>
                          <a:srgbClr val="FFFFFF"/>
                        </a:highlight>
                        <a:latin typeface="Nunito"/>
                        <a:ea typeface="Nunito"/>
                        <a:cs typeface="Nunito"/>
                        <a:sym typeface="Nunito"/>
                      </a:endParaRPr>
                    </a:p>
                  </a:txBody>
                  <a:tcPr marL="95250" marR="95250" marT="133350" marB="133350" anchor="ctr">
                    <a:lnL w="6350" cap="flat" cmpd="sng">
                      <a:solidFill>
                        <a:schemeClr val="dk1"/>
                      </a:solidFill>
                      <a:prstDash val="solid"/>
                      <a:round/>
                      <a:headEnd type="none" w="sm" len="sm"/>
                      <a:tailEnd type="none" w="sm" len="sm"/>
                    </a:lnL>
                    <a:lnR w="6350" cap="flat" cmpd="sng">
                      <a:solidFill>
                        <a:schemeClr val="dk1"/>
                      </a:solidFill>
                      <a:prstDash val="solid"/>
                      <a:round/>
                      <a:headEnd type="none" w="sm" len="sm"/>
                      <a:tailEnd type="none" w="sm" len="sm"/>
                    </a:lnR>
                    <a:lnT w="6350" cap="flat" cmpd="sng">
                      <a:solidFill>
                        <a:schemeClr val="dk1"/>
                      </a:solidFill>
                      <a:prstDash val="solid"/>
                      <a:round/>
                      <a:headEnd type="none" w="sm" len="sm"/>
                      <a:tailEnd type="none" w="sm" len="sm"/>
                    </a:lnT>
                    <a:lnB w="6350" cap="flat" cmpd="sng">
                      <a:solidFill>
                        <a:schemeClr val="dk1"/>
                      </a:solidFill>
                      <a:prstDash val="solid"/>
                      <a:round/>
                      <a:headEnd type="none" w="sm" len="sm"/>
                      <a:tailEnd type="none" w="sm" len="sm"/>
                    </a:lnB>
                  </a:tcPr>
                </a:tc>
              </a:tr>
              <a:tr h="441725">
                <a:tc>
                  <a:txBody>
                    <a:bodyPr/>
                    <a:lstStyle/>
                    <a:p>
                      <a:pPr marL="0" lvl="0" indent="0" algn="ctr" rtl="0">
                        <a:lnSpc>
                          <a:spcPct val="120000"/>
                        </a:lnSpc>
                        <a:spcBef>
                          <a:spcPts val="0"/>
                        </a:spcBef>
                        <a:spcAft>
                          <a:spcPts val="0"/>
                        </a:spcAft>
                        <a:buNone/>
                      </a:pPr>
                      <a:r>
                        <a:rPr lang="en" sz="1250">
                          <a:solidFill>
                            <a:srgbClr val="273239"/>
                          </a:solidFill>
                          <a:highlight>
                            <a:srgbClr val="FFFFFF"/>
                          </a:highlight>
                          <a:latin typeface="Nunito"/>
                          <a:ea typeface="Nunito"/>
                          <a:cs typeface="Nunito"/>
                          <a:sym typeface="Nunito"/>
                        </a:rPr>
                        <a:t>unique()</a:t>
                      </a:r>
                      <a:endParaRPr sz="1250">
                        <a:solidFill>
                          <a:srgbClr val="273239"/>
                        </a:solidFill>
                        <a:highlight>
                          <a:srgbClr val="FFFFFF"/>
                        </a:highlight>
                        <a:latin typeface="Nunito"/>
                        <a:ea typeface="Nunito"/>
                        <a:cs typeface="Nunito"/>
                        <a:sym typeface="Nunito"/>
                      </a:endParaRPr>
                    </a:p>
                  </a:txBody>
                  <a:tcPr marL="95250" marR="95250" marT="133350" marB="133350" anchor="ctr">
                    <a:lnL w="6350" cap="flat" cmpd="sng">
                      <a:solidFill>
                        <a:schemeClr val="dk1"/>
                      </a:solidFill>
                      <a:prstDash val="solid"/>
                      <a:round/>
                      <a:headEnd type="none" w="sm" len="sm"/>
                      <a:tailEnd type="none" w="sm" len="sm"/>
                    </a:lnL>
                    <a:lnR w="6350" cap="flat" cmpd="sng">
                      <a:solidFill>
                        <a:schemeClr val="dk1"/>
                      </a:solidFill>
                      <a:prstDash val="solid"/>
                      <a:round/>
                      <a:headEnd type="none" w="sm" len="sm"/>
                      <a:tailEnd type="none" w="sm" len="sm"/>
                    </a:lnR>
                    <a:lnT w="6350" cap="flat" cmpd="sng">
                      <a:solidFill>
                        <a:schemeClr val="dk1"/>
                      </a:solidFill>
                      <a:prstDash val="solid"/>
                      <a:round/>
                      <a:headEnd type="none" w="sm" len="sm"/>
                      <a:tailEnd type="none" w="sm" len="sm"/>
                    </a:lnT>
                    <a:lnB w="6350" cap="flat" cmpd="sng">
                      <a:solidFill>
                        <a:schemeClr val="dk1"/>
                      </a:solidFill>
                      <a:prstDash val="solid"/>
                      <a:round/>
                      <a:headEnd type="none" w="sm" len="sm"/>
                      <a:tailEnd type="none" w="sm" len="sm"/>
                    </a:lnB>
                  </a:tcPr>
                </a:tc>
                <a:tc>
                  <a:txBody>
                    <a:bodyPr/>
                    <a:lstStyle/>
                    <a:p>
                      <a:pPr marL="0" lvl="0" indent="0" algn="ctr" rtl="0">
                        <a:lnSpc>
                          <a:spcPct val="120000"/>
                        </a:lnSpc>
                        <a:spcBef>
                          <a:spcPts val="0"/>
                        </a:spcBef>
                        <a:spcAft>
                          <a:spcPts val="0"/>
                        </a:spcAft>
                        <a:buNone/>
                      </a:pPr>
                      <a:r>
                        <a:rPr lang="en" sz="1250">
                          <a:solidFill>
                            <a:srgbClr val="273239"/>
                          </a:solidFill>
                          <a:highlight>
                            <a:srgbClr val="FFFFFF"/>
                          </a:highlight>
                          <a:latin typeface="Nunito"/>
                          <a:ea typeface="Nunito"/>
                          <a:cs typeface="Nunito"/>
                          <a:sym typeface="Nunito"/>
                        </a:rPr>
                        <a:t>Get unique values in a Series/DataFrame</a:t>
                      </a:r>
                      <a:endParaRPr sz="1250">
                        <a:solidFill>
                          <a:srgbClr val="273239"/>
                        </a:solidFill>
                        <a:highlight>
                          <a:srgbClr val="FFFFFF"/>
                        </a:highlight>
                        <a:latin typeface="Nunito"/>
                        <a:ea typeface="Nunito"/>
                        <a:cs typeface="Nunito"/>
                        <a:sym typeface="Nunito"/>
                      </a:endParaRPr>
                    </a:p>
                  </a:txBody>
                  <a:tcPr marL="95250" marR="95250" marT="133350" marB="133350" anchor="ctr">
                    <a:lnL w="6350" cap="flat" cmpd="sng">
                      <a:solidFill>
                        <a:schemeClr val="dk1"/>
                      </a:solidFill>
                      <a:prstDash val="solid"/>
                      <a:round/>
                      <a:headEnd type="none" w="sm" len="sm"/>
                      <a:tailEnd type="none" w="sm" len="sm"/>
                    </a:lnL>
                    <a:lnR w="6350" cap="flat" cmpd="sng">
                      <a:solidFill>
                        <a:schemeClr val="dk1"/>
                      </a:solidFill>
                      <a:prstDash val="solid"/>
                      <a:round/>
                      <a:headEnd type="none" w="sm" len="sm"/>
                      <a:tailEnd type="none" w="sm" len="sm"/>
                    </a:lnR>
                    <a:lnT w="6350" cap="flat" cmpd="sng">
                      <a:solidFill>
                        <a:schemeClr val="dk1"/>
                      </a:solidFill>
                      <a:prstDash val="solid"/>
                      <a:round/>
                      <a:headEnd type="none" w="sm" len="sm"/>
                      <a:tailEnd type="none" w="sm" len="sm"/>
                    </a:lnT>
                    <a:lnB w="6350" cap="flat" cmpd="sng">
                      <a:solidFill>
                        <a:schemeClr val="dk1"/>
                      </a:solidFill>
                      <a:prstDash val="solid"/>
                      <a:round/>
                      <a:headEnd type="none" w="sm" len="sm"/>
                      <a:tailEnd type="none" w="sm" len="sm"/>
                    </a:lnB>
                  </a:tcPr>
                </a:tc>
              </a:tr>
            </a:tbl>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8"/>
          <p:cNvSpPr txBox="1"/>
          <p:nvPr/>
        </p:nvSpPr>
        <p:spPr>
          <a:xfrm>
            <a:off x="0" y="0"/>
            <a:ext cx="9144000" cy="3516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n" sz="1300" b="1">
                <a:solidFill>
                  <a:schemeClr val="dk1"/>
                </a:solidFill>
              </a:rPr>
              <a:t>Representation of Missing Values in Datasets</a:t>
            </a:r>
            <a:endParaRPr sz="1300" b="1">
              <a:solidFill>
                <a:schemeClr val="dk1"/>
              </a:solidFill>
            </a:endParaRPr>
          </a:p>
          <a:p>
            <a:pPr marL="0" lvl="0" indent="0" algn="l" rtl="0">
              <a:lnSpc>
                <a:spcPct val="115000"/>
              </a:lnSpc>
              <a:spcBef>
                <a:spcPts val="1200"/>
              </a:spcBef>
              <a:spcAft>
                <a:spcPts val="0"/>
              </a:spcAft>
              <a:buNone/>
            </a:pPr>
            <a:r>
              <a:rPr lang="en" sz="1100">
                <a:solidFill>
                  <a:schemeClr val="dk1"/>
                </a:solidFill>
              </a:rPr>
              <a:t>Missing data may be represented in various ways across datasets. Maintaining a standardized and clearly documented format helps ensure accurate data processing and analysis.</a:t>
            </a:r>
            <a:endParaRPr sz="1100">
              <a:solidFill>
                <a:schemeClr val="dk1"/>
              </a:solidFill>
            </a:endParaRPr>
          </a:p>
          <a:p>
            <a:pPr marL="0" lvl="0" indent="0" algn="l" rtl="0">
              <a:lnSpc>
                <a:spcPct val="115000"/>
              </a:lnSpc>
              <a:spcBef>
                <a:spcPts val="1200"/>
              </a:spcBef>
              <a:spcAft>
                <a:spcPts val="0"/>
              </a:spcAft>
              <a:buNone/>
            </a:pPr>
            <a:r>
              <a:rPr lang="en" sz="1100" b="1">
                <a:solidFill>
                  <a:schemeClr val="dk1"/>
                </a:solidFill>
              </a:rPr>
              <a:t>Common forms of missing value representation include:</a:t>
            </a:r>
            <a:endParaRPr sz="1100"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sz="1100" b="1">
                <a:solidFill>
                  <a:schemeClr val="dk1"/>
                </a:solidFill>
              </a:rPr>
              <a:t>Empty fields:</a:t>
            </a:r>
            <a:r>
              <a:rPr lang="en" sz="1100">
                <a:solidFill>
                  <a:schemeClr val="dk1"/>
                </a:solidFill>
              </a:rPr>
              <a:t> Blank entries found in spreadsheets, databases, or CSV files.</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rPr>
              <a:t>Placeholder values:</a:t>
            </a:r>
            <a:r>
              <a:rPr lang="en" sz="1100">
                <a:solidFill>
                  <a:schemeClr val="dk1"/>
                </a:solidFill>
              </a:rPr>
              <a:t> Indicators such as </a:t>
            </a:r>
            <a:r>
              <a:rPr lang="en" sz="1100">
                <a:solidFill>
                  <a:srgbClr val="188038"/>
                </a:solidFill>
                <a:latin typeface="Roboto Mono"/>
                <a:ea typeface="Roboto Mono"/>
                <a:cs typeface="Roboto Mono"/>
                <a:sym typeface="Roboto Mono"/>
              </a:rPr>
              <a:t>"NA"</a:t>
            </a:r>
            <a:r>
              <a:rPr lang="en" sz="1100">
                <a:solidFill>
                  <a:schemeClr val="dk1"/>
                </a:solidFill>
              </a:rPr>
              <a:t>, </a:t>
            </a:r>
            <a:r>
              <a:rPr lang="en" sz="1100">
                <a:solidFill>
                  <a:srgbClr val="188038"/>
                </a:solidFill>
                <a:latin typeface="Roboto Mono"/>
                <a:ea typeface="Roboto Mono"/>
                <a:cs typeface="Roboto Mono"/>
                <a:sym typeface="Roboto Mono"/>
              </a:rPr>
              <a:t>"NaN"</a:t>
            </a:r>
            <a:r>
              <a:rPr lang="en" sz="1100">
                <a:solidFill>
                  <a:schemeClr val="dk1"/>
                </a:solidFill>
              </a:rPr>
              <a:t>, </a:t>
            </a:r>
            <a:r>
              <a:rPr lang="en" sz="1100">
                <a:solidFill>
                  <a:srgbClr val="188038"/>
                </a:solidFill>
                <a:latin typeface="Roboto Mono"/>
                <a:ea typeface="Roboto Mono"/>
                <a:cs typeface="Roboto Mono"/>
                <a:sym typeface="Roboto Mono"/>
              </a:rPr>
              <a:t>"NULL"</a:t>
            </a:r>
            <a:r>
              <a:rPr lang="en" sz="1100">
                <a:solidFill>
                  <a:schemeClr val="dk1"/>
                </a:solidFill>
              </a:rPr>
              <a:t>, or special numeric values like </a:t>
            </a:r>
            <a:r>
              <a:rPr lang="en" sz="1100">
                <a:solidFill>
                  <a:srgbClr val="188038"/>
                </a:solidFill>
                <a:latin typeface="Roboto Mono"/>
                <a:ea typeface="Roboto Mono"/>
                <a:cs typeface="Roboto Mono"/>
                <a:sym typeface="Roboto Mono"/>
              </a:rPr>
              <a:t>-999</a:t>
            </a:r>
            <a:r>
              <a:rPr lang="en" sz="1100">
                <a:solidFill>
                  <a:schemeClr val="dk1"/>
                </a:solidFill>
              </a:rPr>
              <a:t>.</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rPr>
              <a:t>Status labels:</a:t>
            </a:r>
            <a:r>
              <a:rPr lang="en" sz="1100">
                <a:solidFill>
                  <a:schemeClr val="dk1"/>
                </a:solidFill>
              </a:rPr>
              <a:t> Codes such as </a:t>
            </a:r>
            <a:r>
              <a:rPr lang="en" sz="1100">
                <a:solidFill>
                  <a:srgbClr val="188038"/>
                </a:solidFill>
                <a:latin typeface="Roboto Mono"/>
                <a:ea typeface="Roboto Mono"/>
                <a:cs typeface="Roboto Mono"/>
                <a:sym typeface="Roboto Mono"/>
              </a:rPr>
              <a:t>"MISSING"</a:t>
            </a:r>
            <a:r>
              <a:rPr lang="en" sz="1100">
                <a:solidFill>
                  <a:schemeClr val="dk1"/>
                </a:solidFill>
              </a:rPr>
              <a:t>, </a:t>
            </a:r>
            <a:r>
              <a:rPr lang="en" sz="1100">
                <a:solidFill>
                  <a:srgbClr val="188038"/>
                </a:solidFill>
                <a:latin typeface="Roboto Mono"/>
                <a:ea typeface="Roboto Mono"/>
                <a:cs typeface="Roboto Mono"/>
                <a:sym typeface="Roboto Mono"/>
              </a:rPr>
              <a:t>"UNKNOWN"</a:t>
            </a:r>
            <a:r>
              <a:rPr lang="en" sz="1100">
                <a:solidFill>
                  <a:schemeClr val="dk1"/>
                </a:solidFill>
              </a:rPr>
              <a:t>, or similar markers used to denote unavailable information.</a:t>
            </a:r>
            <a:endParaRPr sz="1100">
              <a:solidFill>
                <a:schemeClr val="dk1"/>
              </a:solidFill>
            </a:endParaRPr>
          </a:p>
          <a:p>
            <a:pPr marL="0" lvl="0" indent="0" algn="l" rtl="0">
              <a:lnSpc>
                <a:spcPct val="115000"/>
              </a:lnSpc>
              <a:spcBef>
                <a:spcPts val="1400"/>
              </a:spcBef>
              <a:spcAft>
                <a:spcPts val="0"/>
              </a:spcAft>
              <a:buNone/>
            </a:pPr>
            <a:r>
              <a:rPr lang="en" sz="1300" b="1">
                <a:solidFill>
                  <a:schemeClr val="dk1"/>
                </a:solidFill>
              </a:rPr>
              <a:t>Techniques for Managing Missing Values in Data Analysis</a:t>
            </a:r>
            <a:endParaRPr sz="1300" b="1">
              <a:solidFill>
                <a:schemeClr val="dk1"/>
              </a:solidFill>
            </a:endParaRPr>
          </a:p>
          <a:p>
            <a:pPr marL="0" lvl="0" indent="0" algn="l" rtl="0">
              <a:lnSpc>
                <a:spcPct val="115000"/>
              </a:lnSpc>
              <a:spcBef>
                <a:spcPts val="1200"/>
              </a:spcBef>
              <a:spcAft>
                <a:spcPts val="0"/>
              </a:spcAft>
              <a:buNone/>
            </a:pPr>
            <a:r>
              <a:rPr lang="en" sz="1100">
                <a:solidFill>
                  <a:schemeClr val="dk1"/>
                </a:solidFill>
              </a:rPr>
              <a:t>The appropriate treatment of missing data depends on the dataset, the amount of missingness, and its underlying cause. Applying suitable handling techniques helps preserve data quality and improve analytical results.</a:t>
            </a:r>
            <a:endParaRPr sz="1100">
              <a:solidFill>
                <a:schemeClr val="dk1"/>
              </a:solidFill>
            </a:endParaRPr>
          </a:p>
          <a:p>
            <a:pPr marL="0" lvl="0" indent="0" algn="l" rtl="0">
              <a:lnSpc>
                <a:spcPct val="115000"/>
              </a:lnSpc>
              <a:spcBef>
                <a:spcPts val="1200"/>
              </a:spcBef>
              <a:spcAft>
                <a:spcPts val="1200"/>
              </a:spcAft>
              <a:buNone/>
            </a:pPr>
            <a:r>
              <a:rPr lang="en" sz="1100">
                <a:solidFill>
                  <a:schemeClr val="dk1"/>
                </a:solidFill>
              </a:rPr>
              <a:t>Several methods can be used to address missing values effectively, each selected according to the characteristics and requirements of the analysis.</a:t>
            </a:r>
            <a:endParaRPr sz="1100">
              <a:solidFill>
                <a:schemeClr val="dk1"/>
              </a:solidFill>
            </a:endParaRPr>
          </a:p>
        </p:txBody>
      </p:sp>
      <p:sp>
        <p:nvSpPr>
          <p:cNvPr id="81" name="Google Shape;81;p18"/>
          <p:cNvSpPr txBox="1"/>
          <p:nvPr/>
        </p:nvSpPr>
        <p:spPr>
          <a:xfrm>
            <a:off x="0" y="3516000"/>
            <a:ext cx="9144000" cy="738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n" sz="1300" b="1">
                <a:solidFill>
                  <a:schemeClr val="dk1"/>
                </a:solidFill>
              </a:rPr>
              <a:t>Creating a Sample DataFrame</a:t>
            </a:r>
            <a:endParaRPr sz="1300" b="1">
              <a:solidFill>
                <a:schemeClr val="dk1"/>
              </a:solidFill>
            </a:endParaRPr>
          </a:p>
          <a:p>
            <a:pPr marL="0" lvl="0" indent="0" algn="l" rtl="0">
              <a:lnSpc>
                <a:spcPct val="115000"/>
              </a:lnSpc>
              <a:spcBef>
                <a:spcPts val="1200"/>
              </a:spcBef>
              <a:spcAft>
                <a:spcPts val="1200"/>
              </a:spcAft>
              <a:buNone/>
            </a:pPr>
            <a:r>
              <a:rPr lang="en" sz="1100">
                <a:solidFill>
                  <a:schemeClr val="dk1"/>
                </a:solidFill>
              </a:rPr>
              <a:t>For this example, we will use the </a:t>
            </a:r>
            <a:r>
              <a:rPr lang="en" sz="1100" b="1">
                <a:solidFill>
                  <a:schemeClr val="dk1"/>
                </a:solidFill>
              </a:rPr>
              <a:t>Pandas</a:t>
            </a:r>
            <a:r>
              <a:rPr lang="en" sz="1100">
                <a:solidFill>
                  <a:schemeClr val="dk1"/>
                </a:solidFill>
              </a:rPr>
              <a:t> and </a:t>
            </a:r>
            <a:r>
              <a:rPr lang="en" sz="1100" b="1">
                <a:solidFill>
                  <a:schemeClr val="dk1"/>
                </a:solidFill>
              </a:rPr>
              <a:t>NumPy</a:t>
            </a:r>
            <a:r>
              <a:rPr lang="en" sz="1100">
                <a:solidFill>
                  <a:schemeClr val="dk1"/>
                </a:solidFill>
              </a:rPr>
              <a:t> libraries.</a:t>
            </a:r>
            <a:endParaRPr sz="1100">
              <a:solidFill>
                <a:schemeClr val="dk1"/>
              </a:solidFill>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9"/>
          <p:cNvSpPr txBox="1"/>
          <p:nvPr/>
        </p:nvSpPr>
        <p:spPr>
          <a:xfrm>
            <a:off x="0" y="0"/>
            <a:ext cx="9144000" cy="4063500"/>
          </a:xfrm>
          <a:prstGeom prst="rect">
            <a:avLst/>
          </a:prstGeom>
          <a:noFill/>
          <a:ln w="19050" cap="flat" cmpd="sng">
            <a:solidFill>
              <a:schemeClr val="lt1"/>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dirty="0">
                <a:solidFill>
                  <a:srgbClr val="9900FF"/>
                </a:solidFill>
              </a:rPr>
              <a:t>import pandas as pd</a:t>
            </a:r>
            <a:endParaRPr dirty="0">
              <a:solidFill>
                <a:srgbClr val="9900FF"/>
              </a:solidFill>
            </a:endParaRPr>
          </a:p>
          <a:p>
            <a:pPr marL="0" lvl="0" indent="0" algn="l" rtl="0">
              <a:spcBef>
                <a:spcPts val="0"/>
              </a:spcBef>
              <a:spcAft>
                <a:spcPts val="0"/>
              </a:spcAft>
              <a:buNone/>
            </a:pPr>
            <a:r>
              <a:rPr lang="en" dirty="0">
                <a:solidFill>
                  <a:srgbClr val="9900FF"/>
                </a:solidFill>
              </a:rPr>
              <a:t>import numpy as np</a:t>
            </a:r>
            <a:endParaRPr dirty="0">
              <a:solidFill>
                <a:srgbClr val="9900FF"/>
              </a:solidFill>
            </a:endParaRPr>
          </a:p>
          <a:p>
            <a:pPr marL="0" lvl="0" indent="0" algn="l" rtl="0">
              <a:spcBef>
                <a:spcPts val="0"/>
              </a:spcBef>
              <a:spcAft>
                <a:spcPts val="0"/>
              </a:spcAft>
              <a:buNone/>
            </a:pPr>
            <a:endParaRPr dirty="0">
              <a:solidFill>
                <a:srgbClr val="9900FF"/>
              </a:solidFill>
            </a:endParaRPr>
          </a:p>
          <a:p>
            <a:pPr marL="0" lvl="0" indent="0" algn="l" rtl="0">
              <a:spcBef>
                <a:spcPts val="0"/>
              </a:spcBef>
              <a:spcAft>
                <a:spcPts val="0"/>
              </a:spcAft>
              <a:buNone/>
            </a:pPr>
            <a:r>
              <a:rPr lang="en" dirty="0">
                <a:solidFill>
                  <a:srgbClr val="9900FF"/>
                </a:solidFill>
              </a:rPr>
              <a:t>data = {</a:t>
            </a:r>
            <a:endParaRPr dirty="0">
              <a:solidFill>
                <a:srgbClr val="9900FF"/>
              </a:solidFill>
            </a:endParaRPr>
          </a:p>
          <a:p>
            <a:pPr marL="0" lvl="0" indent="0" algn="l" rtl="0">
              <a:spcBef>
                <a:spcPts val="0"/>
              </a:spcBef>
              <a:spcAft>
                <a:spcPts val="0"/>
              </a:spcAft>
              <a:buNone/>
            </a:pPr>
            <a:r>
              <a:rPr lang="en" dirty="0">
                <a:solidFill>
                  <a:srgbClr val="9900FF"/>
                </a:solidFill>
              </a:rPr>
              <a:t>'School ID': [101, 102, 103, np.nan, 105, 106, 107, 108],</a:t>
            </a:r>
            <a:endParaRPr dirty="0">
              <a:solidFill>
                <a:srgbClr val="9900FF"/>
              </a:solidFill>
            </a:endParaRPr>
          </a:p>
          <a:p>
            <a:pPr marL="0" lvl="0" indent="0" algn="l" rtl="0">
              <a:spcBef>
                <a:spcPts val="0"/>
              </a:spcBef>
              <a:spcAft>
                <a:spcPts val="0"/>
              </a:spcAft>
              <a:buNone/>
            </a:pPr>
            <a:r>
              <a:rPr lang="en" dirty="0">
                <a:solidFill>
                  <a:srgbClr val="9900FF"/>
                </a:solidFill>
              </a:rPr>
              <a:t>'Name': ['A', 'B', 'C', 'D', 'E', 'F', 'G', 'H'],</a:t>
            </a:r>
            <a:endParaRPr dirty="0">
              <a:solidFill>
                <a:srgbClr val="9900FF"/>
              </a:solidFill>
            </a:endParaRPr>
          </a:p>
          <a:p>
            <a:pPr marL="0" lvl="0" indent="0" algn="l" rtl="0">
              <a:spcBef>
                <a:spcPts val="0"/>
              </a:spcBef>
              <a:spcAft>
                <a:spcPts val="0"/>
              </a:spcAft>
              <a:buNone/>
            </a:pPr>
            <a:r>
              <a:rPr lang="en" dirty="0">
                <a:solidFill>
                  <a:srgbClr val="9900FF"/>
                </a:solidFill>
              </a:rPr>
              <a:t>'Address': ['123 Main St', '456 Oak Ave', '789 Pine Ln', '101 Elm St', np.nan, '222 Maple Rd', '444 Cedar Blvd', '555 Birch Dr'],</a:t>
            </a:r>
            <a:endParaRPr dirty="0">
              <a:solidFill>
                <a:srgbClr val="9900FF"/>
              </a:solidFill>
            </a:endParaRPr>
          </a:p>
          <a:p>
            <a:pPr marL="0" lvl="0" indent="0" algn="l" rtl="0">
              <a:spcBef>
                <a:spcPts val="0"/>
              </a:spcBef>
              <a:spcAft>
                <a:spcPts val="0"/>
              </a:spcAft>
              <a:buNone/>
            </a:pPr>
            <a:r>
              <a:rPr lang="en" dirty="0">
                <a:solidFill>
                  <a:srgbClr val="9900FF"/>
                </a:solidFill>
              </a:rPr>
              <a:t>'City': ['Mumbai', 'Delhi', 'Bengaluru', 'Chennai', 'Kolkata', np.nan, 'Pune', 'Jaipur'],</a:t>
            </a:r>
            <a:endParaRPr dirty="0">
              <a:solidFill>
                <a:srgbClr val="9900FF"/>
              </a:solidFill>
            </a:endParaRPr>
          </a:p>
          <a:p>
            <a:pPr marL="0" lvl="0" indent="0" algn="l" rtl="0">
              <a:spcBef>
                <a:spcPts val="0"/>
              </a:spcBef>
              <a:spcAft>
                <a:spcPts val="0"/>
              </a:spcAft>
              <a:buNone/>
            </a:pPr>
            <a:r>
              <a:rPr lang="en" dirty="0">
                <a:solidFill>
                  <a:srgbClr val="9900FF"/>
                </a:solidFill>
              </a:rPr>
              <a:t>'Subject': ['Math', 'English', 'Science', 'Math', 'History', 'Math', 'Science', 'English'],</a:t>
            </a:r>
            <a:endParaRPr dirty="0">
              <a:solidFill>
                <a:srgbClr val="9900FF"/>
              </a:solidFill>
            </a:endParaRPr>
          </a:p>
          <a:p>
            <a:pPr marL="0" lvl="0" indent="0" algn="l" rtl="0">
              <a:spcBef>
                <a:spcPts val="0"/>
              </a:spcBef>
              <a:spcAft>
                <a:spcPts val="0"/>
              </a:spcAft>
              <a:buNone/>
            </a:pPr>
            <a:r>
              <a:rPr lang="en" dirty="0">
                <a:solidFill>
                  <a:srgbClr val="9900FF"/>
                </a:solidFill>
              </a:rPr>
              <a:t>'Marks': [85, 92, 78, 89, np.nan, 95, 80, 88],</a:t>
            </a:r>
            <a:endParaRPr dirty="0">
              <a:solidFill>
                <a:srgbClr val="9900FF"/>
              </a:solidFill>
            </a:endParaRPr>
          </a:p>
          <a:p>
            <a:pPr marL="0" lvl="0" indent="0" algn="l" rtl="0">
              <a:spcBef>
                <a:spcPts val="0"/>
              </a:spcBef>
              <a:spcAft>
                <a:spcPts val="0"/>
              </a:spcAft>
              <a:buNone/>
            </a:pPr>
            <a:r>
              <a:rPr lang="en" dirty="0">
                <a:solidFill>
                  <a:srgbClr val="9900FF"/>
                </a:solidFill>
              </a:rPr>
              <a:t>'Rank': [2, 1, 4, 3, 8, 1, 5, 3],</a:t>
            </a:r>
            <a:endParaRPr dirty="0">
              <a:solidFill>
                <a:srgbClr val="9900FF"/>
              </a:solidFill>
            </a:endParaRPr>
          </a:p>
          <a:p>
            <a:pPr marL="0" lvl="0" indent="0" algn="l" rtl="0">
              <a:spcBef>
                <a:spcPts val="0"/>
              </a:spcBef>
              <a:spcAft>
                <a:spcPts val="0"/>
              </a:spcAft>
              <a:buNone/>
            </a:pPr>
            <a:r>
              <a:rPr lang="en" dirty="0">
                <a:solidFill>
                  <a:srgbClr val="9900FF"/>
                </a:solidFill>
              </a:rPr>
              <a:t>'Grade': ['B', 'A', 'C', 'B', 'D', 'A', 'C', 'B']</a:t>
            </a:r>
            <a:endParaRPr dirty="0">
              <a:solidFill>
                <a:srgbClr val="9900FF"/>
              </a:solidFill>
            </a:endParaRPr>
          </a:p>
          <a:p>
            <a:pPr marL="0" lvl="0" indent="0" algn="l" rtl="0">
              <a:spcBef>
                <a:spcPts val="0"/>
              </a:spcBef>
              <a:spcAft>
                <a:spcPts val="0"/>
              </a:spcAft>
              <a:buNone/>
            </a:pPr>
            <a:r>
              <a:rPr lang="en" dirty="0">
                <a:solidFill>
                  <a:srgbClr val="9900FF"/>
                </a:solidFill>
              </a:rPr>
              <a:t>}</a:t>
            </a:r>
            <a:endParaRPr dirty="0">
              <a:solidFill>
                <a:srgbClr val="9900FF"/>
              </a:solidFill>
            </a:endParaRPr>
          </a:p>
          <a:p>
            <a:pPr marL="0" lvl="0" indent="0" algn="l" rtl="0">
              <a:spcBef>
                <a:spcPts val="0"/>
              </a:spcBef>
              <a:spcAft>
                <a:spcPts val="0"/>
              </a:spcAft>
              <a:buNone/>
            </a:pPr>
            <a:endParaRPr dirty="0">
              <a:solidFill>
                <a:srgbClr val="9900FF"/>
              </a:solidFill>
            </a:endParaRPr>
          </a:p>
          <a:p>
            <a:pPr marL="0" lvl="0" indent="0" algn="l" rtl="0">
              <a:spcBef>
                <a:spcPts val="0"/>
              </a:spcBef>
              <a:spcAft>
                <a:spcPts val="0"/>
              </a:spcAft>
              <a:buNone/>
            </a:pPr>
            <a:r>
              <a:rPr lang="en" dirty="0">
                <a:solidFill>
                  <a:srgbClr val="9900FF"/>
                </a:solidFill>
              </a:rPr>
              <a:t>df = pd.DataFrame(data)</a:t>
            </a:r>
            <a:endParaRPr dirty="0">
              <a:solidFill>
                <a:srgbClr val="9900FF"/>
              </a:solidFill>
            </a:endParaRPr>
          </a:p>
          <a:p>
            <a:pPr marL="0" lvl="0" indent="0" algn="l" rtl="0">
              <a:spcBef>
                <a:spcPts val="0"/>
              </a:spcBef>
              <a:spcAft>
                <a:spcPts val="0"/>
              </a:spcAft>
              <a:buNone/>
            </a:pPr>
            <a:r>
              <a:rPr lang="en" dirty="0">
                <a:solidFill>
                  <a:srgbClr val="9900FF"/>
                </a:solidFill>
              </a:rPr>
              <a:t>print("Sample DataFrame:")</a:t>
            </a:r>
            <a:endParaRPr dirty="0">
              <a:solidFill>
                <a:srgbClr val="9900FF"/>
              </a:solidFill>
            </a:endParaRPr>
          </a:p>
          <a:p>
            <a:pPr marL="0" lvl="0" indent="0" algn="l" rtl="0">
              <a:spcBef>
                <a:spcPts val="0"/>
              </a:spcBef>
              <a:spcAft>
                <a:spcPts val="0"/>
              </a:spcAft>
              <a:buNone/>
            </a:pPr>
            <a:r>
              <a:rPr lang="en" dirty="0">
                <a:solidFill>
                  <a:srgbClr val="9900FF"/>
                </a:solidFill>
              </a:rPr>
              <a:t>print(df)</a:t>
            </a:r>
            <a:endParaRPr dirty="0">
              <a:solidFill>
                <a:srgbClr val="9900FF"/>
              </a:solidFill>
            </a:endParaRPr>
          </a:p>
        </p:txBody>
      </p:sp>
      <p:pic>
        <p:nvPicPr>
          <p:cNvPr id="87" name="Google Shape;87;p19"/>
          <p:cNvPicPr preferRelativeResize="0"/>
          <p:nvPr/>
        </p:nvPicPr>
        <p:blipFill>
          <a:blip r:embed="rId3">
            <a:alphaModFix/>
          </a:blip>
          <a:stretch>
            <a:fillRect/>
          </a:stretch>
        </p:blipFill>
        <p:spPr>
          <a:xfrm>
            <a:off x="3431600" y="2966225"/>
            <a:ext cx="5519300" cy="1983300"/>
          </a:xfrm>
          <a:prstGeom prst="rect">
            <a:avLst/>
          </a:prstGeom>
          <a:noFill/>
          <a:ln>
            <a:noFill/>
          </a:ln>
        </p:spPr>
      </p:pic>
      <p:sp>
        <p:nvSpPr>
          <p:cNvPr id="88" name="Google Shape;88;p19"/>
          <p:cNvSpPr txBox="1"/>
          <p:nvPr/>
        </p:nvSpPr>
        <p:spPr>
          <a:xfrm>
            <a:off x="195725" y="4063500"/>
            <a:ext cx="3000000" cy="705900"/>
          </a:xfrm>
          <a:prstGeom prst="rect">
            <a:avLst/>
          </a:prstGeom>
          <a:noFill/>
          <a:ln>
            <a:noFill/>
          </a:ln>
        </p:spPr>
        <p:txBody>
          <a:bodyPr spcFirstLastPara="1" wrap="square" lIns="91425" tIns="91425" rIns="91425" bIns="91425" anchor="t" anchorCtr="0">
            <a:spAutoFit/>
          </a:bodyPr>
          <a:lstStyle/>
          <a:p>
            <a:pPr marL="0" lvl="0" indent="0" algn="l" rtl="0">
              <a:lnSpc>
                <a:spcPct val="120000"/>
              </a:lnSpc>
              <a:spcBef>
                <a:spcPts val="0"/>
              </a:spcBef>
              <a:spcAft>
                <a:spcPts val="0"/>
              </a:spcAft>
              <a:buNone/>
            </a:pPr>
            <a:r>
              <a:rPr lang="en" sz="1350" b="1">
                <a:solidFill>
                  <a:srgbClr val="273239"/>
                </a:solidFill>
                <a:highlight>
                  <a:srgbClr val="FFFFFF"/>
                </a:highlight>
                <a:latin typeface="Nunito"/>
                <a:ea typeface="Nunito"/>
                <a:cs typeface="Nunito"/>
                <a:sym typeface="Nunito"/>
              </a:rPr>
              <a:t>Output -&gt;</a:t>
            </a:r>
            <a:endParaRPr sz="1350" b="1">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None/>
            </a:pPr>
            <a:endParaRPr sz="1100">
              <a:solidFill>
                <a:schemeClr val="dk1"/>
              </a:solidFill>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0"/>
          <p:cNvSpPr txBox="1"/>
          <p:nvPr/>
        </p:nvSpPr>
        <p:spPr>
          <a:xfrm>
            <a:off x="0" y="0"/>
            <a:ext cx="9144000" cy="1670700"/>
          </a:xfrm>
          <a:prstGeom prst="rect">
            <a:avLst/>
          </a:prstGeom>
          <a:noFill/>
          <a:ln w="19050" cap="flat" cmpd="sng">
            <a:solidFill>
              <a:schemeClr val="lt1"/>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n" sz="1300" b="1">
                <a:solidFill>
                  <a:schemeClr val="dk1"/>
                </a:solidFill>
              </a:rPr>
              <a:t>1. Deleting Rows Containing Missing Values</a:t>
            </a:r>
            <a:endParaRPr sz="1300" b="1">
              <a:solidFill>
                <a:schemeClr val="dk1"/>
              </a:solidFill>
            </a:endParaRPr>
          </a:p>
          <a:p>
            <a:pPr marL="0" lvl="0" indent="0" algn="l" rtl="0">
              <a:lnSpc>
                <a:spcPct val="115000"/>
              </a:lnSpc>
              <a:spcBef>
                <a:spcPts val="1200"/>
              </a:spcBef>
              <a:spcAft>
                <a:spcPts val="0"/>
              </a:spcAft>
              <a:buNone/>
            </a:pPr>
            <a:r>
              <a:rPr lang="en" sz="1100">
                <a:solidFill>
                  <a:schemeClr val="dk1"/>
                </a:solidFill>
              </a:rPr>
              <a:t>One of the most straightforward approaches to dealing with missing data is to remove records that contain null values. While this method simplifies the dataset, it can decrease the number of available observations and may lead to biased results if the missing data is not randomly distributed.</a:t>
            </a:r>
            <a:endParaRPr sz="1100">
              <a:solidFill>
                <a:schemeClr val="dk1"/>
              </a:solidFill>
            </a:endParaRPr>
          </a:p>
          <a:p>
            <a:pPr marL="0" lvl="0" indent="0" algn="l" rtl="0">
              <a:lnSpc>
                <a:spcPct val="115000"/>
              </a:lnSpc>
              <a:spcBef>
                <a:spcPts val="1200"/>
              </a:spcBef>
              <a:spcAft>
                <a:spcPts val="1200"/>
              </a:spcAft>
              <a:buNone/>
            </a:pPr>
            <a:r>
              <a:rPr lang="en" sz="1100">
                <a:solidFill>
                  <a:schemeClr val="dk1"/>
                </a:solidFill>
              </a:rPr>
              <a:t>In this example, the </a:t>
            </a:r>
            <a:r>
              <a:rPr lang="en" sz="1100">
                <a:solidFill>
                  <a:srgbClr val="188038"/>
                </a:solidFill>
                <a:latin typeface="Roboto Mono"/>
                <a:ea typeface="Roboto Mono"/>
                <a:cs typeface="Roboto Mono"/>
                <a:sym typeface="Roboto Mono"/>
              </a:rPr>
              <a:t>dropna()</a:t>
            </a:r>
            <a:r>
              <a:rPr lang="en" sz="1100">
                <a:solidFill>
                  <a:schemeClr val="dk1"/>
                </a:solidFill>
              </a:rPr>
              <a:t> function is used to eliminate rows that contain missing values from the original DataFrame (</a:t>
            </a:r>
            <a:r>
              <a:rPr lang="en" sz="1100">
                <a:solidFill>
                  <a:srgbClr val="188038"/>
                </a:solidFill>
                <a:latin typeface="Roboto Mono"/>
                <a:ea typeface="Roboto Mono"/>
                <a:cs typeface="Roboto Mono"/>
                <a:sym typeface="Roboto Mono"/>
              </a:rPr>
              <a:t>df</a:t>
            </a:r>
            <a:r>
              <a:rPr lang="en" sz="1100">
                <a:solidFill>
                  <a:schemeClr val="dk1"/>
                </a:solidFill>
              </a:rPr>
              <a:t>). The resulting DataFrame (</a:t>
            </a:r>
            <a:r>
              <a:rPr lang="en" sz="1100">
                <a:solidFill>
                  <a:srgbClr val="188038"/>
                </a:solidFill>
                <a:latin typeface="Roboto Mono"/>
                <a:ea typeface="Roboto Mono"/>
                <a:cs typeface="Roboto Mono"/>
                <a:sym typeface="Roboto Mono"/>
              </a:rPr>
              <a:t>df_cleaned</a:t>
            </a:r>
            <a:r>
              <a:rPr lang="en" sz="1100">
                <a:solidFill>
                  <a:schemeClr val="dk1"/>
                </a:solidFill>
              </a:rPr>
              <a:t>) is then displayed.</a:t>
            </a:r>
            <a:endParaRPr sz="1100">
              <a:solidFill>
                <a:schemeClr val="dk1"/>
              </a:solidFill>
            </a:endParaRPr>
          </a:p>
        </p:txBody>
      </p:sp>
      <p:sp>
        <p:nvSpPr>
          <p:cNvPr id="94" name="Google Shape;94;p20"/>
          <p:cNvSpPr txBox="1"/>
          <p:nvPr/>
        </p:nvSpPr>
        <p:spPr>
          <a:xfrm>
            <a:off x="41835" y="1764429"/>
            <a:ext cx="9144000" cy="1046700"/>
          </a:xfrm>
          <a:prstGeom prst="rect">
            <a:avLst/>
          </a:prstGeom>
          <a:noFill/>
          <a:ln w="19050" cap="flat" cmpd="sng">
            <a:solidFill>
              <a:schemeClr val="accent4"/>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rgbClr val="9900FF"/>
                </a:solidFill>
              </a:rPr>
              <a:t>df_cleaned = df.dropna()</a:t>
            </a:r>
            <a:endParaRPr>
              <a:solidFill>
                <a:srgbClr val="9900FF"/>
              </a:solidFill>
            </a:endParaRPr>
          </a:p>
          <a:p>
            <a:pPr marL="0" lvl="0" indent="0" algn="l" rtl="0">
              <a:spcBef>
                <a:spcPts val="0"/>
              </a:spcBef>
              <a:spcAft>
                <a:spcPts val="0"/>
              </a:spcAft>
              <a:buNone/>
            </a:pPr>
            <a:endParaRPr>
              <a:solidFill>
                <a:srgbClr val="9900FF"/>
              </a:solidFill>
            </a:endParaRPr>
          </a:p>
          <a:p>
            <a:pPr marL="0" lvl="0" indent="0" algn="l" rtl="0">
              <a:spcBef>
                <a:spcPts val="0"/>
              </a:spcBef>
              <a:spcAft>
                <a:spcPts val="0"/>
              </a:spcAft>
              <a:buNone/>
            </a:pPr>
            <a:r>
              <a:rPr lang="en">
                <a:solidFill>
                  <a:srgbClr val="9900FF"/>
                </a:solidFill>
              </a:rPr>
              <a:t>print("\nDataFrame after removing rows with missing values:")</a:t>
            </a:r>
            <a:endParaRPr>
              <a:solidFill>
                <a:srgbClr val="9900FF"/>
              </a:solidFill>
            </a:endParaRPr>
          </a:p>
          <a:p>
            <a:pPr marL="0" lvl="0" indent="0" algn="l" rtl="0">
              <a:spcBef>
                <a:spcPts val="0"/>
              </a:spcBef>
              <a:spcAft>
                <a:spcPts val="0"/>
              </a:spcAft>
              <a:buNone/>
            </a:pPr>
            <a:r>
              <a:rPr lang="en">
                <a:solidFill>
                  <a:srgbClr val="9900FF"/>
                </a:solidFill>
              </a:rPr>
              <a:t>print(df_cleaned)</a:t>
            </a:r>
            <a:endParaRPr>
              <a:solidFill>
                <a:srgbClr val="9900FF"/>
              </a:solidFill>
            </a:endParaRPr>
          </a:p>
        </p:txBody>
      </p:sp>
      <p:sp>
        <p:nvSpPr>
          <p:cNvPr id="95" name="Google Shape;95;p20"/>
          <p:cNvSpPr txBox="1"/>
          <p:nvPr/>
        </p:nvSpPr>
        <p:spPr>
          <a:xfrm>
            <a:off x="0" y="2857500"/>
            <a:ext cx="3000000" cy="392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50" b="1">
                <a:solidFill>
                  <a:srgbClr val="273239"/>
                </a:solidFill>
                <a:highlight>
                  <a:srgbClr val="FFFFFF"/>
                </a:highlight>
                <a:latin typeface="Nunito"/>
                <a:ea typeface="Nunito"/>
                <a:cs typeface="Nunito"/>
                <a:sym typeface="Nunito"/>
              </a:rPr>
              <a:t>Output</a:t>
            </a:r>
            <a:r>
              <a:rPr lang="en" sz="1100">
                <a:solidFill>
                  <a:schemeClr val="dk1"/>
                </a:solidFill>
              </a:rPr>
              <a:t> </a:t>
            </a:r>
            <a:endParaRPr/>
          </a:p>
        </p:txBody>
      </p:sp>
      <p:pic>
        <p:nvPicPr>
          <p:cNvPr id="96" name="Google Shape;96;p20"/>
          <p:cNvPicPr preferRelativeResize="0"/>
          <p:nvPr/>
        </p:nvPicPr>
        <p:blipFill>
          <a:blip r:embed="rId3">
            <a:alphaModFix/>
          </a:blip>
          <a:stretch>
            <a:fillRect/>
          </a:stretch>
        </p:blipFill>
        <p:spPr>
          <a:xfrm>
            <a:off x="804800" y="2867341"/>
            <a:ext cx="5079825" cy="1364550"/>
          </a:xfrm>
          <a:prstGeom prst="rect">
            <a:avLst/>
          </a:prstGeom>
          <a:noFill/>
          <a:ln w="9525" cap="flat" cmpd="sng">
            <a:solidFill>
              <a:schemeClr val="dk1"/>
            </a:solidFill>
            <a:prstDash val="solid"/>
            <a:round/>
            <a:headEnd type="none" w="sm" len="sm"/>
            <a:tailEnd type="none" w="sm" len="sm"/>
          </a:ln>
        </p:spPr>
      </p:pic>
      <p:sp>
        <p:nvSpPr>
          <p:cNvPr id="97" name="Google Shape;97;p20"/>
          <p:cNvSpPr txBox="1"/>
          <p:nvPr/>
        </p:nvSpPr>
        <p:spPr>
          <a:xfrm>
            <a:off x="0" y="4381850"/>
            <a:ext cx="9144000" cy="702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100" b="1">
                <a:solidFill>
                  <a:schemeClr val="dk1"/>
                </a:solidFill>
              </a:rPr>
              <a:t>Advantages:</a:t>
            </a:r>
            <a:r>
              <a:rPr lang="en" sz="1100">
                <a:solidFill>
                  <a:schemeClr val="dk1"/>
                </a:solidFill>
              </a:rPr>
              <a:t> Easy to apply, fast to execute, and produces a dataset without missing entries.</a:t>
            </a:r>
            <a:endParaRPr sz="1100">
              <a:solidFill>
                <a:schemeClr val="dk1"/>
              </a:solidFill>
            </a:endParaRPr>
          </a:p>
          <a:p>
            <a:pPr marL="0" lvl="0" indent="0" algn="l" rtl="0">
              <a:lnSpc>
                <a:spcPct val="115000"/>
              </a:lnSpc>
              <a:spcBef>
                <a:spcPts val="1200"/>
              </a:spcBef>
              <a:spcAft>
                <a:spcPts val="1200"/>
              </a:spcAft>
              <a:buNone/>
            </a:pPr>
            <a:r>
              <a:rPr lang="en" sz="1100" b="1">
                <a:solidFill>
                  <a:schemeClr val="dk1"/>
                </a:solidFill>
              </a:rPr>
              <a:t>Disadvantages:</a:t>
            </a:r>
            <a:r>
              <a:rPr lang="en" sz="1100">
                <a:solidFill>
                  <a:schemeClr val="dk1"/>
                </a:solidFill>
              </a:rPr>
              <a:t> Can reduce the amount of available data and may introduce bias into the analysis.</a:t>
            </a:r>
            <a:endParaRPr sz="1100">
              <a:solidFill>
                <a:schemeClr val="dk1"/>
              </a:solidFill>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1"/>
          <p:cNvSpPr txBox="1"/>
          <p:nvPr/>
        </p:nvSpPr>
        <p:spPr>
          <a:xfrm>
            <a:off x="0" y="0"/>
            <a:ext cx="7280700" cy="1670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n" sz="1300" b="1">
                <a:solidFill>
                  <a:schemeClr val="dk1"/>
                </a:solidFill>
              </a:rPr>
              <a:t>2. Imputation Techniques</a:t>
            </a:r>
            <a:endParaRPr sz="1300" b="1">
              <a:solidFill>
                <a:schemeClr val="dk1"/>
              </a:solidFill>
            </a:endParaRPr>
          </a:p>
          <a:p>
            <a:pPr marL="0" lvl="0" indent="0" algn="l" rtl="0">
              <a:lnSpc>
                <a:spcPct val="115000"/>
              </a:lnSpc>
              <a:spcBef>
                <a:spcPts val="1200"/>
              </a:spcBef>
              <a:spcAft>
                <a:spcPts val="0"/>
              </a:spcAft>
              <a:buNone/>
            </a:pPr>
            <a:r>
              <a:rPr lang="en" sz="1100">
                <a:solidFill>
                  <a:schemeClr val="dk1"/>
                </a:solidFill>
              </a:rPr>
              <a:t>Imputation is a method used to substitute missing values with estimated values, helping retain the original dataset size. However, the substituted values may not always accurately reflect the actual data.</a:t>
            </a:r>
            <a:endParaRPr sz="1100">
              <a:solidFill>
                <a:schemeClr val="dk1"/>
              </a:solidFill>
            </a:endParaRPr>
          </a:p>
          <a:p>
            <a:pPr marL="0" lvl="0" indent="0" algn="l" rtl="0">
              <a:lnSpc>
                <a:spcPct val="115000"/>
              </a:lnSpc>
              <a:spcBef>
                <a:spcPts val="1200"/>
              </a:spcBef>
              <a:spcAft>
                <a:spcPts val="1200"/>
              </a:spcAft>
              <a:buNone/>
            </a:pPr>
            <a:r>
              <a:rPr lang="en" sz="1100" b="1">
                <a:solidFill>
                  <a:schemeClr val="dk1"/>
                </a:solidFill>
              </a:rPr>
              <a:t>1. Mean, Median, and Mode Imputation:</a:t>
            </a:r>
            <a:br>
              <a:rPr lang="en" sz="1100" b="1">
                <a:solidFill>
                  <a:schemeClr val="dk1"/>
                </a:solidFill>
              </a:rPr>
            </a:br>
            <a:r>
              <a:rPr lang="en" sz="1100">
                <a:solidFill>
                  <a:schemeClr val="dk1"/>
                </a:solidFill>
              </a:rPr>
              <a:t> This technique replaces missing entries with the mean, median, or mode of the corresponding feature. It is easy to implement but does not consider the dependencies or interactions among variables.</a:t>
            </a:r>
            <a:endParaRPr sz="1100">
              <a:solidFill>
                <a:schemeClr val="dk1"/>
              </a:solidFill>
            </a:endParaRPr>
          </a:p>
        </p:txBody>
      </p:sp>
      <p:sp>
        <p:nvSpPr>
          <p:cNvPr id="103" name="Google Shape;103;p21"/>
          <p:cNvSpPr txBox="1"/>
          <p:nvPr/>
        </p:nvSpPr>
        <p:spPr>
          <a:xfrm>
            <a:off x="65741" y="1836975"/>
            <a:ext cx="6144000" cy="2770500"/>
          </a:xfrm>
          <a:prstGeom prst="rect">
            <a:avLst/>
          </a:prstGeom>
          <a:noFill/>
          <a:ln w="19050" cap="flat" cmpd="sng">
            <a:solidFill>
              <a:srgbClr val="188038"/>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rgbClr val="9900FF"/>
                </a:solidFill>
              </a:rPr>
              <a:t>mean_imputation = df['Marks'].fillna(df['Marks'].mean())</a:t>
            </a:r>
            <a:endParaRPr>
              <a:solidFill>
                <a:srgbClr val="9900FF"/>
              </a:solidFill>
            </a:endParaRPr>
          </a:p>
          <a:p>
            <a:pPr marL="0" lvl="0" indent="0" algn="l" rtl="0">
              <a:spcBef>
                <a:spcPts val="0"/>
              </a:spcBef>
              <a:spcAft>
                <a:spcPts val="0"/>
              </a:spcAft>
              <a:buNone/>
            </a:pPr>
            <a:r>
              <a:rPr lang="en">
                <a:solidFill>
                  <a:srgbClr val="9900FF"/>
                </a:solidFill>
              </a:rPr>
              <a:t>median_imputation = df['Marks'].fillna(df['Marks'].median())</a:t>
            </a:r>
            <a:endParaRPr>
              <a:solidFill>
                <a:srgbClr val="9900FF"/>
              </a:solidFill>
            </a:endParaRPr>
          </a:p>
          <a:p>
            <a:pPr marL="0" lvl="0" indent="0" algn="l" rtl="0">
              <a:spcBef>
                <a:spcPts val="0"/>
              </a:spcBef>
              <a:spcAft>
                <a:spcPts val="0"/>
              </a:spcAft>
              <a:buNone/>
            </a:pPr>
            <a:r>
              <a:rPr lang="en">
                <a:solidFill>
                  <a:srgbClr val="9900FF"/>
                </a:solidFill>
              </a:rPr>
              <a:t>mode_imputation = df['Marks'].fillna(df['Marks'].mode().iloc[0])</a:t>
            </a:r>
            <a:endParaRPr>
              <a:solidFill>
                <a:srgbClr val="9900FF"/>
              </a:solidFill>
            </a:endParaRPr>
          </a:p>
          <a:p>
            <a:pPr marL="0" lvl="0" indent="0" algn="l" rtl="0">
              <a:spcBef>
                <a:spcPts val="0"/>
              </a:spcBef>
              <a:spcAft>
                <a:spcPts val="0"/>
              </a:spcAft>
              <a:buNone/>
            </a:pPr>
            <a:endParaRPr>
              <a:solidFill>
                <a:srgbClr val="9900FF"/>
              </a:solidFill>
            </a:endParaRPr>
          </a:p>
          <a:p>
            <a:pPr marL="0" lvl="0" indent="0" algn="l" rtl="0">
              <a:spcBef>
                <a:spcPts val="0"/>
              </a:spcBef>
              <a:spcAft>
                <a:spcPts val="0"/>
              </a:spcAft>
              <a:buNone/>
            </a:pPr>
            <a:r>
              <a:rPr lang="en">
                <a:solidFill>
                  <a:srgbClr val="9900FF"/>
                </a:solidFill>
              </a:rPr>
              <a:t>print("\nImputation using Mean:")</a:t>
            </a:r>
            <a:endParaRPr>
              <a:solidFill>
                <a:srgbClr val="9900FF"/>
              </a:solidFill>
            </a:endParaRPr>
          </a:p>
          <a:p>
            <a:pPr marL="0" lvl="0" indent="0" algn="l" rtl="0">
              <a:spcBef>
                <a:spcPts val="0"/>
              </a:spcBef>
              <a:spcAft>
                <a:spcPts val="0"/>
              </a:spcAft>
              <a:buNone/>
            </a:pPr>
            <a:r>
              <a:rPr lang="en">
                <a:solidFill>
                  <a:srgbClr val="9900FF"/>
                </a:solidFill>
              </a:rPr>
              <a:t>print(mean_imputation)</a:t>
            </a:r>
            <a:endParaRPr>
              <a:solidFill>
                <a:srgbClr val="9900FF"/>
              </a:solidFill>
            </a:endParaRPr>
          </a:p>
          <a:p>
            <a:pPr marL="0" lvl="0" indent="0" algn="l" rtl="0">
              <a:spcBef>
                <a:spcPts val="0"/>
              </a:spcBef>
              <a:spcAft>
                <a:spcPts val="0"/>
              </a:spcAft>
              <a:buNone/>
            </a:pPr>
            <a:endParaRPr>
              <a:solidFill>
                <a:srgbClr val="9900FF"/>
              </a:solidFill>
            </a:endParaRPr>
          </a:p>
          <a:p>
            <a:pPr marL="0" lvl="0" indent="0" algn="l" rtl="0">
              <a:spcBef>
                <a:spcPts val="0"/>
              </a:spcBef>
              <a:spcAft>
                <a:spcPts val="0"/>
              </a:spcAft>
              <a:buNone/>
            </a:pPr>
            <a:r>
              <a:rPr lang="en">
                <a:solidFill>
                  <a:srgbClr val="9900FF"/>
                </a:solidFill>
              </a:rPr>
              <a:t>print("\nImputation using Median:")</a:t>
            </a:r>
            <a:endParaRPr>
              <a:solidFill>
                <a:srgbClr val="9900FF"/>
              </a:solidFill>
            </a:endParaRPr>
          </a:p>
          <a:p>
            <a:pPr marL="0" lvl="0" indent="0" algn="l" rtl="0">
              <a:spcBef>
                <a:spcPts val="0"/>
              </a:spcBef>
              <a:spcAft>
                <a:spcPts val="0"/>
              </a:spcAft>
              <a:buNone/>
            </a:pPr>
            <a:r>
              <a:rPr lang="en">
                <a:solidFill>
                  <a:srgbClr val="9900FF"/>
                </a:solidFill>
              </a:rPr>
              <a:t>print(median_imputation)</a:t>
            </a:r>
            <a:endParaRPr>
              <a:solidFill>
                <a:srgbClr val="9900FF"/>
              </a:solidFill>
            </a:endParaRPr>
          </a:p>
          <a:p>
            <a:pPr marL="0" lvl="0" indent="0" algn="l" rtl="0">
              <a:spcBef>
                <a:spcPts val="0"/>
              </a:spcBef>
              <a:spcAft>
                <a:spcPts val="0"/>
              </a:spcAft>
              <a:buNone/>
            </a:pPr>
            <a:endParaRPr>
              <a:solidFill>
                <a:srgbClr val="9900FF"/>
              </a:solidFill>
            </a:endParaRPr>
          </a:p>
          <a:p>
            <a:pPr marL="0" lvl="0" indent="0" algn="l" rtl="0">
              <a:spcBef>
                <a:spcPts val="0"/>
              </a:spcBef>
              <a:spcAft>
                <a:spcPts val="0"/>
              </a:spcAft>
              <a:buNone/>
            </a:pPr>
            <a:r>
              <a:rPr lang="en">
                <a:solidFill>
                  <a:srgbClr val="9900FF"/>
                </a:solidFill>
              </a:rPr>
              <a:t>print("\nImputation using Mode:")</a:t>
            </a:r>
            <a:endParaRPr>
              <a:solidFill>
                <a:srgbClr val="9900FF"/>
              </a:solidFill>
            </a:endParaRPr>
          </a:p>
          <a:p>
            <a:pPr marL="0" lvl="0" indent="0" algn="l" rtl="0">
              <a:spcBef>
                <a:spcPts val="0"/>
              </a:spcBef>
              <a:spcAft>
                <a:spcPts val="0"/>
              </a:spcAft>
              <a:buNone/>
            </a:pPr>
            <a:r>
              <a:rPr lang="en">
                <a:solidFill>
                  <a:srgbClr val="9900FF"/>
                </a:solidFill>
              </a:rPr>
              <a:t>print(mode_imputation)</a:t>
            </a:r>
            <a:endParaRPr>
              <a:solidFill>
                <a:srgbClr val="9900FF"/>
              </a:solidFill>
            </a:endParaRPr>
          </a:p>
        </p:txBody>
      </p:sp>
      <p:pic>
        <p:nvPicPr>
          <p:cNvPr id="104" name="Google Shape;104;p21"/>
          <p:cNvPicPr preferRelativeResize="0"/>
          <p:nvPr/>
        </p:nvPicPr>
        <p:blipFill>
          <a:blip r:embed="rId3">
            <a:alphaModFix/>
          </a:blip>
          <a:stretch>
            <a:fillRect/>
          </a:stretch>
        </p:blipFill>
        <p:spPr>
          <a:xfrm>
            <a:off x="7335638" y="971550"/>
            <a:ext cx="1666875" cy="4171950"/>
          </a:xfrm>
          <a:prstGeom prst="rect">
            <a:avLst/>
          </a:prstGeom>
          <a:noFill/>
          <a:ln w="9525" cap="flat" cmpd="sng">
            <a:solidFill>
              <a:schemeClr val="dk1"/>
            </a:solidFill>
            <a:prstDash val="solid"/>
            <a:round/>
            <a:headEnd type="none" w="sm" len="sm"/>
            <a:tailEnd type="none" w="sm" len="sm"/>
          </a:ln>
        </p:spPr>
      </p:pic>
      <p:sp>
        <p:nvSpPr>
          <p:cNvPr id="105" name="Google Shape;105;p21"/>
          <p:cNvSpPr txBox="1"/>
          <p:nvPr/>
        </p:nvSpPr>
        <p:spPr>
          <a:xfrm>
            <a:off x="6144000" y="1526600"/>
            <a:ext cx="3000000" cy="705900"/>
          </a:xfrm>
          <a:prstGeom prst="rect">
            <a:avLst/>
          </a:prstGeom>
          <a:noFill/>
          <a:ln>
            <a:noFill/>
          </a:ln>
        </p:spPr>
        <p:txBody>
          <a:bodyPr spcFirstLastPara="1" wrap="square" lIns="91425" tIns="91425" rIns="91425" bIns="91425" anchor="t" anchorCtr="0">
            <a:spAutoFit/>
          </a:bodyPr>
          <a:lstStyle/>
          <a:p>
            <a:pPr marL="0" lvl="0" indent="0" algn="l" rtl="0">
              <a:lnSpc>
                <a:spcPct val="120000"/>
              </a:lnSpc>
              <a:spcBef>
                <a:spcPts val="0"/>
              </a:spcBef>
              <a:spcAft>
                <a:spcPts val="0"/>
              </a:spcAft>
              <a:buNone/>
            </a:pPr>
            <a:r>
              <a:rPr lang="en" sz="1350" b="1">
                <a:solidFill>
                  <a:srgbClr val="273239"/>
                </a:solidFill>
                <a:highlight>
                  <a:srgbClr val="FFFFFF"/>
                </a:highlight>
                <a:latin typeface="Nunito"/>
                <a:ea typeface="Nunito"/>
                <a:cs typeface="Nunito"/>
                <a:sym typeface="Nunito"/>
              </a:rPr>
              <a:t>Output:</a:t>
            </a:r>
            <a:endParaRPr sz="1350" b="1">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None/>
            </a:pPr>
            <a:endParaRPr sz="1100">
              <a:solidFill>
                <a:schemeClr val="dk1"/>
              </a:solidFill>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22"/>
          <p:cNvSpPr txBox="1"/>
          <p:nvPr/>
        </p:nvSpPr>
        <p:spPr>
          <a:xfrm>
            <a:off x="0" y="0"/>
            <a:ext cx="9144000" cy="4700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b="1">
                <a:solidFill>
                  <a:schemeClr val="dk1"/>
                </a:solidFill>
              </a:rPr>
              <a:t>Explanation:</a:t>
            </a:r>
            <a:r>
              <a:rPr lang="en">
                <a:solidFill>
                  <a:schemeClr val="dk1"/>
                </a:solidFill>
              </a:rPr>
              <a:t> In this example, different imputation methods are applied to manage missing values in the </a:t>
            </a:r>
            <a:r>
              <a:rPr lang="en" b="1">
                <a:solidFill>
                  <a:schemeClr val="dk1"/>
                </a:solidFill>
              </a:rPr>
              <a:t>'Marks'</a:t>
            </a:r>
            <a:r>
              <a:rPr lang="en">
                <a:solidFill>
                  <a:schemeClr val="dk1"/>
                </a:solidFill>
              </a:rPr>
              <a:t> column of the DataFrame (</a:t>
            </a:r>
            <a:r>
              <a:rPr lang="en">
                <a:solidFill>
                  <a:srgbClr val="188038"/>
                </a:solidFill>
                <a:latin typeface="Roboto Mono"/>
                <a:ea typeface="Roboto Mono"/>
                <a:cs typeface="Roboto Mono"/>
                <a:sym typeface="Roboto Mono"/>
              </a:rPr>
              <a:t>df</a:t>
            </a:r>
            <a:r>
              <a:rPr lang="en">
                <a:solidFill>
                  <a:schemeClr val="dk1"/>
                </a:solidFill>
              </a:rPr>
              <a:t>). The missing entries are replaced using the mean, median, and mode calculated from the available values in the same column, and the updated results are displayed for comparison.</a:t>
            </a:r>
            <a:endParaRPr>
              <a:solidFill>
                <a:schemeClr val="dk1"/>
              </a:solidFill>
            </a:endParaRPr>
          </a:p>
          <a:p>
            <a:pPr marL="457200" lvl="0" indent="-317500" algn="l" rtl="0">
              <a:lnSpc>
                <a:spcPct val="115000"/>
              </a:lnSpc>
              <a:spcBef>
                <a:spcPts val="1200"/>
              </a:spcBef>
              <a:spcAft>
                <a:spcPts val="0"/>
              </a:spcAft>
              <a:buClr>
                <a:schemeClr val="dk1"/>
              </a:buClr>
              <a:buSzPts val="1400"/>
              <a:buChar char="●"/>
            </a:pPr>
            <a:r>
              <a:rPr lang="en">
                <a:solidFill>
                  <a:srgbClr val="188038"/>
                </a:solidFill>
                <a:latin typeface="Roboto Mono"/>
                <a:ea typeface="Roboto Mono"/>
                <a:cs typeface="Roboto Mono"/>
                <a:sym typeface="Roboto Mono"/>
              </a:rPr>
              <a:t>df['Marks'].fillna(df['Marks'].mean())</a:t>
            </a:r>
            <a:r>
              <a:rPr lang="en">
                <a:solidFill>
                  <a:schemeClr val="dk1"/>
                </a:solidFill>
              </a:rPr>
              <a:t>: Replaces missing values in the </a:t>
            </a:r>
            <a:r>
              <a:rPr lang="en" b="1">
                <a:solidFill>
                  <a:schemeClr val="dk1"/>
                </a:solidFill>
              </a:rPr>
              <a:t>'Marks'</a:t>
            </a:r>
            <a:r>
              <a:rPr lang="en">
                <a:solidFill>
                  <a:schemeClr val="dk1"/>
                </a:solidFill>
              </a:rPr>
              <a:t> column with the average of the existing values.</a:t>
            </a:r>
            <a:endParaRPr>
              <a:solidFill>
                <a:schemeClr val="dk1"/>
              </a:solidFill>
            </a:endParaRPr>
          </a:p>
          <a:p>
            <a:pPr marL="457200" lvl="0" indent="-317500" algn="l" rtl="0">
              <a:lnSpc>
                <a:spcPct val="115000"/>
              </a:lnSpc>
              <a:spcBef>
                <a:spcPts val="0"/>
              </a:spcBef>
              <a:spcAft>
                <a:spcPts val="0"/>
              </a:spcAft>
              <a:buClr>
                <a:schemeClr val="dk1"/>
              </a:buClr>
              <a:buSzPts val="1400"/>
              <a:buChar char="●"/>
            </a:pPr>
            <a:r>
              <a:rPr lang="en">
                <a:solidFill>
                  <a:srgbClr val="188038"/>
                </a:solidFill>
                <a:latin typeface="Roboto Mono"/>
                <a:ea typeface="Roboto Mono"/>
                <a:cs typeface="Roboto Mono"/>
                <a:sym typeface="Roboto Mono"/>
              </a:rPr>
              <a:t>df['Marks'].fillna(df['Marks'].median())</a:t>
            </a:r>
            <a:r>
              <a:rPr lang="en">
                <a:solidFill>
                  <a:schemeClr val="dk1"/>
                </a:solidFill>
              </a:rPr>
              <a:t>: Replaces missing values in the </a:t>
            </a:r>
            <a:r>
              <a:rPr lang="en" b="1">
                <a:solidFill>
                  <a:schemeClr val="dk1"/>
                </a:solidFill>
              </a:rPr>
              <a:t>'Marks'</a:t>
            </a:r>
            <a:r>
              <a:rPr lang="en">
                <a:solidFill>
                  <a:schemeClr val="dk1"/>
                </a:solidFill>
              </a:rPr>
              <a:t> column with the middle value of the existing data.</a:t>
            </a:r>
            <a:endParaRPr>
              <a:solidFill>
                <a:schemeClr val="dk1"/>
              </a:solidFill>
            </a:endParaRPr>
          </a:p>
          <a:p>
            <a:pPr marL="457200" lvl="0" indent="-317500" algn="l" rtl="0">
              <a:lnSpc>
                <a:spcPct val="115000"/>
              </a:lnSpc>
              <a:spcBef>
                <a:spcPts val="0"/>
              </a:spcBef>
              <a:spcAft>
                <a:spcPts val="0"/>
              </a:spcAft>
              <a:buClr>
                <a:schemeClr val="dk1"/>
              </a:buClr>
              <a:buSzPts val="1400"/>
              <a:buChar char="●"/>
            </a:pPr>
            <a:r>
              <a:rPr lang="en">
                <a:solidFill>
                  <a:srgbClr val="188038"/>
                </a:solidFill>
                <a:latin typeface="Roboto Mono"/>
                <a:ea typeface="Roboto Mono"/>
                <a:cs typeface="Roboto Mono"/>
                <a:sym typeface="Roboto Mono"/>
              </a:rPr>
              <a:t>df['Marks'].fillna(df['Marks'].mode())</a:t>
            </a:r>
            <a:r>
              <a:rPr lang="en">
                <a:solidFill>
                  <a:schemeClr val="dk1"/>
                </a:solidFill>
              </a:rPr>
              <a:t>: Replaces missing values in the </a:t>
            </a:r>
            <a:r>
              <a:rPr lang="en" b="1">
                <a:solidFill>
                  <a:schemeClr val="dk1"/>
                </a:solidFill>
              </a:rPr>
              <a:t>'Marks'</a:t>
            </a:r>
            <a:r>
              <a:rPr lang="en">
                <a:solidFill>
                  <a:schemeClr val="dk1"/>
                </a:solidFill>
              </a:rPr>
              <a:t> column with the most frequently occurring value.</a:t>
            </a:r>
            <a:endParaRPr>
              <a:solidFill>
                <a:schemeClr val="dk1"/>
              </a:solidFill>
            </a:endParaRPr>
          </a:p>
          <a:p>
            <a:pPr marL="457200" lvl="0" indent="-317500" algn="l" rtl="0">
              <a:lnSpc>
                <a:spcPct val="115000"/>
              </a:lnSpc>
              <a:spcBef>
                <a:spcPts val="0"/>
              </a:spcBef>
              <a:spcAft>
                <a:spcPts val="0"/>
              </a:spcAft>
              <a:buClr>
                <a:schemeClr val="dk1"/>
              </a:buClr>
              <a:buSzPts val="1400"/>
              <a:buChar char="●"/>
            </a:pPr>
            <a:r>
              <a:rPr lang="en">
                <a:solidFill>
                  <a:srgbClr val="188038"/>
                </a:solidFill>
                <a:latin typeface="Roboto Mono"/>
                <a:ea typeface="Roboto Mono"/>
                <a:cs typeface="Roboto Mono"/>
                <a:sym typeface="Roboto Mono"/>
              </a:rPr>
              <a:t>.iloc[0]</a:t>
            </a:r>
            <a:r>
              <a:rPr lang="en">
                <a:solidFill>
                  <a:schemeClr val="dk1"/>
                </a:solidFill>
              </a:rPr>
              <a:t>: Retrieves the first value from the mode result, which is returned as a Series.</a:t>
            </a:r>
            <a:endParaRPr>
              <a:solidFill>
                <a:schemeClr val="dk1"/>
              </a:solidFill>
            </a:endParaRPr>
          </a:p>
          <a:p>
            <a:pPr marL="0" lvl="0" indent="0" algn="l" rtl="0">
              <a:lnSpc>
                <a:spcPct val="115000"/>
              </a:lnSpc>
              <a:spcBef>
                <a:spcPts val="1200"/>
              </a:spcBef>
              <a:spcAft>
                <a:spcPts val="0"/>
              </a:spcAft>
              <a:buNone/>
            </a:pPr>
            <a:r>
              <a:rPr lang="en" b="1">
                <a:solidFill>
                  <a:schemeClr val="dk1"/>
                </a:solidFill>
              </a:rPr>
              <a:t>Advantages:</a:t>
            </a:r>
            <a:r>
              <a:rPr lang="en">
                <a:solidFill>
                  <a:schemeClr val="dk1"/>
                </a:solidFill>
              </a:rPr>
              <a:t> Simple to apply, computationally efficient, and effective for numerical data.</a:t>
            </a:r>
            <a:endParaRPr>
              <a:solidFill>
                <a:schemeClr val="dk1"/>
              </a:solidFill>
            </a:endParaRPr>
          </a:p>
          <a:p>
            <a:pPr marL="0" lvl="0" indent="0" algn="l" rtl="0">
              <a:lnSpc>
                <a:spcPct val="115000"/>
              </a:lnSpc>
              <a:spcBef>
                <a:spcPts val="1200"/>
              </a:spcBef>
              <a:spcAft>
                <a:spcPts val="0"/>
              </a:spcAft>
              <a:buNone/>
            </a:pPr>
            <a:r>
              <a:rPr lang="en" b="1">
                <a:solidFill>
                  <a:schemeClr val="dk1"/>
                </a:solidFill>
              </a:rPr>
              <a:t>Disadvantages:</a:t>
            </a:r>
            <a:r>
              <a:rPr lang="en">
                <a:solidFill>
                  <a:schemeClr val="dk1"/>
                </a:solidFill>
              </a:rPr>
              <a:t> Can alter the original data distribution and may not accurately reflect the actual missing values.</a:t>
            </a:r>
            <a:endParaRPr>
              <a:solidFill>
                <a:schemeClr val="dk1"/>
              </a:solidFill>
            </a:endParaRPr>
          </a:p>
          <a:p>
            <a:pPr marL="0" lvl="0" indent="0" algn="l" rtl="0">
              <a:lnSpc>
                <a:spcPct val="115000"/>
              </a:lnSpc>
              <a:spcBef>
                <a:spcPts val="1400"/>
              </a:spcBef>
              <a:spcAft>
                <a:spcPts val="0"/>
              </a:spcAft>
              <a:buNone/>
            </a:pPr>
            <a:r>
              <a:rPr lang="en" sz="1600" b="1">
                <a:solidFill>
                  <a:schemeClr val="dk1"/>
                </a:solidFill>
              </a:rPr>
              <a:t>2. Forward Fill and Backward Fill</a:t>
            </a:r>
            <a:endParaRPr sz="1600" b="1">
              <a:solidFill>
                <a:schemeClr val="dk1"/>
              </a:solidFill>
            </a:endParaRPr>
          </a:p>
          <a:p>
            <a:pPr marL="0" lvl="0" indent="0" algn="l" rtl="0">
              <a:lnSpc>
                <a:spcPct val="115000"/>
              </a:lnSpc>
              <a:spcBef>
                <a:spcPts val="1200"/>
              </a:spcBef>
              <a:spcAft>
                <a:spcPts val="1200"/>
              </a:spcAft>
              <a:buNone/>
            </a:pPr>
            <a:r>
              <a:rPr lang="en">
                <a:solidFill>
                  <a:schemeClr val="dk1"/>
                </a:solidFill>
              </a:rPr>
              <a:t>These approaches replace missing values with nearby available values within the same column. They are particularly useful for sequential, ordered, or time-series datasets where adjacent observations are related.</a:t>
            </a:r>
            <a:endParaRPr>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3"/>
          <p:cNvSpPr txBox="1"/>
          <p:nvPr/>
        </p:nvSpPr>
        <p:spPr>
          <a:xfrm>
            <a:off x="0" y="0"/>
            <a:ext cx="9144000" cy="1908600"/>
          </a:xfrm>
          <a:prstGeom prst="rect">
            <a:avLst/>
          </a:prstGeom>
          <a:noFill/>
          <a:ln w="9525" cap="flat" cmpd="sng">
            <a:solidFill>
              <a:schemeClr val="accent4"/>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rgbClr val="9900FF"/>
                </a:solidFill>
              </a:rPr>
              <a:t>forward_fill = df['Marks'].fillna(method='ffill')</a:t>
            </a:r>
            <a:endParaRPr>
              <a:solidFill>
                <a:srgbClr val="9900FF"/>
              </a:solidFill>
            </a:endParaRPr>
          </a:p>
          <a:p>
            <a:pPr marL="0" lvl="0" indent="0" algn="l" rtl="0">
              <a:spcBef>
                <a:spcPts val="0"/>
              </a:spcBef>
              <a:spcAft>
                <a:spcPts val="0"/>
              </a:spcAft>
              <a:buNone/>
            </a:pPr>
            <a:r>
              <a:rPr lang="en">
                <a:solidFill>
                  <a:srgbClr val="9900FF"/>
                </a:solidFill>
              </a:rPr>
              <a:t>backward_fill = df['Marks'].fillna(method='bfill')</a:t>
            </a:r>
            <a:endParaRPr>
              <a:solidFill>
                <a:srgbClr val="9900FF"/>
              </a:solidFill>
            </a:endParaRPr>
          </a:p>
          <a:p>
            <a:pPr marL="0" lvl="0" indent="0" algn="l" rtl="0">
              <a:spcBef>
                <a:spcPts val="0"/>
              </a:spcBef>
              <a:spcAft>
                <a:spcPts val="0"/>
              </a:spcAft>
              <a:buNone/>
            </a:pPr>
            <a:endParaRPr>
              <a:solidFill>
                <a:srgbClr val="9900FF"/>
              </a:solidFill>
            </a:endParaRPr>
          </a:p>
          <a:p>
            <a:pPr marL="0" lvl="0" indent="0" algn="l" rtl="0">
              <a:spcBef>
                <a:spcPts val="0"/>
              </a:spcBef>
              <a:spcAft>
                <a:spcPts val="0"/>
              </a:spcAft>
              <a:buNone/>
            </a:pPr>
            <a:r>
              <a:rPr lang="en">
                <a:solidFill>
                  <a:srgbClr val="9900FF"/>
                </a:solidFill>
              </a:rPr>
              <a:t>print("\nForward Fill:")</a:t>
            </a:r>
            <a:endParaRPr>
              <a:solidFill>
                <a:srgbClr val="9900FF"/>
              </a:solidFill>
            </a:endParaRPr>
          </a:p>
          <a:p>
            <a:pPr marL="0" lvl="0" indent="0" algn="l" rtl="0">
              <a:spcBef>
                <a:spcPts val="0"/>
              </a:spcBef>
              <a:spcAft>
                <a:spcPts val="0"/>
              </a:spcAft>
              <a:buNone/>
            </a:pPr>
            <a:r>
              <a:rPr lang="en">
                <a:solidFill>
                  <a:srgbClr val="9900FF"/>
                </a:solidFill>
              </a:rPr>
              <a:t>print(forward_fill)</a:t>
            </a:r>
            <a:endParaRPr>
              <a:solidFill>
                <a:srgbClr val="9900FF"/>
              </a:solidFill>
            </a:endParaRPr>
          </a:p>
          <a:p>
            <a:pPr marL="0" lvl="0" indent="0" algn="l" rtl="0">
              <a:spcBef>
                <a:spcPts val="0"/>
              </a:spcBef>
              <a:spcAft>
                <a:spcPts val="0"/>
              </a:spcAft>
              <a:buNone/>
            </a:pPr>
            <a:endParaRPr>
              <a:solidFill>
                <a:srgbClr val="9900FF"/>
              </a:solidFill>
            </a:endParaRPr>
          </a:p>
          <a:p>
            <a:pPr marL="0" lvl="0" indent="0" algn="l" rtl="0">
              <a:spcBef>
                <a:spcPts val="0"/>
              </a:spcBef>
              <a:spcAft>
                <a:spcPts val="0"/>
              </a:spcAft>
              <a:buNone/>
            </a:pPr>
            <a:r>
              <a:rPr lang="en">
                <a:solidFill>
                  <a:srgbClr val="9900FF"/>
                </a:solidFill>
              </a:rPr>
              <a:t>print("\nBackward Fill:")</a:t>
            </a:r>
            <a:endParaRPr>
              <a:solidFill>
                <a:srgbClr val="9900FF"/>
              </a:solidFill>
            </a:endParaRPr>
          </a:p>
          <a:p>
            <a:pPr marL="0" lvl="0" indent="0" algn="l" rtl="0">
              <a:spcBef>
                <a:spcPts val="0"/>
              </a:spcBef>
              <a:spcAft>
                <a:spcPts val="0"/>
              </a:spcAft>
              <a:buNone/>
            </a:pPr>
            <a:r>
              <a:rPr lang="en">
                <a:solidFill>
                  <a:srgbClr val="9900FF"/>
                </a:solidFill>
              </a:rPr>
              <a:t>print(backward_fill)</a:t>
            </a:r>
            <a:endParaRPr>
              <a:solidFill>
                <a:srgbClr val="9900FF"/>
              </a:solidFill>
            </a:endParaRPr>
          </a:p>
        </p:txBody>
      </p:sp>
      <p:pic>
        <p:nvPicPr>
          <p:cNvPr id="116" name="Google Shape;116;p23"/>
          <p:cNvPicPr preferRelativeResize="0"/>
          <p:nvPr/>
        </p:nvPicPr>
        <p:blipFill>
          <a:blip r:embed="rId3">
            <a:alphaModFix/>
          </a:blip>
          <a:stretch>
            <a:fillRect/>
          </a:stretch>
        </p:blipFill>
        <p:spPr>
          <a:xfrm>
            <a:off x="569925" y="2209450"/>
            <a:ext cx="8459250" cy="2846900"/>
          </a:xfrm>
          <a:prstGeom prst="rect">
            <a:avLst/>
          </a:prstGeom>
          <a:noFill/>
          <a:ln w="9525" cap="flat" cmpd="sng">
            <a:solidFill>
              <a:schemeClr val="dk1"/>
            </a:solidFill>
            <a:prstDash val="solid"/>
            <a:round/>
            <a:headEnd type="none" w="sm" len="sm"/>
            <a:tailEnd type="none" w="sm" len="sm"/>
          </a:ln>
        </p:spPr>
      </p:pic>
      <p:sp>
        <p:nvSpPr>
          <p:cNvPr id="117" name="Google Shape;117;p23"/>
          <p:cNvSpPr txBox="1"/>
          <p:nvPr/>
        </p:nvSpPr>
        <p:spPr>
          <a:xfrm>
            <a:off x="0" y="1908600"/>
            <a:ext cx="3000000" cy="705900"/>
          </a:xfrm>
          <a:prstGeom prst="rect">
            <a:avLst/>
          </a:prstGeom>
          <a:noFill/>
          <a:ln>
            <a:noFill/>
          </a:ln>
        </p:spPr>
        <p:txBody>
          <a:bodyPr spcFirstLastPara="1" wrap="square" lIns="91425" tIns="91425" rIns="91425" bIns="91425" anchor="t" anchorCtr="0">
            <a:spAutoFit/>
          </a:bodyPr>
          <a:lstStyle/>
          <a:p>
            <a:pPr marL="0" lvl="0" indent="0" algn="l" rtl="0">
              <a:lnSpc>
                <a:spcPct val="120000"/>
              </a:lnSpc>
              <a:spcBef>
                <a:spcPts val="0"/>
              </a:spcBef>
              <a:spcAft>
                <a:spcPts val="0"/>
              </a:spcAft>
              <a:buNone/>
            </a:pPr>
            <a:r>
              <a:rPr lang="en" sz="1350" b="1">
                <a:solidFill>
                  <a:srgbClr val="273239"/>
                </a:solidFill>
                <a:highlight>
                  <a:srgbClr val="FFFFFF"/>
                </a:highlight>
                <a:latin typeface="Nunito"/>
                <a:ea typeface="Nunito"/>
                <a:cs typeface="Nunito"/>
                <a:sym typeface="Nunito"/>
              </a:rPr>
              <a:t>Output:</a:t>
            </a:r>
            <a:endParaRPr sz="1350" b="1">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None/>
            </a:pPr>
            <a:endParaRPr sz="11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24"/>
          <p:cNvSpPr txBox="1"/>
          <p:nvPr/>
        </p:nvSpPr>
        <p:spPr>
          <a:xfrm>
            <a:off x="0" y="0"/>
            <a:ext cx="9144000" cy="4514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300" b="1">
                <a:solidFill>
                  <a:schemeClr val="dk1"/>
                </a:solidFill>
              </a:rPr>
              <a:t>Explanation:</a:t>
            </a:r>
            <a:r>
              <a:rPr lang="en" sz="1300">
                <a:solidFill>
                  <a:schemeClr val="dk1"/>
                </a:solidFill>
              </a:rPr>
              <a:t> The </a:t>
            </a:r>
            <a:r>
              <a:rPr lang="en" sz="1300">
                <a:solidFill>
                  <a:srgbClr val="188038"/>
                </a:solidFill>
                <a:latin typeface="Roboto Mono"/>
                <a:ea typeface="Roboto Mono"/>
                <a:cs typeface="Roboto Mono"/>
                <a:sym typeface="Roboto Mono"/>
              </a:rPr>
              <a:t>method</a:t>
            </a:r>
            <a:r>
              <a:rPr lang="en" sz="1300">
                <a:solidFill>
                  <a:schemeClr val="dk1"/>
                </a:solidFill>
              </a:rPr>
              <a:t> parameter in </a:t>
            </a:r>
            <a:r>
              <a:rPr lang="en" sz="1300">
                <a:solidFill>
                  <a:srgbClr val="188038"/>
                </a:solidFill>
                <a:latin typeface="Roboto Mono"/>
                <a:ea typeface="Roboto Mono"/>
                <a:cs typeface="Roboto Mono"/>
                <a:sym typeface="Roboto Mono"/>
              </a:rPr>
              <a:t>fillna()</a:t>
            </a:r>
            <a:r>
              <a:rPr lang="en" sz="1300">
                <a:solidFill>
                  <a:schemeClr val="dk1"/>
                </a:solidFill>
              </a:rPr>
              <a:t> is used to define how missing values should be filled.</a:t>
            </a:r>
            <a:endParaRPr sz="1300">
              <a:solidFill>
                <a:schemeClr val="dk1"/>
              </a:solidFill>
            </a:endParaRPr>
          </a:p>
          <a:p>
            <a:pPr marL="457200" lvl="0" indent="-311150" algn="l" rtl="0">
              <a:lnSpc>
                <a:spcPct val="115000"/>
              </a:lnSpc>
              <a:spcBef>
                <a:spcPts val="1200"/>
              </a:spcBef>
              <a:spcAft>
                <a:spcPts val="0"/>
              </a:spcAft>
              <a:buClr>
                <a:schemeClr val="dk1"/>
              </a:buClr>
              <a:buSzPts val="1300"/>
              <a:buChar char="●"/>
            </a:pPr>
            <a:r>
              <a:rPr lang="en" sz="1300">
                <a:solidFill>
                  <a:srgbClr val="188038"/>
                </a:solidFill>
                <a:latin typeface="Roboto Mono"/>
                <a:ea typeface="Roboto Mono"/>
                <a:cs typeface="Roboto Mono"/>
                <a:sym typeface="Roboto Mono"/>
              </a:rPr>
              <a:t>df['Marks'].fillna(method='ffill')</a:t>
            </a:r>
            <a:r>
              <a:rPr lang="en" sz="1300">
                <a:solidFill>
                  <a:schemeClr val="dk1"/>
                </a:solidFill>
              </a:rPr>
              <a:t>: Applies the forward fill approach to the </a:t>
            </a:r>
            <a:r>
              <a:rPr lang="en" sz="1300" b="1">
                <a:solidFill>
                  <a:schemeClr val="dk1"/>
                </a:solidFill>
              </a:rPr>
              <a:t>'Marks'</a:t>
            </a:r>
            <a:r>
              <a:rPr lang="en" sz="1300">
                <a:solidFill>
                  <a:schemeClr val="dk1"/>
                </a:solidFill>
              </a:rPr>
              <a:t> column. Missing values are replaced with the most recent non-missing value that appears before them.</a:t>
            </a:r>
            <a:endParaRPr sz="1300">
              <a:solidFill>
                <a:schemeClr val="dk1"/>
              </a:solidFill>
            </a:endParaRPr>
          </a:p>
          <a:p>
            <a:pPr marL="457200" lvl="0" indent="-311150" algn="l" rtl="0">
              <a:lnSpc>
                <a:spcPct val="115000"/>
              </a:lnSpc>
              <a:spcBef>
                <a:spcPts val="0"/>
              </a:spcBef>
              <a:spcAft>
                <a:spcPts val="0"/>
              </a:spcAft>
              <a:buClr>
                <a:schemeClr val="dk1"/>
              </a:buClr>
              <a:buSzPts val="1300"/>
              <a:buChar char="●"/>
            </a:pPr>
            <a:r>
              <a:rPr lang="en" sz="1300">
                <a:solidFill>
                  <a:srgbClr val="188038"/>
                </a:solidFill>
                <a:latin typeface="Roboto Mono"/>
                <a:ea typeface="Roboto Mono"/>
                <a:cs typeface="Roboto Mono"/>
                <a:sym typeface="Roboto Mono"/>
              </a:rPr>
              <a:t>df['Marks'].fillna(method='bfill')</a:t>
            </a:r>
            <a:r>
              <a:rPr lang="en" sz="1300">
                <a:solidFill>
                  <a:schemeClr val="dk1"/>
                </a:solidFill>
              </a:rPr>
              <a:t>: Applies the backward fill approach to the </a:t>
            </a:r>
            <a:r>
              <a:rPr lang="en" sz="1300" b="1">
                <a:solidFill>
                  <a:schemeClr val="dk1"/>
                </a:solidFill>
              </a:rPr>
              <a:t>'Marks'</a:t>
            </a:r>
            <a:r>
              <a:rPr lang="en" sz="1300">
                <a:solidFill>
                  <a:schemeClr val="dk1"/>
                </a:solidFill>
              </a:rPr>
              <a:t> column. Missing values are replaced with the nearest non-missing value that appears after them.</a:t>
            </a:r>
            <a:endParaRPr sz="1300">
              <a:solidFill>
                <a:schemeClr val="dk1"/>
              </a:solidFill>
            </a:endParaRPr>
          </a:p>
          <a:p>
            <a:pPr marL="0" lvl="0" indent="0" algn="l" rtl="0">
              <a:lnSpc>
                <a:spcPct val="115000"/>
              </a:lnSpc>
              <a:spcBef>
                <a:spcPts val="1200"/>
              </a:spcBef>
              <a:spcAft>
                <a:spcPts val="0"/>
              </a:spcAft>
              <a:buNone/>
            </a:pPr>
            <a:r>
              <a:rPr lang="en" sz="1300" b="1">
                <a:solidFill>
                  <a:schemeClr val="dk1"/>
                </a:solidFill>
              </a:rPr>
              <a:t>Advantages:</a:t>
            </a:r>
            <a:r>
              <a:rPr lang="en" sz="1300">
                <a:solidFill>
                  <a:schemeClr val="dk1"/>
                </a:solidFill>
              </a:rPr>
              <a:t> Maintains the sequence and underlying structure of the data.</a:t>
            </a:r>
            <a:endParaRPr sz="1300">
              <a:solidFill>
                <a:schemeClr val="dk1"/>
              </a:solidFill>
            </a:endParaRPr>
          </a:p>
          <a:p>
            <a:pPr marL="0" lvl="0" indent="0" algn="l" rtl="0">
              <a:lnSpc>
                <a:spcPct val="115000"/>
              </a:lnSpc>
              <a:spcBef>
                <a:spcPts val="1200"/>
              </a:spcBef>
              <a:spcAft>
                <a:spcPts val="0"/>
              </a:spcAft>
              <a:buNone/>
            </a:pPr>
            <a:r>
              <a:rPr lang="en" sz="1300" b="1">
                <a:solidFill>
                  <a:schemeClr val="dk1"/>
                </a:solidFill>
              </a:rPr>
              <a:t>Disadvantages:</a:t>
            </a:r>
            <a:r>
              <a:rPr lang="en" sz="1300">
                <a:solidFill>
                  <a:schemeClr val="dk1"/>
                </a:solidFill>
              </a:rPr>
              <a:t> May produce unreliable results when there are large gaps between observations or when neighboring values vary considerably.</a:t>
            </a:r>
            <a:endParaRPr sz="1300">
              <a:solidFill>
                <a:schemeClr val="dk1"/>
              </a:solidFill>
            </a:endParaRPr>
          </a:p>
          <a:p>
            <a:pPr marL="0" lvl="0" indent="0" algn="l" rtl="0">
              <a:lnSpc>
                <a:spcPct val="115000"/>
              </a:lnSpc>
              <a:spcBef>
                <a:spcPts val="1200"/>
              </a:spcBef>
              <a:spcAft>
                <a:spcPts val="0"/>
              </a:spcAft>
              <a:buNone/>
            </a:pPr>
            <a:r>
              <a:rPr lang="en" sz="1300" b="1">
                <a:solidFill>
                  <a:schemeClr val="dk1"/>
                </a:solidFill>
              </a:rPr>
              <a:t>Note:</a:t>
            </a:r>
            <a:endParaRPr sz="1300" b="1">
              <a:solidFill>
                <a:schemeClr val="dk1"/>
              </a:solidFill>
            </a:endParaRPr>
          </a:p>
          <a:p>
            <a:pPr marL="457200" lvl="0" indent="-311150" algn="l" rtl="0">
              <a:lnSpc>
                <a:spcPct val="115000"/>
              </a:lnSpc>
              <a:spcBef>
                <a:spcPts val="1200"/>
              </a:spcBef>
              <a:spcAft>
                <a:spcPts val="0"/>
              </a:spcAft>
              <a:buClr>
                <a:schemeClr val="dk1"/>
              </a:buClr>
              <a:buSzPts val="1300"/>
              <a:buChar char="●"/>
            </a:pPr>
            <a:r>
              <a:rPr lang="en" sz="1300" b="1">
                <a:solidFill>
                  <a:schemeClr val="dk1"/>
                </a:solidFill>
              </a:rPr>
              <a:t>Forward Fill (ffill):</a:t>
            </a:r>
            <a:r>
              <a:rPr lang="en" sz="1300">
                <a:solidFill>
                  <a:schemeClr val="dk1"/>
                </a:solidFill>
              </a:rPr>
              <a:t> Replaces missing values using the previous valid observation.</a:t>
            </a:r>
            <a:endParaRPr sz="1300">
              <a:solidFill>
                <a:schemeClr val="dk1"/>
              </a:solidFill>
            </a:endParaRPr>
          </a:p>
          <a:p>
            <a:pPr marL="457200" lvl="0" indent="-311150" algn="l" rtl="0">
              <a:lnSpc>
                <a:spcPct val="115000"/>
              </a:lnSpc>
              <a:spcBef>
                <a:spcPts val="0"/>
              </a:spcBef>
              <a:spcAft>
                <a:spcPts val="0"/>
              </a:spcAft>
              <a:buClr>
                <a:schemeClr val="dk1"/>
              </a:buClr>
              <a:buSzPts val="1300"/>
              <a:buChar char="●"/>
            </a:pPr>
            <a:r>
              <a:rPr lang="en" sz="1300" b="1">
                <a:solidFill>
                  <a:schemeClr val="dk1"/>
                </a:solidFill>
              </a:rPr>
              <a:t>Backward Fill (bfill):</a:t>
            </a:r>
            <a:r>
              <a:rPr lang="en" sz="1300">
                <a:solidFill>
                  <a:schemeClr val="dk1"/>
                </a:solidFill>
              </a:rPr>
              <a:t> Replaces missing values using the next valid observation.</a:t>
            </a:r>
            <a:endParaRPr sz="1300">
              <a:solidFill>
                <a:schemeClr val="dk1"/>
              </a:solidFill>
            </a:endParaRPr>
          </a:p>
          <a:p>
            <a:pPr marL="0" lvl="0" indent="0" algn="l" rtl="0">
              <a:lnSpc>
                <a:spcPct val="115000"/>
              </a:lnSpc>
              <a:spcBef>
                <a:spcPts val="1400"/>
              </a:spcBef>
              <a:spcAft>
                <a:spcPts val="0"/>
              </a:spcAft>
              <a:buNone/>
            </a:pPr>
            <a:r>
              <a:rPr lang="en" sz="1500" b="1">
                <a:solidFill>
                  <a:schemeClr val="dk1"/>
                </a:solidFill>
              </a:rPr>
              <a:t>3. Interpolation Methods</a:t>
            </a:r>
            <a:endParaRPr sz="1500" b="1">
              <a:solidFill>
                <a:schemeClr val="dk1"/>
              </a:solidFill>
            </a:endParaRPr>
          </a:p>
          <a:p>
            <a:pPr marL="0" lvl="0" indent="0" algn="l" rtl="0">
              <a:lnSpc>
                <a:spcPct val="115000"/>
              </a:lnSpc>
              <a:spcBef>
                <a:spcPts val="1200"/>
              </a:spcBef>
              <a:spcAft>
                <a:spcPts val="1200"/>
              </a:spcAft>
              <a:buNone/>
            </a:pPr>
            <a:r>
              <a:rPr lang="en" sz="1300">
                <a:solidFill>
                  <a:schemeClr val="dk1"/>
                </a:solidFill>
              </a:rPr>
              <a:t>Interpolation fills missing values by estimating them from the pattern and trend of nearby data points. Compared to basic imputation methods, it often provides more realistic and data-driven estimates.</a:t>
            </a:r>
            <a:endParaRPr sz="13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5"/>
          <p:cNvSpPr txBox="1"/>
          <p:nvPr/>
        </p:nvSpPr>
        <p:spPr>
          <a:xfrm>
            <a:off x="0" y="0"/>
            <a:ext cx="5154000" cy="21240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rgbClr val="9900FF"/>
                </a:solidFill>
              </a:rPr>
              <a:t>linear_interpolation = df['Marks'].interpolate(method='linear')</a:t>
            </a:r>
            <a:endParaRPr>
              <a:solidFill>
                <a:srgbClr val="9900FF"/>
              </a:solidFill>
            </a:endParaRPr>
          </a:p>
          <a:p>
            <a:pPr marL="0" lvl="0" indent="0" algn="l" rtl="0">
              <a:spcBef>
                <a:spcPts val="0"/>
              </a:spcBef>
              <a:spcAft>
                <a:spcPts val="0"/>
              </a:spcAft>
              <a:buNone/>
            </a:pPr>
            <a:r>
              <a:rPr lang="en">
                <a:solidFill>
                  <a:srgbClr val="9900FF"/>
                </a:solidFill>
              </a:rPr>
              <a:t>quadratic_interpolation = df['Marks'].interpolate(method='quadratic')</a:t>
            </a:r>
            <a:endParaRPr>
              <a:solidFill>
                <a:srgbClr val="9900FF"/>
              </a:solidFill>
            </a:endParaRPr>
          </a:p>
          <a:p>
            <a:pPr marL="0" lvl="0" indent="0" algn="l" rtl="0">
              <a:spcBef>
                <a:spcPts val="0"/>
              </a:spcBef>
              <a:spcAft>
                <a:spcPts val="0"/>
              </a:spcAft>
              <a:buNone/>
            </a:pPr>
            <a:endParaRPr>
              <a:solidFill>
                <a:srgbClr val="9900FF"/>
              </a:solidFill>
            </a:endParaRPr>
          </a:p>
          <a:p>
            <a:pPr marL="0" lvl="0" indent="0" algn="l" rtl="0">
              <a:spcBef>
                <a:spcPts val="0"/>
              </a:spcBef>
              <a:spcAft>
                <a:spcPts val="0"/>
              </a:spcAft>
              <a:buNone/>
            </a:pPr>
            <a:r>
              <a:rPr lang="en">
                <a:solidFill>
                  <a:srgbClr val="9900FF"/>
                </a:solidFill>
              </a:rPr>
              <a:t>print("\nLinear Interpolation:")</a:t>
            </a:r>
            <a:endParaRPr>
              <a:solidFill>
                <a:srgbClr val="9900FF"/>
              </a:solidFill>
            </a:endParaRPr>
          </a:p>
          <a:p>
            <a:pPr marL="0" lvl="0" indent="0" algn="l" rtl="0">
              <a:spcBef>
                <a:spcPts val="0"/>
              </a:spcBef>
              <a:spcAft>
                <a:spcPts val="0"/>
              </a:spcAft>
              <a:buNone/>
            </a:pPr>
            <a:r>
              <a:rPr lang="en">
                <a:solidFill>
                  <a:srgbClr val="9900FF"/>
                </a:solidFill>
              </a:rPr>
              <a:t>print(linear_interpolation)</a:t>
            </a:r>
            <a:endParaRPr>
              <a:solidFill>
                <a:srgbClr val="9900FF"/>
              </a:solidFill>
            </a:endParaRPr>
          </a:p>
          <a:p>
            <a:pPr marL="0" lvl="0" indent="0" algn="l" rtl="0">
              <a:spcBef>
                <a:spcPts val="0"/>
              </a:spcBef>
              <a:spcAft>
                <a:spcPts val="0"/>
              </a:spcAft>
              <a:buNone/>
            </a:pPr>
            <a:endParaRPr>
              <a:solidFill>
                <a:srgbClr val="9900FF"/>
              </a:solidFill>
            </a:endParaRPr>
          </a:p>
          <a:p>
            <a:pPr marL="0" lvl="0" indent="0" algn="l" rtl="0">
              <a:spcBef>
                <a:spcPts val="0"/>
              </a:spcBef>
              <a:spcAft>
                <a:spcPts val="0"/>
              </a:spcAft>
              <a:buNone/>
            </a:pPr>
            <a:r>
              <a:rPr lang="en">
                <a:solidFill>
                  <a:srgbClr val="9900FF"/>
                </a:solidFill>
              </a:rPr>
              <a:t>print("\nQuadratic Interpolation:")</a:t>
            </a:r>
            <a:endParaRPr>
              <a:solidFill>
                <a:srgbClr val="9900FF"/>
              </a:solidFill>
            </a:endParaRPr>
          </a:p>
          <a:p>
            <a:pPr marL="0" lvl="0" indent="0" algn="l" rtl="0">
              <a:spcBef>
                <a:spcPts val="0"/>
              </a:spcBef>
              <a:spcAft>
                <a:spcPts val="0"/>
              </a:spcAft>
              <a:buNone/>
            </a:pPr>
            <a:r>
              <a:rPr lang="en">
                <a:solidFill>
                  <a:srgbClr val="9900FF"/>
                </a:solidFill>
              </a:rPr>
              <a:t>print(quadratic_interpolation)</a:t>
            </a:r>
            <a:endParaRPr>
              <a:solidFill>
                <a:srgbClr val="9900FF"/>
              </a:solidFill>
            </a:endParaRPr>
          </a:p>
        </p:txBody>
      </p:sp>
      <p:pic>
        <p:nvPicPr>
          <p:cNvPr id="128" name="Google Shape;128;p25"/>
          <p:cNvPicPr preferRelativeResize="0"/>
          <p:nvPr/>
        </p:nvPicPr>
        <p:blipFill>
          <a:blip r:embed="rId3">
            <a:alphaModFix/>
          </a:blip>
          <a:stretch>
            <a:fillRect/>
          </a:stretch>
        </p:blipFill>
        <p:spPr>
          <a:xfrm>
            <a:off x="2841874" y="932329"/>
            <a:ext cx="2085975" cy="3619500"/>
          </a:xfrm>
          <a:prstGeom prst="rect">
            <a:avLst/>
          </a:prstGeom>
          <a:noFill/>
          <a:ln w="9525" cap="flat" cmpd="sng">
            <a:solidFill>
              <a:schemeClr val="dk1"/>
            </a:solidFill>
            <a:prstDash val="solid"/>
            <a:round/>
            <a:headEnd type="none" w="sm" len="sm"/>
            <a:tailEnd type="none" w="sm" len="sm"/>
          </a:ln>
        </p:spPr>
      </p:pic>
      <p:sp>
        <p:nvSpPr>
          <p:cNvPr id="129" name="Google Shape;129;p25"/>
          <p:cNvSpPr txBox="1"/>
          <p:nvPr/>
        </p:nvSpPr>
        <p:spPr>
          <a:xfrm>
            <a:off x="65225" y="1908600"/>
            <a:ext cx="3000000" cy="651000"/>
          </a:xfrm>
          <a:prstGeom prst="rect">
            <a:avLst/>
          </a:prstGeom>
          <a:noFill/>
          <a:ln>
            <a:noFill/>
          </a:ln>
        </p:spPr>
        <p:txBody>
          <a:bodyPr spcFirstLastPara="1" wrap="square" lIns="91425" tIns="91425" rIns="91425" bIns="91425" anchor="t" anchorCtr="0">
            <a:spAutoFit/>
          </a:bodyPr>
          <a:lstStyle/>
          <a:p>
            <a:pPr marL="0" lvl="0" indent="0" algn="l" rtl="0">
              <a:lnSpc>
                <a:spcPct val="120000"/>
              </a:lnSpc>
              <a:spcBef>
                <a:spcPts val="0"/>
              </a:spcBef>
              <a:spcAft>
                <a:spcPts val="0"/>
              </a:spcAft>
              <a:buNone/>
            </a:pPr>
            <a:endParaRPr/>
          </a:p>
          <a:p>
            <a:pPr marL="0" lvl="0" indent="0" algn="l" rtl="0">
              <a:spcBef>
                <a:spcPts val="0"/>
              </a:spcBef>
              <a:spcAft>
                <a:spcPts val="0"/>
              </a:spcAft>
              <a:buNone/>
            </a:pPr>
            <a:r>
              <a:rPr lang="en" sz="1350" b="1">
                <a:solidFill>
                  <a:srgbClr val="273239"/>
                </a:solidFill>
                <a:highlight>
                  <a:srgbClr val="FFFFFF"/>
                </a:highlight>
                <a:latin typeface="Nunito"/>
                <a:ea typeface="Nunito"/>
                <a:cs typeface="Nunito"/>
                <a:sym typeface="Nunito"/>
              </a:rPr>
              <a:t>Output:</a:t>
            </a:r>
            <a:r>
              <a:rPr lang="en" sz="1100">
                <a:solidFill>
                  <a:schemeClr val="dk1"/>
                </a:solidFill>
              </a:rPr>
              <a:t> </a:t>
            </a:r>
            <a:endParaRPr/>
          </a:p>
        </p:txBody>
      </p:sp>
      <p:sp>
        <p:nvSpPr>
          <p:cNvPr id="130" name="Google Shape;130;p25"/>
          <p:cNvSpPr txBox="1"/>
          <p:nvPr/>
        </p:nvSpPr>
        <p:spPr>
          <a:xfrm>
            <a:off x="5154000" y="-54900"/>
            <a:ext cx="3990000" cy="5253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050" b="1" dirty="0">
                <a:solidFill>
                  <a:schemeClr val="dk1"/>
                </a:solidFill>
              </a:rPr>
              <a:t>Explanation:</a:t>
            </a:r>
            <a:r>
              <a:rPr lang="en" sz="1050" dirty="0">
                <a:solidFill>
                  <a:schemeClr val="dk1"/>
                </a:solidFill>
              </a:rPr>
              <a:t> The </a:t>
            </a:r>
            <a:r>
              <a:rPr lang="en" sz="1050" dirty="0">
                <a:solidFill>
                  <a:srgbClr val="188038"/>
                </a:solidFill>
                <a:latin typeface="Roboto Mono"/>
                <a:ea typeface="Roboto Mono"/>
                <a:cs typeface="Roboto Mono"/>
                <a:sym typeface="Roboto Mono"/>
              </a:rPr>
              <a:t>interpolate()</a:t>
            </a:r>
            <a:r>
              <a:rPr lang="en" sz="1050" dirty="0">
                <a:solidFill>
                  <a:schemeClr val="dk1"/>
                </a:solidFill>
              </a:rPr>
              <a:t> function in Pandas can estimate missing values using different interpolation techniques, such as </a:t>
            </a:r>
            <a:r>
              <a:rPr lang="en" sz="1050" b="1" dirty="0">
                <a:solidFill>
                  <a:schemeClr val="dk1"/>
                </a:solidFill>
              </a:rPr>
              <a:t>linear</a:t>
            </a:r>
            <a:r>
              <a:rPr lang="en" sz="1050" dirty="0">
                <a:solidFill>
                  <a:schemeClr val="dk1"/>
                </a:solidFill>
              </a:rPr>
              <a:t> and </a:t>
            </a:r>
            <a:r>
              <a:rPr lang="en" sz="1050" b="1" dirty="0">
                <a:solidFill>
                  <a:schemeClr val="dk1"/>
                </a:solidFill>
              </a:rPr>
              <a:t>quadratic</a:t>
            </a:r>
            <a:r>
              <a:rPr lang="en" sz="1050" dirty="0">
                <a:solidFill>
                  <a:schemeClr val="dk1"/>
                </a:solidFill>
              </a:rPr>
              <a:t> interpolation.</a:t>
            </a:r>
            <a:endParaRPr sz="1050" dirty="0">
              <a:solidFill>
                <a:schemeClr val="dk1"/>
              </a:solidFill>
            </a:endParaRPr>
          </a:p>
          <a:p>
            <a:pPr marL="457200" lvl="0" indent="-298450" algn="l" rtl="0">
              <a:lnSpc>
                <a:spcPct val="115000"/>
              </a:lnSpc>
              <a:spcBef>
                <a:spcPts val="1200"/>
              </a:spcBef>
              <a:spcAft>
                <a:spcPts val="0"/>
              </a:spcAft>
              <a:buClr>
                <a:schemeClr val="dk1"/>
              </a:buClr>
              <a:buSzPts val="1100"/>
              <a:buChar char="●"/>
            </a:pPr>
            <a:r>
              <a:rPr lang="en" sz="1050" dirty="0">
                <a:solidFill>
                  <a:srgbClr val="188038"/>
                </a:solidFill>
                <a:latin typeface="Roboto Mono"/>
                <a:ea typeface="Roboto Mono"/>
                <a:cs typeface="Roboto Mono"/>
                <a:sym typeface="Roboto Mono"/>
              </a:rPr>
              <a:t>df['Marks'].interpolate(method='linear')</a:t>
            </a:r>
            <a:r>
              <a:rPr lang="en" sz="1050" dirty="0">
                <a:solidFill>
                  <a:schemeClr val="dk1"/>
                </a:solidFill>
              </a:rPr>
              <a:t>: Applies linear interpolation to the </a:t>
            </a:r>
            <a:r>
              <a:rPr lang="en" sz="1050" b="1" dirty="0">
                <a:solidFill>
                  <a:schemeClr val="dk1"/>
                </a:solidFill>
              </a:rPr>
              <a:t>'Marks'</a:t>
            </a:r>
            <a:r>
              <a:rPr lang="en" sz="1050" dirty="0">
                <a:solidFill>
                  <a:schemeClr val="dk1"/>
                </a:solidFill>
              </a:rPr>
              <a:t> column by estimating missing values based on a straight-line relationship between neighboring data points.</a:t>
            </a:r>
            <a:endParaRPr sz="1050"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050" dirty="0">
                <a:solidFill>
                  <a:srgbClr val="188038"/>
                </a:solidFill>
                <a:latin typeface="Roboto Mono"/>
                <a:ea typeface="Roboto Mono"/>
                <a:cs typeface="Roboto Mono"/>
                <a:sym typeface="Roboto Mono"/>
              </a:rPr>
              <a:t>df['Marks'].interpolate(method='quadratic')</a:t>
            </a:r>
            <a:r>
              <a:rPr lang="en" sz="1050" dirty="0">
                <a:solidFill>
                  <a:schemeClr val="dk1"/>
                </a:solidFill>
              </a:rPr>
              <a:t>: Applies quadratic interpolation to the </a:t>
            </a:r>
            <a:r>
              <a:rPr lang="en" sz="1050" b="1" dirty="0">
                <a:solidFill>
                  <a:schemeClr val="dk1"/>
                </a:solidFill>
              </a:rPr>
              <a:t>'Marks'</a:t>
            </a:r>
            <a:r>
              <a:rPr lang="en" sz="1050" dirty="0">
                <a:solidFill>
                  <a:schemeClr val="dk1"/>
                </a:solidFill>
              </a:rPr>
              <a:t> column by estimating missing values using a quadratic curve fitted to surrounding observations.</a:t>
            </a:r>
            <a:endParaRPr sz="1050" dirty="0">
              <a:solidFill>
                <a:schemeClr val="dk1"/>
              </a:solidFill>
            </a:endParaRPr>
          </a:p>
          <a:p>
            <a:pPr marL="0" lvl="0" indent="0" algn="l" rtl="0">
              <a:lnSpc>
                <a:spcPct val="115000"/>
              </a:lnSpc>
              <a:spcBef>
                <a:spcPts val="1200"/>
              </a:spcBef>
              <a:spcAft>
                <a:spcPts val="0"/>
              </a:spcAft>
              <a:buNone/>
            </a:pPr>
            <a:r>
              <a:rPr lang="en" sz="1050" b="1" dirty="0">
                <a:solidFill>
                  <a:schemeClr val="dk1"/>
                </a:solidFill>
              </a:rPr>
              <a:t>Advantages:</a:t>
            </a:r>
            <a:r>
              <a:rPr lang="en" sz="1050" dirty="0">
                <a:solidFill>
                  <a:schemeClr val="dk1"/>
                </a:solidFill>
              </a:rPr>
              <a:t> Effectively follows data trends and helps maintain relationships among values.</a:t>
            </a:r>
            <a:endParaRPr sz="1050" dirty="0">
              <a:solidFill>
                <a:schemeClr val="dk1"/>
              </a:solidFill>
            </a:endParaRPr>
          </a:p>
          <a:p>
            <a:pPr marL="0" lvl="0" indent="0" algn="l" rtl="0">
              <a:lnSpc>
                <a:spcPct val="115000"/>
              </a:lnSpc>
              <a:spcBef>
                <a:spcPts val="1200"/>
              </a:spcBef>
              <a:spcAft>
                <a:spcPts val="0"/>
              </a:spcAft>
              <a:buNone/>
            </a:pPr>
            <a:r>
              <a:rPr lang="en" sz="1050" b="1" dirty="0">
                <a:solidFill>
                  <a:schemeClr val="dk1"/>
                </a:solidFill>
              </a:rPr>
              <a:t>Disadvantages:</a:t>
            </a:r>
            <a:r>
              <a:rPr lang="en" sz="1050" dirty="0">
                <a:solidFill>
                  <a:schemeClr val="dk1"/>
                </a:solidFill>
              </a:rPr>
              <a:t> Relies on assumptions about the underlying pattern (such as linear or quadratic behavior) and can be more difficult to implement and interpret.</a:t>
            </a:r>
            <a:br>
              <a:rPr lang="en" sz="1050" dirty="0">
                <a:solidFill>
                  <a:schemeClr val="dk1"/>
                </a:solidFill>
              </a:rPr>
            </a:br>
            <a:r>
              <a:rPr lang="en" sz="1050" b="1" dirty="0">
                <a:solidFill>
                  <a:schemeClr val="dk1"/>
                </a:solidFill>
              </a:rPr>
              <a:t>Note:</a:t>
            </a:r>
            <a:endParaRPr sz="1050" b="1" dirty="0">
              <a:solidFill>
                <a:schemeClr val="dk1"/>
              </a:solidFill>
            </a:endParaRPr>
          </a:p>
          <a:p>
            <a:pPr marL="457200" lvl="0" indent="-298450" algn="l" rtl="0">
              <a:lnSpc>
                <a:spcPct val="115000"/>
              </a:lnSpc>
              <a:spcBef>
                <a:spcPts val="1200"/>
              </a:spcBef>
              <a:spcAft>
                <a:spcPts val="0"/>
              </a:spcAft>
              <a:buClr>
                <a:schemeClr val="dk1"/>
              </a:buClr>
              <a:buSzPts val="1100"/>
              <a:buChar char="●"/>
            </a:pPr>
            <a:r>
              <a:rPr lang="en" sz="1050" b="1" dirty="0">
                <a:solidFill>
                  <a:schemeClr val="dk1"/>
                </a:solidFill>
              </a:rPr>
              <a:t>Linear Interpolation:</a:t>
            </a:r>
            <a:r>
              <a:rPr lang="en" sz="1050" dirty="0">
                <a:solidFill>
                  <a:schemeClr val="dk1"/>
                </a:solidFill>
              </a:rPr>
              <a:t> Estimates missing values by assuming a straight-line connection between adjacent known values.</a:t>
            </a:r>
            <a:endParaRPr sz="1050"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050" b="1" dirty="0">
                <a:solidFill>
                  <a:schemeClr val="dk1"/>
                </a:solidFill>
              </a:rPr>
              <a:t>Quadratic Interpolation:</a:t>
            </a:r>
            <a:r>
              <a:rPr lang="en" sz="1050" dirty="0">
                <a:solidFill>
                  <a:schemeClr val="dk1"/>
                </a:solidFill>
              </a:rPr>
              <a:t> Estimates missing values by fitting a quadratic curve through nearby known observations.</a:t>
            </a:r>
            <a:endParaRPr sz="1050" dirty="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6"/>
          <p:cNvSpPr txBox="1"/>
          <p:nvPr/>
        </p:nvSpPr>
        <p:spPr>
          <a:xfrm>
            <a:off x="0" y="0"/>
            <a:ext cx="9144000" cy="322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n" sz="1600" b="1">
                <a:solidFill>
                  <a:schemeClr val="dk1"/>
                </a:solidFill>
              </a:rPr>
              <a:t>Impact of Handling Missing Values</a:t>
            </a:r>
            <a:endParaRPr sz="1600" b="1">
              <a:solidFill>
                <a:schemeClr val="dk1"/>
              </a:solidFill>
            </a:endParaRPr>
          </a:p>
          <a:p>
            <a:pPr marL="0" lvl="0" indent="0" algn="l" rtl="0">
              <a:lnSpc>
                <a:spcPct val="115000"/>
              </a:lnSpc>
              <a:spcBef>
                <a:spcPts val="1200"/>
              </a:spcBef>
              <a:spcAft>
                <a:spcPts val="0"/>
              </a:spcAft>
              <a:buNone/>
            </a:pPr>
            <a:r>
              <a:rPr lang="en">
                <a:solidFill>
                  <a:schemeClr val="dk1"/>
                </a:solidFill>
              </a:rPr>
              <a:t>Proper management of missing values is essential for obtaining dependable analytical results and building effective machine learning models.</a:t>
            </a:r>
            <a:endParaRPr>
              <a:solidFill>
                <a:schemeClr val="dk1"/>
              </a:solidFill>
            </a:endParaRPr>
          </a:p>
          <a:p>
            <a:pPr marL="457200" lvl="0" indent="-317500" algn="l" rtl="0">
              <a:lnSpc>
                <a:spcPct val="115000"/>
              </a:lnSpc>
              <a:spcBef>
                <a:spcPts val="1200"/>
              </a:spcBef>
              <a:spcAft>
                <a:spcPts val="0"/>
              </a:spcAft>
              <a:buClr>
                <a:schemeClr val="dk1"/>
              </a:buClr>
              <a:buSzPts val="1400"/>
              <a:buChar char="●"/>
            </a:pPr>
            <a:r>
              <a:rPr lang="en" b="1">
                <a:solidFill>
                  <a:schemeClr val="dk1"/>
                </a:solidFill>
              </a:rPr>
              <a:t>Better Data Quality:</a:t>
            </a:r>
            <a:r>
              <a:rPr lang="en">
                <a:solidFill>
                  <a:schemeClr val="dk1"/>
                </a:solidFill>
              </a:rPr>
              <a:t> Reducing or treating missing values improves the overall quality and usability of the dataset.</a:t>
            </a:r>
            <a:endParaRPr>
              <a:solidFill>
                <a:schemeClr val="dk1"/>
              </a:solidFill>
            </a:endParaRPr>
          </a:p>
          <a:p>
            <a:pPr marL="457200" lvl="0" indent="-317500" algn="l" rtl="0">
              <a:lnSpc>
                <a:spcPct val="115000"/>
              </a:lnSpc>
              <a:spcBef>
                <a:spcPts val="0"/>
              </a:spcBef>
              <a:spcAft>
                <a:spcPts val="0"/>
              </a:spcAft>
              <a:buClr>
                <a:schemeClr val="dk1"/>
              </a:buClr>
              <a:buSzPts val="1400"/>
              <a:buChar char="●"/>
            </a:pPr>
            <a:r>
              <a:rPr lang="en" b="1">
                <a:solidFill>
                  <a:schemeClr val="dk1"/>
                </a:solidFill>
              </a:rPr>
              <a:t>Improved Model Accuracy:</a:t>
            </a:r>
            <a:r>
              <a:rPr lang="en">
                <a:solidFill>
                  <a:schemeClr val="dk1"/>
                </a:solidFill>
              </a:rPr>
              <a:t> Handling missing data appropriately enables models to learn from more complete information, resulting in stronger predictive performance.</a:t>
            </a:r>
            <a:endParaRPr>
              <a:solidFill>
                <a:schemeClr val="dk1"/>
              </a:solidFill>
            </a:endParaRPr>
          </a:p>
          <a:p>
            <a:pPr marL="457200" lvl="0" indent="-317500" algn="l" rtl="0">
              <a:lnSpc>
                <a:spcPct val="115000"/>
              </a:lnSpc>
              <a:spcBef>
                <a:spcPts val="0"/>
              </a:spcBef>
              <a:spcAft>
                <a:spcPts val="0"/>
              </a:spcAft>
              <a:buClr>
                <a:schemeClr val="dk1"/>
              </a:buClr>
              <a:buSzPts val="1400"/>
              <a:buChar char="●"/>
            </a:pPr>
            <a:r>
              <a:rPr lang="en" b="1">
                <a:solidFill>
                  <a:schemeClr val="dk1"/>
                </a:solidFill>
              </a:rPr>
              <a:t>Maintained Data Consistency:</a:t>
            </a:r>
            <a:r>
              <a:rPr lang="en">
                <a:solidFill>
                  <a:schemeClr val="dk1"/>
                </a:solidFill>
              </a:rPr>
              <a:t> Techniques such as imputation or removal of missing entries help preserve the consistency and correctness of the dataset for future analysis.</a:t>
            </a:r>
            <a:endParaRPr>
              <a:solidFill>
                <a:schemeClr val="dk1"/>
              </a:solidFill>
            </a:endParaRPr>
          </a:p>
          <a:p>
            <a:pPr marL="457200" lvl="0" indent="-317500" algn="l" rtl="0">
              <a:lnSpc>
                <a:spcPct val="115000"/>
              </a:lnSpc>
              <a:spcBef>
                <a:spcPts val="0"/>
              </a:spcBef>
              <a:spcAft>
                <a:spcPts val="0"/>
              </a:spcAft>
              <a:buClr>
                <a:schemeClr val="dk1"/>
              </a:buClr>
              <a:buSzPts val="1400"/>
              <a:buChar char="●"/>
            </a:pPr>
            <a:r>
              <a:rPr lang="en" b="1">
                <a:solidFill>
                  <a:schemeClr val="dk1"/>
                </a:solidFill>
              </a:rPr>
              <a:t>Minimized Bias:</a:t>
            </a:r>
            <a:r>
              <a:rPr lang="en">
                <a:solidFill>
                  <a:schemeClr val="dk1"/>
                </a:solidFill>
              </a:rPr>
              <a:t> Addressing missing values reduces the risk of biased outcomes and supports a more accurate understanding of patterns within the data.</a:t>
            </a:r>
            <a:endParaRPr>
              <a:solidFill>
                <a:schemeClr val="dk1"/>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149</TotalTime>
  <Words>1682</Words>
  <Application>Microsoft Office PowerPoint</Application>
  <PresentationFormat>On-screen Show (16:9)</PresentationFormat>
  <Paragraphs>144</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Roboto Mono</vt:lpstr>
      <vt:lpstr>Nunito</vt:lpstr>
      <vt:lpstr>Simple Light</vt:lpstr>
      <vt:lpstr>Handling Missing Values in Machine Learning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Handling Missing Values in Machine Learning </dc:title>
  <cp:lastModifiedBy>user</cp:lastModifiedBy>
  <cp:revision>2</cp:revision>
  <dcterms:modified xsi:type="dcterms:W3CDTF">2026-06-29T08:38:14Z</dcterms:modified>
</cp:coreProperties>
</file>