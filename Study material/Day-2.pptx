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-156" y="-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8FDB0-3B17-4697-88A7-CB4EB196B13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AE06C-C3FC-4CC6-8657-1475763A9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56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644848"/>
            <a:ext cx="714375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Python: Data Structures &amp; Functions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1714500" y="3273623"/>
            <a:ext cx="57150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Lists, Tuples, Dictionaries, Sets, and Functions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874466" y="4559498"/>
            <a:ext cx="339506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D4A22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Development Series | Python Programming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Python Lists: The Basics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collection of items stored in a single variable.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0505"/>
            <a:ext cx="80367" cy="12858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66292"/>
            <a:ext cx="80367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5813" y="1753791"/>
            <a:ext cx="11733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using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1819885" y="1753791"/>
            <a:ext cx="130373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 brackets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038608" y="1737717"/>
            <a:ext cx="205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[]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3516874" y="1753791"/>
            <a:ext cx="500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71500" y="2143125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Ordered: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Items have a defined order that stays consistent.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71500" y="2728913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store numbers, strings, or even other lists.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71500" y="3314700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</a:t>
            </a: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values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mixed data types.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71700"/>
            <a:ext cx="80367" cy="12858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57488"/>
            <a:ext cx="80367" cy="12858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43275"/>
            <a:ext cx="80367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00625" y="1151930"/>
            <a:ext cx="35718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Usage: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000625" y="1360884"/>
            <a:ext cx="3571875" cy="1425178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9" name="Text 11"/>
          <p:cNvSpPr/>
          <p:nvPr/>
        </p:nvSpPr>
        <p:spPr>
          <a:xfrm>
            <a:off x="5114925" y="1475184"/>
            <a:ext cx="3343275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Creating a list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fruits = ["apple", "banana", "mango"]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Accessing by index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print(fruits[1])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Output: banana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11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List Operations &amp; Methods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append(item)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416248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an element to the end of the list.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803797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remove(item)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068116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the first occurrence of a specific value.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455664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2732484"/>
            <a:ext cx="26717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through items efficiently using 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892015" y="2719983"/>
            <a:ext cx="257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76518" y="2732484"/>
            <a:ext cx="37504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43438" y="1151930"/>
            <a:ext cx="3929063" cy="2532459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4812242" y="1393406"/>
            <a:ext cx="3700463" cy="2275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Adding and Removing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numbers = [1, 2, 3]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numbers.append(4)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Result: [1, 2, 3, 4]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names = ["Alice", "Bob", "Charlie"]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names.remove("Bob")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Result: ["Alice", "Charlie"]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Iterating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colors = ["red", "green", "blue"]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 color in colors: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print(color)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Tuples: Ordered &amp; Unchangeable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0505"/>
            <a:ext cx="80367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1151930"/>
            <a:ext cx="53756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Tuples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324777" y="1147468"/>
            <a:ext cx="3028950" cy="430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multiple items in a single variable using parentheses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020020" y="1359098"/>
            <a:ext cx="205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25766" y="1375172"/>
            <a:ext cx="500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71500" y="1764506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Ordered: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Items have a fixed order that will not change.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1500" y="2350294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Unchangeable: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Once created, you cannot add, remove, or modify items (Immutable).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1500" y="2936081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</a:t>
            </a: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values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mixed data types.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71500" y="3521869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data that should remain constant throughout the program.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93081"/>
            <a:ext cx="80367" cy="128588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78869"/>
            <a:ext cx="80367" cy="12858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4656"/>
            <a:ext cx="80367" cy="12858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0444"/>
            <a:ext cx="80367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00625" y="1151930"/>
            <a:ext cx="35718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Usage: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000625" y="1360884"/>
            <a:ext cx="3571875" cy="2203847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9" name="Text 11"/>
          <p:cNvSpPr/>
          <p:nvPr/>
        </p:nvSpPr>
        <p:spPr>
          <a:xfrm>
            <a:off x="5114925" y="1475184"/>
            <a:ext cx="334327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Creating a tuple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city = ("Delhi", 32000000, 36.5)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Accessing items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print(city[0])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Output: Delhi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Slicing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print(city[1:3])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Output: (32000000, 36.5)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Python Dictionaries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929063" cy="20716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dictionary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stores data in </a:t>
            </a: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key: value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pairs.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0505"/>
            <a:ext cx="128588" cy="12858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59123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5813" y="1546622"/>
            <a:ext cx="11733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using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1959173" y="1546622"/>
            <a:ext cx="100905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016448" y="1530548"/>
            <a:ext cx="205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{}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3222194" y="1546622"/>
            <a:ext cx="500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71500" y="1935956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Keys: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Keys must be unique and immutable (like strings or numbers).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71500" y="2521744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Values: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Values can be of any data type and can be duplicated.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71500" y="3107531"/>
            <a:ext cx="3929063" cy="41433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</a:t>
            </a: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retrieval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data based on keys.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64531"/>
            <a:ext cx="128588" cy="12858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50319"/>
            <a:ext cx="128588" cy="12858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36106"/>
            <a:ext cx="128588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00625" y="1151930"/>
            <a:ext cx="35718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Dictionary Structure: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000625" y="1360884"/>
            <a:ext cx="3571875" cy="2203847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9" name="Text 11"/>
          <p:cNvSpPr/>
          <p:nvPr/>
        </p:nvSpPr>
        <p:spPr>
          <a:xfrm>
            <a:off x="5114925" y="1475184"/>
            <a:ext cx="334327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Creating a dictionary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 =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"name": "Belbin",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"age": 20,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"course": "BCA"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Accessing a value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print(student["name"])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Output: Belbin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Dictionary Methods &amp; Iteration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571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keys()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Returns a list of all keys.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1494830"/>
            <a:ext cx="3571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values()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Returns a list of all values.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1837730"/>
            <a:ext cx="3571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items()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Returns key-value pairs as tuples.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2180630"/>
            <a:ext cx="3571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pop(key)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Removes item with specified key.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2523530"/>
            <a:ext cx="3571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update()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Merges another dictionary.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29125" y="1151930"/>
            <a:ext cx="41433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Looping through Items: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429125" y="1360884"/>
            <a:ext cx="4143375" cy="2532459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475184"/>
            <a:ext cx="3914775" cy="2275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 =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"name": "Belbin",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"age": 20,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"course": "BCA"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Iterating through key-value pairs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 key, value in student.items():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print(key, ":", value)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Accessing specific views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all_keys = student.keys()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all_vals = student.values()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Sets: Unique &amp; Unordered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929063" cy="41433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collection of unordered, unindexed, and unique elements.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737717"/>
            <a:ext cx="3929063" cy="41433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Duplicates: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Any duplicate items are automatically ignored.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323505"/>
            <a:ext cx="3929063" cy="41433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Mutable: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 can add or remove items after creation.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909292"/>
            <a:ext cx="3929063" cy="41433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Unordered: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Items do not have a defined order or index.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0505"/>
            <a:ext cx="142875" cy="14287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66292"/>
            <a:ext cx="142875" cy="1428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52080"/>
            <a:ext cx="142875" cy="14287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37867"/>
            <a:ext cx="142875" cy="14287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23655"/>
            <a:ext cx="142875" cy="1428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1531" y="3511153"/>
            <a:ext cx="11733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using</a:t>
            </a:r>
            <a:endParaRPr lang="en-US" sz="1250" dirty="0"/>
          </a:p>
        </p:txBody>
      </p:sp>
      <p:sp>
        <p:nvSpPr>
          <p:cNvPr id="14" name="Text 6"/>
          <p:cNvSpPr/>
          <p:nvPr/>
        </p:nvSpPr>
        <p:spPr>
          <a:xfrm>
            <a:off x="1994892" y="3511153"/>
            <a:ext cx="100905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3052167" y="3495080"/>
            <a:ext cx="205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{}</a:t>
            </a:r>
            <a:endParaRPr lang="en-US" sz="1250" dirty="0"/>
          </a:p>
        </p:txBody>
      </p:sp>
      <p:sp>
        <p:nvSpPr>
          <p:cNvPr id="16" name="Text 8"/>
          <p:cNvSpPr/>
          <p:nvPr/>
        </p:nvSpPr>
        <p:spPr>
          <a:xfrm>
            <a:off x="3257913" y="3511153"/>
            <a:ext cx="500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5000625" y="1151930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Duplicates: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5000625" y="1426964"/>
            <a:ext cx="3571875" cy="1814513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9" name="Text 11"/>
          <p:cNvSpPr/>
          <p:nvPr/>
        </p:nvSpPr>
        <p:spPr>
          <a:xfrm>
            <a:off x="5114925" y="1541264"/>
            <a:ext cx="334327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Creating a set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fruits = {"apple", "banana", "mango", "apple"}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print(fruits)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Output: {'banana', 'mango', 'apple'}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Adding an element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fruits.add("orange")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Set Operations &amp; Mathematical Logic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96578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151930"/>
            <a:ext cx="36147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Union (|)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85825" y="1434108"/>
            <a:ext cx="35950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all unique elements from both sets. Equivalent to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885825" y="1618059"/>
            <a:ext cx="12344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set1.union(set2)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2120271" y="1628775"/>
            <a:ext cx="375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77045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5825" y="2032397"/>
            <a:ext cx="36147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Intersection (&amp;)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85825" y="2314575"/>
            <a:ext cx="3600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only the elements common to both sets. Equivalent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885825" y="2509242"/>
            <a:ext cx="153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1039416" y="2498527"/>
            <a:ext cx="17745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set1.intersection(set2)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2813940" y="2509242"/>
            <a:ext cx="375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57513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5825" y="2912864"/>
            <a:ext cx="36147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 (-)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85825" y="3195042"/>
            <a:ext cx="34164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items present in the first set but not the second.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885825" y="3389709"/>
            <a:ext cx="819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Equivalent to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705570" y="3378994"/>
            <a:ext cx="16202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set1.difference(set2)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3325778" y="3389709"/>
            <a:ext cx="375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000625" y="1151930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Implementation: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00625" y="1410891"/>
            <a:ext cx="3571875" cy="2707481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23" name="Text 17"/>
          <p:cNvSpPr/>
          <p:nvPr/>
        </p:nvSpPr>
        <p:spPr>
          <a:xfrm>
            <a:off x="5114925" y="1525191"/>
            <a:ext cx="3343275" cy="2450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set1 = {1, 2, 3, 4}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set2 = {3, 4, 5, 6}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Union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print(set1 | set2) 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{1, 2, 3, 4, 5, 6}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Intersection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print(set1 &amp; set2) 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{3, 4}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Difference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print(set1 - set2) 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{1, 2}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 to Python Functions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114425" y="1294805"/>
            <a:ext cx="717232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function is a block of statements that performs a specific task. The idea is to put commonly done tasks together to reuse code over and over again."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31703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00150" y="2683483"/>
            <a:ext cx="32289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Reusability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200150" y="2947801"/>
            <a:ext cx="32289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task once and call it multiple times with different inputs throughout your program.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731703"/>
            <a:ext cx="250031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07781" y="2683483"/>
            <a:ext cx="31789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Readability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07781" y="2947801"/>
            <a:ext cx="31789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complex problems into smaller, manageable, and well-named blocks of code.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667534"/>
            <a:ext cx="200025" cy="2000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00150" y="3619314"/>
            <a:ext cx="32289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Debugging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200150" y="3883633"/>
            <a:ext cx="32289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and fixing errors becomes simpler when code is organized into discrete functions.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667534"/>
            <a:ext cx="200025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57775" y="3619314"/>
            <a:ext cx="32289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Modularity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057775" y="3883633"/>
            <a:ext cx="32289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allow developers to work on different parts of a program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Function Syntax &amp; Basic Examples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929063" cy="2360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The keyword used to start a function definition.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1559458"/>
            <a:ext cx="392906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Name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unique identifier following variable naming rules.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71500" y="2185206"/>
            <a:ext cx="8447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6248" y="2185206"/>
            <a:ext cx="30610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Optional inputs enclosed in parentheses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1500" y="2392710"/>
            <a:ext cx="1886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0112" y="2408783"/>
            <a:ext cx="44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1500" y="2785951"/>
            <a:ext cx="392906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Indentation</a:t>
            </a: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The function body must be indented to define the block.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" y="3411699"/>
            <a:ext cx="5036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75134" y="3411699"/>
            <a:ext cx="29557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Execute the function by using its name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1500" y="3635276"/>
            <a:ext cx="89654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followed by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468041" y="3619202"/>
            <a:ext cx="1886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656652" y="3635276"/>
            <a:ext cx="44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00625" y="1151930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Implementation: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00625" y="1426964"/>
            <a:ext cx="3571875" cy="2009180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114925" y="1541264"/>
            <a:ext cx="3343275" cy="1752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1. Definition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greet():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print("Hello Python!")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2. Calling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greet()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Output: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Hello Python!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Arguments &amp; Return Values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929063" cy="41433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Arguments: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Information passed into a function as inputs inside the parentheses.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737717"/>
            <a:ext cx="3929063" cy="41433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Statement: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to send a result back to the caller, ending the function execution.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323505"/>
            <a:ext cx="3929063" cy="62150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Arguments:</a:t>
            </a: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Values assigned to parameters if no argument is provided during the call.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116461"/>
            <a:ext cx="3929063" cy="41433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can return single values, multiple values (as tuples), or even other functions.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0505"/>
            <a:ext cx="142875" cy="14287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66292"/>
            <a:ext cx="142875" cy="1428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52080"/>
            <a:ext cx="142875" cy="14287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45036"/>
            <a:ext cx="142875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000625" y="1151930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Implementation:</a:t>
            </a: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000625" y="1410891"/>
            <a:ext cx="3571875" cy="3057525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4" name="Text 7"/>
          <p:cNvSpPr/>
          <p:nvPr/>
        </p:nvSpPr>
        <p:spPr>
          <a:xfrm>
            <a:off x="5114925" y="1525191"/>
            <a:ext cx="3343275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Function with arguments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add(a, b):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print(a + b)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Function with return value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square(n):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return n * n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Function with default argument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greet(name="User"):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print("Hello", name)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Usage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add(2, 3)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 = square(4)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greet("Shaina")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E3A2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Advanced Function Concepts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51930"/>
            <a:ext cx="39290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Arguments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416248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arguments by name, allowing you to skip or reorder them regardless of their position.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016323"/>
            <a:ext cx="39290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Arbitrary Arguments (*args)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80642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a function to receive a variable number of non-keyword arguments as a tuple.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880717"/>
            <a:ext cx="39290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Arbitrary Arguments (**kwargs)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3145036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a function to receive a variable number of keyword arguments as a dictionary.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00625" y="1151930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3A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Definitions: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00625" y="1410891"/>
            <a:ext cx="3571875" cy="3053953"/>
          </a:xfrm>
          <a:prstGeom prst="rect">
            <a:avLst/>
          </a:prstGeom>
          <a:solidFill>
            <a:srgbClr val="FFFFFF">
              <a:alpha val="30000"/>
            </a:srgbClr>
          </a:solidFill>
          <a:ln w="18288">
            <a:solidFill>
              <a:srgbClr val="5E3A21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114925" y="1525191"/>
            <a:ext cx="3343275" cy="279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Using *args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total(*nums):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return sum(nums)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print(total(1, 2, 3, 4)) # 10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Using **kwargs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details(**data):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for key, value in data.items():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print(f"{key}: {value}")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details(name="Amit", age=20)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Keyword Arguments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info(name, age):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print(name, age)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4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info(age=25, name="Sara")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1214</Words>
  <Application>Microsoft Office PowerPoint</Application>
  <PresentationFormat>On-screen Show (16:9)</PresentationFormat>
  <Paragraphs>242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4</cp:revision>
  <dcterms:created xsi:type="dcterms:W3CDTF">2026-06-05T09:01:32Z</dcterms:created>
  <dcterms:modified xsi:type="dcterms:W3CDTF">2026-06-16T08:27:37Z</dcterms:modified>
</cp:coreProperties>
</file>