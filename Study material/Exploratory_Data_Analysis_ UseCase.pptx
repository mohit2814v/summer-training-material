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f0Z9AaES/CFxzNgdtktPkrg+B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913063" y="0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350169" y="1264444"/>
            <a:ext cx="6443663" cy="2614613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357313" y="1271588"/>
            <a:ext cx="6429375" cy="2571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357313" y="1521619"/>
            <a:ext cx="6429375" cy="714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035969" y="1332309"/>
            <a:ext cx="16930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presentation.py - Visual Studio Code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643063" y="1953816"/>
            <a:ext cx="5857875" cy="544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2862"/>
              <a:buFont typeface="Calibri"/>
              <a:buNone/>
            </a:pPr>
            <a:r>
              <a:rPr b="1" i="0" lang="en-US" sz="286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class EDA_Presentation: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643063" y="2584252"/>
            <a:ext cx="5857875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486"/>
              <a:buFont typeface="Calibri"/>
              <a:buNone/>
            </a:pPr>
            <a:r>
              <a:rPr b="0" i="0" lang="en-US" sz="1486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"Exploratory Data Analysis Using Python"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def what_is_eda():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28625" y="884039"/>
            <a:ext cx="3729038" cy="1735931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28625" y="884039"/>
            <a:ext cx="371475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28625" y="1169789"/>
            <a:ext cx="3714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28625" y="884039"/>
            <a:ext cx="3714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definition.md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71500" y="1284089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Exploratory Data Analysis (EDA)</a:t>
            </a:r>
            <a:b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A method of analyzing datasets to understand their main characteristics, summarizing features, and uncovering relationships.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71500" y="2284214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"EDA is the foundation of any research analysis."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986338" y="884039"/>
            <a:ext cx="3729038" cy="1714500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000625" y="884039"/>
            <a:ext cx="371475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000625" y="1169789"/>
            <a:ext cx="3714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00625" y="884039"/>
            <a:ext cx="3714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objectives.py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1398389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5357813" y="1369814"/>
            <a:ext cx="111068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summarize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(features)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3500" y="163949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5343525" y="1610916"/>
            <a:ext cx="147267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(patterns, anomalies)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1880592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5372100" y="1852017"/>
            <a:ext cx="119479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uncover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(relationships)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3500" y="2207419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5314950" y="2178844"/>
            <a:ext cx="141915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Result: Actionable Insights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pipeline = [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67903" y="1169789"/>
            <a:ext cx="1871663" cy="10358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12564" y="1026914"/>
            <a:ext cx="257315" cy="16430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12564" y="1026914"/>
            <a:ext cx="25731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85075" spcFirstLastPara="1" rIns="85075" wrap="square" tIns="1700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9689" y="1169789"/>
            <a:ext cx="1857375" cy="36433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69689" y="1526977"/>
            <a:ext cx="1857375" cy="714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69689" y="1169789"/>
            <a:ext cx="1857375" cy="36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9689" y="1526977"/>
            <a:ext cx="1857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7005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34"/>
              <a:buFont typeface="Calibri"/>
              <a:buNone/>
            </a:pPr>
            <a:r>
              <a:rPr b="0" i="0" lang="en-US" sz="7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Raw Input</a:t>
            </a:r>
            <a:br>
              <a:rPr b="0" i="0" lang="en-US" sz="7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Gathering raw datasets (CSV, JSON, SQL).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311003" y="1169789"/>
            <a:ext cx="142875" cy="1035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537817" y="1169789"/>
            <a:ext cx="1871663" cy="10358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686050" y="1026914"/>
            <a:ext cx="257315" cy="16430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686050" y="1026914"/>
            <a:ext cx="25731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85075" spcFirstLastPara="1" rIns="85075" wrap="square" tIns="1700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543175" y="1169789"/>
            <a:ext cx="1857375" cy="36433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2543175" y="1526977"/>
            <a:ext cx="1857375" cy="714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543175" y="1169789"/>
            <a:ext cx="1857375" cy="36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543175" y="1526977"/>
            <a:ext cx="185737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7005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34"/>
              <a:buFont typeface="Calibri"/>
              <a:buNone/>
            </a:pPr>
            <a:r>
              <a:rPr b="0" i="0" lang="en-US" sz="7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Setup</a:t>
            </a:r>
            <a:br>
              <a:rPr b="0" i="0" lang="en-US" sz="7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Importing libraries, loading data, and reduction.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486275" y="1169789"/>
            <a:ext cx="142875" cy="1035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714875" y="1169789"/>
            <a:ext cx="1871663" cy="10358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866680" y="1026914"/>
            <a:ext cx="257315" cy="16430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866680" y="1026914"/>
            <a:ext cx="25731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85075" spcFirstLastPara="1" rIns="85075" wrap="square" tIns="1700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723805" y="1169789"/>
            <a:ext cx="1857375" cy="36433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723805" y="1526977"/>
            <a:ext cx="1857375" cy="714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723805" y="1169789"/>
            <a:ext cx="1857375" cy="36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Transformation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23805" y="1526977"/>
            <a:ext cx="185737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7005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34"/>
              <a:buFont typeface="Calibri"/>
              <a:buNone/>
            </a:pPr>
            <a:r>
              <a:rPr b="0" i="0" lang="en-US" sz="7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Feature Eng</a:t>
            </a:r>
            <a:br>
              <a:rPr b="0" i="0" lang="en-US" sz="7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Cleaning, wrangling, and creating new features.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668691" y="1169789"/>
            <a:ext cx="142875" cy="1035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899077" y="1169789"/>
            <a:ext cx="1871663" cy="10358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054453" y="1026914"/>
            <a:ext cx="257315" cy="16430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054453" y="1026914"/>
            <a:ext cx="25731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85075" spcFirstLastPara="1" rIns="85075" wrap="square" tIns="1700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911578" y="1169789"/>
            <a:ext cx="1857375" cy="36433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911578" y="1526977"/>
            <a:ext cx="1857375" cy="714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911578" y="1169789"/>
            <a:ext cx="1857375" cy="36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911578" y="1526977"/>
            <a:ext cx="185737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7005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34"/>
              <a:buFont typeface="Calibri"/>
              <a:buNone/>
            </a:pPr>
            <a:r>
              <a:rPr b="0" i="0" lang="en-US" sz="7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EDA</a:t>
            </a:r>
            <a:br>
              <a:rPr b="0" i="0" lang="en-US" sz="7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Visualizing patterns and summary statistics.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0" y="2184202"/>
            <a:ext cx="9144000" cy="741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51027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Step 1: Import Python Libraries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92981" y="884039"/>
            <a:ext cx="7158038" cy="3477471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000125" y="884039"/>
            <a:ext cx="7143750" cy="29289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000125" y="1169789"/>
            <a:ext cx="7143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000125" y="884039"/>
            <a:ext cx="7143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58585"/>
                </a:solidFill>
                <a:latin typeface="Calibri"/>
                <a:ea typeface="Calibri"/>
                <a:cs typeface="Calibri"/>
                <a:sym typeface="Calibri"/>
              </a:rPr>
              <a:t>setup.py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285875" y="1384102"/>
            <a:ext cx="6572250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b="0" i="0" lang="en-US" sz="1159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pandas </a:t>
            </a: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b="0" i="0" lang="en-US" sz="1159" u="none" cap="none" strike="noStrike">
                <a:solidFill>
                  <a:srgbClr val="9CDCFE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285875" y="1635556"/>
            <a:ext cx="6572250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b="0" i="0" lang="en-US" sz="1159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numpy </a:t>
            </a: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b="0" i="0" lang="en-US" sz="1159" u="none" cap="none" strike="noStrike">
                <a:solidFill>
                  <a:srgbClr val="9CDCFE"/>
                </a:solidFill>
                <a:latin typeface="Calibri"/>
                <a:ea typeface="Calibri"/>
                <a:cs typeface="Calibri"/>
                <a:sym typeface="Calibri"/>
              </a:rPr>
              <a:t>np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285875" y="1887010"/>
            <a:ext cx="6572250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b="0" i="0" lang="en-US" sz="1159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matplotlib.pyplot </a:t>
            </a: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b="0" i="0" lang="en-US" sz="1159" u="none" cap="none" strike="noStrike">
                <a:solidFill>
                  <a:srgbClr val="9CDCFE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285875" y="2138465"/>
            <a:ext cx="6572250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b="0" i="0" lang="en-US" sz="1159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seaborn </a:t>
            </a: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b="0" i="0" lang="en-US" sz="1159" u="none" cap="none" strike="noStrike">
                <a:solidFill>
                  <a:srgbClr val="9CDCFE"/>
                </a:solidFill>
                <a:latin typeface="Calibri"/>
                <a:ea typeface="Calibri"/>
                <a:cs typeface="Calibri"/>
                <a:sym typeface="Calibri"/>
              </a:rPr>
              <a:t>sns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285875" y="2389919"/>
            <a:ext cx="6572250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to ignore warnings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285875" y="2641374"/>
            <a:ext cx="6572250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b="0" i="0" lang="en-US" sz="1159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warnings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285875" y="2892828"/>
            <a:ext cx="6572250" cy="25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warnings.filterwarnings(</a:t>
            </a:r>
            <a:r>
              <a:rPr b="0" i="0" lang="en-US" sz="1159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'ignore'</a:t>
            </a:r>
            <a:r>
              <a:rPr b="0" i="0" lang="en-US" sz="1159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285875" y="3651489"/>
            <a:ext cx="3178969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Data Manipulation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285875" y="3942931"/>
            <a:ext cx="44221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9CDCFE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728090" y="3942931"/>
            <a:ext cx="1610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889103" y="3942931"/>
            <a:ext cx="44082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9CDCFE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329923" y="3942931"/>
            <a:ext cx="185656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for numerical calculations and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285875" y="4148649"/>
            <a:ext cx="129399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handling dataframes.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79156" y="3651489"/>
            <a:ext cx="3178969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679156" y="3942931"/>
            <a:ext cx="61709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9CDCFE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296253" y="3942931"/>
            <a:ext cx="1610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57267" y="3942931"/>
            <a:ext cx="50472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9CDCFE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961990" y="3942931"/>
            <a:ext cx="143017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for high-level statistical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679156" y="4148649"/>
            <a:ext cx="551269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graphics.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Step 2: Data Loading &amp; Inspection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28625" y="884039"/>
            <a:ext cx="4157663" cy="3148719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28625" y="884039"/>
            <a:ext cx="4143375" cy="29289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28625" y="1169789"/>
            <a:ext cx="414337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28625" y="884039"/>
            <a:ext cx="414337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load_data.py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71500" y="1312664"/>
            <a:ext cx="3857625" cy="1440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Load dataset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data = pd.</a:t>
            </a: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read_csv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"used_cars.csv"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Initial checks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(data.shape)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(data.head())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(data.info())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71500" y="3038438"/>
            <a:ext cx="3857625" cy="972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Output Summary: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Rows: </a:t>
            </a:r>
            <a:r>
              <a:rPr b="0" i="0" lang="en-US" sz="942" u="none" cap="none" strike="noStrike">
                <a:solidFill>
                  <a:srgbClr val="B5CEA8"/>
                </a:solidFill>
                <a:latin typeface="Calibri"/>
                <a:ea typeface="Calibri"/>
                <a:cs typeface="Calibri"/>
                <a:sym typeface="Calibri"/>
              </a:rPr>
              <a:t>7253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Columns: </a:t>
            </a:r>
            <a:r>
              <a:rPr b="0" i="0" lang="en-US" sz="942" u="none" cap="none" strike="noStrike">
                <a:solidFill>
                  <a:srgbClr val="B5CEA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Types: </a:t>
            </a: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float64, int64, object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986338" y="884039"/>
            <a:ext cx="3729038" cy="3127288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000625" y="884039"/>
            <a:ext cx="3714750" cy="29289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000625" y="1169789"/>
            <a:ext cx="3714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000625" y="884039"/>
            <a:ext cx="3714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inspection_methods.md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143500" y="1491258"/>
            <a:ext cx="34290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.shape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143500" y="1701998"/>
            <a:ext cx="34290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Returns the dimensions (rows, columns) of the dataset.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143500" y="2043113"/>
            <a:ext cx="34290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.head() / .tail()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143500" y="2253853"/>
            <a:ext cx="34290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Displays the first or last 5 observations to verify data loading.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143500" y="2594967"/>
            <a:ext cx="34290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.info()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143500" y="2805708"/>
            <a:ext cx="3429000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Provides data types, non-null counts, and memory usage details.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def analyze_data_quality(df):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28625" y="884039"/>
            <a:ext cx="4300538" cy="230302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28625" y="884039"/>
            <a:ext cx="428625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28625" y="1169789"/>
            <a:ext cx="42862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28625" y="884039"/>
            <a:ext cx="42862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quality_check.py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71500" y="1326952"/>
            <a:ext cx="155309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1. Check for Duplication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71500" y="1589819"/>
            <a:ext cx="4000500" cy="31287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71500" y="1589819"/>
            <a:ext cx="21431" cy="31287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71500" y="1589819"/>
            <a:ext cx="4000500" cy="312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df.</a:t>
            </a:r>
            <a:r>
              <a:rPr b="0" i="0" lang="en-US" sz="942" u="none" cap="none" strike="noStrike">
                <a:solidFill>
                  <a:srgbClr val="DCDCAA"/>
                </a:solidFill>
                <a:latin typeface="Calibri"/>
                <a:ea typeface="Calibri"/>
                <a:cs typeface="Calibri"/>
                <a:sym typeface="Calibri"/>
              </a:rPr>
              <a:t>nunique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71500" y="2122698"/>
            <a:ext cx="185296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2. Missing Values Calculation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71500" y="2385566"/>
            <a:ext cx="4000500" cy="7243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71500" y="2385566"/>
            <a:ext cx="21431" cy="724309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71500" y="2385566"/>
            <a:ext cx="4000500" cy="72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df.</a:t>
            </a:r>
            <a:r>
              <a:rPr b="0" i="0" lang="en-US" sz="942" u="none" cap="none" strike="noStrike">
                <a:solidFill>
                  <a:srgbClr val="DCDCAA"/>
                </a:solidFill>
                <a:latin typeface="Calibri"/>
                <a:ea typeface="Calibri"/>
                <a:cs typeface="Calibri"/>
                <a:sym typeface="Calibri"/>
              </a:rPr>
              <a:t>isnull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().</a:t>
            </a:r>
            <a:r>
              <a:rPr b="0" i="0" lang="en-US" sz="942" u="none" cap="none" strike="noStrike">
                <a:solidFill>
                  <a:srgbClr val="DCDCAA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Percentage calculation</a:t>
            </a:r>
            <a:b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(df.</a:t>
            </a:r>
            <a:r>
              <a:rPr b="0" i="0" lang="en-US" sz="942" u="none" cap="none" strike="noStrike">
                <a:solidFill>
                  <a:srgbClr val="DCDCAA"/>
                </a:solidFill>
                <a:latin typeface="Calibri"/>
                <a:ea typeface="Calibri"/>
                <a:cs typeface="Calibri"/>
                <a:sym typeface="Calibri"/>
              </a:rPr>
              <a:t>isnull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().</a:t>
            </a:r>
            <a:r>
              <a:rPr b="0" i="0" lang="en-US" sz="942" u="none" cap="none" strike="noStrike">
                <a:solidFill>
                  <a:srgbClr val="DCDCAA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() / </a:t>
            </a:r>
            <a:r>
              <a:rPr b="0" i="0" lang="en-US" sz="942" u="none" cap="none" strike="noStrike">
                <a:solidFill>
                  <a:srgbClr val="DCDCAA"/>
                </a:solidFill>
                <a:latin typeface="Calibri"/>
                <a:ea typeface="Calibri"/>
                <a:cs typeface="Calibri"/>
                <a:sym typeface="Calibri"/>
              </a:rPr>
              <a:t>len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(df)) * </a:t>
            </a: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129213" y="884039"/>
            <a:ext cx="3586163" cy="2303022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CE9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143500" y="884039"/>
            <a:ext cx="3571875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143500" y="1169789"/>
            <a:ext cx="357187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143500" y="884039"/>
            <a:ext cx="357187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insights.log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286375" y="1312664"/>
            <a:ext cx="328612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Dataset Findings: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286375" y="1661257"/>
            <a:ext cx="1162562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Total Observations: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278267" y="1661257"/>
            <a:ext cx="294233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7253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286375" y="2016993"/>
            <a:ext cx="115678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New_Price Missing: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244976" y="2016993"/>
            <a:ext cx="32752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~86%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286375" y="2372730"/>
            <a:ext cx="830935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Price Missing: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244976" y="2372730"/>
            <a:ext cx="32752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~17%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286375" y="2799904"/>
            <a:ext cx="3286125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C586C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nunique() helps identify continuous vs. categorical columns based on unique value counts.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process.optimize_data()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28625" y="884039"/>
            <a:ext cx="4014788" cy="2228738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28625" y="884039"/>
            <a:ext cx="400050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28625" y="1169789"/>
            <a:ext cx="40005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28625" y="884039"/>
            <a:ext cx="4000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reduction.py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9" y="1376958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850106" y="1348383"/>
            <a:ext cx="1675851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Step 3: Data Reduction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07219" y="1705570"/>
            <a:ext cx="3643313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Remove variables that do not add predictive value to the analysis, such as unique identifiers or redundant indices.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07219" y="2295599"/>
            <a:ext cx="3643313" cy="587573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07219" y="2295599"/>
            <a:ext cx="3643313" cy="587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Drop non-predictive ID column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data = data.</a:t>
            </a:r>
            <a:r>
              <a:rPr b="0" i="0" lang="en-US" sz="83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drop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([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'S.No.'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], axis = 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data.</a:t>
            </a:r>
            <a:r>
              <a:rPr b="0" i="0" lang="en-US" sz="83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700588" y="884039"/>
            <a:ext cx="4014788" cy="2228738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714875" y="884039"/>
            <a:ext cx="400050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714875" y="1169789"/>
            <a:ext cx="40005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714875" y="884039"/>
            <a:ext cx="4000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engineering.md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3469" y="1376958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5136356" y="1348383"/>
            <a:ext cx="204093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159"/>
              <a:buFont typeface="Calibri"/>
              <a:buNone/>
            </a:pPr>
            <a:r>
              <a:rPr b="0" i="0" lang="en-US" sz="1159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Step 4: Feature Engineering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893469" y="1705570"/>
            <a:ext cx="3643313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The process of using domain knowledge to select and transform raw variables into meaningful features for predictive modeling.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893469" y="2501317"/>
            <a:ext cx="3643313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&gt; Goal: Create meaningful data from raw data to improve model accuracy.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Step 5: Creating New Features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28625" y="884039"/>
            <a:ext cx="4657725" cy="2721769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28625" y="884039"/>
            <a:ext cx="4643438" cy="29289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28625" y="1169789"/>
            <a:ext cx="464343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28625" y="884039"/>
            <a:ext cx="464343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feature_creation.py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71500" y="1312664"/>
            <a:ext cx="4357688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C586C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datetime </a:t>
            </a:r>
            <a:r>
              <a:rPr b="0" i="0" lang="en-US" sz="834" u="none" cap="none" strike="noStrike">
                <a:solidFill>
                  <a:srgbClr val="C586C0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date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Calculate Car Age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data[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'Car_Age'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] = date.today().year - data[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'Year'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Extract Brand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data[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'Brand'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] = data.Name.str.split().str.get(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Extract Model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data[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'Model'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] = data.Name.str.split().str.get(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 + \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data.Name.str.split().str.get(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486400" y="884039"/>
            <a:ext cx="3228975" cy="2721769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CE9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500688" y="884039"/>
            <a:ext cx="3214688" cy="29289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500688" y="1169789"/>
            <a:ext cx="3214688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500688" y="884039"/>
            <a:ext cx="321468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feature_logic.md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643563" y="1562695"/>
            <a:ext cx="292893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Car_Age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643563" y="1794867"/>
            <a:ext cx="292893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Converts manufacturing year into age, which is a more direct contributor to car price.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643563" y="2352080"/>
            <a:ext cx="292893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Brand &amp; Model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643563" y="2584252"/>
            <a:ext cx="292893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Splits the raw 'Name' string to extract categorical brand and model identifiers for better grouping.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643563" y="3284339"/>
            <a:ext cx="292893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780"/>
              <a:buFont typeface="Calibri"/>
              <a:buNone/>
            </a:pPr>
            <a:r>
              <a:rPr b="0" i="1" lang="en-US" sz="780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Result: 3 new columns added to the dataframe for deeper analysis.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Step 6: Data Cleaning &amp; Wrangling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992981" y="884039"/>
            <a:ext cx="7158038" cy="3151733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1000125" y="884039"/>
            <a:ext cx="7143750" cy="29289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1000125" y="1169789"/>
            <a:ext cx="7143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000125" y="884039"/>
            <a:ext cx="7143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58585"/>
                </a:solidFill>
                <a:latin typeface="Calibri"/>
                <a:ea typeface="Calibri"/>
                <a:cs typeface="Calibri"/>
                <a:sym typeface="Calibri"/>
              </a:rPr>
              <a:t>cleaning.py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285875" y="1384102"/>
            <a:ext cx="657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Standardizing inconsistent categorical names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285875" y="1612702"/>
            <a:ext cx="657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data[</a:t>
            </a:r>
            <a:r>
              <a:rPr b="0" i="0" lang="en-US" sz="1050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"Brand"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].</a:t>
            </a:r>
            <a:r>
              <a:rPr b="0" i="0" lang="en-US" sz="1050" u="none" cap="none" strike="noStrike">
                <a:solidFill>
                  <a:srgbClr val="DCDCAA"/>
                </a:solidFill>
                <a:latin typeface="Calibri"/>
                <a:ea typeface="Calibri"/>
                <a:cs typeface="Calibri"/>
                <a:sym typeface="Calibri"/>
              </a:rPr>
              <a:t>replace</a:t>
            </a: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285875" y="1841302"/>
            <a:ext cx="657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"ISUZU"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"Isuzu"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285875" y="2069902"/>
            <a:ext cx="657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"Mini"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"Mini Cooper"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285875" y="2298502"/>
            <a:ext cx="657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"Land"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"Land Rover"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285875" y="2527102"/>
            <a:ext cx="657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}, inplace=</a:t>
            </a:r>
            <a:r>
              <a:rPr b="0" i="0" lang="en-US" sz="1050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0" lang="en-US" sz="1050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285875" y="3120033"/>
            <a:ext cx="314325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285875" y="3411475"/>
            <a:ext cx="249872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Data entry errors like case inconsistency (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784597" y="3411475"/>
            <a:ext cx="43362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'ISUZU'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218217" y="3411475"/>
            <a:ext cx="16037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285875" y="3617193"/>
            <a:ext cx="38244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'Isuzu'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668317" y="3617193"/>
            <a:ext cx="142386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 or incomplete names (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092183" y="3617193"/>
            <a:ext cx="35593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'Land'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448115" y="3617193"/>
            <a:ext cx="86849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) fragment the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285875" y="3822911"/>
            <a:ext cx="51334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analysis.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714875" y="3120033"/>
            <a:ext cx="314325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714875" y="3411475"/>
            <a:ext cx="280824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Wrangling ensures all categorical variables are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714875" y="3617193"/>
            <a:ext cx="297397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standardized, allowing for accurate grouping and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714875" y="3822911"/>
            <a:ext cx="78196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visualization.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Step 7 &amp; 8: Statistics Summary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35794" y="884039"/>
            <a:ext cx="7872413" cy="2328751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642938" y="884039"/>
            <a:ext cx="7858125" cy="29289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42938" y="1169789"/>
            <a:ext cx="7858125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42938" y="884039"/>
            <a:ext cx="7858125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58585"/>
                </a:solidFill>
                <a:latin typeface="Calibri"/>
                <a:ea typeface="Calibri"/>
                <a:cs typeface="Calibri"/>
                <a:sym typeface="Calibri"/>
              </a:rPr>
              <a:t>analysis.py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57250" y="1326952"/>
            <a:ext cx="354503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Get a high-level statistics summary of numerical features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57250" y="1589819"/>
            <a:ext cx="7429500" cy="31287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857250" y="1589819"/>
            <a:ext cx="21431" cy="31287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857250" y="1589819"/>
            <a:ext cx="7429500" cy="312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12750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data.</a:t>
            </a: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describe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().T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857250" y="2117006"/>
            <a:ext cx="2374627" cy="265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231877" y="2117006"/>
            <a:ext cx="886299" cy="265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118177" y="2117006"/>
            <a:ext cx="1042150" cy="265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160327" y="2117006"/>
            <a:ext cx="1042150" cy="265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Std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202477" y="2117006"/>
            <a:ext cx="730448" cy="265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932926" y="2117006"/>
            <a:ext cx="1353824" cy="265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857250" y="2382022"/>
            <a:ext cx="2374627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Kilometers_Driven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3231877" y="2382022"/>
            <a:ext cx="886299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7253.0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118177" y="2382022"/>
            <a:ext cx="1042150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58699.0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160327" y="2382022"/>
            <a:ext cx="1042150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84404.0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202477" y="2382022"/>
            <a:ext cx="730448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171.0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6932926" y="2382022"/>
            <a:ext cx="1353824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6500000.0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57250" y="2650610"/>
            <a:ext cx="2374627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Seats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231877" y="2650610"/>
            <a:ext cx="886299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7211.0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118177" y="2650610"/>
            <a:ext cx="1042150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5.27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160327" y="2650610"/>
            <a:ext cx="1042150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202477" y="2650610"/>
            <a:ext cx="730448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932926" y="2650610"/>
            <a:ext cx="1353824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10.0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57250" y="2919199"/>
            <a:ext cx="2374627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231877" y="2919199"/>
            <a:ext cx="886299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6019.0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118177" y="2919199"/>
            <a:ext cx="1042150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9.47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160327" y="2919199"/>
            <a:ext cx="1042150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11.18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202477" y="2919199"/>
            <a:ext cx="730448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0.44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932926" y="2919199"/>
            <a:ext cx="1353824" cy="26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8500" spcFirstLastPara="1" rIns="8500" wrap="square" tIns="85075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160.0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21481" y="3477109"/>
            <a:ext cx="8301038" cy="873323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CE9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42938" y="3619984"/>
            <a:ext cx="78581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Key Inferences: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42938" y="3882517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• Identify 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outliers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and data entry errors.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643438" y="3882517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• Understand 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data distribution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(Normal vs. Skewed).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42938" y="4180768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• Detect 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via count comparison.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643438" y="4180768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• Observe </a:t>
            </a:r>
            <a:r>
              <a:rPr b="0" i="0" lang="en-US" sz="834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and variance of features.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6" name="Google Shape;2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visualize.patterns(data)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28625" y="955477"/>
            <a:ext cx="2586038" cy="2709267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428625" y="955477"/>
            <a:ext cx="257175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28625" y="1241227"/>
            <a:ext cx="2571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28625" y="955477"/>
            <a:ext cx="2571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univariate.py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71500" y="1384102"/>
            <a:ext cx="2300288" cy="1300163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69CD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543050" y="185558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571500" y="2812852"/>
            <a:ext cx="22860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Univariate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71500" y="311467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Single variable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Analyzing distributions using Histograms, Box Plots, and Density Plots.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271838" y="955477"/>
            <a:ext cx="2586038" cy="2709267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3278981" y="955477"/>
            <a:ext cx="257175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3278981" y="1241227"/>
            <a:ext cx="2571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3278981" y="955477"/>
            <a:ext cx="2571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bivariate.py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421856" y="1384102"/>
            <a:ext cx="2300288" cy="1300163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69CD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1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4393406" y="185558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1"/>
          <p:cNvSpPr/>
          <p:nvPr/>
        </p:nvSpPr>
        <p:spPr>
          <a:xfrm>
            <a:off x="3421856" y="2812852"/>
            <a:ext cx="22860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Bivariate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3421856" y="311467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Two variables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Exploring relationships and trends using Scatter Plots and Correlation.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129338" y="955477"/>
            <a:ext cx="2586038" cy="2709267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143625" y="955477"/>
            <a:ext cx="257175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143625" y="1241227"/>
            <a:ext cx="257175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6143625" y="955477"/>
            <a:ext cx="2571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multivariate.py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286500" y="1384102"/>
            <a:ext cx="2300288" cy="1300163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569CD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1"/>
          <p:cNvPicPr preferRelativeResize="0"/>
          <p:nvPr/>
        </p:nvPicPr>
        <p:blipFill rotWithShape="1">
          <a:blip r:embed="rId6">
            <a:alphaModFix amt="50000"/>
          </a:blip>
          <a:srcRect b="0" l="0" r="0" t="0"/>
          <a:stretch/>
        </p:blipFill>
        <p:spPr>
          <a:xfrm>
            <a:off x="7258050" y="185558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1"/>
          <p:cNvSpPr/>
          <p:nvPr/>
        </p:nvSpPr>
        <p:spPr>
          <a:xfrm>
            <a:off x="6286500" y="2812852"/>
            <a:ext cx="22860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Multivariate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286500" y="311467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3+ variables</a:t>
            </a:r>
            <a:b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Analyzing complex interactions using Heatmaps and Pair Plots.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7" name="Google Shape;3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2"/>
          <p:cNvSpPr/>
          <p:nvPr/>
        </p:nvSpPr>
        <p:spPr>
          <a:xfrm>
            <a:off x="0" y="0"/>
            <a:ext cx="9144000" cy="5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return insights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992981" y="884039"/>
            <a:ext cx="7158038" cy="2657475"/>
          </a:xfrm>
          <a:prstGeom prst="rect">
            <a:avLst/>
          </a:prstGeom>
          <a:solidFill>
            <a:srgbClr val="252526"/>
          </a:solidFill>
          <a:ln cap="flat" cmpd="sng" w="9525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1000125" y="884039"/>
            <a:ext cx="7143750" cy="29289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000125" y="1169789"/>
            <a:ext cx="7143750" cy="714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1000125" y="884039"/>
            <a:ext cx="714375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summary_report.log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1526977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2"/>
          <p:cNvSpPr/>
          <p:nvPr/>
        </p:nvSpPr>
        <p:spPr>
          <a:xfrm>
            <a:off x="1505545" y="1491258"/>
            <a:ext cx="5215551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Seat Preference: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2-seat cars command higher prices due to specific customer demand.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1827014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1505545" y="1791295"/>
            <a:ext cx="4056338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Depreciation: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Car price decreases linearly as the </a:t>
            </a:r>
            <a:r>
              <a:rPr b="0" i="0" lang="en-US" sz="942" u="none" cap="none" strike="noStrike">
                <a:solidFill>
                  <a:srgbClr val="569CD6"/>
                </a:solidFill>
                <a:latin typeface="Calibri"/>
                <a:ea typeface="Calibri"/>
                <a:cs typeface="Calibri"/>
                <a:sym typeface="Calibri"/>
              </a:rPr>
              <a:t>Car_Age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increases.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2127052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1505545" y="2091333"/>
            <a:ext cx="4840839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Ownership: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First-owner cars are significantly preferred over subsequent owners.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2427089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/>
          <p:nvPr/>
        </p:nvSpPr>
        <p:spPr>
          <a:xfrm>
            <a:off x="1505545" y="2391370"/>
            <a:ext cx="5482214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Transmission:</a:t>
            </a:r>
            <a:r>
              <a:rPr b="0" i="0" lang="en-US" sz="942" u="none" cap="none" strike="noStrike">
                <a:solidFill>
                  <a:srgbClr val="D4D4D4"/>
                </a:solidFill>
                <a:latin typeface="Calibri"/>
                <a:ea typeface="Calibri"/>
                <a:cs typeface="Calibri"/>
                <a:sym typeface="Calibri"/>
              </a:rPr>
              <a:t> Automatic transmission is preferred for ease of use, influencing resale value.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285875" y="2870002"/>
            <a:ext cx="6572250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5125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159"/>
              <a:buFont typeface="Calibri"/>
              <a:buNone/>
            </a:pPr>
            <a:r>
              <a:rPr b="0" i="1" lang="en-US" sz="1159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# Final Conclusion:</a:t>
            </a:r>
            <a:br>
              <a:rPr b="0" i="1" lang="en-US" sz="1159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59" u="none" cap="none" strike="noStrike">
                <a:solidFill>
                  <a:srgbClr val="6A9955"/>
                </a:solidFill>
                <a:latin typeface="Calibri"/>
                <a:ea typeface="Calibri"/>
                <a:cs typeface="Calibri"/>
                <a:sym typeface="Calibri"/>
              </a:rPr>
              <a:t> "If the EDA process is clear and precise, our model will work better and yield higher accuracy."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2026-02-09T16:28:24Z</dcterms:created>
  <dc:creator>PptxGenJS</dc:creator>
</cp:coreProperties>
</file>