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9144000" cy="5143500" type="screen16x9"/>
  <p:notesSz cx="6858000" cy="9144000"/>
  <p:embeddedFontLst>
    <p:embeddedFont>
      <p:font typeface="Roboto Mono" charset="0"/>
      <p:regular r:id="rId50"/>
      <p:bold r:id="rId51"/>
      <p:italic r:id="rId52"/>
      <p:boldItalic r:id="rId53"/>
    </p:embeddedFont>
    <p:embeddedFont>
      <p:font typeface="Nunito" charset="0"/>
      <p:regular r:id="rId54"/>
      <p:bold r:id="rId55"/>
      <p:italic r:id="rId56"/>
      <p:boldItalic r:id="rId57"/>
    </p:embeddedFont>
    <p:embeddedFont>
      <p:font typeface="Calibri" pitchFamily="34" charset="0"/>
      <p:regular r:id="rId58"/>
      <p:bold r:id="rId59"/>
      <p:italic r:id="rId60"/>
      <p:boldItalic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2" roundtripDataSignature="AMtx7mhW4PyqXWPG8KAQlgn1tFVFUbq0q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DAAAB11E-7352-4B03-9855-7782D8CA6D09}">
  <a:tblStyle styleId="{DAAAB11E-7352-4B03-9855-7782D8CA6D09}"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8" d="100"/>
          <a:sy n="108" d="100"/>
        </p:scale>
        <p:origin x="-56" y="20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5.fntdata"/><Relationship Id="rId6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61"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21363407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 name="Google Shape;5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 name="Google Shape;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 name="Google Shape;211;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d0286cfc55_0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d0286cfc55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 name="Google Shape;239;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d0286cfc55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8" name="Google Shape;258;g3d0286cfc55_0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d0286cfc55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 name="Google Shape;264;g3d0286cfc55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d0286cfc55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g3d0286cfc55_0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d0286cfc55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9" name="Google Shape;279;g3d0286cfc55_0_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d0286cfc55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g3d0286cfc55_0_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0286cfc55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9" name="Google Shape;289;g3d0286cfc55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3d0286cfc55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5" name="Google Shape;295;g3d0286cfc55_0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d779cc280c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3d779cc280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d779cc280c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d779cc280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d779cc280c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3d779cc280c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d779cc280c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3d779cc280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d779cc280c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d779cc280c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d779cc280c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3d779cc280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3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3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3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3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3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4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4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4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4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4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4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4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4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44"/>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45"/>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45"/>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3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3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p:nvPr/>
        </p:nvSpPr>
        <p:spPr>
          <a:xfrm>
            <a:off x="2280425" y="1685175"/>
            <a:ext cx="4917300" cy="785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900"/>
              <a:buFont typeface="Arial"/>
              <a:buNone/>
            </a:pPr>
            <a:r>
              <a:rPr lang="en" sz="3900" b="1" i="0" u="none" strike="noStrike" cap="none">
                <a:solidFill>
                  <a:srgbClr val="000000"/>
                </a:solidFill>
                <a:latin typeface="Arial"/>
                <a:ea typeface="Arial"/>
                <a:cs typeface="Arial"/>
                <a:sym typeface="Arial"/>
              </a:rPr>
              <a:t>Cross-Validation</a:t>
            </a:r>
            <a:endParaRPr sz="3900" b="1"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2"/>
          <p:cNvSpPr txBox="1"/>
          <p:nvPr/>
        </p:nvSpPr>
        <p:spPr>
          <a:xfrm>
            <a:off x="0" y="0"/>
            <a:ext cx="9144000" cy="2615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450"/>
              <a:buFont typeface="Arial"/>
              <a:buNone/>
            </a:pPr>
            <a:r>
              <a:rPr lang="en" sz="1450" b="0" i="0" u="none" strike="noStrike" cap="none">
                <a:solidFill>
                  <a:srgbClr val="000000"/>
                </a:solidFill>
                <a:latin typeface="Arial"/>
                <a:ea typeface="Arial"/>
                <a:cs typeface="Arial"/>
                <a:sym typeface="Arial"/>
              </a:rPr>
              <a:t>Cross-validation is a method used to test how well a machine learning model works on new data and to reduce overfitting. It works by:</a:t>
            </a:r>
            <a:endParaRPr sz="1450" b="0" i="0" u="none" strike="noStrike" cap="none">
              <a:solidFill>
                <a:srgbClr val="000000"/>
              </a:solidFill>
              <a:latin typeface="Arial"/>
              <a:ea typeface="Arial"/>
              <a:cs typeface="Arial"/>
              <a:sym typeface="Arial"/>
            </a:endParaRPr>
          </a:p>
          <a:p>
            <a:pPr marL="457200" marR="0" lvl="0" indent="-320675" algn="l" rtl="0">
              <a:lnSpc>
                <a:spcPct val="115000"/>
              </a:lnSpc>
              <a:spcBef>
                <a:spcPts val="1200"/>
              </a:spcBef>
              <a:spcAft>
                <a:spcPts val="0"/>
              </a:spcAft>
              <a:buClr>
                <a:schemeClr val="dk1"/>
              </a:buClr>
              <a:buSzPts val="1450"/>
              <a:buFont typeface="Arial"/>
              <a:buAutoNum type="arabicPeriod"/>
            </a:pPr>
            <a:r>
              <a:rPr lang="en" sz="1450" b="0" i="0" u="none" strike="noStrike" cap="none">
                <a:solidFill>
                  <a:srgbClr val="000000"/>
                </a:solidFill>
                <a:latin typeface="Arial"/>
                <a:ea typeface="Arial"/>
                <a:cs typeface="Arial"/>
                <a:sym typeface="Arial"/>
              </a:rPr>
              <a:t>Dividing the dataset into multiple parts (folds).</a:t>
            </a:r>
            <a:br>
              <a:rPr lang="en" sz="1450" b="0" i="0" u="none" strike="noStrike" cap="none">
                <a:solidFill>
                  <a:srgbClr val="000000"/>
                </a:solidFill>
                <a:latin typeface="Arial"/>
                <a:ea typeface="Arial"/>
                <a:cs typeface="Arial"/>
                <a:sym typeface="Arial"/>
              </a:rPr>
            </a:br>
            <a:endParaRPr sz="1450" b="0" i="0" u="none" strike="noStrike" cap="none">
              <a:solidFill>
                <a:srgbClr val="000000"/>
              </a:solidFill>
              <a:latin typeface="Arial"/>
              <a:ea typeface="Arial"/>
              <a:cs typeface="Arial"/>
              <a:sym typeface="Arial"/>
            </a:endParaRPr>
          </a:p>
          <a:p>
            <a:pPr marL="457200" marR="0" lvl="0" indent="-320675" algn="l" rtl="0">
              <a:lnSpc>
                <a:spcPct val="115000"/>
              </a:lnSpc>
              <a:spcBef>
                <a:spcPts val="0"/>
              </a:spcBef>
              <a:spcAft>
                <a:spcPts val="0"/>
              </a:spcAft>
              <a:buClr>
                <a:schemeClr val="dk1"/>
              </a:buClr>
              <a:buSzPts val="1450"/>
              <a:buFont typeface="Arial"/>
              <a:buAutoNum type="arabicPeriod"/>
            </a:pPr>
            <a:r>
              <a:rPr lang="en" sz="1450" b="0" i="0" u="none" strike="noStrike" cap="none">
                <a:solidFill>
                  <a:srgbClr val="000000"/>
                </a:solidFill>
                <a:latin typeface="Arial"/>
                <a:ea typeface="Arial"/>
                <a:cs typeface="Arial"/>
                <a:sym typeface="Arial"/>
              </a:rPr>
              <a:t>Training the model on some parts and testing it on the remaining part.</a:t>
            </a:r>
            <a:br>
              <a:rPr lang="en" sz="1450" b="0" i="0" u="none" strike="noStrike" cap="none">
                <a:solidFill>
                  <a:srgbClr val="000000"/>
                </a:solidFill>
                <a:latin typeface="Arial"/>
                <a:ea typeface="Arial"/>
                <a:cs typeface="Arial"/>
                <a:sym typeface="Arial"/>
              </a:rPr>
            </a:br>
            <a:endParaRPr sz="1450" b="0" i="0" u="none" strike="noStrike" cap="none">
              <a:solidFill>
                <a:srgbClr val="000000"/>
              </a:solidFill>
              <a:latin typeface="Arial"/>
              <a:ea typeface="Arial"/>
              <a:cs typeface="Arial"/>
              <a:sym typeface="Arial"/>
            </a:endParaRPr>
          </a:p>
          <a:p>
            <a:pPr marL="457200" marR="0" lvl="0" indent="-320675" algn="l" rtl="0">
              <a:lnSpc>
                <a:spcPct val="115000"/>
              </a:lnSpc>
              <a:spcBef>
                <a:spcPts val="0"/>
              </a:spcBef>
              <a:spcAft>
                <a:spcPts val="0"/>
              </a:spcAft>
              <a:buClr>
                <a:schemeClr val="dk1"/>
              </a:buClr>
              <a:buSzPts val="1450"/>
              <a:buFont typeface="Arial"/>
              <a:buAutoNum type="arabicPeriod"/>
            </a:pPr>
            <a:r>
              <a:rPr lang="en" sz="1450" b="0" i="0" u="none" strike="noStrike" cap="none">
                <a:solidFill>
                  <a:srgbClr val="000000"/>
                </a:solidFill>
                <a:latin typeface="Arial"/>
                <a:ea typeface="Arial"/>
                <a:cs typeface="Arial"/>
                <a:sym typeface="Arial"/>
              </a:rPr>
              <a:t>Repeating the process by changing the test part each time.</a:t>
            </a:r>
            <a:br>
              <a:rPr lang="en" sz="1450" b="0" i="0" u="none" strike="noStrike" cap="none">
                <a:solidFill>
                  <a:srgbClr val="000000"/>
                </a:solidFill>
                <a:latin typeface="Arial"/>
                <a:ea typeface="Arial"/>
                <a:cs typeface="Arial"/>
                <a:sym typeface="Arial"/>
              </a:rPr>
            </a:br>
            <a:endParaRPr sz="1450" b="0" i="0" u="none" strike="noStrike" cap="none">
              <a:solidFill>
                <a:srgbClr val="000000"/>
              </a:solidFill>
              <a:latin typeface="Arial"/>
              <a:ea typeface="Arial"/>
              <a:cs typeface="Arial"/>
              <a:sym typeface="Arial"/>
            </a:endParaRPr>
          </a:p>
          <a:p>
            <a:pPr marL="457200" marR="0" lvl="0" indent="-320675" algn="l" rtl="0">
              <a:lnSpc>
                <a:spcPct val="115000"/>
              </a:lnSpc>
              <a:spcBef>
                <a:spcPts val="0"/>
              </a:spcBef>
              <a:spcAft>
                <a:spcPts val="0"/>
              </a:spcAft>
              <a:buClr>
                <a:schemeClr val="dk1"/>
              </a:buClr>
              <a:buSzPts val="1450"/>
              <a:buFont typeface="Arial"/>
              <a:buAutoNum type="arabicPeriod"/>
            </a:pPr>
            <a:r>
              <a:rPr lang="en" sz="1450" b="0" i="0" u="none" strike="noStrike" cap="none">
                <a:solidFill>
                  <a:srgbClr val="000000"/>
                </a:solidFill>
                <a:latin typeface="Arial"/>
                <a:ea typeface="Arial"/>
                <a:cs typeface="Arial"/>
                <a:sym typeface="Arial"/>
              </a:rPr>
              <a:t>Calculating the average result from all tests to get the final model performance.</a:t>
            </a:r>
            <a:endParaRPr sz="1450" b="0" i="0" u="none" strike="noStrike" cap="none">
              <a:solidFill>
                <a:srgbClr val="000000"/>
              </a:solidFill>
              <a:latin typeface="Arial"/>
              <a:ea typeface="Arial"/>
              <a:cs typeface="Arial"/>
              <a:sym typeface="Arial"/>
            </a:endParaRPr>
          </a:p>
        </p:txBody>
      </p:sp>
      <p:sp>
        <p:nvSpPr>
          <p:cNvPr id="60" name="Google Shape;60;p2"/>
          <p:cNvSpPr txBox="1"/>
          <p:nvPr/>
        </p:nvSpPr>
        <p:spPr>
          <a:xfrm>
            <a:off x="0" y="2542786"/>
            <a:ext cx="9144000" cy="2513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                                           </a:t>
            </a:r>
            <a:r>
              <a:rPr lang="en" sz="1800" b="1" i="0" u="sng" strike="noStrike" cap="none">
                <a:solidFill>
                  <a:schemeClr val="dk1"/>
                </a:solidFill>
                <a:latin typeface="Arial"/>
                <a:ea typeface="Arial"/>
                <a:cs typeface="Arial"/>
                <a:sym typeface="Arial"/>
              </a:rPr>
              <a:t>Types of Cross-Validation</a:t>
            </a:r>
            <a:endParaRPr sz="1800" b="1" i="0" u="sng"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There are different types of cross-validation methods used to evaluate machine learning models.</a:t>
            </a:r>
            <a:endParaRPr sz="14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400"/>
              <a:buFont typeface="Arial"/>
              <a:buNone/>
            </a:pPr>
            <a:r>
              <a:rPr lang="en" sz="1400" b="1" i="0" u="none" strike="noStrike" cap="none">
                <a:solidFill>
                  <a:schemeClr val="dk1"/>
                </a:solidFill>
                <a:latin typeface="Arial"/>
                <a:ea typeface="Arial"/>
                <a:cs typeface="Arial"/>
                <a:sym typeface="Arial"/>
              </a:rPr>
              <a:t>1. Holdout Validation</a:t>
            </a:r>
            <a:br>
              <a:rPr lang="en" sz="1400" b="1" i="0" u="none" strike="noStrike" cap="none">
                <a:solidFill>
                  <a:schemeClr val="dk1"/>
                </a:solidFill>
                <a:latin typeface="Arial"/>
                <a:ea typeface="Arial"/>
                <a:cs typeface="Arial"/>
                <a:sym typeface="Arial"/>
              </a:rPr>
            </a:br>
            <a:r>
              <a:rPr lang="en" sz="1400" b="1" i="0" u="none" strike="noStrike" cap="none">
                <a:solidFill>
                  <a:schemeClr val="dk1"/>
                </a:solidFill>
                <a:latin typeface="Arial"/>
                <a:ea typeface="Arial"/>
                <a:cs typeface="Arial"/>
                <a:sym typeface="Arial"/>
              </a:rPr>
              <a:t/>
            </a:r>
            <a:br>
              <a:rPr lang="en" sz="1400" b="1" i="0" u="none" strike="noStrike" cap="none">
                <a:solidFill>
                  <a:schemeClr val="dk1"/>
                </a:solidFill>
                <a:latin typeface="Arial"/>
                <a:ea typeface="Arial"/>
                <a:cs typeface="Arial"/>
                <a:sym typeface="Arial"/>
              </a:rPr>
            </a:br>
            <a:r>
              <a:rPr lang="en" sz="1400" b="0" i="0" u="none" strike="noStrike" cap="none">
                <a:solidFill>
                  <a:schemeClr val="dk1"/>
                </a:solidFill>
                <a:latin typeface="Arial"/>
                <a:ea typeface="Arial"/>
                <a:cs typeface="Arial"/>
                <a:sym typeface="Arial"/>
              </a:rPr>
              <a:t> In the Holdout Validation method, the dataset is divided into two parts. Usually, </a:t>
            </a:r>
            <a:r>
              <a:rPr lang="en" sz="1400" b="1" i="0" u="none" strike="noStrike" cap="none">
                <a:solidFill>
                  <a:schemeClr val="dk1"/>
                </a:solidFill>
                <a:latin typeface="Arial"/>
                <a:ea typeface="Arial"/>
                <a:cs typeface="Arial"/>
                <a:sym typeface="Arial"/>
              </a:rPr>
              <a:t>50% of the data is used for training</a:t>
            </a:r>
            <a:r>
              <a:rPr lang="en" sz="1400" b="0" i="0" u="none" strike="noStrike" cap="none">
                <a:solidFill>
                  <a:schemeClr val="dk1"/>
                </a:solidFill>
                <a:latin typeface="Arial"/>
                <a:ea typeface="Arial"/>
                <a:cs typeface="Arial"/>
                <a:sym typeface="Arial"/>
              </a:rPr>
              <a:t> and </a:t>
            </a:r>
            <a:r>
              <a:rPr lang="en" sz="1400" b="1" i="0" u="none" strike="noStrike" cap="none">
                <a:solidFill>
                  <a:schemeClr val="dk1"/>
                </a:solidFill>
                <a:latin typeface="Arial"/>
                <a:ea typeface="Arial"/>
                <a:cs typeface="Arial"/>
                <a:sym typeface="Arial"/>
              </a:rPr>
              <a:t>50% for testing</a:t>
            </a:r>
            <a:r>
              <a:rPr lang="en" sz="1400" b="0" i="0" u="none" strike="noStrike" cap="none">
                <a:solidFill>
                  <a:schemeClr val="dk1"/>
                </a:solidFill>
                <a:latin typeface="Arial"/>
                <a:ea typeface="Arial"/>
                <a:cs typeface="Arial"/>
                <a:sym typeface="Arial"/>
              </a:rPr>
              <a:t>. This method is simple and fast to implement. However, the main disadvantage is that only half of the data is used for training, so the model may miss important patterns present in the remaining data, which can lead to </a:t>
            </a:r>
            <a:r>
              <a:rPr lang="en" sz="1400" b="1" i="0" u="none" strike="noStrike" cap="none">
                <a:solidFill>
                  <a:schemeClr val="dk1"/>
                </a:solidFill>
                <a:latin typeface="Arial"/>
                <a:ea typeface="Arial"/>
                <a:cs typeface="Arial"/>
                <a:sym typeface="Arial"/>
              </a:rPr>
              <a:t>high bias</a:t>
            </a:r>
            <a:r>
              <a:rPr lang="en" sz="1400" b="0" i="0" u="none" strike="noStrike" cap="none">
                <a:solidFill>
                  <a:schemeClr val="dk1"/>
                </a:solidFill>
                <a:latin typeface="Arial"/>
                <a:ea typeface="Arial"/>
                <a:cs typeface="Arial"/>
                <a:sym typeface="Arial"/>
              </a:rPr>
              <a:t>.</a:t>
            </a:r>
            <a:endParaRPr sz="14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3"/>
          <p:cNvSpPr txBox="1"/>
          <p:nvPr/>
        </p:nvSpPr>
        <p:spPr>
          <a:xfrm>
            <a:off x="0" y="138334"/>
            <a:ext cx="9144000" cy="4795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400"/>
              <a:buFont typeface="Arial"/>
              <a:buNone/>
            </a:pPr>
            <a:r>
              <a:rPr lang="en" sz="1250" b="1" i="0" u="none" strike="noStrike" cap="none">
                <a:solidFill>
                  <a:schemeClr val="dk1"/>
                </a:solidFill>
                <a:latin typeface="Arial"/>
                <a:ea typeface="Arial"/>
                <a:cs typeface="Arial"/>
                <a:sym typeface="Arial"/>
              </a:rPr>
              <a:t>2. LOOCV (Leave-One-Out Cross Validation)</a:t>
            </a:r>
            <a:br>
              <a:rPr lang="en" sz="1250" b="1" i="0" u="none" strike="noStrike" cap="none">
                <a:solidFill>
                  <a:schemeClr val="dk1"/>
                </a:solidFill>
                <a:latin typeface="Arial"/>
                <a:ea typeface="Arial"/>
                <a:cs typeface="Arial"/>
                <a:sym typeface="Arial"/>
              </a:rPr>
            </a:br>
            <a:r>
              <a:rPr lang="en" sz="1250" b="0" i="0" u="none" strike="noStrike" cap="none">
                <a:solidFill>
                  <a:schemeClr val="dk1"/>
                </a:solidFill>
                <a:latin typeface="Arial"/>
                <a:ea typeface="Arial"/>
                <a:cs typeface="Arial"/>
                <a:sym typeface="Arial"/>
              </a:rPr>
              <a:t> In this method, the model is trained on the entire dataset </a:t>
            </a:r>
            <a:r>
              <a:rPr lang="en" sz="1250" b="1" i="0" u="none" strike="noStrike" cap="none">
                <a:solidFill>
                  <a:schemeClr val="dk1"/>
                </a:solidFill>
                <a:latin typeface="Arial"/>
                <a:ea typeface="Arial"/>
                <a:cs typeface="Arial"/>
                <a:sym typeface="Arial"/>
              </a:rPr>
              <a:t>except one data point</a:t>
            </a:r>
            <a:r>
              <a:rPr lang="en" sz="1250" b="0" i="0" u="none" strike="noStrike" cap="none">
                <a:solidFill>
                  <a:schemeClr val="dk1"/>
                </a:solidFill>
                <a:latin typeface="Arial"/>
                <a:ea typeface="Arial"/>
                <a:cs typeface="Arial"/>
                <a:sym typeface="Arial"/>
              </a:rPr>
              <a:t>, which is used for testing. This process is repeated for </a:t>
            </a:r>
            <a:r>
              <a:rPr lang="en" sz="1250" b="1" i="0" u="none" strike="noStrike" cap="none">
                <a:solidFill>
                  <a:schemeClr val="dk1"/>
                </a:solidFill>
                <a:latin typeface="Arial"/>
                <a:ea typeface="Arial"/>
                <a:cs typeface="Arial"/>
                <a:sym typeface="Arial"/>
              </a:rPr>
              <a:t>every data point</a:t>
            </a:r>
            <a:r>
              <a:rPr lang="en" sz="1250" b="0" i="0" u="none" strike="noStrike" cap="none">
                <a:solidFill>
                  <a:schemeClr val="dk1"/>
                </a:solidFill>
                <a:latin typeface="Arial"/>
                <a:ea typeface="Arial"/>
                <a:cs typeface="Arial"/>
                <a:sym typeface="Arial"/>
              </a:rPr>
              <a:t> in the dataset.</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1200"/>
              </a:spcBef>
              <a:spcAft>
                <a:spcPts val="0"/>
              </a:spcAft>
              <a:buClr>
                <a:schemeClr val="dk1"/>
              </a:buClr>
              <a:buSzPts val="1250"/>
              <a:buFont typeface="Arial"/>
              <a:buChar char="●"/>
            </a:pPr>
            <a:r>
              <a:rPr lang="en" sz="1250" b="0" i="0" u="none" strike="noStrike" cap="none">
                <a:solidFill>
                  <a:schemeClr val="dk1"/>
                </a:solidFill>
                <a:latin typeface="Arial"/>
                <a:ea typeface="Arial"/>
                <a:cs typeface="Arial"/>
                <a:sym typeface="Arial"/>
              </a:rPr>
              <a:t>Almost all data is used for training, so </a:t>
            </a:r>
            <a:r>
              <a:rPr lang="en" sz="1250" b="1" i="0" u="none" strike="noStrike" cap="none">
                <a:solidFill>
                  <a:schemeClr val="dk1"/>
                </a:solidFill>
                <a:latin typeface="Arial"/>
                <a:ea typeface="Arial"/>
                <a:cs typeface="Arial"/>
                <a:sym typeface="Arial"/>
              </a:rPr>
              <a:t>bias is low</a:t>
            </a:r>
            <a:r>
              <a:rPr lang="en" sz="1250" b="0" i="0" u="none" strike="noStrike" cap="none">
                <a:solidFill>
                  <a:schemeClr val="dk1"/>
                </a:solidFill>
                <a:latin typeface="Arial"/>
                <a:ea typeface="Arial"/>
                <a:cs typeface="Arial"/>
                <a:sym typeface="Arial"/>
              </a:rPr>
              <a:t>.</a:t>
            </a:r>
            <a:br>
              <a:rPr lang="en" sz="1250" b="0" i="0" u="none" strike="noStrike" cap="none">
                <a:solidFill>
                  <a:schemeClr val="dk1"/>
                </a:solidFill>
                <a:latin typeface="Arial"/>
                <a:ea typeface="Arial"/>
                <a:cs typeface="Arial"/>
                <a:sym typeface="Arial"/>
              </a:rPr>
            </a:b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 sz="1250" b="0" i="0" u="none" strike="noStrike" cap="none">
                <a:solidFill>
                  <a:schemeClr val="dk1"/>
                </a:solidFill>
                <a:latin typeface="Arial"/>
                <a:ea typeface="Arial"/>
                <a:cs typeface="Arial"/>
                <a:sym typeface="Arial"/>
              </a:rPr>
              <a:t>Testing on only one data point can lead to </a:t>
            </a:r>
            <a:r>
              <a:rPr lang="en" sz="1250" b="1" i="0" u="none" strike="noStrike" cap="none">
                <a:solidFill>
                  <a:schemeClr val="dk1"/>
                </a:solidFill>
                <a:latin typeface="Arial"/>
                <a:ea typeface="Arial"/>
                <a:cs typeface="Arial"/>
                <a:sym typeface="Arial"/>
              </a:rPr>
              <a:t>high variance</a:t>
            </a:r>
            <a:r>
              <a:rPr lang="en" sz="1250" b="0" i="0" u="none" strike="noStrike" cap="none">
                <a:solidFill>
                  <a:schemeClr val="dk1"/>
                </a:solidFill>
                <a:latin typeface="Arial"/>
                <a:ea typeface="Arial"/>
                <a:cs typeface="Arial"/>
                <a:sym typeface="Arial"/>
              </a:rPr>
              <a:t>, especially if the point is an outlier.</a:t>
            </a:r>
            <a:endParaRPr sz="1300"/>
          </a:p>
          <a:p>
            <a:pPr marL="142875" marR="0" lvl="0" indent="0" algn="l" rtl="0">
              <a:lnSpc>
                <a:spcPct val="115000"/>
              </a:lnSpc>
              <a:spcBef>
                <a:spcPts val="0"/>
              </a:spcBef>
              <a:spcAft>
                <a:spcPts val="0"/>
              </a:spcAft>
              <a:buNone/>
            </a:pPr>
            <a:r>
              <a:rPr lang="en" sz="1100" b="0" i="0" u="none" strike="noStrike" cap="none">
                <a:solidFill>
                  <a:srgbClr val="000000"/>
                </a:solidFill>
                <a:latin typeface="Arial"/>
                <a:ea typeface="Arial"/>
                <a:cs typeface="Arial"/>
                <a:sym typeface="Arial"/>
              </a:rPr>
              <a:t>        (High variance means the model is too complex and fits the training data too closely, causing poor performance on new data.)</a:t>
            </a:r>
            <a:r>
              <a:rPr lang="en" sz="1250" b="0" i="0" u="none" strike="noStrike" cap="none">
                <a:solidFill>
                  <a:schemeClr val="dk1"/>
                </a:solidFill>
                <a:latin typeface="Arial"/>
                <a:ea typeface="Arial"/>
                <a:cs typeface="Arial"/>
                <a:sym typeface="Arial"/>
              </a:rPr>
              <a:t/>
            </a:r>
            <a:br>
              <a:rPr lang="en" sz="1250" b="0" i="0" u="none" strike="noStrike" cap="none">
                <a:solidFill>
                  <a:schemeClr val="dk1"/>
                </a:solidFill>
                <a:latin typeface="Arial"/>
                <a:ea typeface="Arial"/>
                <a:cs typeface="Arial"/>
                <a:sym typeface="Arial"/>
              </a:rPr>
            </a:b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 sz="1250" b="0" i="0" u="none" strike="noStrike" cap="none">
                <a:solidFill>
                  <a:schemeClr val="dk1"/>
                </a:solidFill>
                <a:latin typeface="Arial"/>
                <a:ea typeface="Arial"/>
                <a:cs typeface="Arial"/>
                <a:sym typeface="Arial"/>
              </a:rPr>
              <a:t>It is </a:t>
            </a:r>
            <a:r>
              <a:rPr lang="en" sz="1250" b="1" i="0" u="none" strike="noStrike" cap="none">
                <a:solidFill>
                  <a:schemeClr val="dk1"/>
                </a:solidFill>
                <a:latin typeface="Arial"/>
                <a:ea typeface="Arial"/>
                <a:cs typeface="Arial"/>
                <a:sym typeface="Arial"/>
              </a:rPr>
              <a:t>computationally expensive</a:t>
            </a:r>
            <a:r>
              <a:rPr lang="en" sz="1250" b="0" i="0" u="none" strike="noStrike" cap="none">
                <a:solidFill>
                  <a:schemeClr val="dk1"/>
                </a:solidFill>
                <a:latin typeface="Arial"/>
                <a:ea typeface="Arial"/>
                <a:cs typeface="Arial"/>
                <a:sym typeface="Arial"/>
              </a:rPr>
              <a:t> for large datasets because the model must be trained once for every data point.</a:t>
            </a:r>
            <a:endParaRPr sz="125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400"/>
              <a:buFont typeface="Arial"/>
              <a:buNone/>
            </a:pPr>
            <a:r>
              <a:rPr lang="en" sz="1250" b="1" i="0" u="none" strike="noStrike" cap="none">
                <a:solidFill>
                  <a:schemeClr val="dk1"/>
                </a:solidFill>
                <a:latin typeface="Arial"/>
                <a:ea typeface="Arial"/>
                <a:cs typeface="Arial"/>
                <a:sym typeface="Arial"/>
              </a:rPr>
              <a:t>3. Stratified Cross-Validation</a:t>
            </a:r>
            <a:br>
              <a:rPr lang="en" sz="1250" b="1" i="0" u="none" strike="noStrike" cap="none">
                <a:solidFill>
                  <a:schemeClr val="dk1"/>
                </a:solidFill>
                <a:latin typeface="Arial"/>
                <a:ea typeface="Arial"/>
                <a:cs typeface="Arial"/>
                <a:sym typeface="Arial"/>
              </a:rPr>
            </a:br>
            <a:r>
              <a:rPr lang="en" sz="1250" b="0" i="0" u="none" strike="noStrike" cap="none">
                <a:solidFill>
                  <a:schemeClr val="dk1"/>
                </a:solidFill>
                <a:latin typeface="Arial"/>
                <a:ea typeface="Arial"/>
                <a:cs typeface="Arial"/>
                <a:sym typeface="Arial"/>
              </a:rPr>
              <a:t> Stratified cross-validation ensures that </a:t>
            </a:r>
            <a:r>
              <a:rPr lang="en" sz="1250" b="1" i="0" u="none" strike="noStrike" cap="none">
                <a:solidFill>
                  <a:schemeClr val="dk1"/>
                </a:solidFill>
                <a:latin typeface="Arial"/>
                <a:ea typeface="Arial"/>
                <a:cs typeface="Arial"/>
                <a:sym typeface="Arial"/>
              </a:rPr>
              <a:t>each fold has the same class distribution as the original dataset</a:t>
            </a:r>
            <a:r>
              <a:rPr lang="en" sz="1250" b="0" i="0" u="none" strike="noStrike" cap="none">
                <a:solidFill>
                  <a:schemeClr val="dk1"/>
                </a:solidFill>
                <a:latin typeface="Arial"/>
                <a:ea typeface="Arial"/>
                <a:cs typeface="Arial"/>
                <a:sym typeface="Arial"/>
              </a:rPr>
              <a:t>. It is mainly used when the dataset is </a:t>
            </a:r>
            <a:r>
              <a:rPr lang="en" sz="1250" b="1" i="0" u="none" strike="noStrike" cap="none">
                <a:solidFill>
                  <a:schemeClr val="dk1"/>
                </a:solidFill>
                <a:latin typeface="Arial"/>
                <a:ea typeface="Arial"/>
                <a:cs typeface="Arial"/>
                <a:sym typeface="Arial"/>
              </a:rPr>
              <a:t>imbalanced</a:t>
            </a:r>
            <a:r>
              <a:rPr lang="en" sz="1250" b="0" i="0" u="none" strike="noStrike" cap="none">
                <a:solidFill>
                  <a:schemeClr val="dk1"/>
                </a:solidFill>
                <a:latin typeface="Arial"/>
                <a:ea typeface="Arial"/>
                <a:cs typeface="Arial"/>
                <a:sym typeface="Arial"/>
              </a:rPr>
              <a:t> (some classes have very few samples).</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1200"/>
              </a:spcBef>
              <a:spcAft>
                <a:spcPts val="0"/>
              </a:spcAft>
              <a:buClr>
                <a:schemeClr val="dk1"/>
              </a:buClr>
              <a:buSzPts val="1250"/>
              <a:buFont typeface="Arial"/>
              <a:buChar char="●"/>
            </a:pPr>
            <a:r>
              <a:rPr lang="en" sz="1250" b="0" i="0" u="none" strike="noStrike" cap="none">
                <a:solidFill>
                  <a:schemeClr val="dk1"/>
                </a:solidFill>
                <a:latin typeface="Arial"/>
                <a:ea typeface="Arial"/>
                <a:cs typeface="Arial"/>
                <a:sym typeface="Arial"/>
              </a:rPr>
              <a:t>The dataset is divided into </a:t>
            </a:r>
            <a:r>
              <a:rPr lang="en" sz="1250" b="1" i="0" u="none" strike="noStrike" cap="none">
                <a:solidFill>
                  <a:schemeClr val="dk1"/>
                </a:solidFill>
                <a:latin typeface="Arial"/>
                <a:ea typeface="Arial"/>
                <a:cs typeface="Arial"/>
                <a:sym typeface="Arial"/>
              </a:rPr>
              <a:t>k folds</a:t>
            </a:r>
            <a:r>
              <a:rPr lang="en" sz="1250" b="0" i="0" u="none" strike="noStrike" cap="none">
                <a:solidFill>
                  <a:schemeClr val="dk1"/>
                </a:solidFill>
                <a:latin typeface="Arial"/>
                <a:ea typeface="Arial"/>
                <a:cs typeface="Arial"/>
                <a:sym typeface="Arial"/>
              </a:rPr>
              <a:t> while keeping the class proportion the same in each fold.</a:t>
            </a:r>
            <a:br>
              <a:rPr lang="en" sz="1250" b="0" i="0" u="none" strike="noStrike" cap="none">
                <a:solidFill>
                  <a:schemeClr val="dk1"/>
                </a:solidFill>
                <a:latin typeface="Arial"/>
                <a:ea typeface="Arial"/>
                <a:cs typeface="Arial"/>
                <a:sym typeface="Arial"/>
              </a:rPr>
            </a:b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 sz="1250" b="0" i="0" u="none" strike="noStrike" cap="none">
                <a:solidFill>
                  <a:schemeClr val="dk1"/>
                </a:solidFill>
                <a:latin typeface="Arial"/>
                <a:ea typeface="Arial"/>
                <a:cs typeface="Arial"/>
                <a:sym typeface="Arial"/>
              </a:rPr>
              <a:t>In every iteration, </a:t>
            </a:r>
            <a:r>
              <a:rPr lang="en" sz="1250" b="1" i="0" u="none" strike="noStrike" cap="none">
                <a:solidFill>
                  <a:schemeClr val="dk1"/>
                </a:solidFill>
                <a:latin typeface="Arial"/>
                <a:ea typeface="Arial"/>
                <a:cs typeface="Arial"/>
                <a:sym typeface="Arial"/>
              </a:rPr>
              <a:t>one fold is used for testing</a:t>
            </a:r>
            <a:r>
              <a:rPr lang="en" sz="1250" b="0" i="0" u="none" strike="noStrike" cap="none">
                <a:solidFill>
                  <a:schemeClr val="dk1"/>
                </a:solidFill>
                <a:latin typeface="Arial"/>
                <a:ea typeface="Arial"/>
                <a:cs typeface="Arial"/>
                <a:sym typeface="Arial"/>
              </a:rPr>
              <a:t> and the remaining folds are used for training.</a:t>
            </a:r>
            <a:br>
              <a:rPr lang="en" sz="1250" b="0" i="0" u="none" strike="noStrike" cap="none">
                <a:solidFill>
                  <a:schemeClr val="dk1"/>
                </a:solidFill>
                <a:latin typeface="Arial"/>
                <a:ea typeface="Arial"/>
                <a:cs typeface="Arial"/>
                <a:sym typeface="Arial"/>
              </a:rPr>
            </a:b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 sz="1250" b="0" i="0" u="none" strike="noStrike" cap="none">
                <a:solidFill>
                  <a:schemeClr val="dk1"/>
                </a:solidFill>
                <a:latin typeface="Arial"/>
                <a:ea typeface="Arial"/>
                <a:cs typeface="Arial"/>
                <a:sym typeface="Arial"/>
              </a:rPr>
              <a:t>The process is repeated </a:t>
            </a:r>
            <a:r>
              <a:rPr lang="en" sz="1250" b="1" i="0" u="none" strike="noStrike" cap="none">
                <a:solidFill>
                  <a:schemeClr val="dk1"/>
                </a:solidFill>
                <a:latin typeface="Arial"/>
                <a:ea typeface="Arial"/>
                <a:cs typeface="Arial"/>
                <a:sym typeface="Arial"/>
              </a:rPr>
              <a:t>k times</a:t>
            </a:r>
            <a:r>
              <a:rPr lang="en" sz="1250" b="0" i="0" u="none" strike="noStrike" cap="none">
                <a:solidFill>
                  <a:schemeClr val="dk1"/>
                </a:solidFill>
                <a:latin typeface="Arial"/>
                <a:ea typeface="Arial"/>
                <a:cs typeface="Arial"/>
                <a:sym typeface="Arial"/>
              </a:rPr>
              <a:t>, so each fold becomes the test set once.</a:t>
            </a:r>
            <a:br>
              <a:rPr lang="en" sz="1250" b="0" i="0" u="none" strike="noStrike" cap="none">
                <a:solidFill>
                  <a:schemeClr val="dk1"/>
                </a:solidFill>
                <a:latin typeface="Arial"/>
                <a:ea typeface="Arial"/>
                <a:cs typeface="Arial"/>
                <a:sym typeface="Arial"/>
              </a:rPr>
            </a:b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 sz="1250" b="0" i="0" u="none" strike="noStrike" cap="none">
                <a:solidFill>
                  <a:schemeClr val="dk1"/>
                </a:solidFill>
                <a:latin typeface="Arial"/>
                <a:ea typeface="Arial"/>
                <a:cs typeface="Arial"/>
                <a:sym typeface="Arial"/>
              </a:rPr>
              <a:t>This helps classification models perform better by </a:t>
            </a:r>
            <a:r>
              <a:rPr lang="en" sz="1250" b="1" i="0" u="none" strike="noStrike" cap="none">
                <a:solidFill>
                  <a:schemeClr val="dk1"/>
                </a:solidFill>
                <a:latin typeface="Arial"/>
                <a:ea typeface="Arial"/>
                <a:cs typeface="Arial"/>
                <a:sym typeface="Arial"/>
              </a:rPr>
              <a:t>maintaining balanced class distribution</a:t>
            </a:r>
            <a:r>
              <a:rPr lang="en" sz="1250" b="0" i="0" u="none" strike="noStrike" cap="none">
                <a:solidFill>
                  <a:schemeClr val="dk1"/>
                </a:solidFill>
                <a:latin typeface="Arial"/>
                <a:ea typeface="Arial"/>
                <a:cs typeface="Arial"/>
                <a:sym typeface="Arial"/>
              </a:rPr>
              <a:t>.</a:t>
            </a:r>
            <a:endParaRPr sz="125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4"/>
          <p:cNvSpPr txBox="1"/>
          <p:nvPr/>
        </p:nvSpPr>
        <p:spPr>
          <a:xfrm>
            <a:off x="0" y="0"/>
            <a:ext cx="9144000" cy="26052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700"/>
              <a:buFont typeface="Arial"/>
              <a:buNone/>
            </a:pPr>
            <a:r>
              <a:rPr lang="en" sz="1700" b="1" i="0" u="none" strike="noStrike" cap="none">
                <a:solidFill>
                  <a:schemeClr val="dk1"/>
                </a:solidFill>
                <a:latin typeface="Arial"/>
                <a:ea typeface="Arial"/>
                <a:cs typeface="Arial"/>
                <a:sym typeface="Arial"/>
              </a:rPr>
              <a:t>4. K-Fold Cross Validation</a:t>
            </a:r>
            <a:endParaRPr sz="17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700"/>
              <a:buFont typeface="Arial"/>
              <a:buNone/>
            </a:pPr>
            <a:r>
              <a:rPr lang="en" sz="1700" b="0" i="0" u="none" strike="noStrike" cap="none">
                <a:solidFill>
                  <a:schemeClr val="dk1"/>
                </a:solidFill>
                <a:latin typeface="Arial"/>
                <a:ea typeface="Arial"/>
                <a:cs typeface="Arial"/>
                <a:sym typeface="Arial"/>
              </a:rPr>
              <a:t>K-Fold Cross Validation divides the dataset into </a:t>
            </a:r>
            <a:r>
              <a:rPr lang="en" sz="1700" b="1" i="0" u="none" strike="noStrike" cap="none">
                <a:solidFill>
                  <a:schemeClr val="dk1"/>
                </a:solidFill>
                <a:latin typeface="Arial"/>
                <a:ea typeface="Arial"/>
                <a:cs typeface="Arial"/>
                <a:sym typeface="Arial"/>
              </a:rPr>
              <a:t>k equal parts (folds)</a:t>
            </a:r>
            <a:r>
              <a:rPr lang="en" sz="1700" b="0" i="0" u="none" strike="noStrike" cap="none">
                <a:solidFill>
                  <a:schemeClr val="dk1"/>
                </a:solidFill>
                <a:latin typeface="Arial"/>
                <a:ea typeface="Arial"/>
                <a:cs typeface="Arial"/>
                <a:sym typeface="Arial"/>
              </a:rPr>
              <a:t>. The model is </a:t>
            </a:r>
            <a:r>
              <a:rPr lang="en" sz="1700" b="1" i="0" u="none" strike="noStrike" cap="none">
                <a:solidFill>
                  <a:schemeClr val="dk1"/>
                </a:solidFill>
                <a:latin typeface="Arial"/>
                <a:ea typeface="Arial"/>
                <a:cs typeface="Arial"/>
                <a:sym typeface="Arial"/>
              </a:rPr>
              <a:t>trained on k-1 folds</a:t>
            </a:r>
            <a:r>
              <a:rPr lang="en" sz="1700" b="0" i="0" u="none" strike="noStrike" cap="none">
                <a:solidFill>
                  <a:schemeClr val="dk1"/>
                </a:solidFill>
                <a:latin typeface="Arial"/>
                <a:ea typeface="Arial"/>
                <a:cs typeface="Arial"/>
                <a:sym typeface="Arial"/>
              </a:rPr>
              <a:t> and </a:t>
            </a:r>
            <a:r>
              <a:rPr lang="en" sz="1700" b="1" i="0" u="none" strike="noStrike" cap="none">
                <a:solidFill>
                  <a:schemeClr val="dk1"/>
                </a:solidFill>
                <a:latin typeface="Arial"/>
                <a:ea typeface="Arial"/>
                <a:cs typeface="Arial"/>
                <a:sym typeface="Arial"/>
              </a:rPr>
              <a:t>tested on the remaining fold</a:t>
            </a:r>
            <a:r>
              <a:rPr lang="en" sz="1700" b="0" i="0" u="none" strike="noStrike" cap="none">
                <a:solidFill>
                  <a:schemeClr val="dk1"/>
                </a:solidFill>
                <a:latin typeface="Arial"/>
                <a:ea typeface="Arial"/>
                <a:cs typeface="Arial"/>
                <a:sym typeface="Arial"/>
              </a:rPr>
              <a:t>. This process is repeated </a:t>
            </a:r>
            <a:r>
              <a:rPr lang="en" sz="1700" b="1" i="0" u="none" strike="noStrike" cap="none">
                <a:solidFill>
                  <a:schemeClr val="dk1"/>
                </a:solidFill>
                <a:latin typeface="Arial"/>
                <a:ea typeface="Arial"/>
                <a:cs typeface="Arial"/>
                <a:sym typeface="Arial"/>
              </a:rPr>
              <a:t>k times</a:t>
            </a:r>
            <a:r>
              <a:rPr lang="en" sz="1700" b="0" i="0" u="none" strike="noStrike" cap="none">
                <a:solidFill>
                  <a:schemeClr val="dk1"/>
                </a:solidFill>
                <a:latin typeface="Arial"/>
                <a:ea typeface="Arial"/>
                <a:cs typeface="Arial"/>
                <a:sym typeface="Arial"/>
              </a:rPr>
              <a:t>, and each fold is used once as the test set.</a:t>
            </a:r>
            <a:endParaRPr sz="17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700"/>
              <a:buFont typeface="Arial"/>
              <a:buNone/>
            </a:pPr>
            <a:r>
              <a:rPr lang="en" sz="1700" b="1" i="0" u="none" strike="noStrike" cap="none">
                <a:solidFill>
                  <a:schemeClr val="dk1"/>
                </a:solidFill>
                <a:latin typeface="Arial"/>
                <a:ea typeface="Arial"/>
                <a:cs typeface="Arial"/>
                <a:sym typeface="Arial"/>
              </a:rPr>
              <a:t>Note:</a:t>
            </a:r>
            <a:r>
              <a:rPr lang="en" sz="1700" b="0" i="0" u="none" strike="noStrike" cap="none">
                <a:solidFill>
                  <a:schemeClr val="dk1"/>
                </a:solidFill>
                <a:latin typeface="Arial"/>
                <a:ea typeface="Arial"/>
                <a:cs typeface="Arial"/>
                <a:sym typeface="Arial"/>
              </a:rPr>
              <a:t> Usually, the value of </a:t>
            </a:r>
            <a:r>
              <a:rPr lang="en" sz="1700" b="1" i="0" u="none" strike="noStrike" cap="none">
                <a:solidFill>
                  <a:schemeClr val="dk1"/>
                </a:solidFill>
                <a:latin typeface="Arial"/>
                <a:ea typeface="Arial"/>
                <a:cs typeface="Arial"/>
                <a:sym typeface="Arial"/>
              </a:rPr>
              <a:t>k = 10</a:t>
            </a:r>
            <a:r>
              <a:rPr lang="en" sz="1700" b="0" i="0" u="none" strike="noStrike" cap="none">
                <a:solidFill>
                  <a:schemeClr val="dk1"/>
                </a:solidFill>
                <a:latin typeface="Arial"/>
                <a:ea typeface="Arial"/>
                <a:cs typeface="Arial"/>
                <a:sym typeface="Arial"/>
              </a:rPr>
              <a:t> is recommended. A </a:t>
            </a:r>
            <a:r>
              <a:rPr lang="en" sz="1700" b="1" i="0" u="none" strike="noStrike" cap="none">
                <a:solidFill>
                  <a:schemeClr val="dk1"/>
                </a:solidFill>
                <a:latin typeface="Arial"/>
                <a:ea typeface="Arial"/>
                <a:cs typeface="Arial"/>
                <a:sym typeface="Arial"/>
              </a:rPr>
              <a:t>smaller value of k</a:t>
            </a:r>
            <a:r>
              <a:rPr lang="en" sz="1700" b="0" i="0" u="none" strike="noStrike" cap="none">
                <a:solidFill>
                  <a:schemeClr val="dk1"/>
                </a:solidFill>
                <a:latin typeface="Arial"/>
                <a:ea typeface="Arial"/>
                <a:cs typeface="Arial"/>
                <a:sym typeface="Arial"/>
              </a:rPr>
              <a:t> gives less reliable validation, while a </a:t>
            </a:r>
            <a:r>
              <a:rPr lang="en" sz="1700" b="1" i="0" u="none" strike="noStrike" cap="none">
                <a:solidFill>
                  <a:schemeClr val="dk1"/>
                </a:solidFill>
                <a:latin typeface="Arial"/>
                <a:ea typeface="Arial"/>
                <a:cs typeface="Arial"/>
                <a:sym typeface="Arial"/>
              </a:rPr>
              <a:t>very large value of k</a:t>
            </a:r>
            <a:r>
              <a:rPr lang="en" sz="1700" b="0" i="0" u="none" strike="noStrike" cap="none">
                <a:solidFill>
                  <a:schemeClr val="dk1"/>
                </a:solidFill>
                <a:latin typeface="Arial"/>
                <a:ea typeface="Arial"/>
                <a:cs typeface="Arial"/>
                <a:sym typeface="Arial"/>
              </a:rPr>
              <a:t> becomes similar to the </a:t>
            </a:r>
            <a:r>
              <a:rPr lang="en" sz="1700" b="1" i="0" u="none" strike="noStrike" cap="none">
                <a:solidFill>
                  <a:schemeClr val="dk1"/>
                </a:solidFill>
                <a:latin typeface="Arial"/>
                <a:ea typeface="Arial"/>
                <a:cs typeface="Arial"/>
                <a:sym typeface="Arial"/>
              </a:rPr>
              <a:t>LOOCV method</a:t>
            </a:r>
            <a:r>
              <a:rPr lang="en" sz="1700" b="0" i="0" u="none" strike="noStrike" cap="none">
                <a:solidFill>
                  <a:schemeClr val="dk1"/>
                </a:solidFill>
                <a:latin typeface="Arial"/>
                <a:ea typeface="Arial"/>
                <a:cs typeface="Arial"/>
                <a:sym typeface="Arial"/>
              </a:rPr>
              <a:t>.</a:t>
            </a:r>
            <a:endParaRPr sz="1700" b="0" i="0" u="none" strike="noStrike" cap="none">
              <a:solidFill>
                <a:schemeClr val="dk1"/>
              </a:solidFill>
              <a:latin typeface="Arial"/>
              <a:ea typeface="Arial"/>
              <a:cs typeface="Arial"/>
              <a:sym typeface="Arial"/>
            </a:endParaRPr>
          </a:p>
        </p:txBody>
      </p:sp>
      <p:sp>
        <p:nvSpPr>
          <p:cNvPr id="71" name="Google Shape;71;p4"/>
          <p:cNvSpPr txBox="1"/>
          <p:nvPr/>
        </p:nvSpPr>
        <p:spPr>
          <a:xfrm>
            <a:off x="25143" y="2313945"/>
            <a:ext cx="8945700" cy="2559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700"/>
              <a:buFont typeface="Arial"/>
              <a:buNone/>
            </a:pPr>
            <a:r>
              <a:rPr lang="en" sz="1700" b="1" i="0" u="none" strike="noStrike" cap="none">
                <a:solidFill>
                  <a:schemeClr val="dk1"/>
                </a:solidFill>
                <a:latin typeface="Arial"/>
                <a:ea typeface="Arial"/>
                <a:cs typeface="Arial"/>
                <a:sym typeface="Arial"/>
              </a:rPr>
              <a:t>                                       </a:t>
            </a:r>
            <a:r>
              <a:rPr lang="en" sz="1700" b="1" i="0" u="sng" strike="noStrike" cap="none">
                <a:solidFill>
                  <a:schemeClr val="dk1"/>
                </a:solidFill>
                <a:latin typeface="Arial"/>
                <a:ea typeface="Arial"/>
                <a:cs typeface="Arial"/>
                <a:sym typeface="Arial"/>
              </a:rPr>
              <a:t>Example of K-Fold Cross Validation</a:t>
            </a:r>
            <a:endParaRPr sz="1700" b="1" i="0" u="sng"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700"/>
              <a:buFont typeface="Arial"/>
              <a:buNone/>
            </a:pPr>
            <a:r>
              <a:rPr lang="en" sz="1700" b="0" i="0" u="none" strike="noStrike" cap="none">
                <a:solidFill>
                  <a:schemeClr val="dk1"/>
                </a:solidFill>
                <a:latin typeface="Arial"/>
                <a:ea typeface="Arial"/>
                <a:cs typeface="Arial"/>
                <a:sym typeface="Arial"/>
              </a:rPr>
              <a:t>In K-Fold Cross Validation, the dataset is divided into </a:t>
            </a:r>
            <a:r>
              <a:rPr lang="en" sz="1700" b="1" i="0" u="none" strike="noStrike" cap="none">
                <a:solidFill>
                  <a:schemeClr val="dk1"/>
                </a:solidFill>
                <a:latin typeface="Arial"/>
                <a:ea typeface="Arial"/>
                <a:cs typeface="Arial"/>
                <a:sym typeface="Arial"/>
              </a:rPr>
              <a:t>k equal parts (folds)</a:t>
            </a:r>
            <a:r>
              <a:rPr lang="en" sz="1700" b="0" i="0" u="none" strike="noStrike" cap="none">
                <a:solidFill>
                  <a:schemeClr val="dk1"/>
                </a:solidFill>
                <a:latin typeface="Arial"/>
                <a:ea typeface="Arial"/>
                <a:cs typeface="Arial"/>
                <a:sym typeface="Arial"/>
              </a:rPr>
              <a:t>. In each step, </a:t>
            </a:r>
            <a:r>
              <a:rPr lang="en" sz="1700" b="1" i="0" u="none" strike="noStrike" cap="none">
                <a:solidFill>
                  <a:schemeClr val="dk1"/>
                </a:solidFill>
                <a:latin typeface="Arial"/>
                <a:ea typeface="Arial"/>
                <a:cs typeface="Arial"/>
                <a:sym typeface="Arial"/>
              </a:rPr>
              <a:t>one fold is used for testing</a:t>
            </a:r>
            <a:r>
              <a:rPr lang="en" sz="1700" b="0" i="0" u="none" strike="noStrike" cap="none">
                <a:solidFill>
                  <a:schemeClr val="dk1"/>
                </a:solidFill>
                <a:latin typeface="Arial"/>
                <a:ea typeface="Arial"/>
                <a:cs typeface="Arial"/>
                <a:sym typeface="Arial"/>
              </a:rPr>
              <a:t> and the </a:t>
            </a:r>
            <a:r>
              <a:rPr lang="en" sz="1700" b="1" i="0" u="none" strike="noStrike" cap="none">
                <a:solidFill>
                  <a:schemeClr val="dk1"/>
                </a:solidFill>
                <a:latin typeface="Arial"/>
                <a:ea typeface="Arial"/>
                <a:cs typeface="Arial"/>
                <a:sym typeface="Arial"/>
              </a:rPr>
              <a:t>remaining folds are used for training</a:t>
            </a:r>
            <a:r>
              <a:rPr lang="en" sz="1700" b="0" i="0" u="none" strike="noStrike" cap="none">
                <a:solidFill>
                  <a:schemeClr val="dk1"/>
                </a:solidFill>
                <a:latin typeface="Arial"/>
                <a:ea typeface="Arial"/>
                <a:cs typeface="Arial"/>
                <a:sym typeface="Arial"/>
              </a:rPr>
              <a:t>. This process continues until every fold has been used once as the test set.</a:t>
            </a:r>
            <a:endParaRPr sz="17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700"/>
              <a:buFont typeface="Arial"/>
              <a:buNone/>
            </a:pPr>
            <a:r>
              <a:rPr lang="en" sz="1700" b="0" i="0" u="none" strike="noStrike" cap="none">
                <a:solidFill>
                  <a:schemeClr val="dk1"/>
                </a:solidFill>
                <a:latin typeface="Arial"/>
                <a:ea typeface="Arial"/>
                <a:cs typeface="Arial"/>
                <a:sym typeface="Arial"/>
              </a:rPr>
              <a:t>For example, if there are </a:t>
            </a:r>
            <a:r>
              <a:rPr lang="en" sz="1700" b="1" i="0" u="none" strike="noStrike" cap="none">
                <a:solidFill>
                  <a:schemeClr val="dk1"/>
                </a:solidFill>
                <a:latin typeface="Arial"/>
                <a:ea typeface="Arial"/>
                <a:cs typeface="Arial"/>
                <a:sym typeface="Arial"/>
              </a:rPr>
              <a:t>25 data instances</a:t>
            </a:r>
            <a:r>
              <a:rPr lang="en" sz="1700" b="0" i="0" u="none" strike="noStrike" cap="none">
                <a:solidFill>
                  <a:schemeClr val="dk1"/>
                </a:solidFill>
                <a:latin typeface="Arial"/>
                <a:ea typeface="Arial"/>
                <a:cs typeface="Arial"/>
                <a:sym typeface="Arial"/>
              </a:rPr>
              <a:t>, they can be divided into </a:t>
            </a:r>
            <a:r>
              <a:rPr lang="en" sz="1700" b="1" i="0" u="none" strike="noStrike" cap="none">
                <a:solidFill>
                  <a:schemeClr val="dk1"/>
                </a:solidFill>
                <a:latin typeface="Arial"/>
                <a:ea typeface="Arial"/>
                <a:cs typeface="Arial"/>
                <a:sym typeface="Arial"/>
              </a:rPr>
              <a:t>k folds</a:t>
            </a:r>
            <a:r>
              <a:rPr lang="en" sz="1700" b="0" i="0" u="none" strike="noStrike" cap="none">
                <a:solidFill>
                  <a:schemeClr val="dk1"/>
                </a:solidFill>
                <a:latin typeface="Arial"/>
                <a:ea typeface="Arial"/>
                <a:cs typeface="Arial"/>
                <a:sym typeface="Arial"/>
              </a:rPr>
              <a:t>. During each iteration, one fold is selected for evaluation while the other folds are used to train the model. After all iterations, the </a:t>
            </a:r>
            <a:r>
              <a:rPr lang="en" sz="1700" b="1" i="0" u="none" strike="noStrike" cap="none">
                <a:solidFill>
                  <a:schemeClr val="dk1"/>
                </a:solidFill>
                <a:latin typeface="Arial"/>
                <a:ea typeface="Arial"/>
                <a:cs typeface="Arial"/>
                <a:sym typeface="Arial"/>
              </a:rPr>
              <a:t>average performance of all folds</a:t>
            </a:r>
            <a:r>
              <a:rPr lang="en" sz="1700" b="0" i="0" u="none" strike="noStrike" cap="none">
                <a:solidFill>
                  <a:schemeClr val="dk1"/>
                </a:solidFill>
                <a:latin typeface="Arial"/>
                <a:ea typeface="Arial"/>
                <a:cs typeface="Arial"/>
                <a:sym typeface="Arial"/>
              </a:rPr>
              <a:t> is taken as the final result.</a:t>
            </a:r>
            <a:endParaRPr sz="17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p5"/>
          <p:cNvPicPr preferRelativeResize="0"/>
          <p:nvPr/>
        </p:nvPicPr>
        <p:blipFill rotWithShape="1">
          <a:blip r:embed="rId3">
            <a:alphaModFix/>
          </a:blip>
          <a:srcRect/>
          <a:stretch/>
        </p:blipFill>
        <p:spPr>
          <a:xfrm>
            <a:off x="1676400" y="52023"/>
            <a:ext cx="5264150" cy="2881677"/>
          </a:xfrm>
          <a:prstGeom prst="rect">
            <a:avLst/>
          </a:prstGeom>
          <a:noFill/>
          <a:ln w="19050" cap="flat" cmpd="sng">
            <a:solidFill>
              <a:srgbClr val="980000"/>
            </a:solidFill>
            <a:prstDash val="solid"/>
            <a:round/>
            <a:headEnd type="none" w="sm" len="sm"/>
            <a:tailEnd type="none" w="sm" len="sm"/>
          </a:ln>
        </p:spPr>
      </p:pic>
      <p:sp>
        <p:nvSpPr>
          <p:cNvPr id="77" name="Google Shape;77;p5"/>
          <p:cNvSpPr/>
          <p:nvPr/>
        </p:nvSpPr>
        <p:spPr>
          <a:xfrm>
            <a:off x="317500" y="2951883"/>
            <a:ext cx="8826500" cy="20313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Simple Explanation</a:t>
            </a:r>
            <a:endParaRPr/>
          </a:p>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This image shows </a:t>
            </a:r>
            <a:r>
              <a:rPr lang="en" sz="1400" b="1" i="0" u="none" strike="noStrike" cap="none">
                <a:solidFill>
                  <a:srgbClr val="000000"/>
                </a:solidFill>
                <a:latin typeface="Arial"/>
                <a:ea typeface="Arial"/>
                <a:cs typeface="Arial"/>
                <a:sym typeface="Arial"/>
              </a:rPr>
              <a:t>K-Fold Cross Validation</a:t>
            </a:r>
            <a:r>
              <a:rPr lang="en" sz="14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The </a:t>
            </a:r>
            <a:r>
              <a:rPr lang="en" sz="1400" b="1" i="0" u="none" strike="noStrike" cap="none">
                <a:solidFill>
                  <a:srgbClr val="000000"/>
                </a:solidFill>
                <a:latin typeface="Arial"/>
                <a:ea typeface="Arial"/>
                <a:cs typeface="Arial"/>
                <a:sym typeface="Arial"/>
              </a:rPr>
              <a:t>dataset is divided into several equal parts (folds)</a:t>
            </a:r>
            <a:r>
              <a:rPr lang="en" sz="14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In each step, </a:t>
            </a:r>
            <a:r>
              <a:rPr lang="en" sz="1400" b="1" i="0" u="none" strike="noStrike" cap="none">
                <a:solidFill>
                  <a:srgbClr val="000000"/>
                </a:solidFill>
                <a:latin typeface="Arial"/>
                <a:ea typeface="Arial"/>
                <a:cs typeface="Arial"/>
                <a:sym typeface="Arial"/>
              </a:rPr>
              <a:t>one part is used as the test set</a:t>
            </a:r>
            <a:r>
              <a:rPr lang="en" sz="1400" b="0" i="0" u="none" strike="noStrike" cap="none">
                <a:solidFill>
                  <a:srgbClr val="000000"/>
                </a:solidFill>
                <a:latin typeface="Arial"/>
                <a:ea typeface="Arial"/>
                <a:cs typeface="Arial"/>
                <a:sym typeface="Arial"/>
              </a:rPr>
              <a:t> (green), and the </a:t>
            </a:r>
            <a:r>
              <a:rPr lang="en" sz="1400" b="1" i="0" u="none" strike="noStrike" cap="none">
                <a:solidFill>
                  <a:srgbClr val="000000"/>
                </a:solidFill>
                <a:latin typeface="Arial"/>
                <a:ea typeface="Arial"/>
                <a:cs typeface="Arial"/>
                <a:sym typeface="Arial"/>
              </a:rPr>
              <a:t>remaining parts are used for training</a:t>
            </a:r>
            <a:r>
              <a:rPr lang="en" sz="1400" b="0" i="0" u="none" strike="noStrike" cap="none">
                <a:solidFill>
                  <a:srgbClr val="000000"/>
                </a:solidFill>
                <a:latin typeface="Arial"/>
                <a:ea typeface="Arial"/>
                <a:cs typeface="Arial"/>
                <a:sym typeface="Arial"/>
              </a:rPr>
              <a:t> (yellow).</a:t>
            </a:r>
            <a:endParaRPr/>
          </a:p>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The process is </a:t>
            </a:r>
            <a:r>
              <a:rPr lang="en" sz="1400" b="1" i="0" u="none" strike="noStrike" cap="none">
                <a:solidFill>
                  <a:srgbClr val="000000"/>
                </a:solidFill>
                <a:latin typeface="Arial"/>
                <a:ea typeface="Arial"/>
                <a:cs typeface="Arial"/>
                <a:sym typeface="Arial"/>
              </a:rPr>
              <a:t>repeated multiple times</a:t>
            </a:r>
            <a:r>
              <a:rPr lang="en" sz="1400" b="0" i="0" u="none" strike="noStrike" cap="none">
                <a:solidFill>
                  <a:srgbClr val="000000"/>
                </a:solidFill>
                <a:latin typeface="Arial"/>
                <a:ea typeface="Arial"/>
                <a:cs typeface="Arial"/>
                <a:sym typeface="Arial"/>
              </a:rPr>
              <a:t>, each time using a different fold as the test set.</a:t>
            </a:r>
            <a:endParaRPr/>
          </a:p>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Finally, the </a:t>
            </a:r>
            <a:r>
              <a:rPr lang="en" sz="1400" b="1" i="0" u="none" strike="noStrike" cap="none">
                <a:solidFill>
                  <a:srgbClr val="000000"/>
                </a:solidFill>
                <a:latin typeface="Arial"/>
                <a:ea typeface="Arial"/>
                <a:cs typeface="Arial"/>
                <a:sym typeface="Arial"/>
              </a:rPr>
              <a:t>average performance of all tests is calculated</a:t>
            </a:r>
            <a:r>
              <a:rPr lang="en" sz="1400" b="0" i="0" u="none" strike="noStrike" cap="none">
                <a:solidFill>
                  <a:srgbClr val="000000"/>
                </a:solidFill>
                <a:latin typeface="Arial"/>
                <a:ea typeface="Arial"/>
                <a:cs typeface="Arial"/>
                <a:sym typeface="Arial"/>
              </a:rPr>
              <a:t> to evaluate the model.</a:t>
            </a:r>
            <a:endParaRPr/>
          </a:p>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In simple words:</a:t>
            </a:r>
            <a:r>
              <a:rPr lang="en" sz="1400" b="0" i="0" u="none" strike="noStrike" cap="none">
                <a:solidFill>
                  <a:srgbClr val="000000"/>
                </a:solidFill>
                <a:latin typeface="Arial"/>
                <a:ea typeface="Arial"/>
                <a:cs typeface="Arial"/>
                <a:sym typeface="Arial"/>
              </a:rPr>
              <a:t> Every part of the dataset gets a chance to be </a:t>
            </a:r>
            <a:r>
              <a:rPr lang="en" sz="1400" b="1" i="0" u="none" strike="noStrike" cap="none">
                <a:solidFill>
                  <a:srgbClr val="000000"/>
                </a:solidFill>
                <a:latin typeface="Arial"/>
                <a:ea typeface="Arial"/>
                <a:cs typeface="Arial"/>
                <a:sym typeface="Arial"/>
              </a:rPr>
              <a:t>test data once and training data multiple times</a:t>
            </a:r>
            <a:r>
              <a:rPr lang="en" sz="1400" b="0" i="0" u="none" strike="noStrike" cap="none">
                <a:solidFill>
                  <a:srgbClr val="000000"/>
                </a:solidFill>
                <a:latin typeface="Arial"/>
                <a:ea typeface="Arial"/>
                <a:cs typeface="Arial"/>
                <a:sym typeface="Arial"/>
              </a:rPr>
              <a:t>.</a:t>
            </a:r>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6"/>
          <p:cNvSpPr txBox="1"/>
          <p:nvPr/>
        </p:nvSpPr>
        <p:spPr>
          <a:xfrm>
            <a:off x="0" y="0"/>
            <a:ext cx="9144000" cy="1984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en" sz="1100" b="0" i="0" u="none" strike="noStrike" cap="none">
                <a:solidFill>
                  <a:schemeClr val="dk1"/>
                </a:solidFill>
                <a:latin typeface="Arial"/>
                <a:ea typeface="Arial"/>
                <a:cs typeface="Arial"/>
                <a:sym typeface="Arial"/>
              </a:rPr>
              <a:t>Here </a:t>
            </a:r>
            <a:r>
              <a:rPr lang="en" sz="1100" b="1" i="0" u="none" strike="noStrike" cap="none">
                <a:solidFill>
                  <a:schemeClr val="dk1"/>
                </a:solidFill>
                <a:latin typeface="Arial"/>
                <a:ea typeface="Arial"/>
                <a:cs typeface="Arial"/>
                <a:sym typeface="Arial"/>
              </a:rPr>
              <a:t>k = 5</a:t>
            </a:r>
            <a:r>
              <a:rPr lang="en" sz="1100" b="0" i="0" u="none" strike="noStrike" cap="none">
                <a:solidFill>
                  <a:schemeClr val="dk1"/>
                </a:solidFill>
                <a:latin typeface="Arial"/>
                <a:ea typeface="Arial"/>
                <a:cs typeface="Arial"/>
                <a:sym typeface="Arial"/>
              </a:rPr>
              <a:t>, so the dataset is divided into </a:t>
            </a:r>
            <a:r>
              <a:rPr lang="en" sz="1100" b="1" i="0" u="none" strike="noStrike" cap="none">
                <a:solidFill>
                  <a:schemeClr val="dk1"/>
                </a:solidFill>
                <a:latin typeface="Arial"/>
                <a:ea typeface="Arial"/>
                <a:cs typeface="Arial"/>
                <a:sym typeface="Arial"/>
              </a:rPr>
              <a:t>5 folds</a:t>
            </a:r>
            <a:r>
              <a:rPr lang="en" sz="1100" b="0" i="0" u="none" strike="noStrike" cap="none">
                <a:solidFill>
                  <a:schemeClr val="dk1"/>
                </a:solidFill>
                <a:latin typeface="Arial"/>
                <a:ea typeface="Arial"/>
                <a:cs typeface="Arial"/>
                <a:sym typeface="Arial"/>
              </a:rPr>
              <a:t>.</a:t>
            </a:r>
            <a:endParaRPr sz="11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100"/>
              <a:buFont typeface="Arial"/>
              <a:buNone/>
            </a:pPr>
            <a:r>
              <a:rPr lang="en" sz="1100" b="1" i="0" u="none" strike="noStrike" cap="none">
                <a:solidFill>
                  <a:schemeClr val="dk1"/>
                </a:solidFill>
                <a:latin typeface="Arial"/>
                <a:ea typeface="Arial"/>
                <a:cs typeface="Arial"/>
                <a:sym typeface="Arial"/>
              </a:rPr>
              <a:t>1st Iteration:</a:t>
            </a:r>
            <a:br>
              <a:rPr lang="en" sz="1100" b="1" i="0" u="none" strike="noStrike" cap="none">
                <a:solidFill>
                  <a:schemeClr val="dk1"/>
                </a:solidFill>
                <a:latin typeface="Arial"/>
                <a:ea typeface="Arial"/>
                <a:cs typeface="Arial"/>
                <a:sym typeface="Arial"/>
              </a:rPr>
            </a:br>
            <a:r>
              <a:rPr lang="en" sz="1100" b="0" i="0" u="none" strike="noStrike" cap="none">
                <a:solidFill>
                  <a:schemeClr val="dk1"/>
                </a:solidFill>
                <a:latin typeface="Arial"/>
                <a:ea typeface="Arial"/>
                <a:cs typeface="Arial"/>
                <a:sym typeface="Arial"/>
              </a:rPr>
              <a:t> The first </a:t>
            </a:r>
            <a:r>
              <a:rPr lang="en" sz="1100" b="1" i="0" u="none" strike="noStrike" cap="none">
                <a:solidFill>
                  <a:schemeClr val="dk1"/>
                </a:solidFill>
                <a:latin typeface="Arial"/>
                <a:ea typeface="Arial"/>
                <a:cs typeface="Arial"/>
                <a:sym typeface="Arial"/>
              </a:rPr>
              <a:t>20% of data (1–5)</a:t>
            </a:r>
            <a:r>
              <a:rPr lang="en" sz="1100" b="0" i="0" u="none" strike="noStrike" cap="none">
                <a:solidFill>
                  <a:schemeClr val="dk1"/>
                </a:solidFill>
                <a:latin typeface="Arial"/>
                <a:ea typeface="Arial"/>
                <a:cs typeface="Arial"/>
                <a:sym typeface="Arial"/>
              </a:rPr>
              <a:t> is used for </a:t>
            </a:r>
            <a:r>
              <a:rPr lang="en" sz="1100" b="1" i="0" u="none" strike="noStrike" cap="none">
                <a:solidFill>
                  <a:schemeClr val="dk1"/>
                </a:solidFill>
                <a:latin typeface="Arial"/>
                <a:ea typeface="Arial"/>
                <a:cs typeface="Arial"/>
                <a:sym typeface="Arial"/>
              </a:rPr>
              <a:t>testing</a:t>
            </a:r>
            <a:r>
              <a:rPr lang="en" sz="1100" b="0" i="0" u="none" strike="noStrike" cap="none">
                <a:solidFill>
                  <a:schemeClr val="dk1"/>
                </a:solidFill>
                <a:latin typeface="Arial"/>
                <a:ea typeface="Arial"/>
                <a:cs typeface="Arial"/>
                <a:sym typeface="Arial"/>
              </a:rPr>
              <a:t>, and the remaining </a:t>
            </a:r>
            <a:r>
              <a:rPr lang="en" sz="1100" b="1" i="0" u="none" strike="noStrike" cap="none">
                <a:solidFill>
                  <a:schemeClr val="dk1"/>
                </a:solidFill>
                <a:latin typeface="Arial"/>
                <a:ea typeface="Arial"/>
                <a:cs typeface="Arial"/>
                <a:sym typeface="Arial"/>
              </a:rPr>
              <a:t>80% (6–25)</a:t>
            </a:r>
            <a:r>
              <a:rPr lang="en" sz="1100" b="0" i="0" u="none" strike="noStrike" cap="none">
                <a:solidFill>
                  <a:schemeClr val="dk1"/>
                </a:solidFill>
                <a:latin typeface="Arial"/>
                <a:ea typeface="Arial"/>
                <a:cs typeface="Arial"/>
                <a:sym typeface="Arial"/>
              </a:rPr>
              <a:t> is used for </a:t>
            </a:r>
            <a:r>
              <a:rPr lang="en" sz="1100" b="1" i="0" u="none" strike="noStrike" cap="none">
                <a:solidFill>
                  <a:schemeClr val="dk1"/>
                </a:solidFill>
                <a:latin typeface="Arial"/>
                <a:ea typeface="Arial"/>
                <a:cs typeface="Arial"/>
                <a:sym typeface="Arial"/>
              </a:rPr>
              <a:t>training</a:t>
            </a:r>
            <a:r>
              <a:rPr lang="en" sz="1100" b="0" i="0" u="none" strike="noStrike" cap="none">
                <a:solidFill>
                  <a:schemeClr val="dk1"/>
                </a:solidFill>
                <a:latin typeface="Arial"/>
                <a:ea typeface="Arial"/>
                <a:cs typeface="Arial"/>
                <a:sym typeface="Arial"/>
              </a:rPr>
              <a:t>.</a:t>
            </a:r>
            <a:endParaRPr sz="11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100"/>
              <a:buFont typeface="Arial"/>
              <a:buNone/>
            </a:pPr>
            <a:r>
              <a:rPr lang="en" sz="1100" b="1" i="0" u="none" strike="noStrike" cap="none">
                <a:solidFill>
                  <a:schemeClr val="dk1"/>
                </a:solidFill>
                <a:latin typeface="Arial"/>
                <a:ea typeface="Arial"/>
                <a:cs typeface="Arial"/>
                <a:sym typeface="Arial"/>
              </a:rPr>
              <a:t>2nd Iteration:</a:t>
            </a:r>
            <a:br>
              <a:rPr lang="en" sz="1100" b="1" i="0" u="none" strike="noStrike" cap="none">
                <a:solidFill>
                  <a:schemeClr val="dk1"/>
                </a:solidFill>
                <a:latin typeface="Arial"/>
                <a:ea typeface="Arial"/>
                <a:cs typeface="Arial"/>
                <a:sym typeface="Arial"/>
              </a:rPr>
            </a:br>
            <a:r>
              <a:rPr lang="en" sz="1100" b="0" i="0" u="none" strike="noStrike" cap="none">
                <a:solidFill>
                  <a:schemeClr val="dk1"/>
                </a:solidFill>
                <a:latin typeface="Arial"/>
                <a:ea typeface="Arial"/>
                <a:cs typeface="Arial"/>
                <a:sym typeface="Arial"/>
              </a:rPr>
              <a:t> The second </a:t>
            </a:r>
            <a:r>
              <a:rPr lang="en" sz="1100" b="1" i="0" u="none" strike="noStrike" cap="none">
                <a:solidFill>
                  <a:schemeClr val="dk1"/>
                </a:solidFill>
                <a:latin typeface="Arial"/>
                <a:ea typeface="Arial"/>
                <a:cs typeface="Arial"/>
                <a:sym typeface="Arial"/>
              </a:rPr>
              <a:t>20% of data (6–10)</a:t>
            </a:r>
            <a:r>
              <a:rPr lang="en" sz="1100" b="0" i="0" u="none" strike="noStrike" cap="none">
                <a:solidFill>
                  <a:schemeClr val="dk1"/>
                </a:solidFill>
                <a:latin typeface="Arial"/>
                <a:ea typeface="Arial"/>
                <a:cs typeface="Arial"/>
                <a:sym typeface="Arial"/>
              </a:rPr>
              <a:t> is used for </a:t>
            </a:r>
            <a:r>
              <a:rPr lang="en" sz="1100" b="1" i="0" u="none" strike="noStrike" cap="none">
                <a:solidFill>
                  <a:schemeClr val="dk1"/>
                </a:solidFill>
                <a:latin typeface="Arial"/>
                <a:ea typeface="Arial"/>
                <a:cs typeface="Arial"/>
                <a:sym typeface="Arial"/>
              </a:rPr>
              <a:t>testing</a:t>
            </a:r>
            <a:r>
              <a:rPr lang="en" sz="1100" b="0" i="0" u="none" strike="noStrike" cap="none">
                <a:solidFill>
                  <a:schemeClr val="dk1"/>
                </a:solidFill>
                <a:latin typeface="Arial"/>
                <a:ea typeface="Arial"/>
                <a:cs typeface="Arial"/>
                <a:sym typeface="Arial"/>
              </a:rPr>
              <a:t>, and the remaining </a:t>
            </a:r>
            <a:r>
              <a:rPr lang="en" sz="1100" b="1" i="0" u="none" strike="noStrike" cap="none">
                <a:solidFill>
                  <a:schemeClr val="dk1"/>
                </a:solidFill>
                <a:latin typeface="Arial"/>
                <a:ea typeface="Arial"/>
                <a:cs typeface="Arial"/>
                <a:sym typeface="Arial"/>
              </a:rPr>
              <a:t>(1–5) and (11–25)</a:t>
            </a:r>
            <a:r>
              <a:rPr lang="en" sz="1100" b="0" i="0" u="none" strike="noStrike" cap="none">
                <a:solidFill>
                  <a:schemeClr val="dk1"/>
                </a:solidFill>
                <a:latin typeface="Arial"/>
                <a:ea typeface="Arial"/>
                <a:cs typeface="Arial"/>
                <a:sym typeface="Arial"/>
              </a:rPr>
              <a:t> data is used for </a:t>
            </a:r>
            <a:r>
              <a:rPr lang="en" sz="1100" b="1" i="0" u="none" strike="noStrike" cap="none">
                <a:solidFill>
                  <a:schemeClr val="dk1"/>
                </a:solidFill>
                <a:latin typeface="Arial"/>
                <a:ea typeface="Arial"/>
                <a:cs typeface="Arial"/>
                <a:sym typeface="Arial"/>
              </a:rPr>
              <a:t>training</a:t>
            </a:r>
            <a:r>
              <a:rPr lang="en" sz="1100" b="0" i="0" u="none" strike="noStrike" cap="none">
                <a:solidFill>
                  <a:schemeClr val="dk1"/>
                </a:solidFill>
                <a:latin typeface="Arial"/>
                <a:ea typeface="Arial"/>
                <a:cs typeface="Arial"/>
                <a:sym typeface="Arial"/>
              </a:rPr>
              <a:t>.</a:t>
            </a:r>
            <a:endParaRPr sz="11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100"/>
              <a:buFont typeface="Arial"/>
              <a:buNone/>
            </a:pPr>
            <a:r>
              <a:rPr lang="en" sz="1100" b="0" i="0" u="none" strike="noStrike" cap="none">
                <a:solidFill>
                  <a:schemeClr val="dk1"/>
                </a:solidFill>
                <a:latin typeface="Arial"/>
                <a:ea typeface="Arial"/>
                <a:cs typeface="Arial"/>
                <a:sym typeface="Arial"/>
              </a:rPr>
              <a:t>This process continues until </a:t>
            </a:r>
            <a:r>
              <a:rPr lang="en" sz="1100" b="1" i="0" u="none" strike="noStrike" cap="none">
                <a:solidFill>
                  <a:schemeClr val="dk1"/>
                </a:solidFill>
                <a:latin typeface="Arial"/>
                <a:ea typeface="Arial"/>
                <a:cs typeface="Arial"/>
                <a:sym typeface="Arial"/>
              </a:rPr>
              <a:t>all 5 folds</a:t>
            </a:r>
            <a:r>
              <a:rPr lang="en" sz="1100" b="0" i="0" u="none" strike="noStrike" cap="none">
                <a:solidFill>
                  <a:schemeClr val="dk1"/>
                </a:solidFill>
                <a:latin typeface="Arial"/>
                <a:ea typeface="Arial"/>
                <a:cs typeface="Arial"/>
                <a:sym typeface="Arial"/>
              </a:rPr>
              <a:t> have been used </a:t>
            </a:r>
            <a:r>
              <a:rPr lang="en" sz="1100" b="1" i="0" u="none" strike="noStrike" cap="none">
                <a:solidFill>
                  <a:schemeClr val="dk1"/>
                </a:solidFill>
                <a:latin typeface="Arial"/>
                <a:ea typeface="Arial"/>
                <a:cs typeface="Arial"/>
                <a:sym typeface="Arial"/>
              </a:rPr>
              <a:t>once as the test set</a:t>
            </a:r>
            <a:r>
              <a:rPr lang="en" sz="1100" b="0" i="0" u="none" strike="noStrike" cap="none">
                <a:solidFill>
                  <a:schemeClr val="dk1"/>
                </a:solidFill>
                <a:latin typeface="Arial"/>
                <a:ea typeface="Arial"/>
                <a:cs typeface="Arial"/>
                <a:sym typeface="Arial"/>
              </a:rPr>
              <a:t>. After that, the </a:t>
            </a:r>
            <a:r>
              <a:rPr lang="en" sz="1100" b="1" i="0" u="none" strike="noStrike" cap="none">
                <a:solidFill>
                  <a:schemeClr val="dk1"/>
                </a:solidFill>
                <a:latin typeface="Arial"/>
                <a:ea typeface="Arial"/>
                <a:cs typeface="Arial"/>
                <a:sym typeface="Arial"/>
              </a:rPr>
              <a:t>average performance of all iterations</a:t>
            </a:r>
            <a:r>
              <a:rPr lang="en" sz="1100" b="0" i="0" u="none" strike="noStrike" cap="none">
                <a:solidFill>
                  <a:schemeClr val="dk1"/>
                </a:solidFill>
                <a:latin typeface="Arial"/>
                <a:ea typeface="Arial"/>
                <a:cs typeface="Arial"/>
                <a:sym typeface="Arial"/>
              </a:rPr>
              <a:t> is calculated to evaluate the model.</a:t>
            </a:r>
            <a:endParaRPr sz="1100" b="0" i="0" u="none" strike="noStrike" cap="none">
              <a:solidFill>
                <a:schemeClr val="dk1"/>
              </a:solidFill>
              <a:latin typeface="Arial"/>
              <a:ea typeface="Arial"/>
              <a:cs typeface="Arial"/>
              <a:sym typeface="Arial"/>
            </a:endParaRPr>
          </a:p>
        </p:txBody>
      </p:sp>
      <p:graphicFrame>
        <p:nvGraphicFramePr>
          <p:cNvPr id="83" name="Google Shape;83;p6"/>
          <p:cNvGraphicFramePr/>
          <p:nvPr/>
        </p:nvGraphicFramePr>
        <p:xfrm>
          <a:off x="139821" y="2050121"/>
          <a:ext cx="6631925" cy="2923032"/>
        </p:xfrm>
        <a:graphic>
          <a:graphicData uri="http://schemas.openxmlformats.org/drawingml/2006/table">
            <a:tbl>
              <a:tblPr>
                <a:solidFill>
                  <a:srgbClr val="FFFFFF"/>
                </a:solidFill>
                <a:tableStyleId>{DAAAB11E-7352-4B03-9855-7782D8CA6D09}</a:tableStyleId>
              </a:tblPr>
              <a:tblGrid>
                <a:gridCol w="947425"/>
                <a:gridCol w="2887350"/>
                <a:gridCol w="2797150"/>
              </a:tblGrid>
              <a:tr h="378375">
                <a:tc>
                  <a:txBody>
                    <a:bodyPr/>
                    <a:lstStyle/>
                    <a:p>
                      <a:pPr marL="0" marR="0" lvl="0" indent="0" algn="ctr" rtl="0">
                        <a:lnSpc>
                          <a:spcPct val="120000"/>
                        </a:lnSpc>
                        <a:spcBef>
                          <a:spcPts val="0"/>
                        </a:spcBef>
                        <a:spcAft>
                          <a:spcPts val="0"/>
                        </a:spcAft>
                        <a:buClr>
                          <a:srgbClr val="000000"/>
                        </a:buClr>
                        <a:buSzPts val="1400"/>
                        <a:buFont typeface="Arial"/>
                        <a:buNone/>
                      </a:pPr>
                      <a:r>
                        <a:rPr lang="en" sz="1400" b="1" u="none" strike="noStrike" cap="none">
                          <a:solidFill>
                            <a:srgbClr val="273239"/>
                          </a:solidFill>
                          <a:highlight>
                            <a:srgbClr val="FFFFFF"/>
                          </a:highlight>
                          <a:latin typeface="Nunito"/>
                          <a:ea typeface="Nunito"/>
                          <a:cs typeface="Nunito"/>
                          <a:sym typeface="Nunito"/>
                        </a:rPr>
                        <a:t>Iteration</a:t>
                      </a:r>
                      <a:endParaRPr sz="1400" b="1" u="none" strike="noStrike" cap="none">
                        <a:solidFill>
                          <a:srgbClr val="273239"/>
                        </a:solidFill>
                        <a:highlight>
                          <a:srgbClr val="FFFFFF"/>
                        </a:highlight>
                        <a:latin typeface="Nunito"/>
                        <a:ea typeface="Nunito"/>
                        <a:cs typeface="Nunito"/>
                        <a:sym typeface="Nunito"/>
                      </a:endParaRPr>
                    </a:p>
                  </a:txBody>
                  <a:tcPr marL="38100" marR="38100" marT="95250" marB="952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9F9F9"/>
                    </a:solidFill>
                  </a:tcPr>
                </a:tc>
                <a:tc>
                  <a:txBody>
                    <a:bodyPr/>
                    <a:lstStyle/>
                    <a:p>
                      <a:pPr marL="0" marR="0" lvl="0" indent="0" algn="ctr" rtl="0">
                        <a:lnSpc>
                          <a:spcPct val="120000"/>
                        </a:lnSpc>
                        <a:spcBef>
                          <a:spcPts val="0"/>
                        </a:spcBef>
                        <a:spcAft>
                          <a:spcPts val="0"/>
                        </a:spcAft>
                        <a:buClr>
                          <a:srgbClr val="000000"/>
                        </a:buClr>
                        <a:buSzPts val="1400"/>
                        <a:buFont typeface="Arial"/>
                        <a:buNone/>
                      </a:pPr>
                      <a:r>
                        <a:rPr lang="en" sz="1400" b="1" u="none" strike="noStrike" cap="none">
                          <a:solidFill>
                            <a:srgbClr val="273239"/>
                          </a:solidFill>
                          <a:highlight>
                            <a:srgbClr val="FFFFFF"/>
                          </a:highlight>
                          <a:latin typeface="Nunito"/>
                          <a:ea typeface="Nunito"/>
                          <a:cs typeface="Nunito"/>
                          <a:sym typeface="Nunito"/>
                        </a:rPr>
                        <a:t>Training Set Observations</a:t>
                      </a:r>
                      <a:endParaRPr sz="1400" b="1" u="none" strike="noStrike" cap="none">
                        <a:solidFill>
                          <a:srgbClr val="273239"/>
                        </a:solidFill>
                        <a:highlight>
                          <a:srgbClr val="FFFFFF"/>
                        </a:highlight>
                        <a:latin typeface="Nunito"/>
                        <a:ea typeface="Nunito"/>
                        <a:cs typeface="Nunito"/>
                        <a:sym typeface="Nunito"/>
                      </a:endParaRPr>
                    </a:p>
                  </a:txBody>
                  <a:tcPr marL="95250" marR="95250" marT="95250" marB="952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9F9F9"/>
                    </a:solidFill>
                  </a:tcPr>
                </a:tc>
                <a:tc>
                  <a:txBody>
                    <a:bodyPr/>
                    <a:lstStyle/>
                    <a:p>
                      <a:pPr marL="0" marR="0" lvl="0" indent="0" algn="ctr" rtl="0">
                        <a:lnSpc>
                          <a:spcPct val="120000"/>
                        </a:lnSpc>
                        <a:spcBef>
                          <a:spcPts val="0"/>
                        </a:spcBef>
                        <a:spcAft>
                          <a:spcPts val="0"/>
                        </a:spcAft>
                        <a:buClr>
                          <a:srgbClr val="000000"/>
                        </a:buClr>
                        <a:buSzPts val="1400"/>
                        <a:buFont typeface="Arial"/>
                        <a:buNone/>
                      </a:pPr>
                      <a:r>
                        <a:rPr lang="en" sz="1400" b="1" u="none" strike="noStrike" cap="none">
                          <a:solidFill>
                            <a:srgbClr val="273239"/>
                          </a:solidFill>
                          <a:highlight>
                            <a:srgbClr val="FFFFFF"/>
                          </a:highlight>
                          <a:latin typeface="Nunito"/>
                          <a:ea typeface="Nunito"/>
                          <a:cs typeface="Nunito"/>
                          <a:sym typeface="Nunito"/>
                        </a:rPr>
                        <a:t>Testing Set Observations</a:t>
                      </a:r>
                      <a:endParaRPr sz="1400" b="1" u="none" strike="noStrike" cap="none">
                        <a:solidFill>
                          <a:srgbClr val="273239"/>
                        </a:solidFill>
                        <a:highlight>
                          <a:srgbClr val="FFFFFF"/>
                        </a:highlight>
                        <a:latin typeface="Nunito"/>
                        <a:ea typeface="Nunito"/>
                        <a:cs typeface="Nunito"/>
                        <a:sym typeface="Nunito"/>
                      </a:endParaRPr>
                    </a:p>
                  </a:txBody>
                  <a:tcPr marL="95250" marR="95250" marT="95250" marB="952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9F9F9"/>
                    </a:solidFill>
                  </a:tcPr>
                </a:tc>
              </a:tr>
              <a:tr h="418625">
                <a:tc>
                  <a:txBody>
                    <a:bodyPr/>
                    <a:lstStyle/>
                    <a:p>
                      <a:pPr marL="0" marR="0" lvl="0" indent="0" algn="ctr" rtl="0">
                        <a:lnSpc>
                          <a:spcPct val="120000"/>
                        </a:lnSpc>
                        <a:spcBef>
                          <a:spcPts val="0"/>
                        </a:spcBef>
                        <a:spcAft>
                          <a:spcPts val="0"/>
                        </a:spcAft>
                        <a:buClr>
                          <a:srgbClr val="000000"/>
                        </a:buClr>
                        <a:buSzPts val="1350"/>
                        <a:buFont typeface="Arial"/>
                        <a:buNone/>
                      </a:pPr>
                      <a:r>
                        <a:rPr lang="en" sz="1350" b="1" u="none" strike="noStrike" cap="none">
                          <a:solidFill>
                            <a:srgbClr val="273239"/>
                          </a:solidFill>
                          <a:highlight>
                            <a:srgbClr val="FFFFFF"/>
                          </a:highlight>
                          <a:latin typeface="Nunito"/>
                          <a:ea typeface="Nunito"/>
                          <a:cs typeface="Nunito"/>
                          <a:sym typeface="Nunito"/>
                        </a:rPr>
                        <a:t>1</a:t>
                      </a:r>
                      <a:endParaRPr sz="1350" b="1" u="none" strike="noStrike" cap="none">
                        <a:solidFill>
                          <a:srgbClr val="273239"/>
                        </a:solidFill>
                        <a:highlight>
                          <a:srgbClr val="FFFFFF"/>
                        </a:highlight>
                        <a:latin typeface="Nunito"/>
                        <a:ea typeface="Nunito"/>
                        <a:cs typeface="Nunito"/>
                        <a:sym typeface="Nunito"/>
                      </a:endParaRPr>
                    </a:p>
                  </a:txBody>
                  <a:tcPr marL="38100" marR="38100" marT="54775" marB="547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9F9F9"/>
                    </a:solidFill>
                  </a:tcPr>
                </a:tc>
                <a:tc>
                  <a:txBody>
                    <a:bodyPr/>
                    <a:lstStyle/>
                    <a:p>
                      <a:pPr marL="0" marR="0" lvl="0" indent="0" algn="ctr" rtl="0">
                        <a:lnSpc>
                          <a:spcPct val="120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[5-24]</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20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[0-4]</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418625">
                <a:tc>
                  <a:txBody>
                    <a:bodyPr/>
                    <a:lstStyle/>
                    <a:p>
                      <a:pPr marL="0" marR="0" lvl="0" indent="0" algn="ctr" rtl="0">
                        <a:lnSpc>
                          <a:spcPct val="120000"/>
                        </a:lnSpc>
                        <a:spcBef>
                          <a:spcPts val="0"/>
                        </a:spcBef>
                        <a:spcAft>
                          <a:spcPts val="0"/>
                        </a:spcAft>
                        <a:buClr>
                          <a:srgbClr val="000000"/>
                        </a:buClr>
                        <a:buSzPts val="1350"/>
                        <a:buFont typeface="Arial"/>
                        <a:buNone/>
                      </a:pPr>
                      <a:r>
                        <a:rPr lang="en" sz="1350" b="1" u="none" strike="noStrike" cap="none">
                          <a:solidFill>
                            <a:srgbClr val="273239"/>
                          </a:solidFill>
                          <a:highlight>
                            <a:srgbClr val="FFFFFF"/>
                          </a:highlight>
                          <a:latin typeface="Nunito"/>
                          <a:ea typeface="Nunito"/>
                          <a:cs typeface="Nunito"/>
                          <a:sym typeface="Nunito"/>
                        </a:rPr>
                        <a:t>2</a:t>
                      </a:r>
                      <a:endParaRPr sz="1350" b="1" u="none" strike="noStrike" cap="none">
                        <a:solidFill>
                          <a:srgbClr val="273239"/>
                        </a:solidFill>
                        <a:highlight>
                          <a:srgbClr val="FFFFFF"/>
                        </a:highlight>
                        <a:latin typeface="Nunito"/>
                        <a:ea typeface="Nunito"/>
                        <a:cs typeface="Nunito"/>
                        <a:sym typeface="Nunito"/>
                      </a:endParaRPr>
                    </a:p>
                  </a:txBody>
                  <a:tcPr marL="38100" marR="38100" marT="54775" marB="547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9F9F9"/>
                    </a:solidFill>
                  </a:tcPr>
                </a:tc>
                <a:tc>
                  <a:txBody>
                    <a:bodyPr/>
                    <a:lstStyle/>
                    <a:p>
                      <a:pPr marL="0" marR="0" lvl="0" indent="0" algn="ctr" rtl="0">
                        <a:lnSpc>
                          <a:spcPct val="120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[0-4, 10-24]</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20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[5-9]</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418625">
                <a:tc>
                  <a:txBody>
                    <a:bodyPr/>
                    <a:lstStyle/>
                    <a:p>
                      <a:pPr marL="0" marR="0" lvl="0" indent="0" algn="ctr" rtl="0">
                        <a:lnSpc>
                          <a:spcPct val="120000"/>
                        </a:lnSpc>
                        <a:spcBef>
                          <a:spcPts val="0"/>
                        </a:spcBef>
                        <a:spcAft>
                          <a:spcPts val="0"/>
                        </a:spcAft>
                        <a:buClr>
                          <a:srgbClr val="000000"/>
                        </a:buClr>
                        <a:buSzPts val="1350"/>
                        <a:buFont typeface="Arial"/>
                        <a:buNone/>
                      </a:pPr>
                      <a:r>
                        <a:rPr lang="en" sz="1350" b="1" u="none" strike="noStrike" cap="none">
                          <a:solidFill>
                            <a:srgbClr val="273239"/>
                          </a:solidFill>
                          <a:highlight>
                            <a:srgbClr val="FFFFFF"/>
                          </a:highlight>
                          <a:latin typeface="Nunito"/>
                          <a:ea typeface="Nunito"/>
                          <a:cs typeface="Nunito"/>
                          <a:sym typeface="Nunito"/>
                        </a:rPr>
                        <a:t>3</a:t>
                      </a:r>
                      <a:endParaRPr sz="1350" b="1" u="none" strike="noStrike" cap="none">
                        <a:solidFill>
                          <a:srgbClr val="273239"/>
                        </a:solidFill>
                        <a:highlight>
                          <a:srgbClr val="FFFFFF"/>
                        </a:highlight>
                        <a:latin typeface="Nunito"/>
                        <a:ea typeface="Nunito"/>
                        <a:cs typeface="Nunito"/>
                        <a:sym typeface="Nunito"/>
                      </a:endParaRPr>
                    </a:p>
                  </a:txBody>
                  <a:tcPr marL="38100" marR="38100" marT="54775" marB="547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9F9F9"/>
                    </a:solidFill>
                  </a:tcPr>
                </a:tc>
                <a:tc>
                  <a:txBody>
                    <a:bodyPr/>
                    <a:lstStyle/>
                    <a:p>
                      <a:pPr marL="0" marR="0" lvl="0" indent="0" algn="ctr" rtl="0">
                        <a:lnSpc>
                          <a:spcPct val="120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[0-9, 15-24]</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20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[10-14]</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418625">
                <a:tc>
                  <a:txBody>
                    <a:bodyPr/>
                    <a:lstStyle/>
                    <a:p>
                      <a:pPr marL="0" marR="0" lvl="0" indent="0" algn="ctr" rtl="0">
                        <a:lnSpc>
                          <a:spcPct val="120000"/>
                        </a:lnSpc>
                        <a:spcBef>
                          <a:spcPts val="0"/>
                        </a:spcBef>
                        <a:spcAft>
                          <a:spcPts val="0"/>
                        </a:spcAft>
                        <a:buClr>
                          <a:srgbClr val="000000"/>
                        </a:buClr>
                        <a:buSzPts val="1350"/>
                        <a:buFont typeface="Arial"/>
                        <a:buNone/>
                      </a:pPr>
                      <a:r>
                        <a:rPr lang="en" sz="1350" b="1" u="none" strike="noStrike" cap="none">
                          <a:solidFill>
                            <a:srgbClr val="273239"/>
                          </a:solidFill>
                          <a:highlight>
                            <a:srgbClr val="FFFFFF"/>
                          </a:highlight>
                          <a:latin typeface="Nunito"/>
                          <a:ea typeface="Nunito"/>
                          <a:cs typeface="Nunito"/>
                          <a:sym typeface="Nunito"/>
                        </a:rPr>
                        <a:t>4</a:t>
                      </a:r>
                      <a:endParaRPr sz="1350" b="1" u="none" strike="noStrike" cap="none">
                        <a:solidFill>
                          <a:srgbClr val="273239"/>
                        </a:solidFill>
                        <a:highlight>
                          <a:srgbClr val="FFFFFF"/>
                        </a:highlight>
                        <a:latin typeface="Nunito"/>
                        <a:ea typeface="Nunito"/>
                        <a:cs typeface="Nunito"/>
                        <a:sym typeface="Nunito"/>
                      </a:endParaRPr>
                    </a:p>
                  </a:txBody>
                  <a:tcPr marL="38100" marR="38100" marT="54775" marB="547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9F9F9"/>
                    </a:solidFill>
                  </a:tcPr>
                </a:tc>
                <a:tc>
                  <a:txBody>
                    <a:bodyPr/>
                    <a:lstStyle/>
                    <a:p>
                      <a:pPr marL="0" marR="0" lvl="0" indent="0" algn="ctr" rtl="0">
                        <a:lnSpc>
                          <a:spcPct val="120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[0-14, 20-24]</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20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[15-19]</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418625">
                <a:tc>
                  <a:txBody>
                    <a:bodyPr/>
                    <a:lstStyle/>
                    <a:p>
                      <a:pPr marL="0" marR="0" lvl="0" indent="0" algn="ctr" rtl="0">
                        <a:lnSpc>
                          <a:spcPct val="120000"/>
                        </a:lnSpc>
                        <a:spcBef>
                          <a:spcPts val="0"/>
                        </a:spcBef>
                        <a:spcAft>
                          <a:spcPts val="0"/>
                        </a:spcAft>
                        <a:buClr>
                          <a:srgbClr val="000000"/>
                        </a:buClr>
                        <a:buSzPts val="1350"/>
                        <a:buFont typeface="Arial"/>
                        <a:buNone/>
                      </a:pPr>
                      <a:r>
                        <a:rPr lang="en" sz="1350" b="1" u="none" strike="noStrike" cap="none">
                          <a:solidFill>
                            <a:srgbClr val="273239"/>
                          </a:solidFill>
                          <a:highlight>
                            <a:srgbClr val="FFFFFF"/>
                          </a:highlight>
                          <a:latin typeface="Nunito"/>
                          <a:ea typeface="Nunito"/>
                          <a:cs typeface="Nunito"/>
                          <a:sym typeface="Nunito"/>
                        </a:rPr>
                        <a:t>5</a:t>
                      </a:r>
                      <a:endParaRPr sz="1350" b="1" u="none" strike="noStrike" cap="none">
                        <a:solidFill>
                          <a:srgbClr val="273239"/>
                        </a:solidFill>
                        <a:highlight>
                          <a:srgbClr val="FFFFFF"/>
                        </a:highlight>
                        <a:latin typeface="Nunito"/>
                        <a:ea typeface="Nunito"/>
                        <a:cs typeface="Nunito"/>
                        <a:sym typeface="Nunito"/>
                      </a:endParaRPr>
                    </a:p>
                  </a:txBody>
                  <a:tcPr marL="38100" marR="38100" marT="54775" marB="547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9F9F9"/>
                    </a:solidFill>
                  </a:tcPr>
                </a:tc>
                <a:tc>
                  <a:txBody>
                    <a:bodyPr/>
                    <a:lstStyle/>
                    <a:p>
                      <a:pPr marL="0" marR="0" lvl="0" indent="0" algn="ctr" rtl="0">
                        <a:lnSpc>
                          <a:spcPct val="120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[0-19]</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20000"/>
                        </a:lnSpc>
                        <a:spcBef>
                          <a:spcPts val="0"/>
                        </a:spcBef>
                        <a:spcAft>
                          <a:spcPts val="0"/>
                        </a:spcAft>
                        <a:buClr>
                          <a:srgbClr val="000000"/>
                        </a:buClr>
                        <a:buSzPts val="1250"/>
                        <a:buFont typeface="Arial"/>
                        <a:buNone/>
                      </a:pPr>
                      <a:r>
                        <a:rPr lang="en" sz="1250" u="none" strike="noStrike" cap="none">
                          <a:solidFill>
                            <a:srgbClr val="273239"/>
                          </a:solidFill>
                          <a:highlight>
                            <a:srgbClr val="FFFFFF"/>
                          </a:highlight>
                          <a:latin typeface="Nunito"/>
                          <a:ea typeface="Nunito"/>
                          <a:cs typeface="Nunito"/>
                          <a:sym typeface="Nunito"/>
                        </a:rPr>
                        <a:t>[20-24]</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sp>
        <p:nvSpPr>
          <p:cNvPr id="84" name="Google Shape;84;p6"/>
          <p:cNvSpPr txBox="1"/>
          <p:nvPr/>
        </p:nvSpPr>
        <p:spPr>
          <a:xfrm>
            <a:off x="6841250" y="2050125"/>
            <a:ext cx="2192400" cy="2886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50"/>
              <a:buFont typeface="Arial"/>
              <a:buNone/>
            </a:pPr>
            <a:r>
              <a:rPr lang="en" sz="1950" b="0" i="0" u="none" strike="noStrike" cap="none">
                <a:solidFill>
                  <a:srgbClr val="273239"/>
                </a:solidFill>
                <a:highlight>
                  <a:srgbClr val="FFFFFF"/>
                </a:highlight>
                <a:latin typeface="Nunito"/>
                <a:ea typeface="Nunito"/>
                <a:cs typeface="Nunito"/>
                <a:sym typeface="Nunito"/>
              </a:rPr>
              <a:t>Each iteration uses different subsets for testing and training, ensuring that all data points are used for both training and testing.</a:t>
            </a:r>
            <a:endParaRPr sz="20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aphicFrame>
        <p:nvGraphicFramePr>
          <p:cNvPr id="89" name="Google Shape;89;p7"/>
          <p:cNvGraphicFramePr/>
          <p:nvPr/>
        </p:nvGraphicFramePr>
        <p:xfrm>
          <a:off x="44450" y="1007555"/>
          <a:ext cx="9077325" cy="3806950"/>
        </p:xfrm>
        <a:graphic>
          <a:graphicData uri="http://schemas.openxmlformats.org/drawingml/2006/table">
            <a:tbl>
              <a:tblPr>
                <a:noFill/>
                <a:tableStyleId>{DAAAB11E-7352-4B03-9855-7782D8CA6D09}</a:tableStyleId>
              </a:tblPr>
              <a:tblGrid>
                <a:gridCol w="1209675"/>
                <a:gridCol w="4219575"/>
                <a:gridCol w="3648075"/>
              </a:tblGrid>
              <a:tr h="473450">
                <a:tc>
                  <a:txBody>
                    <a:bodyPr/>
                    <a:lstStyle/>
                    <a:p>
                      <a:pPr marL="0" marR="0" lvl="0" indent="0" algn="ctr" rtl="0">
                        <a:lnSpc>
                          <a:spcPct val="115000"/>
                        </a:lnSpc>
                        <a:spcBef>
                          <a:spcPts val="0"/>
                        </a:spcBef>
                        <a:spcAft>
                          <a:spcPts val="0"/>
                        </a:spcAft>
                        <a:buClr>
                          <a:srgbClr val="000000"/>
                        </a:buClr>
                        <a:buSzPts val="1100"/>
                        <a:buFont typeface="Arial"/>
                        <a:buNone/>
                      </a:pPr>
                      <a:r>
                        <a:rPr lang="en" sz="1100" b="1" u="none" strike="noStrike" cap="none"/>
                        <a:t>Feature</a:t>
                      </a:r>
                      <a:endParaRPr sz="1100" b="1"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100"/>
                        <a:buFont typeface="Arial"/>
                        <a:buNone/>
                      </a:pPr>
                      <a:r>
                        <a:rPr lang="en" sz="1100" b="1" u="none" strike="noStrike" cap="none"/>
                        <a:t>K-Fold Cross-Validation</a:t>
                      </a:r>
                      <a:endParaRPr sz="1100" b="1"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100"/>
                        <a:buFont typeface="Arial"/>
                        <a:buNone/>
                      </a:pPr>
                      <a:r>
                        <a:rPr lang="en" sz="1100" b="1" u="none" strike="noStrike" cap="none"/>
                        <a:t>Holdout Method</a:t>
                      </a:r>
                      <a:endParaRPr sz="1100" b="1"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666700">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a:t>Data Split</a:t>
                      </a:r>
                      <a:endParaRPr sz="1100" b="1"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Dataset is divided into </a:t>
                      </a:r>
                      <a:r>
                        <a:rPr lang="en" sz="1100" b="1" u="none" strike="noStrike" cap="none"/>
                        <a:t>k folds</a:t>
                      </a:r>
                      <a:r>
                        <a:rPr lang="en" sz="1100" u="none" strike="noStrike" cap="none"/>
                        <a:t>, and each fold is used once as the test set</a:t>
                      </a:r>
                      <a:endParaRPr sz="11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Dataset is split </a:t>
                      </a:r>
                      <a:r>
                        <a:rPr lang="en" sz="1100" b="1" u="none" strike="noStrike" cap="none"/>
                        <a:t>once</a:t>
                      </a:r>
                      <a:r>
                        <a:rPr lang="en" sz="1100" u="none" strike="noStrike" cap="none"/>
                        <a:t> into training and testing sets</a:t>
                      </a:r>
                      <a:endParaRPr sz="11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666700">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a:t>Training &amp; Testing</a:t>
                      </a:r>
                      <a:endParaRPr sz="1100" b="1"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Model is </a:t>
                      </a:r>
                      <a:r>
                        <a:rPr lang="en" sz="1100" b="1" u="none" strike="noStrike" cap="none"/>
                        <a:t>trained and tested k times</a:t>
                      </a:r>
                      <a:r>
                        <a:rPr lang="en" sz="1100" u="none" strike="noStrike" cap="none"/>
                        <a:t>, each fold becomes the test set once</a:t>
                      </a:r>
                      <a:endParaRPr sz="11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Model is </a:t>
                      </a:r>
                      <a:r>
                        <a:rPr lang="en" sz="1100" b="1" u="none" strike="noStrike" cap="none"/>
                        <a:t>trained once</a:t>
                      </a:r>
                      <a:r>
                        <a:rPr lang="en" sz="1100" u="none" strike="noStrike" cap="none"/>
                        <a:t> and tested once</a:t>
                      </a:r>
                      <a:endParaRPr sz="11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666700">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a:t>Bias &amp; Variance</a:t>
                      </a:r>
                      <a:endParaRPr sz="1100" b="1"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a:t>Lower bias</a:t>
                      </a:r>
                      <a:r>
                        <a:rPr lang="en" sz="1100" u="none" strike="noStrike" cap="none"/>
                        <a:t> and more reliable performance estimate</a:t>
                      </a:r>
                      <a:endParaRPr sz="11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a:t>Higher bias</a:t>
                      </a:r>
                      <a:r>
                        <a:rPr lang="en" sz="1100" u="none" strike="noStrike" cap="none"/>
                        <a:t> if the data split is not representative</a:t>
                      </a:r>
                      <a:endParaRPr sz="11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666700">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a:t>Execution Time</a:t>
                      </a:r>
                      <a:endParaRPr sz="1100" b="1"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a:t>Slower</a:t>
                      </a:r>
                      <a:r>
                        <a:rPr lang="en" sz="1100" u="none" strike="noStrike" cap="none"/>
                        <a:t> because the model is trained </a:t>
                      </a:r>
                      <a:r>
                        <a:rPr lang="en" sz="1100" b="1" u="none" strike="noStrike" cap="none"/>
                        <a:t>k times</a:t>
                      </a:r>
                      <a:endParaRPr sz="1100" b="1"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a:t>Faster</a:t>
                      </a:r>
                      <a:r>
                        <a:rPr lang="en" sz="1100" u="none" strike="noStrike" cap="none"/>
                        <a:t> since training happens only once</a:t>
                      </a:r>
                      <a:endParaRPr sz="11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666700">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a:t>Best Use Case</a:t>
                      </a:r>
                      <a:endParaRPr sz="1100" b="1"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Good for </a:t>
                      </a:r>
                      <a:r>
                        <a:rPr lang="en" sz="1100" b="1" u="none" strike="noStrike" cap="none"/>
                        <a:t>small to medium datasets</a:t>
                      </a:r>
                      <a:r>
                        <a:rPr lang="en" sz="1100" u="none" strike="noStrike" cap="none"/>
                        <a:t> where accurate evaluation is needed</a:t>
                      </a:r>
                      <a:endParaRPr sz="11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Good for </a:t>
                      </a:r>
                      <a:r>
                        <a:rPr lang="en" sz="1100" b="1" u="none" strike="noStrike" cap="none"/>
                        <a:t>very large datasets</a:t>
                      </a:r>
                      <a:r>
                        <a:rPr lang="en" sz="1100" u="none" strike="noStrike" cap="none"/>
                        <a:t> or when quick results are needed</a:t>
                      </a:r>
                      <a:endParaRPr sz="11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sp>
        <p:nvSpPr>
          <p:cNvPr id="90" name="Google Shape;90;p7"/>
          <p:cNvSpPr txBox="1"/>
          <p:nvPr/>
        </p:nvSpPr>
        <p:spPr>
          <a:xfrm>
            <a:off x="304800" y="78436"/>
            <a:ext cx="8615700" cy="8856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1200"/>
              </a:spcBef>
              <a:spcAft>
                <a:spcPts val="1200"/>
              </a:spcAft>
              <a:buClr>
                <a:srgbClr val="000000"/>
              </a:buClr>
              <a:buSzPts val="2000"/>
              <a:buFont typeface="Arial"/>
              <a:buNone/>
            </a:pPr>
            <a:r>
              <a:rPr lang="en" sz="2000" b="1" i="0" u="none" strike="noStrike" cap="none">
                <a:solidFill>
                  <a:srgbClr val="000000"/>
                </a:solidFill>
                <a:latin typeface="Arial"/>
                <a:ea typeface="Arial"/>
                <a:cs typeface="Arial"/>
                <a:sym typeface="Arial"/>
              </a:rPr>
              <a:t>Comparison between K-Fold Cross-Validation and Holdout Method</a:t>
            </a:r>
            <a:endParaRPr sz="2000" b="1"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8"/>
          <p:cNvSpPr txBox="1"/>
          <p:nvPr/>
        </p:nvSpPr>
        <p:spPr>
          <a:xfrm>
            <a:off x="0" y="62879"/>
            <a:ext cx="9144000" cy="3687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2100"/>
              <a:buFont typeface="Arial"/>
              <a:buNone/>
            </a:pPr>
            <a:r>
              <a:rPr lang="en" sz="2100" b="1" i="0" u="sng" strike="noStrike" cap="none">
                <a:solidFill>
                  <a:schemeClr val="dk1"/>
                </a:solidFill>
                <a:latin typeface="Arial"/>
                <a:ea typeface="Arial"/>
                <a:cs typeface="Arial"/>
                <a:sym typeface="Arial"/>
              </a:rPr>
              <a:t>Python Implementation for K-Fold Cross-Validation</a:t>
            </a:r>
            <a:endParaRPr sz="2100" b="1" i="0" u="sng"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700"/>
              <a:buFont typeface="Arial"/>
              <a:buNone/>
            </a:pPr>
            <a:r>
              <a:rPr lang="en" sz="1700" b="1" i="0" u="none" strike="noStrike" cap="none">
                <a:solidFill>
                  <a:schemeClr val="dk1"/>
                </a:solidFill>
                <a:latin typeface="Arial"/>
                <a:ea typeface="Arial"/>
                <a:cs typeface="Arial"/>
                <a:sym typeface="Arial"/>
              </a:rPr>
              <a:t>Step 1: Import Necessary Libraries</a:t>
            </a:r>
            <a:endParaRPr sz="17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700"/>
              <a:buFont typeface="Arial"/>
              <a:buNone/>
            </a:pPr>
            <a:r>
              <a:rPr lang="en" sz="1700" b="0" i="0" u="none" strike="noStrike" cap="none">
                <a:solidFill>
                  <a:schemeClr val="dk1"/>
                </a:solidFill>
                <a:latin typeface="Arial"/>
                <a:ea typeface="Arial"/>
                <a:cs typeface="Arial"/>
                <a:sym typeface="Arial"/>
              </a:rPr>
              <a:t>First, we import the required modules from </a:t>
            </a:r>
            <a:r>
              <a:rPr lang="en" sz="1700" b="1" i="0" u="none" strike="noStrike" cap="none">
                <a:solidFill>
                  <a:schemeClr val="dk1"/>
                </a:solidFill>
                <a:latin typeface="Arial"/>
                <a:ea typeface="Arial"/>
                <a:cs typeface="Arial"/>
                <a:sym typeface="Arial"/>
              </a:rPr>
              <a:t>scikit-learn</a:t>
            </a:r>
            <a:r>
              <a:rPr lang="en" sz="1700" b="0" i="0" u="none" strike="noStrike" cap="none">
                <a:solidFill>
                  <a:schemeClr val="dk1"/>
                </a:solidFill>
                <a:latin typeface="Arial"/>
                <a:ea typeface="Arial"/>
                <a:cs typeface="Arial"/>
                <a:sym typeface="Arial"/>
              </a:rPr>
              <a:t>.</a:t>
            </a:r>
            <a:endParaRPr sz="1700" b="0" i="0" u="none" strike="noStrike" cap="none">
              <a:solidFill>
                <a:schemeClr val="dk1"/>
              </a:solidFill>
              <a:latin typeface="Arial"/>
              <a:ea typeface="Arial"/>
              <a:cs typeface="Arial"/>
              <a:sym typeface="Arial"/>
            </a:endParaRPr>
          </a:p>
          <a:p>
            <a:pPr marL="457200" marR="0" lvl="0" indent="-336550" algn="l" rtl="0">
              <a:lnSpc>
                <a:spcPct val="115000"/>
              </a:lnSpc>
              <a:spcBef>
                <a:spcPts val="1200"/>
              </a:spcBef>
              <a:spcAft>
                <a:spcPts val="0"/>
              </a:spcAft>
              <a:buClr>
                <a:schemeClr val="dk1"/>
              </a:buClr>
              <a:buSzPts val="1700"/>
              <a:buFont typeface="Arial"/>
              <a:buChar char="●"/>
            </a:pPr>
            <a:r>
              <a:rPr lang="en" sz="1700" b="1" i="0" u="none" strike="noStrike" cap="none">
                <a:solidFill>
                  <a:schemeClr val="dk1"/>
                </a:solidFill>
                <a:latin typeface="Arial"/>
                <a:ea typeface="Arial"/>
                <a:cs typeface="Arial"/>
                <a:sym typeface="Arial"/>
              </a:rPr>
              <a:t>cross_val_score</a:t>
            </a:r>
            <a:r>
              <a:rPr lang="en" sz="1700" b="0" i="0" u="none" strike="noStrike" cap="none">
                <a:solidFill>
                  <a:schemeClr val="dk1"/>
                </a:solidFill>
                <a:latin typeface="Arial"/>
                <a:ea typeface="Arial"/>
                <a:cs typeface="Arial"/>
                <a:sym typeface="Arial"/>
              </a:rPr>
              <a:t> is used to evaluate the model using cross-validation.</a:t>
            </a:r>
            <a:br>
              <a:rPr lang="en" sz="1700" b="0" i="0" u="none" strike="noStrike" cap="none">
                <a:solidFill>
                  <a:schemeClr val="dk1"/>
                </a:solidFill>
                <a:latin typeface="Arial"/>
                <a:ea typeface="Arial"/>
                <a:cs typeface="Arial"/>
                <a:sym typeface="Arial"/>
              </a:rPr>
            </a:br>
            <a:endParaRPr sz="1700" b="0" i="0" u="none" strike="noStrike" cap="none">
              <a:solidFill>
                <a:schemeClr val="dk1"/>
              </a:solidFill>
              <a:latin typeface="Arial"/>
              <a:ea typeface="Arial"/>
              <a:cs typeface="Arial"/>
              <a:sym typeface="Arial"/>
            </a:endParaRPr>
          </a:p>
          <a:p>
            <a:pPr marL="457200" marR="0" lvl="0" indent="-336550" algn="l" rtl="0">
              <a:lnSpc>
                <a:spcPct val="115000"/>
              </a:lnSpc>
              <a:spcBef>
                <a:spcPts val="0"/>
              </a:spcBef>
              <a:spcAft>
                <a:spcPts val="0"/>
              </a:spcAft>
              <a:buClr>
                <a:schemeClr val="dk1"/>
              </a:buClr>
              <a:buSzPts val="1700"/>
              <a:buFont typeface="Arial"/>
              <a:buChar char="●"/>
            </a:pPr>
            <a:r>
              <a:rPr lang="en" sz="1700" b="1" i="0" u="none" strike="noStrike" cap="none">
                <a:solidFill>
                  <a:schemeClr val="dk1"/>
                </a:solidFill>
                <a:latin typeface="Arial"/>
                <a:ea typeface="Arial"/>
                <a:cs typeface="Arial"/>
                <a:sym typeface="Arial"/>
              </a:rPr>
              <a:t>KFold</a:t>
            </a:r>
            <a:r>
              <a:rPr lang="en" sz="1700" b="0" i="0" u="none" strike="noStrike" cap="none">
                <a:solidFill>
                  <a:schemeClr val="dk1"/>
                </a:solidFill>
                <a:latin typeface="Arial"/>
                <a:ea typeface="Arial"/>
                <a:cs typeface="Arial"/>
                <a:sym typeface="Arial"/>
              </a:rPr>
              <a:t> is used to split the dataset into a specified number of folds.</a:t>
            </a:r>
            <a:br>
              <a:rPr lang="en" sz="1700" b="0" i="0" u="none" strike="noStrike" cap="none">
                <a:solidFill>
                  <a:schemeClr val="dk1"/>
                </a:solidFill>
                <a:latin typeface="Arial"/>
                <a:ea typeface="Arial"/>
                <a:cs typeface="Arial"/>
                <a:sym typeface="Arial"/>
              </a:rPr>
            </a:br>
            <a:endParaRPr sz="1700" b="0" i="0" u="none" strike="noStrike" cap="none">
              <a:solidFill>
                <a:schemeClr val="dk1"/>
              </a:solidFill>
              <a:latin typeface="Arial"/>
              <a:ea typeface="Arial"/>
              <a:cs typeface="Arial"/>
              <a:sym typeface="Arial"/>
            </a:endParaRPr>
          </a:p>
          <a:p>
            <a:pPr marL="457200" marR="0" lvl="0" indent="-336550" algn="l" rtl="0">
              <a:lnSpc>
                <a:spcPct val="115000"/>
              </a:lnSpc>
              <a:spcBef>
                <a:spcPts val="0"/>
              </a:spcBef>
              <a:spcAft>
                <a:spcPts val="0"/>
              </a:spcAft>
              <a:buClr>
                <a:schemeClr val="dk1"/>
              </a:buClr>
              <a:buSzPts val="1700"/>
              <a:buFont typeface="Arial"/>
              <a:buChar char="●"/>
            </a:pPr>
            <a:r>
              <a:rPr lang="en" sz="1700" b="1" i="0" u="none" strike="noStrike" cap="none">
                <a:solidFill>
                  <a:schemeClr val="dk1"/>
                </a:solidFill>
                <a:latin typeface="Arial"/>
                <a:ea typeface="Arial"/>
                <a:cs typeface="Arial"/>
                <a:sym typeface="Arial"/>
              </a:rPr>
              <a:t>SVC</a:t>
            </a:r>
            <a:r>
              <a:rPr lang="en" sz="1700" b="0" i="0" u="none" strike="noStrike" cap="none">
                <a:solidFill>
                  <a:schemeClr val="dk1"/>
                </a:solidFill>
                <a:latin typeface="Arial"/>
                <a:ea typeface="Arial"/>
                <a:cs typeface="Arial"/>
                <a:sym typeface="Arial"/>
              </a:rPr>
              <a:t> is used to create a Support Vector Classification model.</a:t>
            </a:r>
            <a:br>
              <a:rPr lang="en" sz="1700" b="0" i="0" u="none" strike="noStrike" cap="none">
                <a:solidFill>
                  <a:schemeClr val="dk1"/>
                </a:solidFill>
                <a:latin typeface="Arial"/>
                <a:ea typeface="Arial"/>
                <a:cs typeface="Arial"/>
                <a:sym typeface="Arial"/>
              </a:rPr>
            </a:br>
            <a:endParaRPr sz="1700" b="0" i="0" u="none" strike="noStrike" cap="none">
              <a:solidFill>
                <a:schemeClr val="dk1"/>
              </a:solidFill>
              <a:latin typeface="Arial"/>
              <a:ea typeface="Arial"/>
              <a:cs typeface="Arial"/>
              <a:sym typeface="Arial"/>
            </a:endParaRPr>
          </a:p>
          <a:p>
            <a:pPr marL="457200" marR="0" lvl="0" indent="-336550" algn="l" rtl="0">
              <a:lnSpc>
                <a:spcPct val="115000"/>
              </a:lnSpc>
              <a:spcBef>
                <a:spcPts val="0"/>
              </a:spcBef>
              <a:spcAft>
                <a:spcPts val="0"/>
              </a:spcAft>
              <a:buClr>
                <a:schemeClr val="dk1"/>
              </a:buClr>
              <a:buSzPts val="1700"/>
              <a:buFont typeface="Arial"/>
              <a:buChar char="●"/>
            </a:pPr>
            <a:r>
              <a:rPr lang="en" sz="1700" b="1" i="0" u="none" strike="noStrike" cap="none">
                <a:solidFill>
                  <a:schemeClr val="dk1"/>
                </a:solidFill>
                <a:latin typeface="Arial"/>
                <a:ea typeface="Arial"/>
                <a:cs typeface="Arial"/>
                <a:sym typeface="Arial"/>
              </a:rPr>
              <a:t>load_iris</a:t>
            </a:r>
            <a:r>
              <a:rPr lang="en" sz="1700" b="0" i="0" u="none" strike="noStrike" cap="none">
                <a:solidFill>
                  <a:schemeClr val="dk1"/>
                </a:solidFill>
                <a:latin typeface="Arial"/>
                <a:ea typeface="Arial"/>
                <a:cs typeface="Arial"/>
                <a:sym typeface="Arial"/>
              </a:rPr>
              <a:t> is used to load the sample Iris dataset for testing.</a:t>
            </a:r>
            <a:endParaRPr sz="1700" b="0" i="0" u="none" strike="noStrike" cap="none">
              <a:solidFill>
                <a:schemeClr val="dk1"/>
              </a:solidFill>
              <a:latin typeface="Arial"/>
              <a:ea typeface="Arial"/>
              <a:cs typeface="Arial"/>
              <a:sym typeface="Arial"/>
            </a:endParaRPr>
          </a:p>
        </p:txBody>
      </p:sp>
      <p:sp>
        <p:nvSpPr>
          <p:cNvPr id="96" name="Google Shape;96;p8"/>
          <p:cNvSpPr txBox="1"/>
          <p:nvPr/>
        </p:nvSpPr>
        <p:spPr>
          <a:xfrm>
            <a:off x="0" y="3860769"/>
            <a:ext cx="9144000" cy="1015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rgbClr val="0000FF"/>
                </a:solidFill>
                <a:latin typeface="Arial"/>
                <a:ea typeface="Arial"/>
                <a:cs typeface="Arial"/>
                <a:sym typeface="Arial"/>
              </a:rPr>
              <a:t>from sklearn.model_selection import cross_val_score, KFold</a:t>
            </a:r>
            <a:endParaRPr sz="1800" b="0" i="0" u="none" strike="noStrike" cap="none" dirty="0">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rgbClr val="0000FF"/>
                </a:solidFill>
                <a:latin typeface="Arial"/>
                <a:ea typeface="Arial"/>
                <a:cs typeface="Arial"/>
                <a:sym typeface="Arial"/>
              </a:rPr>
              <a:t>from sklearn.svm import SVC</a:t>
            </a:r>
            <a:endParaRPr sz="1800" b="0" i="0" u="none" strike="noStrike" cap="none" dirty="0">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rgbClr val="0000FF"/>
                </a:solidFill>
                <a:latin typeface="Arial"/>
                <a:ea typeface="Arial"/>
                <a:cs typeface="Arial"/>
                <a:sym typeface="Arial"/>
              </a:rPr>
              <a:t>from sklearn.datasets import load_iris</a:t>
            </a:r>
            <a:endParaRPr sz="1800" b="0" i="0" u="none" strike="noStrike" cap="none" dirty="0">
              <a:solidFill>
                <a:srgbClr val="0000FF"/>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p:nvPr/>
        </p:nvSpPr>
        <p:spPr>
          <a:xfrm>
            <a:off x="0" y="0"/>
            <a:ext cx="9144000" cy="1503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700"/>
              <a:buFont typeface="Arial"/>
              <a:buNone/>
            </a:pPr>
            <a:r>
              <a:rPr lang="en" sz="1700" b="1" i="0" u="none" strike="noStrike" cap="none">
                <a:solidFill>
                  <a:schemeClr val="dk1"/>
                </a:solidFill>
                <a:latin typeface="Arial"/>
                <a:ea typeface="Arial"/>
                <a:cs typeface="Arial"/>
                <a:sym typeface="Arial"/>
              </a:rPr>
              <a:t>Step 2: Loading the Dataset</a:t>
            </a:r>
            <a:endParaRPr sz="17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700"/>
              <a:buFont typeface="Arial"/>
              <a:buNone/>
            </a:pPr>
            <a:r>
              <a:rPr lang="en" sz="1700" b="0" i="0" u="none" strike="noStrike" cap="none">
                <a:solidFill>
                  <a:schemeClr val="dk1"/>
                </a:solidFill>
                <a:latin typeface="Arial"/>
                <a:ea typeface="Arial"/>
                <a:cs typeface="Arial"/>
                <a:sym typeface="Arial"/>
              </a:rPr>
              <a:t>We use the </a:t>
            </a:r>
            <a:r>
              <a:rPr lang="en" sz="1700" b="1" i="0" u="none" strike="noStrike" cap="none">
                <a:solidFill>
                  <a:schemeClr val="dk1"/>
                </a:solidFill>
                <a:latin typeface="Arial"/>
                <a:ea typeface="Arial"/>
                <a:cs typeface="Arial"/>
                <a:sym typeface="Arial"/>
              </a:rPr>
              <a:t>Iris dataset</a:t>
            </a:r>
            <a:r>
              <a:rPr lang="en" sz="1700" b="0" i="0" u="none" strike="noStrike" cap="none">
                <a:solidFill>
                  <a:schemeClr val="dk1"/>
                </a:solidFill>
                <a:latin typeface="Arial"/>
                <a:ea typeface="Arial"/>
                <a:cs typeface="Arial"/>
                <a:sym typeface="Arial"/>
              </a:rPr>
              <a:t>, which is a built-in dataset in scikit-learn. It contains </a:t>
            </a:r>
            <a:r>
              <a:rPr lang="en" sz="1700" b="1" i="0" u="none" strike="noStrike" cap="none">
                <a:solidFill>
                  <a:schemeClr val="dk1"/>
                </a:solidFill>
                <a:latin typeface="Arial"/>
                <a:ea typeface="Arial"/>
                <a:cs typeface="Arial"/>
                <a:sym typeface="Arial"/>
              </a:rPr>
              <a:t>150 samples</a:t>
            </a:r>
            <a:r>
              <a:rPr lang="en" sz="1700" b="0" i="0" u="none" strike="noStrike" cap="none">
                <a:solidFill>
                  <a:schemeClr val="dk1"/>
                </a:solidFill>
                <a:latin typeface="Arial"/>
                <a:ea typeface="Arial"/>
                <a:cs typeface="Arial"/>
                <a:sym typeface="Arial"/>
              </a:rPr>
              <a:t> of flowers belonging to </a:t>
            </a:r>
            <a:r>
              <a:rPr lang="en" sz="1700" b="1" i="0" u="none" strike="noStrike" cap="none">
                <a:solidFill>
                  <a:schemeClr val="dk1"/>
                </a:solidFill>
                <a:latin typeface="Arial"/>
                <a:ea typeface="Arial"/>
                <a:cs typeface="Arial"/>
                <a:sym typeface="Arial"/>
              </a:rPr>
              <a:t>three species: Setosa, Versicolor, and Virginica</a:t>
            </a:r>
            <a:r>
              <a:rPr lang="en" sz="1700" b="0" i="0" u="none" strike="noStrike" cap="none">
                <a:solidFill>
                  <a:schemeClr val="dk1"/>
                </a:solidFill>
                <a:latin typeface="Arial"/>
                <a:ea typeface="Arial"/>
                <a:cs typeface="Arial"/>
                <a:sym typeface="Arial"/>
              </a:rPr>
              <a:t>. This dataset is commonly used for </a:t>
            </a:r>
            <a:r>
              <a:rPr lang="en" sz="1700" b="1" i="0" u="none" strike="noStrike" cap="none">
                <a:solidFill>
                  <a:schemeClr val="dk1"/>
                </a:solidFill>
                <a:latin typeface="Arial"/>
                <a:ea typeface="Arial"/>
                <a:cs typeface="Arial"/>
                <a:sym typeface="Arial"/>
              </a:rPr>
              <a:t>classification problems</a:t>
            </a:r>
            <a:r>
              <a:rPr lang="en" sz="1700" b="0" i="0" u="none" strike="noStrike" cap="none">
                <a:solidFill>
                  <a:schemeClr val="dk1"/>
                </a:solidFill>
                <a:latin typeface="Arial"/>
                <a:ea typeface="Arial"/>
                <a:cs typeface="Arial"/>
                <a:sym typeface="Arial"/>
              </a:rPr>
              <a:t>.</a:t>
            </a:r>
            <a:endParaRPr sz="1700" b="0" i="0" u="none" strike="noStrike" cap="none">
              <a:solidFill>
                <a:schemeClr val="dk1"/>
              </a:solidFill>
              <a:latin typeface="Arial"/>
              <a:ea typeface="Arial"/>
              <a:cs typeface="Arial"/>
              <a:sym typeface="Arial"/>
            </a:endParaRPr>
          </a:p>
        </p:txBody>
      </p:sp>
      <p:sp>
        <p:nvSpPr>
          <p:cNvPr id="102" name="Google Shape;102;p9"/>
          <p:cNvSpPr txBox="1"/>
          <p:nvPr/>
        </p:nvSpPr>
        <p:spPr>
          <a:xfrm>
            <a:off x="0" y="1559399"/>
            <a:ext cx="9144000" cy="738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rgbClr val="0000FF"/>
                </a:solidFill>
                <a:latin typeface="Arial"/>
                <a:ea typeface="Arial"/>
                <a:cs typeface="Arial"/>
                <a:sym typeface="Arial"/>
              </a:rPr>
              <a:t>iris = load_iris()</a:t>
            </a:r>
            <a:endParaRPr sz="1800" b="0" i="0" u="none" strike="noStrike" cap="none" dirty="0">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rgbClr val="0000FF"/>
                </a:solidFill>
                <a:latin typeface="Arial"/>
                <a:ea typeface="Arial"/>
                <a:cs typeface="Arial"/>
                <a:sym typeface="Arial"/>
              </a:rPr>
              <a:t>X, y = iris.data, iris.target</a:t>
            </a:r>
            <a:endParaRPr sz="1800" b="0" i="0" u="none" strike="noStrike" cap="none" dirty="0">
              <a:solidFill>
                <a:srgbClr val="0000FF"/>
              </a:solidFill>
              <a:latin typeface="Arial"/>
              <a:ea typeface="Arial"/>
              <a:cs typeface="Arial"/>
              <a:sym typeface="Arial"/>
            </a:endParaRPr>
          </a:p>
        </p:txBody>
      </p:sp>
      <p:sp>
        <p:nvSpPr>
          <p:cNvPr id="103" name="Google Shape;103;p9"/>
          <p:cNvSpPr txBox="1"/>
          <p:nvPr/>
        </p:nvSpPr>
        <p:spPr>
          <a:xfrm>
            <a:off x="0" y="2439704"/>
            <a:ext cx="9144000" cy="1571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Step 3: Creating the SVM Classifier</a:t>
            </a:r>
            <a:endParaRPr sz="18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800"/>
              <a:buFont typeface="Arial"/>
              <a:buNone/>
            </a:pPr>
            <a:r>
              <a:rPr lang="en" sz="1800" b="0" i="0" u="none" strike="noStrike" cap="none">
                <a:solidFill>
                  <a:schemeClr val="dk1"/>
                </a:solidFill>
                <a:latin typeface="Roboto Mono"/>
                <a:ea typeface="Roboto Mono"/>
                <a:cs typeface="Roboto Mono"/>
                <a:sym typeface="Roboto Mono"/>
              </a:rPr>
              <a:t>SVC()</a:t>
            </a:r>
            <a:r>
              <a:rPr lang="en" sz="1800" b="0" i="0" u="none" strike="noStrike" cap="none">
                <a:solidFill>
                  <a:schemeClr val="dk1"/>
                </a:solidFill>
                <a:latin typeface="Arial"/>
                <a:ea typeface="Arial"/>
                <a:cs typeface="Arial"/>
                <a:sym typeface="Arial"/>
              </a:rPr>
              <a:t> from </a:t>
            </a:r>
            <a:r>
              <a:rPr lang="en" sz="1800" b="1" i="0" u="none" strike="noStrike" cap="none">
                <a:solidFill>
                  <a:schemeClr val="dk1"/>
                </a:solidFill>
                <a:latin typeface="Arial"/>
                <a:ea typeface="Arial"/>
                <a:cs typeface="Arial"/>
                <a:sym typeface="Arial"/>
              </a:rPr>
              <a:t>scikit-learn</a:t>
            </a:r>
            <a:r>
              <a:rPr lang="en" sz="1800" b="0" i="0" u="none" strike="noStrike" cap="none">
                <a:solidFill>
                  <a:schemeClr val="dk1"/>
                </a:solidFill>
                <a:latin typeface="Arial"/>
                <a:ea typeface="Arial"/>
                <a:cs typeface="Arial"/>
                <a:sym typeface="Arial"/>
              </a:rPr>
              <a:t> is used to create the </a:t>
            </a:r>
            <a:r>
              <a:rPr lang="en" sz="1800" b="1" i="0" u="none" strike="noStrike" cap="none">
                <a:solidFill>
                  <a:schemeClr val="dk1"/>
                </a:solidFill>
                <a:latin typeface="Arial"/>
                <a:ea typeface="Arial"/>
                <a:cs typeface="Arial"/>
                <a:sym typeface="Arial"/>
              </a:rPr>
              <a:t>Support Vector Machine (SVM) model</a:t>
            </a:r>
            <a:r>
              <a:rPr lang="en" sz="1800" b="0" i="0" u="none" strike="noStrike" cap="none">
                <a:solidFill>
                  <a:schemeClr val="dk1"/>
                </a:solidFill>
                <a:latin typeface="Arial"/>
                <a:ea typeface="Arial"/>
                <a:cs typeface="Arial"/>
                <a:sym typeface="Arial"/>
              </a:rPr>
              <a:t>. In this step, a </a:t>
            </a:r>
            <a:r>
              <a:rPr lang="en" sz="1800" b="1" i="0" u="none" strike="noStrike" cap="none">
                <a:solidFill>
                  <a:schemeClr val="dk1"/>
                </a:solidFill>
                <a:latin typeface="Arial"/>
                <a:ea typeface="Arial"/>
                <a:cs typeface="Arial"/>
                <a:sym typeface="Arial"/>
              </a:rPr>
              <a:t>linear kernel</a:t>
            </a:r>
            <a:r>
              <a:rPr lang="en" sz="1800" b="0" i="0" u="none" strike="noStrike" cap="none">
                <a:solidFill>
                  <a:schemeClr val="dk1"/>
                </a:solidFill>
                <a:latin typeface="Arial"/>
                <a:ea typeface="Arial"/>
                <a:cs typeface="Arial"/>
                <a:sym typeface="Arial"/>
              </a:rPr>
              <a:t> is used, which works well when the data can be </a:t>
            </a:r>
            <a:r>
              <a:rPr lang="en" sz="1800" b="1" i="0" u="none" strike="noStrike" cap="none">
                <a:solidFill>
                  <a:schemeClr val="dk1"/>
                </a:solidFill>
                <a:latin typeface="Arial"/>
                <a:ea typeface="Arial"/>
                <a:cs typeface="Arial"/>
                <a:sym typeface="Arial"/>
              </a:rPr>
              <a:t>separated by a straight line (linearly separable data)</a:t>
            </a:r>
            <a:r>
              <a:rPr lang="en" sz="1800" b="0" i="0" u="none" strike="noStrike" cap="none">
                <a:solidFill>
                  <a:schemeClr val="dk1"/>
                </a:solidFill>
                <a:latin typeface="Arial"/>
                <a:ea typeface="Arial"/>
                <a:cs typeface="Arial"/>
                <a:sym typeface="Arial"/>
              </a:rPr>
              <a:t>.</a:t>
            </a:r>
            <a:endParaRPr sz="1800" b="0" i="0" u="none" strike="noStrike" cap="none">
              <a:solidFill>
                <a:schemeClr val="dk1"/>
              </a:solidFill>
              <a:latin typeface="Arial"/>
              <a:ea typeface="Arial"/>
              <a:cs typeface="Arial"/>
              <a:sym typeface="Arial"/>
            </a:endParaRPr>
          </a:p>
        </p:txBody>
      </p:sp>
      <p:sp>
        <p:nvSpPr>
          <p:cNvPr id="104" name="Google Shape;104;p9"/>
          <p:cNvSpPr txBox="1"/>
          <p:nvPr/>
        </p:nvSpPr>
        <p:spPr>
          <a:xfrm>
            <a:off x="0" y="4275770"/>
            <a:ext cx="9144000" cy="477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 sz="1900" b="0" i="0" u="none" strike="noStrike" cap="none" dirty="0">
                <a:solidFill>
                  <a:srgbClr val="0000FF"/>
                </a:solidFill>
                <a:latin typeface="Arial"/>
                <a:ea typeface="Arial"/>
                <a:cs typeface="Arial"/>
                <a:sym typeface="Arial"/>
              </a:rPr>
              <a:t>svm_classifier = SVC(kernel='linear')</a:t>
            </a:r>
            <a:endParaRPr sz="1900" b="0" i="0" u="none" strike="noStrike" cap="none" dirty="0">
              <a:solidFill>
                <a:srgbClr val="0000FF"/>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0"/>
          <p:cNvSpPr txBox="1"/>
          <p:nvPr/>
        </p:nvSpPr>
        <p:spPr>
          <a:xfrm>
            <a:off x="0" y="0"/>
            <a:ext cx="9144000" cy="26535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600"/>
              <a:buFont typeface="Arial"/>
              <a:buNone/>
            </a:pPr>
            <a:r>
              <a:rPr lang="en" sz="1600" b="1" i="0" u="none" strike="noStrike" cap="none">
                <a:solidFill>
                  <a:schemeClr val="dk1"/>
                </a:solidFill>
                <a:latin typeface="Arial"/>
                <a:ea typeface="Arial"/>
                <a:cs typeface="Arial"/>
                <a:sym typeface="Arial"/>
              </a:rPr>
              <a:t>Step 4: Defining the Number of Folds for Cross-Validation</a:t>
            </a:r>
            <a:endParaRPr sz="16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600"/>
              <a:buFont typeface="Arial"/>
              <a:buNone/>
            </a:pPr>
            <a:r>
              <a:rPr lang="en" sz="1600" b="0" i="0" u="none" strike="noStrike" cap="none">
                <a:solidFill>
                  <a:schemeClr val="dk1"/>
                </a:solidFill>
                <a:latin typeface="Arial"/>
                <a:ea typeface="Arial"/>
                <a:cs typeface="Arial"/>
                <a:sym typeface="Arial"/>
              </a:rPr>
              <a:t>In this step, we set the number of </a:t>
            </a:r>
            <a:r>
              <a:rPr lang="en" sz="1600" b="1" i="0" u="none" strike="noStrike" cap="none">
                <a:solidFill>
                  <a:schemeClr val="dk1"/>
                </a:solidFill>
                <a:latin typeface="Arial"/>
                <a:ea typeface="Arial"/>
                <a:cs typeface="Arial"/>
                <a:sym typeface="Arial"/>
              </a:rPr>
              <a:t>folds as 5</a:t>
            </a:r>
            <a:r>
              <a:rPr lang="en" sz="1600" b="0" i="0" u="none" strike="noStrike" cap="none">
                <a:solidFill>
                  <a:schemeClr val="dk1"/>
                </a:solidFill>
                <a:latin typeface="Arial"/>
                <a:ea typeface="Arial"/>
                <a:cs typeface="Arial"/>
                <a:sym typeface="Arial"/>
              </a:rPr>
              <a:t>. This means the dataset will be </a:t>
            </a:r>
            <a:r>
              <a:rPr lang="en" sz="1600" b="1" i="0" u="none" strike="noStrike" cap="none">
                <a:solidFill>
                  <a:schemeClr val="dk1"/>
                </a:solidFill>
                <a:latin typeface="Arial"/>
                <a:ea typeface="Arial"/>
                <a:cs typeface="Arial"/>
                <a:sym typeface="Arial"/>
              </a:rPr>
              <a:t>divided into 5 equal parts</a:t>
            </a:r>
            <a:r>
              <a:rPr lang="en" sz="1600" b="0" i="0" u="none" strike="noStrike" cap="none">
                <a:solidFill>
                  <a:schemeClr val="dk1"/>
                </a:solidFill>
                <a:latin typeface="Arial"/>
                <a:ea typeface="Arial"/>
                <a:cs typeface="Arial"/>
                <a:sym typeface="Arial"/>
              </a:rPr>
              <a:t>.</a:t>
            </a:r>
            <a:br>
              <a:rPr lang="en" sz="1600" b="0" i="0" u="none" strike="noStrike" cap="none">
                <a:solidFill>
                  <a:schemeClr val="dk1"/>
                </a:solidFill>
                <a:latin typeface="Arial"/>
                <a:ea typeface="Arial"/>
                <a:cs typeface="Arial"/>
                <a:sym typeface="Arial"/>
              </a:rPr>
            </a:br>
            <a:r>
              <a:rPr lang="en" sz="1600" b="0" i="0" u="none" strike="noStrike" cap="none">
                <a:solidFill>
                  <a:schemeClr val="dk1"/>
                </a:solidFill>
                <a:latin typeface="Arial"/>
                <a:ea typeface="Arial"/>
                <a:cs typeface="Arial"/>
                <a:sym typeface="Arial"/>
              </a:rPr>
              <a:t> The model will </a:t>
            </a:r>
            <a:r>
              <a:rPr lang="en" sz="1600" b="1" i="0" u="none" strike="noStrike" cap="none">
                <a:solidFill>
                  <a:schemeClr val="dk1"/>
                </a:solidFill>
                <a:latin typeface="Arial"/>
                <a:ea typeface="Arial"/>
                <a:cs typeface="Arial"/>
                <a:sym typeface="Arial"/>
              </a:rPr>
              <a:t>train on 4 parts</a:t>
            </a:r>
            <a:r>
              <a:rPr lang="en" sz="1600" b="0" i="0" u="none" strike="noStrike" cap="none">
                <a:solidFill>
                  <a:schemeClr val="dk1"/>
                </a:solidFill>
                <a:latin typeface="Arial"/>
                <a:ea typeface="Arial"/>
                <a:cs typeface="Arial"/>
                <a:sym typeface="Arial"/>
              </a:rPr>
              <a:t> and </a:t>
            </a:r>
            <a:r>
              <a:rPr lang="en" sz="1600" b="1" i="0" u="none" strike="noStrike" cap="none">
                <a:solidFill>
                  <a:schemeClr val="dk1"/>
                </a:solidFill>
                <a:latin typeface="Arial"/>
                <a:ea typeface="Arial"/>
                <a:cs typeface="Arial"/>
                <a:sym typeface="Arial"/>
              </a:rPr>
              <a:t>test on the remaining 1 part</a:t>
            </a:r>
            <a:r>
              <a:rPr lang="en" sz="1600" b="0" i="0" u="none" strike="noStrike" cap="none">
                <a:solidFill>
                  <a:schemeClr val="dk1"/>
                </a:solidFill>
                <a:latin typeface="Arial"/>
                <a:ea typeface="Arial"/>
                <a:cs typeface="Arial"/>
                <a:sym typeface="Arial"/>
              </a:rPr>
              <a:t>.</a:t>
            </a:r>
            <a:endParaRPr sz="16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600"/>
              <a:buFont typeface="Arial"/>
              <a:buNone/>
            </a:pPr>
            <a:r>
              <a:rPr lang="en" sz="1600" b="0" i="0" u="none" strike="noStrike" cap="none">
                <a:solidFill>
                  <a:schemeClr val="dk1"/>
                </a:solidFill>
                <a:latin typeface="Arial"/>
                <a:ea typeface="Arial"/>
                <a:cs typeface="Arial"/>
                <a:sym typeface="Arial"/>
              </a:rPr>
              <a:t>This process is </a:t>
            </a:r>
            <a:r>
              <a:rPr lang="en" sz="1600" b="1" i="0" u="none" strike="noStrike" cap="none">
                <a:solidFill>
                  <a:schemeClr val="dk1"/>
                </a:solidFill>
                <a:latin typeface="Arial"/>
                <a:ea typeface="Arial"/>
                <a:cs typeface="Arial"/>
                <a:sym typeface="Arial"/>
              </a:rPr>
              <a:t>repeated 5 times</a:t>
            </a:r>
            <a:r>
              <a:rPr lang="en" sz="1600" b="0" i="0" u="none" strike="noStrike" cap="none">
                <a:solidFill>
                  <a:schemeClr val="dk1"/>
                </a:solidFill>
                <a:latin typeface="Arial"/>
                <a:ea typeface="Arial"/>
                <a:cs typeface="Arial"/>
                <a:sym typeface="Arial"/>
              </a:rPr>
              <a:t>, so that each fold is used </a:t>
            </a:r>
            <a:r>
              <a:rPr lang="en" sz="1600" b="1" i="0" u="none" strike="noStrike" cap="none">
                <a:solidFill>
                  <a:schemeClr val="dk1"/>
                </a:solidFill>
                <a:latin typeface="Arial"/>
                <a:ea typeface="Arial"/>
                <a:cs typeface="Arial"/>
                <a:sym typeface="Arial"/>
              </a:rPr>
              <a:t>once as the test set</a:t>
            </a:r>
            <a:r>
              <a:rPr lang="en" sz="1600" b="0" i="0" u="none" strike="noStrike" cap="none">
                <a:solidFill>
                  <a:schemeClr val="dk1"/>
                </a:solidFill>
                <a:latin typeface="Arial"/>
                <a:ea typeface="Arial"/>
                <a:cs typeface="Arial"/>
                <a:sym typeface="Arial"/>
              </a:rPr>
              <a:t>, giving a more balanced and reliable evaluation of the model.</a:t>
            </a:r>
            <a:endParaRPr sz="1600" b="0" i="0" u="none" strike="noStrike" cap="none">
              <a:solidFill>
                <a:schemeClr val="dk1"/>
              </a:solidFill>
              <a:latin typeface="Arial"/>
              <a:ea typeface="Arial"/>
              <a:cs typeface="Arial"/>
              <a:sym typeface="Arial"/>
            </a:endParaRPr>
          </a:p>
          <a:p>
            <a:pPr marL="0" marR="0" lvl="0" indent="0" algn="l" rtl="0">
              <a:lnSpc>
                <a:spcPct val="120000"/>
              </a:lnSpc>
              <a:spcBef>
                <a:spcPts val="1200"/>
              </a:spcBef>
              <a:spcAft>
                <a:spcPts val="800"/>
              </a:spcAft>
              <a:buClr>
                <a:srgbClr val="000000"/>
              </a:buClr>
              <a:buSzPts val="2000"/>
              <a:buFont typeface="Arial"/>
              <a:buNone/>
            </a:pPr>
            <a:endParaRPr sz="2000" b="1" i="0" u="none" strike="noStrike" cap="none">
              <a:solidFill>
                <a:srgbClr val="273239"/>
              </a:solidFill>
              <a:highlight>
                <a:srgbClr val="FFFFFF"/>
              </a:highlight>
              <a:latin typeface="Nunito"/>
              <a:ea typeface="Nunito"/>
              <a:cs typeface="Nunito"/>
              <a:sym typeface="Nunito"/>
            </a:endParaRPr>
          </a:p>
        </p:txBody>
      </p:sp>
      <p:sp>
        <p:nvSpPr>
          <p:cNvPr id="110" name="Google Shape;110;p10"/>
          <p:cNvSpPr txBox="1"/>
          <p:nvPr/>
        </p:nvSpPr>
        <p:spPr>
          <a:xfrm>
            <a:off x="0" y="2183577"/>
            <a:ext cx="9144000" cy="708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dirty="0">
                <a:solidFill>
                  <a:srgbClr val="0000FF"/>
                </a:solidFill>
                <a:latin typeface="Arial"/>
                <a:ea typeface="Arial"/>
                <a:cs typeface="Arial"/>
                <a:sym typeface="Arial"/>
              </a:rPr>
              <a:t>num_folds = 5</a:t>
            </a:r>
            <a:endParaRPr sz="1700" b="0" i="0" u="none" strike="noStrike" cap="none" dirty="0">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700"/>
              <a:buFont typeface="Arial"/>
              <a:buNone/>
            </a:pPr>
            <a:r>
              <a:rPr lang="en" sz="1700" b="0" i="0" u="none" strike="noStrike" cap="none" dirty="0">
                <a:solidFill>
                  <a:srgbClr val="0000FF"/>
                </a:solidFill>
                <a:latin typeface="Arial"/>
                <a:ea typeface="Arial"/>
                <a:cs typeface="Arial"/>
                <a:sym typeface="Arial"/>
              </a:rPr>
              <a:t>kf = KFold(n_splits=num_folds, shuffle=True, random_state=42)</a:t>
            </a:r>
            <a:endParaRPr sz="1700" b="0" i="0" u="none" strike="noStrike" cap="none" dirty="0">
              <a:solidFill>
                <a:srgbClr val="0000FF"/>
              </a:solidFill>
              <a:latin typeface="Arial"/>
              <a:ea typeface="Arial"/>
              <a:cs typeface="Arial"/>
              <a:sym typeface="Arial"/>
            </a:endParaRPr>
          </a:p>
        </p:txBody>
      </p:sp>
      <p:sp>
        <p:nvSpPr>
          <p:cNvPr id="111" name="Google Shape;111;p10"/>
          <p:cNvSpPr txBox="1"/>
          <p:nvPr/>
        </p:nvSpPr>
        <p:spPr>
          <a:xfrm>
            <a:off x="0" y="2917584"/>
            <a:ext cx="9144000" cy="1434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600"/>
              <a:buFont typeface="Arial"/>
              <a:buNone/>
            </a:pPr>
            <a:r>
              <a:rPr lang="en" sz="1600" b="1" i="0" u="none" strike="noStrike" cap="none">
                <a:solidFill>
                  <a:schemeClr val="dk1"/>
                </a:solidFill>
                <a:latin typeface="Arial"/>
                <a:ea typeface="Arial"/>
                <a:cs typeface="Arial"/>
                <a:sym typeface="Arial"/>
              </a:rPr>
              <a:t>Step 5: Performing K-Fold Cross-Validation</a:t>
            </a:r>
            <a:endParaRPr sz="16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600"/>
              <a:buFont typeface="Arial"/>
              <a:buNone/>
            </a:pPr>
            <a:r>
              <a:rPr lang="en" sz="1600" b="0" i="0" u="none" strike="noStrike" cap="none">
                <a:solidFill>
                  <a:schemeClr val="dk1"/>
                </a:solidFill>
                <a:latin typeface="Arial"/>
                <a:ea typeface="Arial"/>
                <a:cs typeface="Arial"/>
                <a:sym typeface="Arial"/>
              </a:rPr>
              <a:t>In this step, </a:t>
            </a:r>
            <a:r>
              <a:rPr lang="en" sz="1600" b="1" i="0" u="none" strike="noStrike" cap="none">
                <a:solidFill>
                  <a:schemeClr val="dk1"/>
                </a:solidFill>
                <a:latin typeface="Roboto Mono"/>
                <a:ea typeface="Roboto Mono"/>
                <a:cs typeface="Roboto Mono"/>
                <a:sym typeface="Roboto Mono"/>
              </a:rPr>
              <a:t>cross_val_score()</a:t>
            </a:r>
            <a:r>
              <a:rPr lang="en" sz="1600" b="0" i="0" u="none" strike="noStrike" cap="none">
                <a:solidFill>
                  <a:schemeClr val="dk1"/>
                </a:solidFill>
                <a:latin typeface="Arial"/>
                <a:ea typeface="Arial"/>
                <a:cs typeface="Arial"/>
                <a:sym typeface="Arial"/>
              </a:rPr>
              <a:t> is used to perform K-Fold cross-validation. It automatically </a:t>
            </a:r>
            <a:r>
              <a:rPr lang="en" sz="1600" b="1" i="0" u="none" strike="noStrike" cap="none">
                <a:solidFill>
                  <a:schemeClr val="dk1"/>
                </a:solidFill>
                <a:latin typeface="Arial"/>
                <a:ea typeface="Arial"/>
                <a:cs typeface="Arial"/>
                <a:sym typeface="Arial"/>
              </a:rPr>
              <a:t>splits the data into folds, trains the model, and evaluates it on each fold</a:t>
            </a:r>
            <a:r>
              <a:rPr lang="en" sz="1600" b="0" i="0" u="none" strike="noStrike" cap="none">
                <a:solidFill>
                  <a:schemeClr val="dk1"/>
                </a:solidFill>
                <a:latin typeface="Arial"/>
                <a:ea typeface="Arial"/>
                <a:cs typeface="Arial"/>
                <a:sym typeface="Arial"/>
              </a:rPr>
              <a:t>. The function then </a:t>
            </a:r>
            <a:r>
              <a:rPr lang="en" sz="1600" b="1" i="0" u="none" strike="noStrike" cap="none">
                <a:solidFill>
                  <a:schemeClr val="dk1"/>
                </a:solidFill>
                <a:latin typeface="Arial"/>
                <a:ea typeface="Arial"/>
                <a:cs typeface="Arial"/>
                <a:sym typeface="Arial"/>
              </a:rPr>
              <a:t>returns the accuracy score for each fold</a:t>
            </a:r>
            <a:r>
              <a:rPr lang="en" sz="1600" b="0" i="0" u="none" strike="noStrike" cap="none">
                <a:solidFill>
                  <a:schemeClr val="dk1"/>
                </a:solidFill>
                <a:latin typeface="Arial"/>
                <a:ea typeface="Arial"/>
                <a:cs typeface="Arial"/>
                <a:sym typeface="Arial"/>
              </a:rPr>
              <a:t>.</a:t>
            </a:r>
            <a:endParaRPr sz="1600" b="0" i="0" u="none" strike="noStrike" cap="none">
              <a:solidFill>
                <a:schemeClr val="dk1"/>
              </a:solidFill>
              <a:latin typeface="Arial"/>
              <a:ea typeface="Arial"/>
              <a:cs typeface="Arial"/>
              <a:sym typeface="Arial"/>
            </a:endParaRPr>
          </a:p>
        </p:txBody>
      </p:sp>
      <p:sp>
        <p:nvSpPr>
          <p:cNvPr id="112" name="Google Shape;112;p10"/>
          <p:cNvSpPr txBox="1"/>
          <p:nvPr/>
        </p:nvSpPr>
        <p:spPr>
          <a:xfrm>
            <a:off x="0" y="4502135"/>
            <a:ext cx="9071400" cy="477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 sz="1900" b="0" i="0" u="none" strike="noStrike" cap="none" dirty="0">
                <a:solidFill>
                  <a:srgbClr val="0000FF"/>
                </a:solidFill>
                <a:latin typeface="Arial"/>
                <a:ea typeface="Arial"/>
                <a:cs typeface="Arial"/>
                <a:sym typeface="Arial"/>
              </a:rPr>
              <a:t>cross_val_results = cross_val_score(svm_classifier, X, y, cv=kf)</a:t>
            </a:r>
            <a:endParaRPr sz="1900" b="0" i="0" u="none" strike="noStrike" cap="none" dirty="0">
              <a:solidFill>
                <a:srgbClr val="0000FF"/>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1"/>
          <p:cNvSpPr txBox="1"/>
          <p:nvPr/>
        </p:nvSpPr>
        <p:spPr>
          <a:xfrm>
            <a:off x="0" y="0"/>
            <a:ext cx="9144000" cy="1434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600"/>
              <a:buFont typeface="Arial"/>
              <a:buNone/>
            </a:pPr>
            <a:r>
              <a:rPr lang="en" sz="1600" b="1" i="0" u="none" strike="noStrike" cap="none">
                <a:solidFill>
                  <a:schemeClr val="dk1"/>
                </a:solidFill>
                <a:latin typeface="Arial"/>
                <a:ea typeface="Arial"/>
                <a:cs typeface="Arial"/>
                <a:sym typeface="Arial"/>
              </a:rPr>
              <a:t>Step 6: Evaluation Metrics</a:t>
            </a:r>
            <a:endParaRPr sz="16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600"/>
              <a:buFont typeface="Arial"/>
              <a:buNone/>
            </a:pPr>
            <a:r>
              <a:rPr lang="en" sz="1600" b="0" i="0" u="none" strike="noStrike" cap="none">
                <a:solidFill>
                  <a:schemeClr val="dk1"/>
                </a:solidFill>
                <a:latin typeface="Arial"/>
                <a:ea typeface="Arial"/>
                <a:cs typeface="Arial"/>
                <a:sym typeface="Arial"/>
              </a:rPr>
              <a:t>In this step, we </a:t>
            </a:r>
            <a:r>
              <a:rPr lang="en" sz="1600" b="1" i="0" u="none" strike="noStrike" cap="none">
                <a:solidFill>
                  <a:schemeClr val="dk1"/>
                </a:solidFill>
                <a:latin typeface="Arial"/>
                <a:ea typeface="Arial"/>
                <a:cs typeface="Arial"/>
                <a:sym typeface="Arial"/>
              </a:rPr>
              <a:t>display the accuracy of each fold</a:t>
            </a:r>
            <a:r>
              <a:rPr lang="en" sz="1600" b="0" i="0" u="none" strike="noStrike" cap="none">
                <a:solidFill>
                  <a:schemeClr val="dk1"/>
                </a:solidFill>
                <a:latin typeface="Arial"/>
                <a:ea typeface="Arial"/>
                <a:cs typeface="Arial"/>
                <a:sym typeface="Arial"/>
              </a:rPr>
              <a:t> and also calculate the </a:t>
            </a:r>
            <a:r>
              <a:rPr lang="en" sz="1600" b="1" i="0" u="none" strike="noStrike" cap="none">
                <a:solidFill>
                  <a:schemeClr val="dk1"/>
                </a:solidFill>
                <a:latin typeface="Arial"/>
                <a:ea typeface="Arial"/>
                <a:cs typeface="Arial"/>
                <a:sym typeface="Arial"/>
              </a:rPr>
              <a:t>average (mean) accuracy of all folds</a:t>
            </a:r>
            <a:r>
              <a:rPr lang="en" sz="1600" b="0" i="0" u="none" strike="noStrike" cap="none">
                <a:solidFill>
                  <a:schemeClr val="dk1"/>
                </a:solidFill>
                <a:latin typeface="Arial"/>
                <a:ea typeface="Arial"/>
                <a:cs typeface="Arial"/>
                <a:sym typeface="Arial"/>
              </a:rPr>
              <a:t>. This helps us understand </a:t>
            </a:r>
            <a:r>
              <a:rPr lang="en" sz="1600" b="1" i="0" u="none" strike="noStrike" cap="none">
                <a:solidFill>
                  <a:schemeClr val="dk1"/>
                </a:solidFill>
                <a:latin typeface="Arial"/>
                <a:ea typeface="Arial"/>
                <a:cs typeface="Arial"/>
                <a:sym typeface="Arial"/>
              </a:rPr>
              <a:t>how stable the model is and how well it can generalize to new data</a:t>
            </a:r>
            <a:r>
              <a:rPr lang="en" sz="1600" b="0" i="0" u="none" strike="noStrike" cap="none">
                <a:solidFill>
                  <a:schemeClr val="dk1"/>
                </a:solidFill>
                <a:latin typeface="Arial"/>
                <a:ea typeface="Arial"/>
                <a:cs typeface="Arial"/>
                <a:sym typeface="Arial"/>
              </a:rPr>
              <a:t>.</a:t>
            </a:r>
            <a:endParaRPr sz="1600" b="0" i="0" u="none" strike="noStrike" cap="none">
              <a:solidFill>
                <a:schemeClr val="dk1"/>
              </a:solidFill>
              <a:latin typeface="Arial"/>
              <a:ea typeface="Arial"/>
              <a:cs typeface="Arial"/>
              <a:sym typeface="Arial"/>
            </a:endParaRPr>
          </a:p>
        </p:txBody>
      </p:sp>
      <p:sp>
        <p:nvSpPr>
          <p:cNvPr id="118" name="Google Shape;118;p11"/>
          <p:cNvSpPr txBox="1"/>
          <p:nvPr/>
        </p:nvSpPr>
        <p:spPr>
          <a:xfrm>
            <a:off x="18583" y="1616125"/>
            <a:ext cx="9144000" cy="1339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0" i="0" u="none" strike="noStrike" cap="none" dirty="0">
                <a:solidFill>
                  <a:srgbClr val="0000FF"/>
                </a:solidFill>
                <a:latin typeface="Arial"/>
                <a:ea typeface="Arial"/>
                <a:cs typeface="Arial"/>
                <a:sym typeface="Arial"/>
              </a:rPr>
              <a:t>print("Cross-Validation Results (Accuracy):")</a:t>
            </a:r>
            <a:endParaRPr sz="1500" b="0" i="0" u="none" strike="noStrike" cap="none" dirty="0">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 sz="1500" b="0" i="0" u="none" strike="noStrike" cap="none" dirty="0">
                <a:solidFill>
                  <a:srgbClr val="0000FF"/>
                </a:solidFill>
                <a:latin typeface="Arial"/>
                <a:ea typeface="Arial"/>
                <a:cs typeface="Arial"/>
                <a:sym typeface="Arial"/>
              </a:rPr>
              <a:t>for i, result in enumerate(cross_val_results, 1):</a:t>
            </a:r>
            <a:endParaRPr sz="1500" b="0" i="0" u="none" strike="noStrike" cap="none" dirty="0">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 sz="1500" b="0" i="0" u="none" strike="noStrike" cap="none" dirty="0">
                <a:solidFill>
                  <a:srgbClr val="0000FF"/>
                </a:solidFill>
                <a:latin typeface="Arial"/>
                <a:ea typeface="Arial"/>
                <a:cs typeface="Arial"/>
                <a:sym typeface="Arial"/>
              </a:rPr>
              <a:t>    print(f"  Fold {i}: {result * 100:.2f}%")</a:t>
            </a:r>
            <a:endParaRPr sz="1500" b="0" i="0" u="none" strike="noStrike" cap="none" dirty="0">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 sz="1500" b="0" i="0" u="none" strike="noStrike" cap="none" dirty="0">
                <a:solidFill>
                  <a:srgbClr val="0000FF"/>
                </a:solidFill>
                <a:latin typeface="Arial"/>
                <a:ea typeface="Arial"/>
                <a:cs typeface="Arial"/>
                <a:sym typeface="Arial"/>
              </a:rPr>
              <a:t>    </a:t>
            </a:r>
            <a:endParaRPr sz="1500" b="0" i="0" u="none" strike="noStrike" cap="none" dirty="0">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 sz="1500" b="0" i="0" u="none" strike="noStrike" cap="none" dirty="0">
                <a:solidFill>
                  <a:srgbClr val="0000FF"/>
                </a:solidFill>
                <a:latin typeface="Arial"/>
                <a:ea typeface="Arial"/>
                <a:cs typeface="Arial"/>
                <a:sym typeface="Arial"/>
              </a:rPr>
              <a:t>print(f'Mean Accuracy: {cross_val_results.mean()* 100:.2f}%')</a:t>
            </a:r>
            <a:endParaRPr sz="1500" b="0" i="0" u="none" strike="noStrike" cap="none" dirty="0">
              <a:solidFill>
                <a:srgbClr val="0000FF"/>
              </a:solidFill>
              <a:latin typeface="Arial"/>
              <a:ea typeface="Arial"/>
              <a:cs typeface="Arial"/>
              <a:sym typeface="Arial"/>
            </a:endParaRPr>
          </a:p>
        </p:txBody>
      </p:sp>
      <p:pic>
        <p:nvPicPr>
          <p:cNvPr id="119" name="Google Shape;119;p11"/>
          <p:cNvPicPr preferRelativeResize="0"/>
          <p:nvPr/>
        </p:nvPicPr>
        <p:blipFill rotWithShape="1">
          <a:blip r:embed="rId3">
            <a:alphaModFix/>
          </a:blip>
          <a:srcRect/>
          <a:stretch/>
        </p:blipFill>
        <p:spPr>
          <a:xfrm>
            <a:off x="856656" y="3013275"/>
            <a:ext cx="4152700" cy="1887100"/>
          </a:xfrm>
          <a:prstGeom prst="rect">
            <a:avLst/>
          </a:prstGeom>
          <a:noFill/>
          <a:ln w="9525" cap="flat" cmpd="sng">
            <a:solidFill>
              <a:schemeClr val="dk1"/>
            </a:solidFill>
            <a:prstDash val="solid"/>
            <a:round/>
            <a:headEnd type="none" w="sm" len="sm"/>
            <a:tailEnd type="none" w="sm" len="sm"/>
          </a:ln>
        </p:spPr>
      </p:pic>
      <p:sp>
        <p:nvSpPr>
          <p:cNvPr id="120" name="Google Shape;120;p11"/>
          <p:cNvSpPr txBox="1"/>
          <p:nvPr/>
        </p:nvSpPr>
        <p:spPr>
          <a:xfrm>
            <a:off x="62875" y="2955325"/>
            <a:ext cx="3000000" cy="705900"/>
          </a:xfrm>
          <a:prstGeom prst="rect">
            <a:avLst/>
          </a:prstGeom>
          <a:noFill/>
          <a:ln>
            <a:noFill/>
          </a:ln>
        </p:spPr>
        <p:txBody>
          <a:bodyPr spcFirstLastPara="1" wrap="square" lIns="91425" tIns="91425" rIns="91425" bIns="91425" anchor="t" anchorCtr="0">
            <a:spAutoFit/>
          </a:bodyPr>
          <a:lstStyle/>
          <a:p>
            <a:pPr marL="0" marR="0" lvl="0" indent="0" algn="l" rtl="0">
              <a:lnSpc>
                <a:spcPct val="120000"/>
              </a:lnSpc>
              <a:spcBef>
                <a:spcPts val="0"/>
              </a:spcBef>
              <a:spcAft>
                <a:spcPts val="0"/>
              </a:spcAft>
              <a:buClr>
                <a:srgbClr val="000000"/>
              </a:buClr>
              <a:buSzPts val="1350"/>
              <a:buFont typeface="Arial"/>
              <a:buNone/>
            </a:pPr>
            <a:r>
              <a:rPr lang="en" sz="1350" b="1" i="0" u="none" strike="noStrike" cap="none">
                <a:solidFill>
                  <a:srgbClr val="273239"/>
                </a:solidFill>
                <a:highlight>
                  <a:srgbClr val="FFFFFF"/>
                </a:highlight>
                <a:latin typeface="Nunito"/>
                <a:ea typeface="Nunito"/>
                <a:cs typeface="Nunito"/>
                <a:sym typeface="Nunito"/>
              </a:rPr>
              <a:t>Output:</a:t>
            </a:r>
            <a:endParaRPr sz="1350" b="1" i="0" u="none" strike="noStrike" cap="none">
              <a:solidFill>
                <a:srgbClr val="273239"/>
              </a:solidFill>
              <a:highlight>
                <a:srgbClr val="FFFFFF"/>
              </a:highlight>
              <a:latin typeface="Nunito"/>
              <a:ea typeface="Nunito"/>
              <a:cs typeface="Nunito"/>
              <a:sym typeface="Nunito"/>
            </a:endParaRPr>
          </a:p>
          <a:p>
            <a:pPr marL="0" marR="0" lvl="0" indent="0" algn="l" rtl="0">
              <a:lnSpc>
                <a:spcPct val="120000"/>
              </a:lnSpc>
              <a:spcBef>
                <a:spcPts val="800"/>
              </a:spcBef>
              <a:spcAft>
                <a:spcPts val="0"/>
              </a:spcAft>
              <a:buClr>
                <a:srgbClr val="000000"/>
              </a:buClr>
              <a:buSzPts val="1100"/>
              <a:buFont typeface="Arial"/>
              <a:buNone/>
            </a:pPr>
            <a:endParaRPr sz="1100" b="1" i="0" u="none" strike="noStrike" cap="none">
              <a:solidFill>
                <a:schemeClr val="dk1"/>
              </a:solidFill>
              <a:latin typeface="Arial"/>
              <a:ea typeface="Arial"/>
              <a:cs typeface="Arial"/>
              <a:sym typeface="Arial"/>
            </a:endParaRPr>
          </a:p>
        </p:txBody>
      </p:sp>
      <p:sp>
        <p:nvSpPr>
          <p:cNvPr id="121" name="Google Shape;121;p11"/>
          <p:cNvSpPr txBox="1"/>
          <p:nvPr/>
        </p:nvSpPr>
        <p:spPr>
          <a:xfrm>
            <a:off x="5272717" y="3013275"/>
            <a:ext cx="3640820" cy="1766607"/>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400"/>
              <a:buFont typeface="Arial"/>
              <a:buNone/>
            </a:pPr>
            <a:r>
              <a:rPr lang="en" sz="1200" b="0" i="0" u="none" strike="noStrike" cap="none" dirty="0">
                <a:solidFill>
                  <a:schemeClr val="dk1"/>
                </a:solidFill>
                <a:latin typeface="Arial"/>
                <a:ea typeface="Arial"/>
                <a:cs typeface="Arial"/>
                <a:sym typeface="Arial"/>
              </a:rPr>
              <a:t>The output shows the </a:t>
            </a:r>
            <a:r>
              <a:rPr lang="en" sz="1200" b="1" i="0" u="none" strike="noStrike" cap="none" dirty="0">
                <a:solidFill>
                  <a:schemeClr val="dk1"/>
                </a:solidFill>
                <a:latin typeface="Arial"/>
                <a:ea typeface="Arial"/>
                <a:cs typeface="Arial"/>
                <a:sym typeface="Arial"/>
              </a:rPr>
              <a:t>accuracy scores from each of the 5 folds</a:t>
            </a:r>
            <a:r>
              <a:rPr lang="en" sz="1200" b="0" i="0" u="none" strike="noStrike" cap="none" dirty="0">
                <a:solidFill>
                  <a:schemeClr val="dk1"/>
                </a:solidFill>
                <a:latin typeface="Arial"/>
                <a:ea typeface="Arial"/>
                <a:cs typeface="Arial"/>
                <a:sym typeface="Arial"/>
              </a:rPr>
              <a:t> in the K-Fold cross-validation process. The </a:t>
            </a:r>
            <a:r>
              <a:rPr lang="en" sz="1200" b="1" i="0" u="none" strike="noStrike" cap="none" dirty="0">
                <a:solidFill>
                  <a:schemeClr val="dk1"/>
                </a:solidFill>
                <a:latin typeface="Arial"/>
                <a:ea typeface="Arial"/>
                <a:cs typeface="Arial"/>
                <a:sym typeface="Arial"/>
              </a:rPr>
              <a:t>mean accuracy</a:t>
            </a:r>
            <a:r>
              <a:rPr lang="en" sz="1200" b="0" i="0" u="none" strike="noStrike" cap="none" dirty="0">
                <a:solidFill>
                  <a:schemeClr val="dk1"/>
                </a:solidFill>
                <a:latin typeface="Arial"/>
                <a:ea typeface="Arial"/>
                <a:cs typeface="Arial"/>
                <a:sym typeface="Arial"/>
              </a:rPr>
              <a:t> is the average of these scores, which is about </a:t>
            </a:r>
            <a:r>
              <a:rPr lang="en" sz="1200" b="1" i="0" u="none" strike="noStrike" cap="none" dirty="0">
                <a:solidFill>
                  <a:schemeClr val="dk1"/>
                </a:solidFill>
                <a:latin typeface="Arial"/>
                <a:ea typeface="Arial"/>
                <a:cs typeface="Arial"/>
                <a:sym typeface="Arial"/>
              </a:rPr>
              <a:t>97.33%</a:t>
            </a:r>
            <a:r>
              <a:rPr lang="en" sz="1200" b="0" i="0" u="none" strike="noStrike" cap="none" dirty="0">
                <a:solidFill>
                  <a:schemeClr val="dk1"/>
                </a:solidFill>
                <a:latin typeface="Arial"/>
                <a:ea typeface="Arial"/>
                <a:cs typeface="Arial"/>
                <a:sym typeface="Arial"/>
              </a:rPr>
              <a:t>. This value represents the </a:t>
            </a:r>
            <a:r>
              <a:rPr lang="en" sz="1200" b="1" i="0" u="none" strike="noStrike" cap="none" dirty="0">
                <a:solidFill>
                  <a:schemeClr val="dk1"/>
                </a:solidFill>
                <a:latin typeface="Arial"/>
                <a:ea typeface="Arial"/>
                <a:cs typeface="Arial"/>
                <a:sym typeface="Arial"/>
              </a:rPr>
              <a:t>overall performance of the model across all folds</a:t>
            </a:r>
            <a:r>
              <a:rPr lang="en" sz="1200" b="0" i="0" u="none" strike="noStrike" cap="none" dirty="0">
                <a:solidFill>
                  <a:schemeClr val="dk1"/>
                </a:solidFill>
                <a:latin typeface="Arial"/>
                <a:ea typeface="Arial"/>
                <a:cs typeface="Arial"/>
                <a:sym typeface="Arial"/>
              </a:rPr>
              <a:t>.</a:t>
            </a:r>
            <a:endParaRPr sz="1200" b="0" i="0" u="none" strike="noStrike" cap="none" dirty="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2"/>
          <p:cNvSpPr txBox="1"/>
          <p:nvPr/>
        </p:nvSpPr>
        <p:spPr>
          <a:xfrm>
            <a:off x="0" y="0"/>
            <a:ext cx="9144000" cy="51255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500"/>
              <a:buFont typeface="Arial"/>
              <a:buNone/>
            </a:pPr>
            <a:r>
              <a:rPr lang="en" sz="1500" b="1" i="0" u="none" strike="noStrike" cap="none" dirty="0">
                <a:solidFill>
                  <a:schemeClr val="dk1"/>
                </a:solidFill>
                <a:latin typeface="Arial"/>
                <a:ea typeface="Arial"/>
                <a:cs typeface="Arial"/>
                <a:sym typeface="Arial"/>
              </a:rPr>
              <a:t>Advantages</a:t>
            </a:r>
            <a:endParaRPr sz="1500" b="1" i="0" u="none" strike="noStrike" cap="none" dirty="0">
              <a:solidFill>
                <a:schemeClr val="dk1"/>
              </a:solidFill>
              <a:latin typeface="Arial"/>
              <a:ea typeface="Arial"/>
              <a:cs typeface="Arial"/>
              <a:sym typeface="Arial"/>
            </a:endParaRPr>
          </a:p>
          <a:p>
            <a:pPr marL="457200" marR="0" lvl="0" indent="-323850" algn="l" rtl="0">
              <a:lnSpc>
                <a:spcPct val="115000"/>
              </a:lnSpc>
              <a:spcBef>
                <a:spcPts val="1200"/>
              </a:spcBef>
              <a:spcAft>
                <a:spcPts val="0"/>
              </a:spcAft>
              <a:buClr>
                <a:schemeClr val="dk1"/>
              </a:buClr>
              <a:buSzPts val="1500"/>
              <a:buFont typeface="Arial"/>
              <a:buChar char="●"/>
            </a:pPr>
            <a:r>
              <a:rPr lang="en" sz="1500" b="1" i="0" u="none" strike="noStrike" cap="none" dirty="0">
                <a:solidFill>
                  <a:schemeClr val="dk1"/>
                </a:solidFill>
                <a:latin typeface="Arial"/>
                <a:ea typeface="Arial"/>
                <a:cs typeface="Arial"/>
                <a:sym typeface="Arial"/>
              </a:rPr>
              <a:t>Better performance estimate:</a:t>
            </a:r>
            <a:r>
              <a:rPr lang="en" sz="1500" b="0" i="0" u="none" strike="noStrike" cap="none" dirty="0">
                <a:solidFill>
                  <a:schemeClr val="dk1"/>
                </a:solidFill>
                <a:latin typeface="Arial"/>
                <a:ea typeface="Arial"/>
                <a:cs typeface="Arial"/>
                <a:sym typeface="Arial"/>
              </a:rPr>
              <a:t> Gives a more reliable evaluation compared to a single train-test split.</a:t>
            </a:r>
            <a:br>
              <a:rPr lang="en" sz="1500" b="0" i="0" u="none" strike="noStrike" cap="none" dirty="0">
                <a:solidFill>
                  <a:schemeClr val="dk1"/>
                </a:solidFill>
                <a:latin typeface="Arial"/>
                <a:ea typeface="Arial"/>
                <a:cs typeface="Arial"/>
                <a:sym typeface="Arial"/>
              </a:rPr>
            </a:br>
            <a:endParaRPr sz="1500" b="0" i="0" u="none" strike="noStrike" cap="none" dirty="0">
              <a:solidFill>
                <a:schemeClr val="dk1"/>
              </a:solidFill>
              <a:latin typeface="Arial"/>
              <a:ea typeface="Arial"/>
              <a:cs typeface="Arial"/>
              <a:sym typeface="Arial"/>
            </a:endParaRPr>
          </a:p>
          <a:p>
            <a:pPr marL="457200" marR="0" lvl="0" indent="-323850" algn="l" rtl="0">
              <a:lnSpc>
                <a:spcPct val="115000"/>
              </a:lnSpc>
              <a:spcBef>
                <a:spcPts val="0"/>
              </a:spcBef>
              <a:spcAft>
                <a:spcPts val="0"/>
              </a:spcAft>
              <a:buClr>
                <a:schemeClr val="dk1"/>
              </a:buClr>
              <a:buSzPts val="1500"/>
              <a:buFont typeface="Arial"/>
              <a:buChar char="●"/>
            </a:pPr>
            <a:r>
              <a:rPr lang="en" sz="1500" b="1" i="0" u="none" strike="noStrike" cap="none" dirty="0">
                <a:solidFill>
                  <a:schemeClr val="dk1"/>
                </a:solidFill>
                <a:latin typeface="Arial"/>
                <a:ea typeface="Arial"/>
                <a:cs typeface="Arial"/>
                <a:sym typeface="Arial"/>
              </a:rPr>
              <a:t>Reduces overfitting:</a:t>
            </a:r>
            <a:r>
              <a:rPr lang="en" sz="1500" b="0" i="0" u="none" strike="noStrike" cap="none" dirty="0">
                <a:solidFill>
                  <a:schemeClr val="dk1"/>
                </a:solidFill>
                <a:latin typeface="Arial"/>
                <a:ea typeface="Arial"/>
                <a:cs typeface="Arial"/>
                <a:sym typeface="Arial"/>
              </a:rPr>
              <a:t> Helps the model generalize better on unseen data.</a:t>
            </a:r>
            <a:br>
              <a:rPr lang="en" sz="1500" b="0" i="0" u="none" strike="noStrike" cap="none" dirty="0">
                <a:solidFill>
                  <a:schemeClr val="dk1"/>
                </a:solidFill>
                <a:latin typeface="Arial"/>
                <a:ea typeface="Arial"/>
                <a:cs typeface="Arial"/>
                <a:sym typeface="Arial"/>
              </a:rPr>
            </a:br>
            <a:endParaRPr sz="1500" b="0" i="0" u="none" strike="noStrike" cap="none" dirty="0">
              <a:solidFill>
                <a:schemeClr val="dk1"/>
              </a:solidFill>
              <a:latin typeface="Arial"/>
              <a:ea typeface="Arial"/>
              <a:cs typeface="Arial"/>
              <a:sym typeface="Arial"/>
            </a:endParaRPr>
          </a:p>
          <a:p>
            <a:pPr marL="457200" marR="0" lvl="0" indent="-323850" algn="l" rtl="0">
              <a:lnSpc>
                <a:spcPct val="115000"/>
              </a:lnSpc>
              <a:spcBef>
                <a:spcPts val="0"/>
              </a:spcBef>
              <a:spcAft>
                <a:spcPts val="0"/>
              </a:spcAft>
              <a:buClr>
                <a:schemeClr val="dk1"/>
              </a:buClr>
              <a:buSzPts val="1500"/>
              <a:buFont typeface="Arial"/>
              <a:buChar char="●"/>
            </a:pPr>
            <a:r>
              <a:rPr lang="en" sz="1500" b="1" i="0" u="none" strike="noStrike" cap="none" dirty="0">
                <a:solidFill>
                  <a:schemeClr val="dk1"/>
                </a:solidFill>
                <a:latin typeface="Arial"/>
                <a:ea typeface="Arial"/>
                <a:cs typeface="Arial"/>
                <a:sym typeface="Arial"/>
              </a:rPr>
              <a:t>Efficient use of data:</a:t>
            </a:r>
            <a:r>
              <a:rPr lang="en" sz="1500" b="0" i="0" u="none" strike="noStrike" cap="none" dirty="0">
                <a:solidFill>
                  <a:schemeClr val="dk1"/>
                </a:solidFill>
                <a:latin typeface="Arial"/>
                <a:ea typeface="Arial"/>
                <a:cs typeface="Arial"/>
                <a:sym typeface="Arial"/>
              </a:rPr>
              <a:t> Every data point is used for both training and testing in different iterations.</a:t>
            </a:r>
            <a:br>
              <a:rPr lang="en" sz="1500" b="0" i="0" u="none" strike="noStrike" cap="none" dirty="0">
                <a:solidFill>
                  <a:schemeClr val="dk1"/>
                </a:solidFill>
                <a:latin typeface="Arial"/>
                <a:ea typeface="Arial"/>
                <a:cs typeface="Arial"/>
                <a:sym typeface="Arial"/>
              </a:rPr>
            </a:br>
            <a:endParaRPr sz="1500" b="0" i="0" u="none" strike="noStrike" cap="none" dirty="0">
              <a:solidFill>
                <a:schemeClr val="dk1"/>
              </a:solidFill>
              <a:latin typeface="Arial"/>
              <a:ea typeface="Arial"/>
              <a:cs typeface="Arial"/>
              <a:sym typeface="Arial"/>
            </a:endParaRPr>
          </a:p>
          <a:p>
            <a:pPr marL="457200" marR="0" lvl="0" indent="-323850" algn="l" rtl="0">
              <a:lnSpc>
                <a:spcPct val="115000"/>
              </a:lnSpc>
              <a:spcBef>
                <a:spcPts val="0"/>
              </a:spcBef>
              <a:spcAft>
                <a:spcPts val="0"/>
              </a:spcAft>
              <a:buClr>
                <a:schemeClr val="dk1"/>
              </a:buClr>
              <a:buSzPts val="1500"/>
              <a:buFont typeface="Arial"/>
              <a:buChar char="●"/>
            </a:pPr>
            <a:r>
              <a:rPr lang="en" sz="1500" b="1" i="0" u="none" strike="noStrike" cap="none" dirty="0">
                <a:solidFill>
                  <a:schemeClr val="dk1"/>
                </a:solidFill>
                <a:latin typeface="Arial"/>
                <a:ea typeface="Arial"/>
                <a:cs typeface="Arial"/>
                <a:sym typeface="Arial"/>
              </a:rPr>
              <a:t>Flexible:</a:t>
            </a:r>
            <a:r>
              <a:rPr lang="en" sz="1500" b="0" i="0" u="none" strike="noStrike" cap="none" dirty="0">
                <a:solidFill>
                  <a:schemeClr val="dk1"/>
                </a:solidFill>
                <a:latin typeface="Arial"/>
                <a:ea typeface="Arial"/>
                <a:cs typeface="Arial"/>
                <a:sym typeface="Arial"/>
              </a:rPr>
              <a:t> Can be applied to different datasets and machine learning models.</a:t>
            </a:r>
            <a:br>
              <a:rPr lang="en" sz="1500" b="0" i="0" u="none" strike="noStrike" cap="none" dirty="0">
                <a:solidFill>
                  <a:schemeClr val="dk1"/>
                </a:solidFill>
                <a:latin typeface="Arial"/>
                <a:ea typeface="Arial"/>
                <a:cs typeface="Arial"/>
                <a:sym typeface="Arial"/>
              </a:rPr>
            </a:br>
            <a:endParaRPr sz="1500" b="0" i="0" u="none" strike="noStrike" cap="none" dirty="0">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500"/>
              <a:buFont typeface="Arial"/>
              <a:buNone/>
            </a:pPr>
            <a:r>
              <a:rPr lang="en" sz="1500" b="1" i="0" u="none" strike="noStrike" cap="none" dirty="0">
                <a:solidFill>
                  <a:schemeClr val="dk1"/>
                </a:solidFill>
                <a:latin typeface="Arial"/>
                <a:ea typeface="Arial"/>
                <a:cs typeface="Arial"/>
                <a:sym typeface="Arial"/>
              </a:rPr>
              <a:t>Disadvantages</a:t>
            </a:r>
            <a:endParaRPr sz="1500" b="1" i="0" u="none" strike="noStrike" cap="none" dirty="0">
              <a:solidFill>
                <a:schemeClr val="dk1"/>
              </a:solidFill>
              <a:latin typeface="Arial"/>
              <a:ea typeface="Arial"/>
              <a:cs typeface="Arial"/>
              <a:sym typeface="Arial"/>
            </a:endParaRPr>
          </a:p>
          <a:p>
            <a:pPr marL="457200" marR="0" lvl="0" indent="-323850" algn="l" rtl="0">
              <a:lnSpc>
                <a:spcPct val="115000"/>
              </a:lnSpc>
              <a:spcBef>
                <a:spcPts val="1200"/>
              </a:spcBef>
              <a:spcAft>
                <a:spcPts val="0"/>
              </a:spcAft>
              <a:buClr>
                <a:schemeClr val="dk1"/>
              </a:buClr>
              <a:buSzPts val="1500"/>
              <a:buFont typeface="Arial"/>
              <a:buChar char="●"/>
            </a:pPr>
            <a:r>
              <a:rPr lang="en" sz="1500" b="1" i="0" u="none" strike="noStrike" cap="none" dirty="0">
                <a:solidFill>
                  <a:schemeClr val="dk1"/>
                </a:solidFill>
                <a:latin typeface="Arial"/>
                <a:ea typeface="Arial"/>
                <a:cs typeface="Arial"/>
                <a:sym typeface="Arial"/>
              </a:rPr>
              <a:t>Computationally expensive:</a:t>
            </a:r>
            <a:r>
              <a:rPr lang="en" sz="1500" b="0" i="0" u="none" strike="noStrike" cap="none" dirty="0">
                <a:solidFill>
                  <a:schemeClr val="dk1"/>
                </a:solidFill>
                <a:latin typeface="Arial"/>
                <a:ea typeface="Arial"/>
                <a:cs typeface="Arial"/>
                <a:sym typeface="Arial"/>
              </a:rPr>
              <a:t> Requires more computation, especially when the number of folds is large.</a:t>
            </a:r>
            <a:br>
              <a:rPr lang="en" sz="1500" b="0" i="0" u="none" strike="noStrike" cap="none" dirty="0">
                <a:solidFill>
                  <a:schemeClr val="dk1"/>
                </a:solidFill>
                <a:latin typeface="Arial"/>
                <a:ea typeface="Arial"/>
                <a:cs typeface="Arial"/>
                <a:sym typeface="Arial"/>
              </a:rPr>
            </a:br>
            <a:endParaRPr sz="1500" b="0" i="0" u="none" strike="noStrike" cap="none" dirty="0">
              <a:solidFill>
                <a:schemeClr val="dk1"/>
              </a:solidFill>
              <a:latin typeface="Arial"/>
              <a:ea typeface="Arial"/>
              <a:cs typeface="Arial"/>
              <a:sym typeface="Arial"/>
            </a:endParaRPr>
          </a:p>
          <a:p>
            <a:pPr marL="457200" marR="0" lvl="0" indent="-323850" algn="l" rtl="0">
              <a:lnSpc>
                <a:spcPct val="115000"/>
              </a:lnSpc>
              <a:spcBef>
                <a:spcPts val="0"/>
              </a:spcBef>
              <a:spcAft>
                <a:spcPts val="0"/>
              </a:spcAft>
              <a:buClr>
                <a:schemeClr val="dk1"/>
              </a:buClr>
              <a:buSzPts val="1500"/>
              <a:buFont typeface="Arial"/>
              <a:buChar char="●"/>
            </a:pPr>
            <a:r>
              <a:rPr lang="en" sz="1500" b="1" i="0" u="none" strike="noStrike" cap="none" dirty="0">
                <a:solidFill>
                  <a:schemeClr val="dk1"/>
                </a:solidFill>
                <a:latin typeface="Arial"/>
                <a:ea typeface="Arial"/>
                <a:cs typeface="Arial"/>
                <a:sym typeface="Arial"/>
              </a:rPr>
              <a:t>Time-consuming:</a:t>
            </a:r>
            <a:r>
              <a:rPr lang="en" sz="1500" b="0" i="0" u="none" strike="noStrike" cap="none" dirty="0">
                <a:solidFill>
                  <a:schemeClr val="dk1"/>
                </a:solidFill>
                <a:latin typeface="Arial"/>
                <a:ea typeface="Arial"/>
                <a:cs typeface="Arial"/>
                <a:sym typeface="Arial"/>
              </a:rPr>
              <a:t> Methods like </a:t>
            </a:r>
            <a:r>
              <a:rPr lang="en" sz="1500" b="1" i="0" u="none" strike="noStrike" cap="none" dirty="0">
                <a:solidFill>
                  <a:schemeClr val="dk1"/>
                </a:solidFill>
                <a:latin typeface="Arial"/>
                <a:ea typeface="Arial"/>
                <a:cs typeface="Arial"/>
                <a:sym typeface="Arial"/>
              </a:rPr>
              <a:t>LOOCV</a:t>
            </a:r>
            <a:r>
              <a:rPr lang="en" sz="1500" b="0" i="0" u="none" strike="noStrike" cap="none" dirty="0">
                <a:solidFill>
                  <a:schemeClr val="dk1"/>
                </a:solidFill>
                <a:latin typeface="Arial"/>
                <a:ea typeface="Arial"/>
                <a:cs typeface="Arial"/>
                <a:sym typeface="Arial"/>
              </a:rPr>
              <a:t> take a long time when the dataset is very large.</a:t>
            </a:r>
            <a:br>
              <a:rPr lang="en" sz="1500" b="0" i="0" u="none" strike="noStrike" cap="none" dirty="0">
                <a:solidFill>
                  <a:schemeClr val="dk1"/>
                </a:solidFill>
                <a:latin typeface="Arial"/>
                <a:ea typeface="Arial"/>
                <a:cs typeface="Arial"/>
                <a:sym typeface="Arial"/>
              </a:rPr>
            </a:br>
            <a:endParaRPr sz="1500" b="0" i="0" u="none" strike="noStrike" cap="none" dirty="0">
              <a:solidFill>
                <a:schemeClr val="dk1"/>
              </a:solidFill>
              <a:latin typeface="Arial"/>
              <a:ea typeface="Arial"/>
              <a:cs typeface="Arial"/>
              <a:sym typeface="Arial"/>
            </a:endParaRPr>
          </a:p>
          <a:p>
            <a:pPr marL="457200" marR="0" lvl="0" indent="-323850" algn="l" rtl="0">
              <a:lnSpc>
                <a:spcPct val="115000"/>
              </a:lnSpc>
              <a:spcBef>
                <a:spcPts val="0"/>
              </a:spcBef>
              <a:spcAft>
                <a:spcPts val="0"/>
              </a:spcAft>
              <a:buClr>
                <a:schemeClr val="dk1"/>
              </a:buClr>
              <a:buSzPts val="1500"/>
              <a:buFont typeface="Arial"/>
              <a:buChar char="●"/>
            </a:pPr>
            <a:r>
              <a:rPr lang="en" sz="1500" b="1" i="0" u="none" strike="noStrike" cap="none" dirty="0">
                <a:solidFill>
                  <a:schemeClr val="dk1"/>
                </a:solidFill>
                <a:latin typeface="Arial"/>
                <a:ea typeface="Arial"/>
                <a:cs typeface="Arial"/>
                <a:sym typeface="Arial"/>
              </a:rPr>
              <a:t>Bias-Variance tradeoff:</a:t>
            </a:r>
            <a:r>
              <a:rPr lang="en" sz="1500" b="0" i="0" u="none" strike="noStrike" cap="none" dirty="0">
                <a:solidFill>
                  <a:schemeClr val="dk1"/>
                </a:solidFill>
                <a:latin typeface="Arial"/>
                <a:ea typeface="Arial"/>
                <a:cs typeface="Arial"/>
                <a:sym typeface="Arial"/>
              </a:rPr>
              <a:t> Fewer folds can cause </a:t>
            </a:r>
            <a:r>
              <a:rPr lang="en" sz="1500" b="1" i="0" u="none" strike="noStrike" cap="none" dirty="0">
                <a:solidFill>
                  <a:schemeClr val="dk1"/>
                </a:solidFill>
                <a:latin typeface="Arial"/>
                <a:ea typeface="Arial"/>
                <a:cs typeface="Arial"/>
                <a:sym typeface="Arial"/>
              </a:rPr>
              <a:t>high bias</a:t>
            </a:r>
            <a:r>
              <a:rPr lang="en" sz="1500" b="0" i="0" u="none" strike="noStrike" cap="none" dirty="0">
                <a:solidFill>
                  <a:schemeClr val="dk1"/>
                </a:solidFill>
                <a:latin typeface="Arial"/>
                <a:ea typeface="Arial"/>
                <a:cs typeface="Arial"/>
                <a:sym typeface="Arial"/>
              </a:rPr>
              <a:t>, while too many folds can lead to </a:t>
            </a:r>
            <a:r>
              <a:rPr lang="en" sz="1500" b="1" i="0" u="none" strike="noStrike" cap="none" dirty="0">
                <a:solidFill>
                  <a:schemeClr val="dk1"/>
                </a:solidFill>
                <a:latin typeface="Arial"/>
                <a:ea typeface="Arial"/>
                <a:cs typeface="Arial"/>
                <a:sym typeface="Arial"/>
              </a:rPr>
              <a:t>high variance</a:t>
            </a:r>
            <a:r>
              <a:rPr lang="en" sz="1500" b="0" i="0" u="none" strike="noStrike" cap="none" dirty="0">
                <a:solidFill>
                  <a:schemeClr val="dk1"/>
                </a:solidFill>
                <a:latin typeface="Arial"/>
                <a:ea typeface="Arial"/>
                <a:cs typeface="Arial"/>
                <a:sym typeface="Arial"/>
              </a:rPr>
              <a:t>.</a:t>
            </a:r>
            <a:endParaRPr sz="1500" b="0" i="0" u="none" strike="noStrike" cap="none" dirty="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3"/>
          <p:cNvSpPr txBox="1"/>
          <p:nvPr/>
        </p:nvSpPr>
        <p:spPr>
          <a:xfrm>
            <a:off x="389850" y="1785763"/>
            <a:ext cx="92097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600"/>
              </a:spcAft>
              <a:buClr>
                <a:srgbClr val="000000"/>
              </a:buClr>
              <a:buSzPts val="4000"/>
              <a:buFont typeface="Arial"/>
              <a:buNone/>
            </a:pPr>
            <a:r>
              <a:rPr lang="en" sz="4000" b="1" i="0" u="none" strike="noStrike" cap="none">
                <a:solidFill>
                  <a:srgbClr val="1A2C47"/>
                </a:solidFill>
                <a:highlight>
                  <a:srgbClr val="FAFBFC"/>
                </a:highlight>
                <a:latin typeface="Arial"/>
                <a:ea typeface="Arial"/>
                <a:cs typeface="Arial"/>
                <a:sym typeface="Arial"/>
              </a:rPr>
              <a:t>Grid Search in Machine Learning</a:t>
            </a:r>
            <a:endParaRPr sz="4000" b="1" i="0" u="none" strike="noStrike" cap="none">
              <a:solidFill>
                <a:srgbClr val="1A2C47"/>
              </a:solidFill>
              <a:highlight>
                <a:srgbClr val="FAFBFC"/>
              </a:highlight>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4"/>
          <p:cNvSpPr txBox="1"/>
          <p:nvPr/>
        </p:nvSpPr>
        <p:spPr>
          <a:xfrm>
            <a:off x="0" y="0"/>
            <a:ext cx="4393200" cy="459199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2000" b="1" i="0" u="none" strike="noStrike" cap="none" dirty="0">
                <a:solidFill>
                  <a:schemeClr val="dk1"/>
                </a:solidFill>
                <a:latin typeface="Arial"/>
                <a:ea typeface="Arial"/>
                <a:cs typeface="Arial"/>
                <a:sym typeface="Arial"/>
              </a:rPr>
              <a:t>Introduction</a:t>
            </a:r>
            <a:br>
              <a:rPr lang="en" sz="2000" b="1" i="0" u="none" strike="noStrike" cap="none" dirty="0">
                <a:solidFill>
                  <a:schemeClr val="dk1"/>
                </a:solidFill>
                <a:latin typeface="Arial"/>
                <a:ea typeface="Arial"/>
                <a:cs typeface="Arial"/>
                <a:sym typeface="Arial"/>
              </a:rPr>
            </a:br>
            <a:r>
              <a:rPr lang="en" sz="1400" b="0" i="0" u="none" strike="noStrike" cap="none" dirty="0">
                <a:solidFill>
                  <a:schemeClr val="dk1"/>
                </a:solidFill>
                <a:latin typeface="Arial"/>
                <a:ea typeface="Arial"/>
                <a:cs typeface="Arial"/>
                <a:sym typeface="Arial"/>
              </a:rPr>
              <a:t>Grid Search is a machine learning technique used for </a:t>
            </a:r>
            <a:r>
              <a:rPr lang="en" sz="1400" b="1" i="0" u="none" strike="noStrike" cap="none" dirty="0">
                <a:solidFill>
                  <a:schemeClr val="dk1"/>
                </a:solidFill>
                <a:latin typeface="Arial"/>
                <a:ea typeface="Arial"/>
                <a:cs typeface="Arial"/>
                <a:sym typeface="Arial"/>
              </a:rPr>
              <a:t>hyperparameter tuning (</a:t>
            </a:r>
            <a:r>
              <a:rPr lang="en" sz="1400" b="1" i="0" u="none" strike="noStrike" cap="none" dirty="0">
                <a:solidFill>
                  <a:srgbClr val="000000"/>
                </a:solidFill>
                <a:latin typeface="Arial"/>
                <a:ea typeface="Arial"/>
                <a:cs typeface="Arial"/>
                <a:sym typeface="Arial"/>
              </a:rPr>
              <a:t>Hyperparameter tuning is the process of selecting the best set of parameters for a machine learning algorithm to improve its performance. </a:t>
            </a:r>
            <a:endParaRPr dirty="0"/>
          </a:p>
          <a:p>
            <a:pPr marL="0" marR="0" lvl="0" indent="0" algn="l" rtl="0">
              <a:lnSpc>
                <a:spcPct val="100000"/>
              </a:lnSpc>
              <a:spcBef>
                <a:spcPts val="0"/>
              </a:spcBef>
              <a:spcAft>
                <a:spcPts val="0"/>
              </a:spcAft>
              <a:buNone/>
            </a:pPr>
            <a:r>
              <a:rPr lang="en" sz="1400" b="0" i="0" u="none" strike="noStrike" cap="none" dirty="0">
                <a:solidFill>
                  <a:srgbClr val="000000"/>
                </a:solidFill>
                <a:latin typeface="Arial"/>
                <a:ea typeface="Arial"/>
                <a:cs typeface="Arial"/>
                <a:sym typeface="Arial"/>
              </a:rPr>
              <a:t>Some hyperparameters are:</a:t>
            </a:r>
            <a:endParaRPr dirty="0"/>
          </a:p>
          <a:p>
            <a:pPr marL="0" marR="0" lvl="0" indent="0" algn="l" rtl="0">
              <a:lnSpc>
                <a:spcPct val="100000"/>
              </a:lnSpc>
              <a:spcBef>
                <a:spcPts val="0"/>
              </a:spcBef>
              <a:spcAft>
                <a:spcPts val="0"/>
              </a:spcAft>
              <a:buNone/>
            </a:pPr>
            <a:r>
              <a:rPr lang="en" sz="1400" b="0" i="0" u="none" strike="noStrike" cap="none" dirty="0">
                <a:solidFill>
                  <a:srgbClr val="000000"/>
                </a:solidFill>
                <a:latin typeface="Arial"/>
                <a:ea typeface="Arial"/>
                <a:cs typeface="Arial"/>
                <a:sym typeface="Arial"/>
              </a:rPr>
              <a:t>n_estimators → number of trees in the forest</a:t>
            </a:r>
            <a:endParaRPr dirty="0"/>
          </a:p>
          <a:p>
            <a:pPr marL="0" marR="0" lvl="0" indent="0" algn="l" rtl="0">
              <a:lnSpc>
                <a:spcPct val="100000"/>
              </a:lnSpc>
              <a:spcBef>
                <a:spcPts val="0"/>
              </a:spcBef>
              <a:spcAft>
                <a:spcPts val="0"/>
              </a:spcAft>
              <a:buNone/>
            </a:pPr>
            <a:r>
              <a:rPr lang="en" sz="1400" b="0" i="0" u="none" strike="noStrike" cap="none" dirty="0">
                <a:solidFill>
                  <a:srgbClr val="000000"/>
                </a:solidFill>
                <a:latin typeface="Arial"/>
                <a:ea typeface="Arial"/>
                <a:cs typeface="Arial"/>
                <a:sym typeface="Arial"/>
              </a:rPr>
              <a:t>max_depth → maximum depth of each tree</a:t>
            </a:r>
            <a:endParaRPr dirty="0"/>
          </a:p>
          <a:p>
            <a:pPr marL="0" marR="0" lvl="0" indent="0" algn="l" rtl="0">
              <a:lnSpc>
                <a:spcPct val="100000"/>
              </a:lnSpc>
              <a:spcBef>
                <a:spcPts val="0"/>
              </a:spcBef>
              <a:spcAft>
                <a:spcPts val="0"/>
              </a:spcAft>
              <a:buNone/>
            </a:pPr>
            <a:r>
              <a:rPr lang="en" sz="1400" b="0" i="0" u="none" strike="noStrike" cap="none" dirty="0">
                <a:solidFill>
                  <a:srgbClr val="000000"/>
                </a:solidFill>
                <a:latin typeface="Arial"/>
                <a:ea typeface="Arial"/>
                <a:cs typeface="Arial"/>
                <a:sym typeface="Arial"/>
              </a:rPr>
              <a:t>min_samples_split → minimum samples needed to split a node)</a:t>
            </a:r>
            <a:r>
              <a:rPr lang="en" sz="1400" b="0" i="0" u="none" strike="noStrike" cap="none" dirty="0">
                <a:solidFill>
                  <a:schemeClr val="dk1"/>
                </a:solidFill>
                <a:latin typeface="Arial"/>
                <a:ea typeface="Arial"/>
                <a:cs typeface="Arial"/>
                <a:sym typeface="Arial"/>
              </a:rPr>
              <a:t>. It systematically tests different combinations of hyperparameters available in a machine learning algorithm to find the set that produces the best model performance.</a:t>
            </a:r>
            <a:endParaRPr sz="1400" b="0" i="0" u="none" strike="noStrike" cap="none" dirty="0">
              <a:solidFill>
                <a:schemeClr val="dk1"/>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400"/>
              <a:buFont typeface="Arial"/>
              <a:buNone/>
            </a:pPr>
            <a:r>
              <a:rPr lang="en" sz="1400" b="0" i="0" u="none" strike="noStrike" cap="none" dirty="0">
                <a:solidFill>
                  <a:schemeClr val="dk1"/>
                </a:solidFill>
                <a:latin typeface="Arial"/>
                <a:ea typeface="Arial"/>
                <a:cs typeface="Arial"/>
                <a:sym typeface="Arial"/>
              </a:rPr>
              <a:t>In addition to improving model accuracy, Grid Search also provides </a:t>
            </a:r>
            <a:r>
              <a:rPr lang="en" sz="1400" b="1" i="0" u="none" strike="noStrike" cap="none" dirty="0">
                <a:solidFill>
                  <a:schemeClr val="dk1"/>
                </a:solidFill>
                <a:latin typeface="Arial"/>
                <a:ea typeface="Arial"/>
                <a:cs typeface="Arial"/>
                <a:sym typeface="Arial"/>
              </a:rPr>
              <a:t>evaluation metrics</a:t>
            </a:r>
            <a:r>
              <a:rPr lang="en" sz="1400" b="0" i="0" u="none" strike="noStrike" cap="none" dirty="0">
                <a:solidFill>
                  <a:schemeClr val="dk1"/>
                </a:solidFill>
                <a:latin typeface="Arial"/>
                <a:ea typeface="Arial"/>
                <a:cs typeface="Arial"/>
                <a:sym typeface="Arial"/>
              </a:rPr>
              <a:t> that help analyze and understand how well the machine learning model performs with different parameter combinations.</a:t>
            </a:r>
            <a:endParaRPr sz="1400" b="0" i="0" u="none" strike="noStrike" cap="none" dirty="0">
              <a:solidFill>
                <a:schemeClr val="dk1"/>
              </a:solidFill>
              <a:latin typeface="Arial"/>
              <a:ea typeface="Arial"/>
              <a:cs typeface="Arial"/>
              <a:sym typeface="Arial"/>
            </a:endParaRPr>
          </a:p>
        </p:txBody>
      </p:sp>
      <p:pic>
        <p:nvPicPr>
          <p:cNvPr id="137" name="Google Shape;137;p14"/>
          <p:cNvPicPr preferRelativeResize="0"/>
          <p:nvPr/>
        </p:nvPicPr>
        <p:blipFill rotWithShape="1">
          <a:blip r:embed="rId3">
            <a:alphaModFix/>
          </a:blip>
          <a:srcRect b="17301"/>
          <a:stretch/>
        </p:blipFill>
        <p:spPr>
          <a:xfrm>
            <a:off x="4451349" y="624625"/>
            <a:ext cx="4582249" cy="3005600"/>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5"/>
          <p:cNvSpPr txBox="1"/>
          <p:nvPr/>
        </p:nvSpPr>
        <p:spPr>
          <a:xfrm>
            <a:off x="0" y="0"/>
            <a:ext cx="9144000" cy="58998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400"/>
              <a:buFont typeface="Arial"/>
              <a:buNone/>
            </a:pPr>
            <a:r>
              <a:rPr lang="en" sz="1400" b="0" i="0" u="none" strike="noStrike" cap="none" dirty="0">
                <a:solidFill>
                  <a:schemeClr val="dk1"/>
                </a:solidFill>
                <a:latin typeface="Arial"/>
                <a:ea typeface="Arial"/>
                <a:cs typeface="Arial"/>
                <a:sym typeface="Arial"/>
              </a:rPr>
              <a:t>This diagram shows </a:t>
            </a:r>
            <a:r>
              <a:rPr lang="en" sz="1400" b="1" i="0" u="none" strike="noStrike" cap="none" dirty="0">
                <a:solidFill>
                  <a:schemeClr val="dk1"/>
                </a:solidFill>
                <a:latin typeface="Arial"/>
                <a:ea typeface="Arial"/>
                <a:cs typeface="Arial"/>
                <a:sym typeface="Arial"/>
              </a:rPr>
              <a:t>how GridSearchCV works with Cross-Validation</a:t>
            </a:r>
            <a:r>
              <a:rPr lang="en" sz="1400" b="0" i="0" u="none" strike="noStrike" cap="none" dirty="0">
                <a:solidFill>
                  <a:schemeClr val="dk1"/>
                </a:solidFill>
                <a:latin typeface="Arial"/>
                <a:ea typeface="Arial"/>
                <a:cs typeface="Arial"/>
                <a:sym typeface="Arial"/>
              </a:rPr>
              <a:t> to find the best model parameters.</a:t>
            </a:r>
            <a:endParaRPr sz="1400" b="0" i="0" u="none" strike="noStrike" cap="none" dirty="0">
              <a:solidFill>
                <a:schemeClr val="dk1"/>
              </a:solidFill>
              <a:latin typeface="Arial"/>
              <a:ea typeface="Arial"/>
              <a:cs typeface="Arial"/>
              <a:sym typeface="Arial"/>
            </a:endParaRPr>
          </a:p>
          <a:p>
            <a:pPr marL="0" marR="0" lvl="0" indent="0" algn="l" rtl="0">
              <a:lnSpc>
                <a:spcPct val="115000"/>
              </a:lnSpc>
              <a:spcBef>
                <a:spcPts val="1400"/>
              </a:spcBef>
              <a:spcAft>
                <a:spcPts val="0"/>
              </a:spcAft>
              <a:buClr>
                <a:srgbClr val="000000"/>
              </a:buClr>
              <a:buSzPts val="1600"/>
              <a:buFont typeface="Arial"/>
              <a:buNone/>
            </a:pPr>
            <a:r>
              <a:rPr lang="en" sz="1600" b="1" i="0" u="none" strike="noStrike" cap="none" dirty="0">
                <a:solidFill>
                  <a:schemeClr val="dk1"/>
                </a:solidFill>
                <a:latin typeface="Arial"/>
                <a:ea typeface="Arial"/>
                <a:cs typeface="Arial"/>
                <a:sym typeface="Arial"/>
              </a:rPr>
              <a:t>1. Dataset Split (Cross Validation)</a:t>
            </a:r>
            <a:endParaRPr sz="1600" b="1" i="0" u="none" strike="noStrike" cap="none" dirty="0">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400"/>
              <a:buFont typeface="Arial"/>
              <a:buNone/>
            </a:pPr>
            <a:r>
              <a:rPr lang="en" sz="1400" b="0" i="0" u="none" strike="noStrike" cap="none" dirty="0">
                <a:solidFill>
                  <a:schemeClr val="dk1"/>
                </a:solidFill>
                <a:latin typeface="Arial"/>
                <a:ea typeface="Arial"/>
                <a:cs typeface="Arial"/>
                <a:sym typeface="Arial"/>
              </a:rPr>
              <a:t>The full </a:t>
            </a:r>
            <a:r>
              <a:rPr lang="en" sz="1400" b="1" i="0" u="none" strike="noStrike" cap="none" dirty="0">
                <a:solidFill>
                  <a:schemeClr val="dk1"/>
                </a:solidFill>
                <a:latin typeface="Arial"/>
                <a:ea typeface="Arial"/>
                <a:cs typeface="Arial"/>
                <a:sym typeface="Arial"/>
              </a:rPr>
              <a:t>dataset</a:t>
            </a:r>
            <a:r>
              <a:rPr lang="en" sz="1400" b="0" i="0" u="none" strike="noStrike" cap="none" dirty="0">
                <a:solidFill>
                  <a:schemeClr val="dk1"/>
                </a:solidFill>
                <a:latin typeface="Arial"/>
                <a:ea typeface="Arial"/>
                <a:cs typeface="Arial"/>
                <a:sym typeface="Arial"/>
              </a:rPr>
              <a:t> is first divided into different </a:t>
            </a:r>
            <a:r>
              <a:rPr lang="en" sz="1400" b="1" i="0" u="none" strike="noStrike" cap="none" dirty="0">
                <a:solidFill>
                  <a:schemeClr val="dk1"/>
                </a:solidFill>
                <a:latin typeface="Arial"/>
                <a:ea typeface="Arial"/>
                <a:cs typeface="Arial"/>
                <a:sym typeface="Arial"/>
              </a:rPr>
              <a:t>folds</a:t>
            </a:r>
            <a:r>
              <a:rPr lang="en" sz="1400" b="0" i="0" u="none" strike="noStrike" cap="none" dirty="0">
                <a:solidFill>
                  <a:schemeClr val="dk1"/>
                </a:solidFill>
                <a:latin typeface="Arial"/>
                <a:ea typeface="Arial"/>
                <a:cs typeface="Arial"/>
                <a:sym typeface="Arial"/>
              </a:rPr>
              <a:t> using cross-validation.</a:t>
            </a:r>
            <a:endParaRPr sz="1400" b="0" i="0" u="none" strike="noStrike" cap="none" dirty="0">
              <a:solidFill>
                <a:schemeClr val="dk1"/>
              </a:solidFill>
              <a:latin typeface="Arial"/>
              <a:ea typeface="Arial"/>
              <a:cs typeface="Arial"/>
              <a:sym typeface="Arial"/>
            </a:endParaRPr>
          </a:p>
          <a:p>
            <a:pPr marL="457200" marR="0" lvl="0" indent="-317500" algn="l" rtl="0">
              <a:lnSpc>
                <a:spcPct val="115000"/>
              </a:lnSpc>
              <a:spcBef>
                <a:spcPts val="1200"/>
              </a:spcBef>
              <a:spcAft>
                <a:spcPts val="0"/>
              </a:spcAft>
              <a:buClr>
                <a:schemeClr val="dk1"/>
              </a:buClr>
              <a:buSzPts val="1400"/>
              <a:buFont typeface="Arial"/>
              <a:buChar char="●"/>
            </a:pPr>
            <a:r>
              <a:rPr lang="en" sz="1400" b="0" i="0" u="none" strike="noStrike" cap="none" dirty="0">
                <a:solidFill>
                  <a:schemeClr val="dk1"/>
                </a:solidFill>
                <a:latin typeface="Arial"/>
                <a:ea typeface="Arial"/>
                <a:cs typeface="Arial"/>
                <a:sym typeface="Arial"/>
              </a:rPr>
              <a:t>In </a:t>
            </a:r>
            <a:r>
              <a:rPr lang="en" sz="1400" b="1" i="0" u="none" strike="noStrike" cap="none" dirty="0">
                <a:solidFill>
                  <a:schemeClr val="dk1"/>
                </a:solidFill>
                <a:latin typeface="Arial"/>
                <a:ea typeface="Arial"/>
                <a:cs typeface="Arial"/>
                <a:sym typeface="Arial"/>
              </a:rPr>
              <a:t>Fold 1</a:t>
            </a:r>
            <a:r>
              <a:rPr lang="en" sz="1400" b="0" i="0" u="none" strike="noStrike" cap="none" dirty="0">
                <a:solidFill>
                  <a:schemeClr val="dk1"/>
                </a:solidFill>
                <a:latin typeface="Arial"/>
                <a:ea typeface="Arial"/>
                <a:cs typeface="Arial"/>
                <a:sym typeface="Arial"/>
              </a:rPr>
              <a:t>, one part becomes the </a:t>
            </a:r>
            <a:r>
              <a:rPr lang="en" sz="1400" b="1" i="0" u="none" strike="noStrike" cap="none" dirty="0">
                <a:solidFill>
                  <a:schemeClr val="dk1"/>
                </a:solidFill>
                <a:latin typeface="Arial"/>
                <a:ea typeface="Arial"/>
                <a:cs typeface="Arial"/>
                <a:sym typeface="Arial"/>
              </a:rPr>
              <a:t>test set</a:t>
            </a:r>
            <a:r>
              <a:rPr lang="en" sz="1400" b="0" i="0" u="none" strike="noStrike" cap="none" dirty="0">
                <a:solidFill>
                  <a:schemeClr val="dk1"/>
                </a:solidFill>
                <a:latin typeface="Arial"/>
                <a:ea typeface="Arial"/>
                <a:cs typeface="Arial"/>
                <a:sym typeface="Arial"/>
              </a:rPr>
              <a:t> and the other part becomes the </a:t>
            </a:r>
            <a:r>
              <a:rPr lang="en" sz="1400" b="1" i="0" u="none" strike="noStrike" cap="none" dirty="0">
                <a:solidFill>
                  <a:schemeClr val="dk1"/>
                </a:solidFill>
                <a:latin typeface="Arial"/>
                <a:ea typeface="Arial"/>
                <a:cs typeface="Arial"/>
                <a:sym typeface="Arial"/>
              </a:rPr>
              <a:t>training set</a:t>
            </a:r>
            <a:r>
              <a:rPr lang="en" sz="1400" b="0" i="0" u="none" strike="noStrike" cap="none" dirty="0">
                <a:solidFill>
                  <a:schemeClr val="dk1"/>
                </a:solidFill>
                <a:latin typeface="Arial"/>
                <a:ea typeface="Arial"/>
                <a:cs typeface="Arial"/>
                <a:sym typeface="Arial"/>
              </a:rPr>
              <a:t>.</a:t>
            </a:r>
            <a:endParaRPr sz="1400" b="0" i="0" u="none" strike="noStrike" cap="none" dirty="0">
              <a:solidFill>
                <a:schemeClr val="dk1"/>
              </a:solidFill>
              <a:latin typeface="Arial"/>
              <a:ea typeface="Arial"/>
              <a:cs typeface="Arial"/>
              <a:sym typeface="Arial"/>
            </a:endParaRPr>
          </a:p>
          <a:p>
            <a:pPr marL="457200" marR="0" lvl="0" indent="-317500" algn="l" rtl="0">
              <a:lnSpc>
                <a:spcPct val="115000"/>
              </a:lnSpc>
              <a:spcBef>
                <a:spcPts val="0"/>
              </a:spcBef>
              <a:spcAft>
                <a:spcPts val="0"/>
              </a:spcAft>
              <a:buClr>
                <a:schemeClr val="dk1"/>
              </a:buClr>
              <a:buSzPts val="1400"/>
              <a:buFont typeface="Arial"/>
              <a:buChar char="●"/>
            </a:pPr>
            <a:r>
              <a:rPr lang="en" sz="1400" b="0" i="0" u="none" strike="noStrike" cap="none" dirty="0">
                <a:solidFill>
                  <a:schemeClr val="dk1"/>
                </a:solidFill>
                <a:latin typeface="Arial"/>
                <a:ea typeface="Arial"/>
                <a:cs typeface="Arial"/>
                <a:sym typeface="Arial"/>
              </a:rPr>
              <a:t>In </a:t>
            </a:r>
            <a:r>
              <a:rPr lang="en" sz="1400" b="1" i="0" u="none" strike="noStrike" cap="none" dirty="0">
                <a:solidFill>
                  <a:schemeClr val="dk1"/>
                </a:solidFill>
                <a:latin typeface="Arial"/>
                <a:ea typeface="Arial"/>
                <a:cs typeface="Arial"/>
                <a:sym typeface="Arial"/>
              </a:rPr>
              <a:t>Fold 2</a:t>
            </a:r>
            <a:r>
              <a:rPr lang="en" sz="1400" b="0" i="0" u="none" strike="noStrike" cap="none" dirty="0">
                <a:solidFill>
                  <a:schemeClr val="dk1"/>
                </a:solidFill>
                <a:latin typeface="Arial"/>
                <a:ea typeface="Arial"/>
                <a:cs typeface="Arial"/>
                <a:sym typeface="Arial"/>
              </a:rPr>
              <a:t>, the roles switch: the previous training part becomes the </a:t>
            </a:r>
            <a:r>
              <a:rPr lang="en" sz="1400" b="1" i="0" u="none" strike="noStrike" cap="none" dirty="0">
                <a:solidFill>
                  <a:schemeClr val="dk1"/>
                </a:solidFill>
                <a:latin typeface="Arial"/>
                <a:ea typeface="Arial"/>
                <a:cs typeface="Arial"/>
                <a:sym typeface="Arial"/>
              </a:rPr>
              <a:t>test set</a:t>
            </a:r>
            <a:r>
              <a:rPr lang="en" sz="1400" b="0" i="0" u="none" strike="noStrike" cap="none" dirty="0">
                <a:solidFill>
                  <a:schemeClr val="dk1"/>
                </a:solidFill>
                <a:latin typeface="Arial"/>
                <a:ea typeface="Arial"/>
                <a:cs typeface="Arial"/>
                <a:sym typeface="Arial"/>
              </a:rPr>
              <a:t>.</a:t>
            </a:r>
            <a:endParaRPr sz="1400" b="0" i="0" u="none" strike="noStrike" cap="none" dirty="0">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400"/>
              <a:buFont typeface="Arial"/>
              <a:buNone/>
            </a:pPr>
            <a:r>
              <a:rPr lang="en" sz="1400" b="0" i="0" u="none" strike="noStrike" cap="none" dirty="0">
                <a:solidFill>
                  <a:schemeClr val="dk1"/>
                </a:solidFill>
                <a:latin typeface="Arial"/>
                <a:ea typeface="Arial"/>
                <a:cs typeface="Arial"/>
                <a:sym typeface="Arial"/>
              </a:rPr>
              <a:t>This ensures every data point is used for both </a:t>
            </a:r>
            <a:r>
              <a:rPr lang="en" sz="1400" b="1" i="0" u="none" strike="noStrike" cap="none" dirty="0">
                <a:solidFill>
                  <a:schemeClr val="dk1"/>
                </a:solidFill>
                <a:latin typeface="Arial"/>
                <a:ea typeface="Arial"/>
                <a:cs typeface="Arial"/>
                <a:sym typeface="Arial"/>
              </a:rPr>
              <a:t>training and testing</a:t>
            </a:r>
            <a:r>
              <a:rPr lang="en" sz="1400" b="0" i="0" u="none" strike="noStrike" cap="none" dirty="0">
                <a:solidFill>
                  <a:schemeClr val="dk1"/>
                </a:solidFill>
                <a:latin typeface="Arial"/>
                <a:ea typeface="Arial"/>
                <a:cs typeface="Arial"/>
                <a:sym typeface="Arial"/>
              </a:rPr>
              <a:t>.</a:t>
            </a:r>
            <a:endParaRPr sz="1400" b="0" i="0" u="none" strike="noStrike" cap="none" dirty="0">
              <a:solidFill>
                <a:schemeClr val="dk1"/>
              </a:solidFill>
              <a:latin typeface="Arial"/>
              <a:ea typeface="Arial"/>
              <a:cs typeface="Arial"/>
              <a:sym typeface="Arial"/>
            </a:endParaRPr>
          </a:p>
          <a:p>
            <a:pPr marL="0" marR="0" lvl="0" indent="0" algn="l" rtl="0">
              <a:lnSpc>
                <a:spcPct val="115000"/>
              </a:lnSpc>
              <a:spcBef>
                <a:spcPts val="1400"/>
              </a:spcBef>
              <a:spcAft>
                <a:spcPts val="0"/>
              </a:spcAft>
              <a:buClr>
                <a:srgbClr val="000000"/>
              </a:buClr>
              <a:buSzPts val="1600"/>
              <a:buFont typeface="Arial"/>
              <a:buNone/>
            </a:pPr>
            <a:r>
              <a:rPr lang="en" sz="1600" b="1" i="0" u="none" strike="noStrike" cap="none" dirty="0">
                <a:solidFill>
                  <a:schemeClr val="dk1"/>
                </a:solidFill>
                <a:latin typeface="Arial"/>
                <a:ea typeface="Arial"/>
                <a:cs typeface="Arial"/>
                <a:sym typeface="Arial"/>
              </a:rPr>
              <a:t>2. Model Training</a:t>
            </a:r>
            <a:endParaRPr sz="1600" b="1" i="0" u="none" strike="noStrike" cap="none" dirty="0">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400"/>
              <a:buFont typeface="Arial"/>
              <a:buNone/>
            </a:pPr>
            <a:r>
              <a:rPr lang="en" sz="1400" b="0" i="0" u="none" strike="noStrike" cap="none" dirty="0">
                <a:solidFill>
                  <a:schemeClr val="dk1"/>
                </a:solidFill>
                <a:latin typeface="Arial"/>
                <a:ea typeface="Arial"/>
                <a:cs typeface="Arial"/>
                <a:sym typeface="Arial"/>
              </a:rPr>
              <a:t>The </a:t>
            </a:r>
            <a:r>
              <a:rPr lang="en" sz="1400" b="1" i="0" u="none" strike="noStrike" cap="none" dirty="0">
                <a:solidFill>
                  <a:schemeClr val="dk1"/>
                </a:solidFill>
                <a:latin typeface="Arial"/>
                <a:ea typeface="Arial"/>
                <a:cs typeface="Arial"/>
                <a:sym typeface="Arial"/>
              </a:rPr>
              <a:t>estimator (GridSearchCV)</a:t>
            </a:r>
            <a:r>
              <a:rPr lang="en" sz="1400" b="0" i="0" u="none" strike="noStrike" cap="none" dirty="0">
                <a:solidFill>
                  <a:schemeClr val="dk1"/>
                </a:solidFill>
                <a:latin typeface="Arial"/>
                <a:ea typeface="Arial"/>
                <a:cs typeface="Arial"/>
                <a:sym typeface="Arial"/>
              </a:rPr>
              <a:t> is trained using the </a:t>
            </a:r>
            <a:r>
              <a:rPr lang="en" sz="1400" b="1" i="0" u="none" strike="noStrike" cap="none" dirty="0">
                <a:solidFill>
                  <a:schemeClr val="dk1"/>
                </a:solidFill>
                <a:latin typeface="Arial"/>
                <a:ea typeface="Arial"/>
                <a:cs typeface="Arial"/>
                <a:sym typeface="Arial"/>
              </a:rPr>
              <a:t>training set</a:t>
            </a:r>
            <a:r>
              <a:rPr lang="en" sz="1400" b="0" i="0" u="none" strike="noStrike" cap="none" dirty="0">
                <a:solidFill>
                  <a:schemeClr val="dk1"/>
                </a:solidFill>
                <a:latin typeface="Arial"/>
                <a:ea typeface="Arial"/>
                <a:cs typeface="Arial"/>
                <a:sym typeface="Arial"/>
              </a:rPr>
              <a:t> obtained from cross-validation.</a:t>
            </a:r>
            <a:endParaRPr sz="1400" b="0" i="0" u="none" strike="noStrike" cap="none" dirty="0">
              <a:solidFill>
                <a:schemeClr val="dk1"/>
              </a:solidFill>
              <a:latin typeface="Arial"/>
              <a:ea typeface="Arial"/>
              <a:cs typeface="Arial"/>
              <a:sym typeface="Arial"/>
            </a:endParaRPr>
          </a:p>
          <a:p>
            <a:pPr marL="0" marR="0" lvl="0" indent="0" algn="l" rtl="0">
              <a:lnSpc>
                <a:spcPct val="115000"/>
              </a:lnSpc>
              <a:spcBef>
                <a:spcPts val="1400"/>
              </a:spcBef>
              <a:spcAft>
                <a:spcPts val="0"/>
              </a:spcAft>
              <a:buClr>
                <a:srgbClr val="000000"/>
              </a:buClr>
              <a:buSzPts val="1600"/>
              <a:buFont typeface="Arial"/>
              <a:buNone/>
            </a:pPr>
            <a:r>
              <a:rPr lang="en" sz="1600" b="1" i="0" u="none" strike="noStrike" cap="none" dirty="0">
                <a:solidFill>
                  <a:schemeClr val="dk1"/>
                </a:solidFill>
                <a:latin typeface="Arial"/>
                <a:ea typeface="Arial"/>
                <a:cs typeface="Arial"/>
                <a:sym typeface="Arial"/>
              </a:rPr>
              <a:t>3. Further Split for Grid Search</a:t>
            </a:r>
            <a:endParaRPr sz="1600" b="1" i="0" u="none" strike="noStrike" cap="none" dirty="0">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400"/>
              <a:buFont typeface="Arial"/>
              <a:buNone/>
            </a:pPr>
            <a:r>
              <a:rPr lang="en" sz="1400" b="0" i="0" u="none" strike="noStrike" cap="none" dirty="0">
                <a:solidFill>
                  <a:schemeClr val="dk1"/>
                </a:solidFill>
                <a:latin typeface="Arial"/>
                <a:ea typeface="Arial"/>
                <a:cs typeface="Arial"/>
                <a:sym typeface="Arial"/>
              </a:rPr>
              <a:t>Inside the training data, </a:t>
            </a:r>
            <a:r>
              <a:rPr lang="en" sz="1400" b="1" i="0" u="none" strike="noStrike" cap="none" dirty="0">
                <a:solidFill>
                  <a:schemeClr val="dk1"/>
                </a:solidFill>
                <a:latin typeface="Arial"/>
                <a:ea typeface="Arial"/>
                <a:cs typeface="Arial"/>
                <a:sym typeface="Arial"/>
              </a:rPr>
              <a:t>GridSearchCV again splits the data</a:t>
            </a:r>
            <a:r>
              <a:rPr lang="en" sz="1400" b="0" i="0" u="none" strike="noStrike" cap="none" dirty="0">
                <a:solidFill>
                  <a:schemeClr val="dk1"/>
                </a:solidFill>
                <a:latin typeface="Arial"/>
                <a:ea typeface="Arial"/>
                <a:cs typeface="Arial"/>
                <a:sym typeface="Arial"/>
              </a:rPr>
              <a:t> into:</a:t>
            </a:r>
            <a:endParaRPr sz="1400" b="0" i="0" u="none" strike="noStrike" cap="none" dirty="0">
              <a:solidFill>
                <a:schemeClr val="dk1"/>
              </a:solidFill>
              <a:latin typeface="Arial"/>
              <a:ea typeface="Arial"/>
              <a:cs typeface="Arial"/>
              <a:sym typeface="Arial"/>
            </a:endParaRPr>
          </a:p>
          <a:p>
            <a:pPr marL="457200" marR="0" lvl="0" indent="-317500" algn="l" rtl="0">
              <a:lnSpc>
                <a:spcPct val="115000"/>
              </a:lnSpc>
              <a:spcBef>
                <a:spcPts val="1200"/>
              </a:spcBef>
              <a:spcAft>
                <a:spcPts val="0"/>
              </a:spcAft>
              <a:buClr>
                <a:schemeClr val="dk1"/>
              </a:buClr>
              <a:buSzPts val="1400"/>
              <a:buFont typeface="Arial"/>
              <a:buChar char="●"/>
            </a:pPr>
            <a:r>
              <a:rPr lang="en" sz="1400" b="1" i="0" u="none" strike="noStrike" cap="none" dirty="0">
                <a:solidFill>
                  <a:schemeClr val="dk1"/>
                </a:solidFill>
                <a:latin typeface="Arial"/>
                <a:ea typeface="Arial"/>
                <a:cs typeface="Arial"/>
                <a:sym typeface="Arial"/>
              </a:rPr>
              <a:t>Sub-training set</a:t>
            </a:r>
            <a:r>
              <a:rPr lang="en" sz="1400" b="0" i="0" u="none" strike="noStrike" cap="none" dirty="0">
                <a:solidFill>
                  <a:schemeClr val="dk1"/>
                </a:solidFill>
                <a:latin typeface="Arial"/>
                <a:ea typeface="Arial"/>
                <a:cs typeface="Arial"/>
                <a:sym typeface="Arial"/>
              </a:rPr>
              <a:t> – used to train the model with different hyperparameter combinations.</a:t>
            </a:r>
            <a:endParaRPr sz="1400" b="0" i="0" u="none" strike="noStrike" cap="none" dirty="0">
              <a:solidFill>
                <a:schemeClr val="dk1"/>
              </a:solidFill>
              <a:latin typeface="Arial"/>
              <a:ea typeface="Arial"/>
              <a:cs typeface="Arial"/>
              <a:sym typeface="Arial"/>
            </a:endParaRPr>
          </a:p>
          <a:p>
            <a:pPr marL="457200" marR="0" lvl="0" indent="-317500" algn="l" rtl="0">
              <a:lnSpc>
                <a:spcPct val="115000"/>
              </a:lnSpc>
              <a:spcBef>
                <a:spcPts val="0"/>
              </a:spcBef>
              <a:spcAft>
                <a:spcPts val="0"/>
              </a:spcAft>
              <a:buClr>
                <a:schemeClr val="dk1"/>
              </a:buClr>
              <a:buSzPts val="1400"/>
              <a:buFont typeface="Arial"/>
              <a:buChar char="●"/>
            </a:pPr>
            <a:r>
              <a:rPr lang="en" sz="1400" b="1" i="0" u="none" strike="noStrike" cap="none" dirty="0">
                <a:solidFill>
                  <a:schemeClr val="dk1"/>
                </a:solidFill>
                <a:latin typeface="Arial"/>
                <a:ea typeface="Arial"/>
                <a:cs typeface="Arial"/>
                <a:sym typeface="Arial"/>
              </a:rPr>
              <a:t>Validation set</a:t>
            </a:r>
            <a:r>
              <a:rPr lang="en" sz="1400" b="0" i="0" u="none" strike="noStrike" cap="none" dirty="0">
                <a:solidFill>
                  <a:schemeClr val="dk1"/>
                </a:solidFill>
                <a:latin typeface="Arial"/>
                <a:ea typeface="Arial"/>
                <a:cs typeface="Arial"/>
                <a:sym typeface="Arial"/>
              </a:rPr>
              <a:t> – used to evaluate which hyperparameter combination performs best.</a:t>
            </a:r>
            <a:endParaRPr sz="1400" b="0" i="0" u="none" strike="noStrike" cap="none" dirty="0">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400"/>
              <a:buFont typeface="Arial"/>
              <a:buNone/>
            </a:pPr>
            <a:endParaRPr sz="1400" b="0" i="0" u="none" strike="noStrike" cap="none" dirty="0">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400"/>
              <a:buFont typeface="Arial"/>
              <a:buNone/>
            </a:pP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1400"/>
              <a:buFont typeface="Arial"/>
              <a:buNone/>
            </a:pPr>
            <a:endParaRPr sz="1400" b="0" i="0" u="none" strike="noStrike" cap="none" dirty="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6"/>
          <p:cNvSpPr txBox="1"/>
          <p:nvPr/>
        </p:nvSpPr>
        <p:spPr>
          <a:xfrm>
            <a:off x="0" y="0"/>
            <a:ext cx="9144000" cy="42759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4. Hyperparameter Testing</a:t>
            </a:r>
            <a:endParaRPr sz="18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600"/>
              <a:buFont typeface="Arial"/>
              <a:buNone/>
            </a:pPr>
            <a:r>
              <a:rPr lang="en" sz="1600" b="0" i="0" u="none" strike="noStrike" cap="none">
                <a:solidFill>
                  <a:schemeClr val="dk1"/>
                </a:solidFill>
                <a:latin typeface="Arial"/>
                <a:ea typeface="Arial"/>
                <a:cs typeface="Arial"/>
                <a:sym typeface="Arial"/>
              </a:rPr>
              <a:t>GridSearch tries </a:t>
            </a:r>
            <a:r>
              <a:rPr lang="en" sz="1600" b="1" i="0" u="none" strike="noStrike" cap="none">
                <a:solidFill>
                  <a:schemeClr val="dk1"/>
                </a:solidFill>
                <a:latin typeface="Arial"/>
                <a:ea typeface="Arial"/>
                <a:cs typeface="Arial"/>
                <a:sym typeface="Arial"/>
              </a:rPr>
              <a:t>multiple combinations of parameters</a:t>
            </a:r>
            <a:r>
              <a:rPr lang="en" sz="1600" b="0" i="0" u="none" strike="noStrike" cap="none">
                <a:solidFill>
                  <a:schemeClr val="dk1"/>
                </a:solidFill>
                <a:latin typeface="Arial"/>
                <a:ea typeface="Arial"/>
                <a:cs typeface="Arial"/>
                <a:sym typeface="Arial"/>
              </a:rPr>
              <a:t> and checks their performance on the </a:t>
            </a:r>
            <a:r>
              <a:rPr lang="en" sz="1600" b="1" i="0" u="none" strike="noStrike" cap="none">
                <a:solidFill>
                  <a:schemeClr val="dk1"/>
                </a:solidFill>
                <a:latin typeface="Arial"/>
                <a:ea typeface="Arial"/>
                <a:cs typeface="Arial"/>
                <a:sym typeface="Arial"/>
              </a:rPr>
              <a:t>validation set</a:t>
            </a:r>
            <a:r>
              <a:rPr lang="en" sz="1600" b="0" i="0" u="none" strike="noStrike" cap="none">
                <a:solidFill>
                  <a:schemeClr val="dk1"/>
                </a:solidFill>
                <a:latin typeface="Arial"/>
                <a:ea typeface="Arial"/>
                <a:cs typeface="Arial"/>
                <a:sym typeface="Arial"/>
              </a:rPr>
              <a:t>.</a:t>
            </a:r>
            <a:endParaRPr sz="2200" b="1" i="0" u="none" strike="noStrike" cap="none">
              <a:solidFill>
                <a:schemeClr val="dk1"/>
              </a:solidFill>
              <a:latin typeface="Arial"/>
              <a:ea typeface="Arial"/>
              <a:cs typeface="Arial"/>
              <a:sym typeface="Arial"/>
            </a:endParaRPr>
          </a:p>
          <a:p>
            <a:pPr marL="0" marR="0" lvl="0" indent="0" algn="l" rtl="0">
              <a:lnSpc>
                <a:spcPct val="115000"/>
              </a:lnSpc>
              <a:spcBef>
                <a:spcPts val="140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5. Selecting Best Model</a:t>
            </a:r>
            <a:endParaRPr sz="18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600"/>
              <a:buFont typeface="Arial"/>
              <a:buNone/>
            </a:pPr>
            <a:r>
              <a:rPr lang="en" sz="1600" b="0" i="0" u="none" strike="noStrike" cap="none">
                <a:solidFill>
                  <a:schemeClr val="dk1"/>
                </a:solidFill>
                <a:latin typeface="Arial"/>
                <a:ea typeface="Arial"/>
                <a:cs typeface="Arial"/>
                <a:sym typeface="Arial"/>
              </a:rPr>
              <a:t>The model with the </a:t>
            </a:r>
            <a:r>
              <a:rPr lang="en" sz="1600" b="1" i="0" u="none" strike="noStrike" cap="none">
                <a:solidFill>
                  <a:schemeClr val="dk1"/>
                </a:solidFill>
                <a:latin typeface="Arial"/>
                <a:ea typeface="Arial"/>
                <a:cs typeface="Arial"/>
                <a:sym typeface="Arial"/>
              </a:rPr>
              <a:t>best validation score</a:t>
            </a:r>
            <a:r>
              <a:rPr lang="en" sz="1600" b="0" i="0" u="none" strike="noStrike" cap="none">
                <a:solidFill>
                  <a:schemeClr val="dk1"/>
                </a:solidFill>
                <a:latin typeface="Arial"/>
                <a:ea typeface="Arial"/>
                <a:cs typeface="Arial"/>
                <a:sym typeface="Arial"/>
              </a:rPr>
              <a:t> is selected and stored in </a:t>
            </a:r>
            <a:r>
              <a:rPr lang="en" sz="1600" b="1" i="0" u="none" strike="noStrike" cap="none">
                <a:solidFill>
                  <a:srgbClr val="FF9900"/>
                </a:solidFill>
                <a:latin typeface="Roboto Mono"/>
                <a:ea typeface="Roboto Mono"/>
                <a:cs typeface="Roboto Mono"/>
                <a:sym typeface="Roboto Mono"/>
              </a:rPr>
              <a:t>best_estimator_</a:t>
            </a:r>
            <a:r>
              <a:rPr lang="en" sz="1600" b="0" i="0" u="none" strike="noStrike" cap="none">
                <a:solidFill>
                  <a:schemeClr val="dk1"/>
                </a:solidFill>
                <a:latin typeface="Arial"/>
                <a:ea typeface="Arial"/>
                <a:cs typeface="Arial"/>
                <a:sym typeface="Arial"/>
              </a:rPr>
              <a:t>.</a:t>
            </a:r>
            <a:endParaRPr sz="1600" b="0" i="0" u="none" strike="noStrike" cap="none">
              <a:solidFill>
                <a:schemeClr val="dk1"/>
              </a:solidFill>
              <a:latin typeface="Arial"/>
              <a:ea typeface="Arial"/>
              <a:cs typeface="Arial"/>
              <a:sym typeface="Arial"/>
            </a:endParaRPr>
          </a:p>
          <a:p>
            <a:pPr marL="0" marR="0" lvl="0" indent="0" algn="l" rtl="0">
              <a:lnSpc>
                <a:spcPct val="115000"/>
              </a:lnSpc>
              <a:spcBef>
                <a:spcPts val="140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6. Refit Step</a:t>
            </a:r>
            <a:endParaRPr sz="18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600"/>
              <a:buFont typeface="Arial"/>
              <a:buNone/>
            </a:pPr>
            <a:r>
              <a:rPr lang="en" sz="1600" b="0" i="0" u="none" strike="noStrike" cap="none">
                <a:solidFill>
                  <a:schemeClr val="dk1"/>
                </a:solidFill>
                <a:latin typeface="Arial"/>
                <a:ea typeface="Arial"/>
                <a:cs typeface="Arial"/>
                <a:sym typeface="Arial"/>
              </a:rPr>
              <a:t>If </a:t>
            </a:r>
            <a:r>
              <a:rPr lang="en" sz="1600" b="1" i="0" u="none" strike="noStrike" cap="none">
                <a:solidFill>
                  <a:srgbClr val="FF9900"/>
                </a:solidFill>
                <a:latin typeface="Roboto Mono"/>
                <a:ea typeface="Roboto Mono"/>
                <a:cs typeface="Roboto Mono"/>
                <a:sym typeface="Roboto Mono"/>
              </a:rPr>
              <a:t>refit=True</a:t>
            </a:r>
            <a:r>
              <a:rPr lang="en" sz="1600" b="0" i="0" u="none" strike="noStrike" cap="none">
                <a:solidFill>
                  <a:schemeClr val="dk1"/>
                </a:solidFill>
                <a:latin typeface="Arial"/>
                <a:ea typeface="Arial"/>
                <a:cs typeface="Arial"/>
                <a:sym typeface="Arial"/>
              </a:rPr>
              <a:t>, the best model is </a:t>
            </a:r>
            <a:r>
              <a:rPr lang="en" sz="1600" b="1" i="0" u="none" strike="noStrike" cap="none">
                <a:solidFill>
                  <a:schemeClr val="dk1"/>
                </a:solidFill>
                <a:latin typeface="Arial"/>
                <a:ea typeface="Arial"/>
                <a:cs typeface="Arial"/>
                <a:sym typeface="Arial"/>
              </a:rPr>
              <a:t>retrained on the entire training data</a:t>
            </a:r>
            <a:r>
              <a:rPr lang="en" sz="1600" b="0" i="0" u="none" strike="noStrike" cap="none">
                <a:solidFill>
                  <a:schemeClr val="dk1"/>
                </a:solidFill>
                <a:latin typeface="Arial"/>
                <a:ea typeface="Arial"/>
                <a:cs typeface="Arial"/>
                <a:sym typeface="Arial"/>
              </a:rPr>
              <a:t> to build the final model.</a:t>
            </a:r>
            <a:endParaRPr sz="1600" b="0" i="0" u="none" strike="noStrike" cap="none">
              <a:solidFill>
                <a:schemeClr val="dk1"/>
              </a:solidFill>
              <a:latin typeface="Arial"/>
              <a:ea typeface="Arial"/>
              <a:cs typeface="Arial"/>
              <a:sym typeface="Arial"/>
            </a:endParaRPr>
          </a:p>
          <a:p>
            <a:pPr marL="0" marR="0" lvl="0" indent="0" algn="l" rtl="0">
              <a:lnSpc>
                <a:spcPct val="115000"/>
              </a:lnSpc>
              <a:spcBef>
                <a:spcPts val="140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7. Final Evaluation</a:t>
            </a:r>
            <a:endParaRPr sz="18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600"/>
              <a:buFont typeface="Arial"/>
              <a:buNone/>
            </a:pPr>
            <a:r>
              <a:rPr lang="en" sz="1600" b="0" i="0" u="none" strike="noStrike" cap="none">
                <a:solidFill>
                  <a:schemeClr val="dk1"/>
                </a:solidFill>
                <a:latin typeface="Arial"/>
                <a:ea typeface="Arial"/>
                <a:cs typeface="Arial"/>
                <a:sym typeface="Arial"/>
              </a:rPr>
              <a:t>The final model is then </a:t>
            </a:r>
            <a:r>
              <a:rPr lang="en" sz="1600" b="1" i="0" u="none" strike="noStrike" cap="none">
                <a:solidFill>
                  <a:schemeClr val="dk1"/>
                </a:solidFill>
                <a:latin typeface="Arial"/>
                <a:ea typeface="Arial"/>
                <a:cs typeface="Arial"/>
                <a:sym typeface="Arial"/>
              </a:rPr>
              <a:t>validated on the test set of the corresponding fold</a:t>
            </a:r>
            <a:r>
              <a:rPr lang="en" sz="1600" b="0" i="0" u="none" strike="noStrike" cap="none">
                <a:solidFill>
                  <a:schemeClr val="dk1"/>
                </a:solidFill>
                <a:latin typeface="Arial"/>
                <a:ea typeface="Arial"/>
                <a:cs typeface="Arial"/>
                <a:sym typeface="Arial"/>
              </a:rPr>
              <a:t> to measure its performance.</a:t>
            </a:r>
            <a:endParaRPr sz="19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7"/>
          <p:cNvSpPr txBox="1"/>
          <p:nvPr/>
        </p:nvSpPr>
        <p:spPr>
          <a:xfrm>
            <a:off x="0" y="0"/>
            <a:ext cx="9144000" cy="49989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700"/>
              <a:buFont typeface="Arial"/>
              <a:buNone/>
            </a:pPr>
            <a:r>
              <a:rPr lang="en" sz="1700" b="1" i="0" u="sng" strike="noStrike" cap="none">
                <a:solidFill>
                  <a:schemeClr val="dk1"/>
                </a:solidFill>
                <a:latin typeface="Arial"/>
                <a:ea typeface="Arial"/>
                <a:cs typeface="Arial"/>
                <a:sym typeface="Arial"/>
              </a:rPr>
              <a:t>Ways to Improve Machine Learning Model Performance</a:t>
            </a:r>
            <a:endParaRPr sz="1700" b="1" i="0" u="sng"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500"/>
              <a:buFont typeface="Arial"/>
              <a:buNone/>
            </a:pPr>
            <a:r>
              <a:rPr lang="en" sz="1500" b="0" i="0" u="none" strike="noStrike" cap="none">
                <a:solidFill>
                  <a:schemeClr val="dk1"/>
                </a:solidFill>
                <a:latin typeface="Arial"/>
                <a:ea typeface="Arial"/>
                <a:cs typeface="Arial"/>
                <a:sym typeface="Arial"/>
              </a:rPr>
              <a:t>A common approach in Machine Learning is to </a:t>
            </a:r>
            <a:r>
              <a:rPr lang="en" sz="1500" b="1" i="0" u="none" strike="noStrike" cap="none">
                <a:solidFill>
                  <a:schemeClr val="dk1"/>
                </a:solidFill>
                <a:latin typeface="Arial"/>
                <a:ea typeface="Arial"/>
                <a:cs typeface="Arial"/>
                <a:sym typeface="Arial"/>
              </a:rPr>
              <a:t>try different algorithms and compare their performance</a:t>
            </a:r>
            <a:r>
              <a:rPr lang="en" sz="1500" b="0" i="0" u="none" strike="noStrike" cap="none">
                <a:solidFill>
                  <a:schemeClr val="dk1"/>
                </a:solidFill>
                <a:latin typeface="Arial"/>
                <a:ea typeface="Arial"/>
                <a:cs typeface="Arial"/>
                <a:sym typeface="Arial"/>
              </a:rPr>
              <a:t> to see which model gives better accuracy. However, this process can be </a:t>
            </a:r>
            <a:r>
              <a:rPr lang="en" sz="1500" b="1" i="0" u="none" strike="noStrike" cap="none">
                <a:solidFill>
                  <a:schemeClr val="dk1"/>
                </a:solidFill>
                <a:latin typeface="Arial"/>
                <a:ea typeface="Arial"/>
                <a:cs typeface="Arial"/>
                <a:sym typeface="Arial"/>
              </a:rPr>
              <a:t>optimized</a:t>
            </a:r>
            <a:r>
              <a:rPr lang="en" sz="1500" b="0" i="0" u="none" strike="noStrike" cap="none">
                <a:solidFill>
                  <a:schemeClr val="dk1"/>
                </a:solidFill>
                <a:latin typeface="Arial"/>
                <a:ea typeface="Arial"/>
                <a:cs typeface="Arial"/>
                <a:sym typeface="Arial"/>
              </a:rPr>
              <a:t> to make model selection more efficient.</a:t>
            </a:r>
            <a:endParaRPr sz="1500" b="0" i="0" u="none" strike="noStrike" cap="none">
              <a:solidFill>
                <a:schemeClr val="dk1"/>
              </a:solidFill>
              <a:latin typeface="Arial"/>
              <a:ea typeface="Arial"/>
              <a:cs typeface="Arial"/>
              <a:sym typeface="Arial"/>
            </a:endParaRPr>
          </a:p>
          <a:p>
            <a:pPr marL="0" marR="0" lvl="0" indent="0" algn="l" rtl="0">
              <a:lnSpc>
                <a:spcPct val="115000"/>
              </a:lnSpc>
              <a:spcBef>
                <a:spcPts val="1400"/>
              </a:spcBef>
              <a:spcAft>
                <a:spcPts val="0"/>
              </a:spcAft>
              <a:buClr>
                <a:srgbClr val="000000"/>
              </a:buClr>
              <a:buSzPts val="1700"/>
              <a:buFont typeface="Arial"/>
              <a:buNone/>
            </a:pPr>
            <a:r>
              <a:rPr lang="en" sz="1700" b="1" i="0" u="none" strike="noStrike" cap="none">
                <a:solidFill>
                  <a:schemeClr val="dk1"/>
                </a:solidFill>
                <a:latin typeface="Arial"/>
                <a:ea typeface="Arial"/>
                <a:cs typeface="Arial"/>
                <a:sym typeface="Arial"/>
              </a:rPr>
              <a:t>1. Optimizing the Choice of the Best Machine Learning Model</a:t>
            </a:r>
            <a:endParaRPr sz="17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500"/>
              <a:buFont typeface="Arial"/>
              <a:buNone/>
            </a:pPr>
            <a:r>
              <a:rPr lang="en" sz="1500" b="0" i="0" u="none" strike="noStrike" cap="none">
                <a:solidFill>
                  <a:schemeClr val="dk1"/>
                </a:solidFill>
                <a:latin typeface="Arial"/>
                <a:ea typeface="Arial"/>
                <a:cs typeface="Arial"/>
                <a:sym typeface="Arial"/>
              </a:rPr>
              <a:t>Selecting the right dataset is an important part of Machine Learning because datasets help us understand the </a:t>
            </a:r>
            <a:r>
              <a:rPr lang="en" sz="1500" b="1" i="0" u="none" strike="noStrike" cap="none">
                <a:solidFill>
                  <a:schemeClr val="dk1"/>
                </a:solidFill>
                <a:latin typeface="Arial"/>
                <a:ea typeface="Arial"/>
                <a:cs typeface="Arial"/>
                <a:sym typeface="Arial"/>
              </a:rPr>
              <a:t>relationship between dependent and independent variables</a:t>
            </a:r>
            <a:r>
              <a:rPr lang="en" sz="1500" b="0" i="0" u="none" strike="noStrike" cap="none">
                <a:solidFill>
                  <a:schemeClr val="dk1"/>
                </a:solidFill>
                <a:latin typeface="Arial"/>
                <a:ea typeface="Arial"/>
                <a:cs typeface="Arial"/>
                <a:sym typeface="Arial"/>
              </a:rPr>
              <a:t>. In simple datasets, these relationships can often be identified easily, while in complex datasets it may be harder to detect them.</a:t>
            </a:r>
            <a:endParaRPr sz="15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500"/>
              <a:buFont typeface="Arial"/>
              <a:buNone/>
            </a:pPr>
            <a:r>
              <a:rPr lang="en" sz="1500" b="0" i="0" u="none" strike="noStrike" cap="none">
                <a:solidFill>
                  <a:schemeClr val="dk1"/>
                </a:solidFill>
                <a:latin typeface="Arial"/>
                <a:ea typeface="Arial"/>
                <a:cs typeface="Arial"/>
                <a:sym typeface="Arial"/>
              </a:rPr>
              <a:t>If the relationship between variables is clear, we can directly choose suitable algorithms. For example, if the relationship between variables appears </a:t>
            </a:r>
            <a:r>
              <a:rPr lang="en" sz="1500" b="1" i="0" u="none" strike="noStrike" cap="none">
                <a:solidFill>
                  <a:schemeClr val="dk1"/>
                </a:solidFill>
                <a:latin typeface="Arial"/>
                <a:ea typeface="Arial"/>
                <a:cs typeface="Arial"/>
                <a:sym typeface="Arial"/>
              </a:rPr>
              <a:t>linear and the number of features is small</a:t>
            </a:r>
            <a:r>
              <a:rPr lang="en" sz="1500" b="0" i="0" u="none" strike="noStrike" cap="none">
                <a:solidFill>
                  <a:schemeClr val="dk1"/>
                </a:solidFill>
                <a:latin typeface="Arial"/>
                <a:ea typeface="Arial"/>
                <a:cs typeface="Arial"/>
                <a:sym typeface="Arial"/>
              </a:rPr>
              <a:t>, the </a:t>
            </a:r>
            <a:r>
              <a:rPr lang="en" sz="1500" b="1" i="0" u="none" strike="noStrike" cap="none">
                <a:solidFill>
                  <a:schemeClr val="dk1"/>
                </a:solidFill>
                <a:latin typeface="Arial"/>
                <a:ea typeface="Arial"/>
                <a:cs typeface="Arial"/>
                <a:sym typeface="Arial"/>
              </a:rPr>
              <a:t>Linear Regression</a:t>
            </a:r>
            <a:r>
              <a:rPr lang="en" sz="1500" b="0" i="0" u="none" strike="noStrike" cap="none">
                <a:solidFill>
                  <a:schemeClr val="dk1"/>
                </a:solidFill>
                <a:latin typeface="Arial"/>
                <a:ea typeface="Arial"/>
                <a:cs typeface="Arial"/>
                <a:sym typeface="Arial"/>
              </a:rPr>
              <a:t> algorithm can be used.</a:t>
            </a:r>
            <a:endParaRPr sz="15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500"/>
              <a:buFont typeface="Arial"/>
              <a:buNone/>
            </a:pPr>
            <a:r>
              <a:rPr lang="en" sz="1500" b="0" i="0" u="none" strike="noStrike" cap="none">
                <a:solidFill>
                  <a:schemeClr val="dk1"/>
                </a:solidFill>
                <a:latin typeface="Arial"/>
                <a:ea typeface="Arial"/>
                <a:cs typeface="Arial"/>
                <a:sym typeface="Arial"/>
              </a:rPr>
              <a:t>To build a </a:t>
            </a:r>
            <a:r>
              <a:rPr lang="en" sz="1500" b="1" i="0" u="none" strike="noStrike" cap="none">
                <a:solidFill>
                  <a:schemeClr val="dk1"/>
                </a:solidFill>
                <a:latin typeface="Arial"/>
                <a:ea typeface="Arial"/>
                <a:cs typeface="Arial"/>
                <a:sym typeface="Arial"/>
              </a:rPr>
              <a:t>robust and well-performing model</a:t>
            </a:r>
            <a:r>
              <a:rPr lang="en" sz="1500" b="0" i="0" u="none" strike="noStrike" cap="none">
                <a:solidFill>
                  <a:schemeClr val="dk1"/>
                </a:solidFill>
                <a:latin typeface="Arial"/>
                <a:ea typeface="Arial"/>
                <a:cs typeface="Arial"/>
                <a:sym typeface="Arial"/>
              </a:rPr>
              <a:t>, the dataset is usually divided into </a:t>
            </a:r>
            <a:r>
              <a:rPr lang="en" sz="1500" b="1" i="0" u="none" strike="noStrike" cap="none">
                <a:solidFill>
                  <a:schemeClr val="dk1"/>
                </a:solidFill>
                <a:latin typeface="Arial"/>
                <a:ea typeface="Arial"/>
                <a:cs typeface="Arial"/>
                <a:sym typeface="Arial"/>
              </a:rPr>
              <a:t>training data and testing data</a:t>
            </a:r>
            <a:r>
              <a:rPr lang="en" sz="1500" b="0" i="0" u="none" strike="noStrike" cap="none">
                <a:solidFill>
                  <a:schemeClr val="dk1"/>
                </a:solidFill>
                <a:latin typeface="Arial"/>
                <a:ea typeface="Arial"/>
                <a:cs typeface="Arial"/>
                <a:sym typeface="Arial"/>
              </a:rPr>
              <a:t>. Multiple models are trained using the training dataset, and their performance is evaluated using the testing dataset. The model that produces the </a:t>
            </a:r>
            <a:r>
              <a:rPr lang="en" sz="1500" b="1" i="0" u="none" strike="noStrike" cap="none">
                <a:solidFill>
                  <a:schemeClr val="dk1"/>
                </a:solidFill>
                <a:latin typeface="Arial"/>
                <a:ea typeface="Arial"/>
                <a:cs typeface="Arial"/>
                <a:sym typeface="Arial"/>
              </a:rPr>
              <a:t>lowest error on the test data</a:t>
            </a:r>
            <a:r>
              <a:rPr lang="en" sz="1500" b="0" i="0" u="none" strike="noStrike" cap="none">
                <a:solidFill>
                  <a:schemeClr val="dk1"/>
                </a:solidFill>
                <a:latin typeface="Arial"/>
                <a:ea typeface="Arial"/>
                <a:cs typeface="Arial"/>
                <a:sym typeface="Arial"/>
              </a:rPr>
              <a:t> is selected as the best model.</a:t>
            </a:r>
            <a:endParaRPr sz="15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8"/>
          <p:cNvSpPr txBox="1"/>
          <p:nvPr/>
        </p:nvSpPr>
        <p:spPr>
          <a:xfrm>
            <a:off x="0" y="0"/>
            <a:ext cx="9144000" cy="467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2100"/>
              <a:buFont typeface="Arial"/>
              <a:buNone/>
            </a:pPr>
            <a:r>
              <a:rPr lang="en" sz="2100" b="1" i="0" u="none" strike="noStrike" cap="none">
                <a:solidFill>
                  <a:schemeClr val="dk1"/>
                </a:solidFill>
                <a:latin typeface="Arial"/>
                <a:ea typeface="Arial"/>
                <a:cs typeface="Arial"/>
                <a:sym typeface="Arial"/>
              </a:rPr>
              <a:t>2.Optimizing a Model’s Fit using Hyperparameter Tuning</a:t>
            </a:r>
            <a:endParaRPr sz="21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900"/>
              <a:buFont typeface="Arial"/>
              <a:buNone/>
            </a:pPr>
            <a:r>
              <a:rPr lang="en" sz="1900" b="0" i="0" u="none" strike="noStrike" cap="none">
                <a:solidFill>
                  <a:schemeClr val="dk1"/>
                </a:solidFill>
                <a:latin typeface="Arial"/>
                <a:ea typeface="Arial"/>
                <a:cs typeface="Arial"/>
                <a:sym typeface="Arial"/>
              </a:rPr>
              <a:t>Selecting a suitable Machine Learning algorithm based on the dataset is one way to improve model performance. However, a more effective approach is </a:t>
            </a:r>
            <a:r>
              <a:rPr lang="en" sz="1900" b="1" i="0" u="none" strike="noStrike" cap="none">
                <a:solidFill>
                  <a:schemeClr val="dk1"/>
                </a:solidFill>
                <a:latin typeface="Arial"/>
                <a:ea typeface="Arial"/>
                <a:cs typeface="Arial"/>
                <a:sym typeface="Arial"/>
              </a:rPr>
              <a:t>hyperparameter tuning</a:t>
            </a:r>
            <a:r>
              <a:rPr lang="en" sz="1900" b="0" i="0" u="none" strike="noStrike" cap="none">
                <a:solidFill>
                  <a:schemeClr val="dk1"/>
                </a:solidFill>
                <a:latin typeface="Arial"/>
                <a:ea typeface="Arial"/>
                <a:cs typeface="Arial"/>
                <a:sym typeface="Arial"/>
              </a:rPr>
              <a:t>, which focuses on optimizing the model’s configuration.</a:t>
            </a:r>
            <a:endParaRPr sz="19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900"/>
              <a:buFont typeface="Arial"/>
              <a:buNone/>
            </a:pPr>
            <a:r>
              <a:rPr lang="en" sz="1900" b="1" i="0" u="none" strike="noStrike" cap="none">
                <a:solidFill>
                  <a:schemeClr val="dk1"/>
                </a:solidFill>
                <a:latin typeface="Arial"/>
                <a:ea typeface="Arial"/>
                <a:cs typeface="Arial"/>
                <a:sym typeface="Arial"/>
              </a:rPr>
              <a:t>Hyperparameters</a:t>
            </a:r>
            <a:r>
              <a:rPr lang="en" sz="1900" b="0" i="0" u="none" strike="noStrike" cap="none">
                <a:solidFill>
                  <a:schemeClr val="dk1"/>
                </a:solidFill>
                <a:latin typeface="Arial"/>
                <a:ea typeface="Arial"/>
                <a:cs typeface="Arial"/>
                <a:sym typeface="Arial"/>
              </a:rPr>
              <a:t> are the settings or configurations that control the training process of a Machine Learning model. These parameters are set </a:t>
            </a:r>
            <a:r>
              <a:rPr lang="en" sz="1900" b="1" i="0" u="none" strike="noStrike" cap="none">
                <a:solidFill>
                  <a:schemeClr val="dk1"/>
                </a:solidFill>
                <a:latin typeface="Arial"/>
                <a:ea typeface="Arial"/>
                <a:cs typeface="Arial"/>
                <a:sym typeface="Arial"/>
              </a:rPr>
              <a:t>before training begins</a:t>
            </a:r>
            <a:r>
              <a:rPr lang="en" sz="1900" b="0" i="0" u="none" strike="noStrike" cap="none">
                <a:solidFill>
                  <a:schemeClr val="dk1"/>
                </a:solidFill>
                <a:latin typeface="Arial"/>
                <a:ea typeface="Arial"/>
                <a:cs typeface="Arial"/>
                <a:sym typeface="Arial"/>
              </a:rPr>
              <a:t> and can significantly affect the model’s accuracy and performance.</a:t>
            </a:r>
            <a:endParaRPr sz="19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900"/>
              <a:buFont typeface="Arial"/>
              <a:buNone/>
            </a:pPr>
            <a:r>
              <a:rPr lang="en" sz="1900" b="0" i="0" u="none" strike="noStrike" cap="none">
                <a:solidFill>
                  <a:schemeClr val="dk1"/>
                </a:solidFill>
                <a:latin typeface="Arial"/>
                <a:ea typeface="Arial"/>
                <a:cs typeface="Arial"/>
                <a:sym typeface="Arial"/>
              </a:rPr>
              <a:t>By adjusting these hyperparameters, we can improve how well the model fits the data and reduce errors on the testing dataset. </a:t>
            </a:r>
            <a:r>
              <a:rPr lang="en" sz="1900" b="1" i="0" u="none" strike="noStrike" cap="none">
                <a:solidFill>
                  <a:schemeClr val="dk1"/>
                </a:solidFill>
                <a:latin typeface="Arial"/>
                <a:ea typeface="Arial"/>
                <a:cs typeface="Arial"/>
                <a:sym typeface="Arial"/>
              </a:rPr>
              <a:t>Grid Search</a:t>
            </a:r>
            <a:r>
              <a:rPr lang="en" sz="1900" b="0" i="0" u="none" strike="noStrike" cap="none">
                <a:solidFill>
                  <a:schemeClr val="dk1"/>
                </a:solidFill>
                <a:latin typeface="Arial"/>
                <a:ea typeface="Arial"/>
                <a:cs typeface="Arial"/>
                <a:sym typeface="Arial"/>
              </a:rPr>
              <a:t> is a popular technique used for this purpose. It tests multiple combinations of hyperparameters and identifies the </a:t>
            </a:r>
            <a:r>
              <a:rPr lang="en" sz="1900" b="1" i="0" u="none" strike="noStrike" cap="none">
                <a:solidFill>
                  <a:schemeClr val="dk1"/>
                </a:solidFill>
                <a:latin typeface="Arial"/>
                <a:ea typeface="Arial"/>
                <a:cs typeface="Arial"/>
                <a:sym typeface="Arial"/>
              </a:rPr>
              <a:t>best set of values</a:t>
            </a:r>
            <a:r>
              <a:rPr lang="en" sz="1900" b="0" i="0" u="none" strike="noStrike" cap="none">
                <a:solidFill>
                  <a:schemeClr val="dk1"/>
                </a:solidFill>
                <a:latin typeface="Arial"/>
                <a:ea typeface="Arial"/>
                <a:cs typeface="Arial"/>
                <a:sym typeface="Arial"/>
              </a:rPr>
              <a:t> that improves accuracy and minimizes prediction error.</a:t>
            </a:r>
            <a:endParaRPr sz="19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9"/>
          <p:cNvSpPr txBox="1"/>
          <p:nvPr/>
        </p:nvSpPr>
        <p:spPr>
          <a:xfrm>
            <a:off x="0" y="0"/>
            <a:ext cx="9144000" cy="6927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FF"/>
                </a:solidFill>
                <a:latin typeface="Arial"/>
                <a:ea typeface="Arial"/>
                <a:cs typeface="Arial"/>
                <a:sym typeface="Arial"/>
              </a:rPr>
              <a:t>DecisionTreeClassifier(ccp_alpha=0.0,class_weight=None,criterion='gini',max_depth=None,max_features=None,</a:t>
            </a:r>
            <a:endParaRPr sz="1100" b="0" i="0" u="none" strike="noStrike" cap="none">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FF"/>
                </a:solidFill>
                <a:latin typeface="Arial"/>
                <a:ea typeface="Arial"/>
                <a:cs typeface="Arial"/>
                <a:sym typeface="Arial"/>
              </a:rPr>
              <a:t>max_leaf_nodes=None,min_impurity_decrease=0.0,min_samples_leaf=1,min_samples_split=2,min_weight_fraction_leaf=0.0,random_state=None,splitter='best')</a:t>
            </a:r>
            <a:endParaRPr sz="1100" b="0" i="0" u="none" strike="noStrike" cap="none">
              <a:solidFill>
                <a:srgbClr val="0000FF"/>
              </a:solidFill>
              <a:latin typeface="Arial"/>
              <a:ea typeface="Arial"/>
              <a:cs typeface="Arial"/>
              <a:sym typeface="Arial"/>
            </a:endParaRPr>
          </a:p>
        </p:txBody>
      </p:sp>
      <p:sp>
        <p:nvSpPr>
          <p:cNvPr id="163" name="Google Shape;163;p19"/>
          <p:cNvSpPr txBox="1"/>
          <p:nvPr/>
        </p:nvSpPr>
        <p:spPr>
          <a:xfrm>
            <a:off x="0" y="540759"/>
            <a:ext cx="9084000" cy="4762812"/>
          </a:xfrm>
          <a:prstGeom prst="rect">
            <a:avLst/>
          </a:prstGeom>
          <a:noFill/>
          <a:ln>
            <a:noFill/>
          </a:ln>
        </p:spPr>
        <p:txBody>
          <a:bodyPr spcFirstLastPara="1" wrap="square" lIns="91425" tIns="91425" rIns="91425" bIns="91425" anchor="t" anchorCtr="0">
            <a:spAutoFit/>
          </a:bodyPr>
          <a:lstStyle/>
          <a:p>
            <a:pPr marL="457200" marR="0" lvl="0" indent="-298450" algn="l" rtl="0">
              <a:lnSpc>
                <a:spcPct val="115000"/>
              </a:lnSpc>
              <a:spcBef>
                <a:spcPts val="1200"/>
              </a:spcBef>
              <a:spcAft>
                <a:spcPts val="0"/>
              </a:spcAft>
              <a:buClr>
                <a:schemeClr val="dk1"/>
              </a:buClr>
              <a:buSzPts val="1100"/>
              <a:buFont typeface="Arial"/>
              <a:buChar char="●"/>
            </a:pPr>
            <a:r>
              <a:rPr lang="en" sz="1000" b="1" i="0" u="none" strike="noStrike" cap="none">
                <a:solidFill>
                  <a:schemeClr val="dk1"/>
                </a:solidFill>
                <a:latin typeface="Arial"/>
                <a:ea typeface="Arial"/>
                <a:cs typeface="Arial"/>
                <a:sym typeface="Arial"/>
              </a:rPr>
              <a:t>ccp_alpha</a:t>
            </a:r>
            <a:r>
              <a:rPr lang="en" sz="1000" b="0" i="0" u="none" strike="noStrike" cap="none">
                <a:solidFill>
                  <a:schemeClr val="dk1"/>
                </a:solidFill>
                <a:latin typeface="Arial"/>
                <a:ea typeface="Arial"/>
                <a:cs typeface="Arial"/>
                <a:sym typeface="Arial"/>
              </a:rPr>
              <a:t> – Controls pruning of the tree to reduce overfitting.(</a:t>
            </a:r>
            <a:r>
              <a:rPr lang="en" sz="1000" b="1" i="0" u="none" strike="noStrike" cap="none">
                <a:solidFill>
                  <a:srgbClr val="000000"/>
                </a:solidFill>
                <a:latin typeface="Arial"/>
                <a:ea typeface="Arial"/>
                <a:cs typeface="Arial"/>
                <a:sym typeface="Arial"/>
              </a:rPr>
              <a:t>Pruning</a:t>
            </a:r>
            <a:r>
              <a:rPr lang="en" sz="1000" b="0" i="0" u="none" strike="noStrike" cap="none">
                <a:solidFill>
                  <a:srgbClr val="000000"/>
                </a:solidFill>
                <a:latin typeface="Arial"/>
                <a:ea typeface="Arial"/>
                <a:cs typeface="Arial"/>
                <a:sym typeface="Arial"/>
              </a:rPr>
              <a:t> is the process of </a:t>
            </a:r>
            <a:r>
              <a:rPr lang="en" sz="1000" b="1" i="0" u="none" strike="noStrike" cap="none">
                <a:solidFill>
                  <a:srgbClr val="000000"/>
                </a:solidFill>
                <a:latin typeface="Arial"/>
                <a:ea typeface="Arial"/>
                <a:cs typeface="Arial"/>
                <a:sym typeface="Arial"/>
              </a:rPr>
              <a:t>removing unnecessary branches from a decision tree</a:t>
            </a:r>
            <a:r>
              <a:rPr lang="en" sz="1000" b="0" i="0" u="none" strike="noStrike" cap="none">
                <a:solidFill>
                  <a:srgbClr val="000000"/>
                </a:solidFill>
                <a:latin typeface="Arial"/>
                <a:ea typeface="Arial"/>
                <a:cs typeface="Arial"/>
                <a:sym typeface="Arial"/>
              </a:rPr>
              <a:t> to make the model simpler and prevent </a:t>
            </a:r>
            <a:r>
              <a:rPr lang="en" sz="1000" b="1" i="0" u="none" strike="noStrike" cap="none">
                <a:solidFill>
                  <a:srgbClr val="000000"/>
                </a:solidFill>
                <a:latin typeface="Arial"/>
                <a:ea typeface="Arial"/>
                <a:cs typeface="Arial"/>
                <a:sym typeface="Arial"/>
              </a:rPr>
              <a:t>overfitting</a:t>
            </a:r>
            <a:r>
              <a:rPr lang="en" sz="1000" b="0" i="0" u="none" strike="noStrike" cap="none">
                <a:solidFill>
                  <a:srgbClr val="000000"/>
                </a:solidFill>
                <a:latin typeface="Arial"/>
                <a:ea typeface="Arial"/>
                <a:cs typeface="Arial"/>
                <a:sym typeface="Arial"/>
              </a:rPr>
              <a:t>.)</a:t>
            </a:r>
            <a:r>
              <a:rPr lang="en" sz="1000" b="0" i="0" u="none" strike="noStrike" cap="none">
                <a:solidFill>
                  <a:schemeClr val="dk1"/>
                </a:solidFill>
                <a:latin typeface="Arial"/>
                <a:ea typeface="Arial"/>
                <a:cs typeface="Arial"/>
                <a:sym typeface="Arial"/>
              </a:rPr>
              <a:t/>
            </a:r>
            <a:br>
              <a:rPr lang="en" sz="1000" b="0" i="0" u="none" strike="noStrike" cap="none">
                <a:solidFill>
                  <a:schemeClr val="dk1"/>
                </a:solidFill>
                <a:latin typeface="Arial"/>
                <a:ea typeface="Arial"/>
                <a:cs typeface="Arial"/>
                <a:sym typeface="Arial"/>
              </a:rPr>
            </a:br>
            <a:endParaRPr sz="10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n" sz="1000" b="1" i="0" u="none" strike="noStrike" cap="none">
                <a:solidFill>
                  <a:schemeClr val="dk1"/>
                </a:solidFill>
                <a:latin typeface="Arial"/>
                <a:ea typeface="Arial"/>
                <a:cs typeface="Arial"/>
                <a:sym typeface="Arial"/>
              </a:rPr>
              <a:t>class_weight</a:t>
            </a:r>
            <a:r>
              <a:rPr lang="en" sz="1000" b="0" i="0" u="none" strike="noStrike" cap="none">
                <a:solidFill>
                  <a:schemeClr val="dk1"/>
                </a:solidFill>
                <a:latin typeface="Arial"/>
                <a:ea typeface="Arial"/>
                <a:cs typeface="Arial"/>
                <a:sym typeface="Arial"/>
              </a:rPr>
              <a:t> – Assigns weights to classes to handle imbalanced datasets.</a:t>
            </a:r>
            <a:br>
              <a:rPr lang="en" sz="1000" b="0" i="0" u="none" strike="noStrike" cap="none">
                <a:solidFill>
                  <a:schemeClr val="dk1"/>
                </a:solidFill>
                <a:latin typeface="Arial"/>
                <a:ea typeface="Arial"/>
                <a:cs typeface="Arial"/>
                <a:sym typeface="Arial"/>
              </a:rPr>
            </a:br>
            <a:endParaRPr sz="10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n" sz="1000" b="1" i="0" u="none" strike="noStrike" cap="none">
                <a:solidFill>
                  <a:schemeClr val="dk1"/>
                </a:solidFill>
                <a:latin typeface="Arial"/>
                <a:ea typeface="Arial"/>
                <a:cs typeface="Arial"/>
                <a:sym typeface="Arial"/>
              </a:rPr>
              <a:t>criterion</a:t>
            </a:r>
            <a:r>
              <a:rPr lang="en" sz="1000" b="0" i="0" u="none" strike="noStrike" cap="none">
                <a:solidFill>
                  <a:schemeClr val="dk1"/>
                </a:solidFill>
                <a:latin typeface="Arial"/>
                <a:ea typeface="Arial"/>
                <a:cs typeface="Arial"/>
                <a:sym typeface="Arial"/>
              </a:rPr>
              <a:t> – Measures the quality of a split.</a:t>
            </a:r>
            <a:br>
              <a:rPr lang="en" sz="1000" b="0" i="0" u="none" strike="noStrike" cap="none">
                <a:solidFill>
                  <a:schemeClr val="dk1"/>
                </a:solidFill>
                <a:latin typeface="Arial"/>
                <a:ea typeface="Arial"/>
                <a:cs typeface="Arial"/>
                <a:sym typeface="Arial"/>
              </a:rPr>
            </a:br>
            <a:endParaRPr sz="10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n" sz="1000" b="1" i="0" u="none" strike="noStrike" cap="none">
                <a:solidFill>
                  <a:schemeClr val="dk1"/>
                </a:solidFill>
                <a:latin typeface="Arial"/>
                <a:ea typeface="Arial"/>
                <a:cs typeface="Arial"/>
                <a:sym typeface="Arial"/>
              </a:rPr>
              <a:t>max_depth</a:t>
            </a:r>
            <a:r>
              <a:rPr lang="en" sz="1000" b="0" i="0" u="none" strike="noStrike" cap="none">
                <a:solidFill>
                  <a:schemeClr val="dk1"/>
                </a:solidFill>
                <a:latin typeface="Arial"/>
                <a:ea typeface="Arial"/>
                <a:cs typeface="Arial"/>
                <a:sym typeface="Arial"/>
              </a:rPr>
              <a:t> – Limits the maximum depth of the decision tree.</a:t>
            </a:r>
            <a:br>
              <a:rPr lang="en" sz="1000" b="0" i="0" u="none" strike="noStrike" cap="none">
                <a:solidFill>
                  <a:schemeClr val="dk1"/>
                </a:solidFill>
                <a:latin typeface="Arial"/>
                <a:ea typeface="Arial"/>
                <a:cs typeface="Arial"/>
                <a:sym typeface="Arial"/>
              </a:rPr>
            </a:br>
            <a:endParaRPr sz="10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n" sz="1000" b="1" i="0" u="none" strike="noStrike" cap="none">
                <a:solidFill>
                  <a:schemeClr val="dk1"/>
                </a:solidFill>
                <a:latin typeface="Arial"/>
                <a:ea typeface="Arial"/>
                <a:cs typeface="Arial"/>
                <a:sym typeface="Arial"/>
              </a:rPr>
              <a:t>max_features</a:t>
            </a:r>
            <a:r>
              <a:rPr lang="en" sz="1000" b="0" i="0" u="none" strike="noStrike" cap="none">
                <a:solidFill>
                  <a:schemeClr val="dk1"/>
                </a:solidFill>
                <a:latin typeface="Arial"/>
                <a:ea typeface="Arial"/>
                <a:cs typeface="Arial"/>
                <a:sym typeface="Arial"/>
              </a:rPr>
              <a:t> – Number of features considered when looking for the best split.</a:t>
            </a:r>
            <a:br>
              <a:rPr lang="en" sz="1000" b="0" i="0" u="none" strike="noStrike" cap="none">
                <a:solidFill>
                  <a:schemeClr val="dk1"/>
                </a:solidFill>
                <a:latin typeface="Arial"/>
                <a:ea typeface="Arial"/>
                <a:cs typeface="Arial"/>
                <a:sym typeface="Arial"/>
              </a:rPr>
            </a:br>
            <a:endParaRPr sz="10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n" sz="1000" b="1" i="0" u="none" strike="noStrike" cap="none">
                <a:solidFill>
                  <a:schemeClr val="dk1"/>
                </a:solidFill>
                <a:latin typeface="Arial"/>
                <a:ea typeface="Arial"/>
                <a:cs typeface="Arial"/>
                <a:sym typeface="Arial"/>
              </a:rPr>
              <a:t>max_leaf_nodes</a:t>
            </a:r>
            <a:r>
              <a:rPr lang="en" sz="1000" b="0" i="0" u="none" strike="noStrike" cap="none">
                <a:solidFill>
                  <a:schemeClr val="dk1"/>
                </a:solidFill>
                <a:latin typeface="Arial"/>
                <a:ea typeface="Arial"/>
                <a:cs typeface="Arial"/>
                <a:sym typeface="Arial"/>
              </a:rPr>
              <a:t> – Limits the number of leaf nodes in the tree.</a:t>
            </a:r>
            <a:br>
              <a:rPr lang="en" sz="1000" b="0" i="0" u="none" strike="noStrike" cap="none">
                <a:solidFill>
                  <a:schemeClr val="dk1"/>
                </a:solidFill>
                <a:latin typeface="Arial"/>
                <a:ea typeface="Arial"/>
                <a:cs typeface="Arial"/>
                <a:sym typeface="Arial"/>
              </a:rPr>
            </a:br>
            <a:endParaRPr sz="10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n" sz="1000" b="1" i="0" u="none" strike="noStrike" cap="none">
                <a:solidFill>
                  <a:schemeClr val="dk1"/>
                </a:solidFill>
                <a:latin typeface="Arial"/>
                <a:ea typeface="Arial"/>
                <a:cs typeface="Arial"/>
                <a:sym typeface="Arial"/>
              </a:rPr>
              <a:t>min_impurity_decrease</a:t>
            </a:r>
            <a:r>
              <a:rPr lang="en" sz="1000" b="0" i="0" u="none" strike="noStrike" cap="none">
                <a:solidFill>
                  <a:schemeClr val="dk1"/>
                </a:solidFill>
                <a:latin typeface="Arial"/>
                <a:ea typeface="Arial"/>
                <a:cs typeface="Arial"/>
                <a:sym typeface="Arial"/>
              </a:rPr>
              <a:t> – A split occurs only if impurity decreases by this value.</a:t>
            </a:r>
            <a:br>
              <a:rPr lang="en" sz="1000" b="0" i="0" u="none" strike="noStrike" cap="none">
                <a:solidFill>
                  <a:schemeClr val="dk1"/>
                </a:solidFill>
                <a:latin typeface="Arial"/>
                <a:ea typeface="Arial"/>
                <a:cs typeface="Arial"/>
                <a:sym typeface="Arial"/>
              </a:rPr>
            </a:br>
            <a:endParaRPr sz="10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n" sz="1000" b="1" i="0" u="none" strike="noStrike" cap="none">
                <a:solidFill>
                  <a:schemeClr val="dk1"/>
                </a:solidFill>
                <a:latin typeface="Arial"/>
                <a:ea typeface="Arial"/>
                <a:cs typeface="Arial"/>
                <a:sym typeface="Arial"/>
              </a:rPr>
              <a:t>min_samples_leaf</a:t>
            </a:r>
            <a:r>
              <a:rPr lang="en" sz="1000" b="0" i="0" u="none" strike="noStrike" cap="none">
                <a:solidFill>
                  <a:schemeClr val="dk1"/>
                </a:solidFill>
                <a:latin typeface="Arial"/>
                <a:ea typeface="Arial"/>
                <a:cs typeface="Arial"/>
                <a:sym typeface="Arial"/>
              </a:rPr>
              <a:t> – Minimum number of samples required in a leaf node.</a:t>
            </a:r>
            <a:br>
              <a:rPr lang="en" sz="1000" b="0" i="0" u="none" strike="noStrike" cap="none">
                <a:solidFill>
                  <a:schemeClr val="dk1"/>
                </a:solidFill>
                <a:latin typeface="Arial"/>
                <a:ea typeface="Arial"/>
                <a:cs typeface="Arial"/>
                <a:sym typeface="Arial"/>
              </a:rPr>
            </a:br>
            <a:endParaRPr sz="10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n" sz="1000" b="1" i="0" u="none" strike="noStrike" cap="none">
                <a:solidFill>
                  <a:schemeClr val="dk1"/>
                </a:solidFill>
                <a:latin typeface="Arial"/>
                <a:ea typeface="Arial"/>
                <a:cs typeface="Arial"/>
                <a:sym typeface="Arial"/>
              </a:rPr>
              <a:t>min_samples_split</a:t>
            </a:r>
            <a:r>
              <a:rPr lang="en" sz="1000" b="0" i="0" u="none" strike="noStrike" cap="none">
                <a:solidFill>
                  <a:schemeClr val="dk1"/>
                </a:solidFill>
                <a:latin typeface="Arial"/>
                <a:ea typeface="Arial"/>
                <a:cs typeface="Arial"/>
                <a:sym typeface="Arial"/>
              </a:rPr>
              <a:t> – Minimum number of samples required to split a node.</a:t>
            </a:r>
            <a:br>
              <a:rPr lang="en" sz="1000" b="0" i="0" u="none" strike="noStrike" cap="none">
                <a:solidFill>
                  <a:schemeClr val="dk1"/>
                </a:solidFill>
                <a:latin typeface="Arial"/>
                <a:ea typeface="Arial"/>
                <a:cs typeface="Arial"/>
                <a:sym typeface="Arial"/>
              </a:rPr>
            </a:br>
            <a:endParaRPr sz="10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n" sz="1000" b="1" i="0" u="none" strike="noStrike" cap="none">
                <a:solidFill>
                  <a:schemeClr val="dk1"/>
                </a:solidFill>
                <a:latin typeface="Arial"/>
                <a:ea typeface="Arial"/>
                <a:cs typeface="Arial"/>
                <a:sym typeface="Arial"/>
              </a:rPr>
              <a:t>min_weight_fraction_leaf</a:t>
            </a:r>
            <a:r>
              <a:rPr lang="en" sz="1000" b="0" i="0" u="none" strike="noStrike" cap="none">
                <a:solidFill>
                  <a:schemeClr val="dk1"/>
                </a:solidFill>
                <a:latin typeface="Arial"/>
                <a:ea typeface="Arial"/>
                <a:cs typeface="Arial"/>
                <a:sym typeface="Arial"/>
              </a:rPr>
              <a:t> – Minimum weighted fraction of samples required at a leaf node.</a:t>
            </a:r>
            <a:br>
              <a:rPr lang="en" sz="1000" b="0" i="0" u="none" strike="noStrike" cap="none">
                <a:solidFill>
                  <a:schemeClr val="dk1"/>
                </a:solidFill>
                <a:latin typeface="Arial"/>
                <a:ea typeface="Arial"/>
                <a:cs typeface="Arial"/>
                <a:sym typeface="Arial"/>
              </a:rPr>
            </a:br>
            <a:endParaRPr sz="10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n" sz="1000" b="1" i="0" u="none" strike="noStrike" cap="none">
                <a:solidFill>
                  <a:schemeClr val="dk1"/>
                </a:solidFill>
                <a:latin typeface="Arial"/>
                <a:ea typeface="Arial"/>
                <a:cs typeface="Arial"/>
                <a:sym typeface="Arial"/>
              </a:rPr>
              <a:t>random_state</a:t>
            </a:r>
            <a:r>
              <a:rPr lang="en" sz="1000" b="0" i="0" u="none" strike="noStrike" cap="none">
                <a:solidFill>
                  <a:schemeClr val="dk1"/>
                </a:solidFill>
                <a:latin typeface="Arial"/>
                <a:ea typeface="Arial"/>
                <a:cs typeface="Arial"/>
                <a:sym typeface="Arial"/>
              </a:rPr>
              <a:t> – Controls randomness to produce reproducible results.</a:t>
            </a:r>
            <a:br>
              <a:rPr lang="en" sz="1000" b="0" i="0" u="none" strike="noStrike" cap="none">
                <a:solidFill>
                  <a:schemeClr val="dk1"/>
                </a:solidFill>
                <a:latin typeface="Arial"/>
                <a:ea typeface="Arial"/>
                <a:cs typeface="Arial"/>
                <a:sym typeface="Arial"/>
              </a:rPr>
            </a:br>
            <a:endParaRPr sz="1000" b="0" i="0" u="none" strike="noStrike" cap="none">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n" sz="1000" b="1" i="0" u="none" strike="noStrike" cap="none">
                <a:solidFill>
                  <a:schemeClr val="dk1"/>
                </a:solidFill>
                <a:latin typeface="Arial"/>
                <a:ea typeface="Arial"/>
                <a:cs typeface="Arial"/>
                <a:sym typeface="Arial"/>
              </a:rPr>
              <a:t>splitter</a:t>
            </a:r>
            <a:r>
              <a:rPr lang="en" sz="1000" b="0" i="0" u="none" strike="noStrike" cap="none">
                <a:solidFill>
                  <a:schemeClr val="dk1"/>
                </a:solidFill>
                <a:latin typeface="Arial"/>
                <a:ea typeface="Arial"/>
                <a:cs typeface="Arial"/>
                <a:sym typeface="Arial"/>
              </a:rPr>
              <a:t> – Strategy used to choose the best split at each node.</a:t>
            </a:r>
            <a:br>
              <a:rPr lang="en" sz="1000" b="0" i="0" u="none" strike="noStrike" cap="none">
                <a:solidFill>
                  <a:schemeClr val="dk1"/>
                </a:solidFill>
                <a:latin typeface="Arial"/>
                <a:ea typeface="Arial"/>
                <a:cs typeface="Arial"/>
                <a:sym typeface="Arial"/>
              </a:rPr>
            </a:br>
            <a:endParaRPr sz="10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0"/>
          <p:cNvSpPr txBox="1"/>
          <p:nvPr/>
        </p:nvSpPr>
        <p:spPr>
          <a:xfrm>
            <a:off x="0" y="427577"/>
            <a:ext cx="9084000" cy="42435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900"/>
              <a:buFont typeface="Arial"/>
              <a:buNone/>
            </a:pPr>
            <a:r>
              <a:rPr lang="en" sz="2100" b="1" i="0" u="sng" strike="noStrike" cap="none">
                <a:solidFill>
                  <a:schemeClr val="dk1"/>
                </a:solidFill>
                <a:latin typeface="Arial"/>
                <a:ea typeface="Arial"/>
                <a:cs typeface="Arial"/>
                <a:sym typeface="Arial"/>
              </a:rPr>
              <a:t>What is Grid Search?</a:t>
            </a:r>
            <a:endParaRPr sz="2100" b="1" i="0" u="sng"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400"/>
              <a:buFont typeface="Arial"/>
              <a:buNone/>
            </a:pPr>
            <a:r>
              <a:rPr lang="en" sz="1600" b="1" i="0" u="none" strike="noStrike" cap="none">
                <a:solidFill>
                  <a:schemeClr val="dk1"/>
                </a:solidFill>
                <a:latin typeface="Arial"/>
                <a:ea typeface="Arial"/>
                <a:cs typeface="Arial"/>
                <a:sym typeface="Arial"/>
              </a:rPr>
              <a:t>Grid Search</a:t>
            </a:r>
            <a:r>
              <a:rPr lang="en" sz="1600" b="0" i="0" u="none" strike="noStrike" cap="none">
                <a:solidFill>
                  <a:schemeClr val="dk1"/>
                </a:solidFill>
                <a:latin typeface="Arial"/>
                <a:ea typeface="Arial"/>
                <a:cs typeface="Arial"/>
                <a:sym typeface="Arial"/>
              </a:rPr>
              <a:t> is a technique used in Machine Learning to </a:t>
            </a:r>
            <a:r>
              <a:rPr lang="en" sz="1600" b="1" i="0" u="none" strike="noStrike" cap="none">
                <a:solidFill>
                  <a:schemeClr val="dk1"/>
                </a:solidFill>
                <a:latin typeface="Arial"/>
                <a:ea typeface="Arial"/>
                <a:cs typeface="Arial"/>
                <a:sym typeface="Arial"/>
              </a:rPr>
              <a:t>find the best combination of hyperparameters</a:t>
            </a:r>
            <a:r>
              <a:rPr lang="en" sz="1600" b="0" i="0" u="none" strike="noStrike" cap="none">
                <a:solidFill>
                  <a:schemeClr val="dk1"/>
                </a:solidFill>
                <a:latin typeface="Arial"/>
                <a:ea typeface="Arial"/>
                <a:cs typeface="Arial"/>
                <a:sym typeface="Arial"/>
              </a:rPr>
              <a:t> for a model. It tries different values of parameters and selects the combination that gives the </a:t>
            </a:r>
            <a:r>
              <a:rPr lang="en" sz="1600" b="1" i="0" u="none" strike="noStrike" cap="none">
                <a:solidFill>
                  <a:schemeClr val="dk1"/>
                </a:solidFill>
                <a:latin typeface="Arial"/>
                <a:ea typeface="Arial"/>
                <a:cs typeface="Arial"/>
                <a:sym typeface="Arial"/>
              </a:rPr>
              <a:t>best performance (high accuracy and low error)</a:t>
            </a:r>
            <a:r>
              <a:rPr lang="en" sz="1600" b="0" i="0" u="none" strike="noStrike" cap="none">
                <a:solidFill>
                  <a:schemeClr val="dk1"/>
                </a:solidFill>
                <a:latin typeface="Arial"/>
                <a:ea typeface="Arial"/>
                <a:cs typeface="Arial"/>
                <a:sym typeface="Arial"/>
              </a:rPr>
              <a:t>.</a:t>
            </a:r>
            <a:endParaRPr sz="1600" b="0" i="0" u="none" strike="noStrike" cap="none">
              <a:solidFill>
                <a:schemeClr val="dk1"/>
              </a:solidFill>
              <a:latin typeface="Arial"/>
              <a:ea typeface="Arial"/>
              <a:cs typeface="Arial"/>
              <a:sym typeface="Arial"/>
            </a:endParaRPr>
          </a:p>
          <a:p>
            <a:pPr marL="0" marR="0" lvl="0" indent="0" algn="l" rtl="0">
              <a:lnSpc>
                <a:spcPct val="115000"/>
              </a:lnSpc>
              <a:spcBef>
                <a:spcPts val="1400"/>
              </a:spcBef>
              <a:spcAft>
                <a:spcPts val="0"/>
              </a:spcAft>
              <a:buClr>
                <a:srgbClr val="000000"/>
              </a:buClr>
              <a:buSzPts val="1600"/>
              <a:buFont typeface="Arial"/>
              <a:buNone/>
            </a:pPr>
            <a:r>
              <a:rPr lang="en" sz="1800" b="1" i="0" u="none" strike="noStrike" cap="none">
                <a:solidFill>
                  <a:schemeClr val="dk1"/>
                </a:solidFill>
                <a:latin typeface="Arial"/>
                <a:ea typeface="Arial"/>
                <a:cs typeface="Arial"/>
                <a:sym typeface="Arial"/>
              </a:rPr>
              <a:t>The “Search” in Grid Search</a:t>
            </a:r>
            <a:endParaRPr sz="18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400"/>
              <a:buFont typeface="Arial"/>
              <a:buNone/>
            </a:pPr>
            <a:r>
              <a:rPr lang="en" sz="1600" b="0" i="0" u="none" strike="noStrike" cap="none">
                <a:solidFill>
                  <a:schemeClr val="dk1"/>
                </a:solidFill>
                <a:latin typeface="Arial"/>
                <a:ea typeface="Arial"/>
                <a:cs typeface="Arial"/>
                <a:sym typeface="Arial"/>
              </a:rPr>
              <a:t>The word </a:t>
            </a:r>
            <a:r>
              <a:rPr lang="en" sz="1600" b="1" i="0" u="none" strike="noStrike" cap="none">
                <a:solidFill>
                  <a:schemeClr val="dk1"/>
                </a:solidFill>
                <a:latin typeface="Arial"/>
                <a:ea typeface="Arial"/>
                <a:cs typeface="Arial"/>
                <a:sym typeface="Arial"/>
              </a:rPr>
              <a:t>search</a:t>
            </a:r>
            <a:r>
              <a:rPr lang="en" sz="1600" b="0" i="0" u="none" strike="noStrike" cap="none">
                <a:solidFill>
                  <a:schemeClr val="dk1"/>
                </a:solidFill>
                <a:latin typeface="Arial"/>
                <a:ea typeface="Arial"/>
                <a:cs typeface="Arial"/>
                <a:sym typeface="Arial"/>
              </a:rPr>
              <a:t> means that the method </a:t>
            </a:r>
            <a:r>
              <a:rPr lang="en" sz="1600" b="1" i="0" u="none" strike="noStrike" cap="none">
                <a:solidFill>
                  <a:schemeClr val="dk1"/>
                </a:solidFill>
                <a:latin typeface="Arial"/>
                <a:ea typeface="Arial"/>
                <a:cs typeface="Arial"/>
                <a:sym typeface="Arial"/>
              </a:rPr>
              <a:t>tests many combinations of hyperparameters</a:t>
            </a:r>
            <a:r>
              <a:rPr lang="en" sz="1600" b="0" i="0" u="none" strike="noStrike" cap="none">
                <a:solidFill>
                  <a:schemeClr val="dk1"/>
                </a:solidFill>
                <a:latin typeface="Arial"/>
                <a:ea typeface="Arial"/>
                <a:cs typeface="Arial"/>
                <a:sym typeface="Arial"/>
              </a:rPr>
              <a:t>. It checks each combination and evaluates the model to find which set of parameters works best.</a:t>
            </a:r>
            <a:endParaRPr sz="1600" b="0" i="0" u="none" strike="noStrike" cap="none">
              <a:solidFill>
                <a:schemeClr val="dk1"/>
              </a:solidFill>
              <a:latin typeface="Arial"/>
              <a:ea typeface="Arial"/>
              <a:cs typeface="Arial"/>
              <a:sym typeface="Arial"/>
            </a:endParaRPr>
          </a:p>
          <a:p>
            <a:pPr marL="0" marR="0" lvl="0" indent="0" algn="l" rtl="0">
              <a:lnSpc>
                <a:spcPct val="115000"/>
              </a:lnSpc>
              <a:spcBef>
                <a:spcPts val="1400"/>
              </a:spcBef>
              <a:spcAft>
                <a:spcPts val="0"/>
              </a:spcAft>
              <a:buClr>
                <a:srgbClr val="000000"/>
              </a:buClr>
              <a:buSzPts val="1600"/>
              <a:buFont typeface="Arial"/>
              <a:buNone/>
            </a:pPr>
            <a:r>
              <a:rPr lang="en" sz="1800" b="1" i="0" u="none" strike="noStrike" cap="none">
                <a:solidFill>
                  <a:schemeClr val="dk1"/>
                </a:solidFill>
                <a:latin typeface="Arial"/>
                <a:ea typeface="Arial"/>
                <a:cs typeface="Arial"/>
                <a:sym typeface="Arial"/>
              </a:rPr>
              <a:t>The “Grid” in Grid Search</a:t>
            </a:r>
            <a:endParaRPr sz="18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400"/>
              <a:buFont typeface="Arial"/>
              <a:buNone/>
            </a:pPr>
            <a:r>
              <a:rPr lang="en" sz="1600" b="0" i="0" u="none" strike="noStrike" cap="none">
                <a:solidFill>
                  <a:schemeClr val="dk1"/>
                </a:solidFill>
                <a:latin typeface="Arial"/>
                <a:ea typeface="Arial"/>
                <a:cs typeface="Arial"/>
                <a:sym typeface="Arial"/>
              </a:rPr>
              <a:t>The word </a:t>
            </a:r>
            <a:r>
              <a:rPr lang="en" sz="1600" b="1" i="0" u="none" strike="noStrike" cap="none">
                <a:solidFill>
                  <a:schemeClr val="dk1"/>
                </a:solidFill>
                <a:latin typeface="Arial"/>
                <a:ea typeface="Arial"/>
                <a:cs typeface="Arial"/>
                <a:sym typeface="Arial"/>
              </a:rPr>
              <a:t>grid</a:t>
            </a:r>
            <a:r>
              <a:rPr lang="en" sz="1600" b="0" i="0" u="none" strike="noStrike" cap="none">
                <a:solidFill>
                  <a:schemeClr val="dk1"/>
                </a:solidFill>
                <a:latin typeface="Arial"/>
                <a:ea typeface="Arial"/>
                <a:cs typeface="Arial"/>
                <a:sym typeface="Arial"/>
              </a:rPr>
              <a:t> refers to the </a:t>
            </a:r>
            <a:r>
              <a:rPr lang="en" sz="1600" b="1" i="0" u="none" strike="noStrike" cap="none">
                <a:solidFill>
                  <a:schemeClr val="dk1"/>
                </a:solidFill>
                <a:latin typeface="Arial"/>
                <a:ea typeface="Arial"/>
                <a:cs typeface="Arial"/>
                <a:sym typeface="Arial"/>
              </a:rPr>
              <a:t>structured list of parameter values</a:t>
            </a:r>
            <a:r>
              <a:rPr lang="en" sz="1600" b="0" i="0" u="none" strike="noStrike" cap="none">
                <a:solidFill>
                  <a:schemeClr val="dk1"/>
                </a:solidFill>
                <a:latin typeface="Arial"/>
                <a:ea typeface="Arial"/>
                <a:cs typeface="Arial"/>
                <a:sym typeface="Arial"/>
              </a:rPr>
              <a:t> we create. These values form a grid of possible combinations, and the model is trained and tested on each combination to find the optimal one.</a:t>
            </a:r>
            <a:endParaRPr sz="16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173" name="Google Shape;173;p21"/>
          <p:cNvPicPr preferRelativeResize="0"/>
          <p:nvPr/>
        </p:nvPicPr>
        <p:blipFill rotWithShape="1">
          <a:blip r:embed="rId3">
            <a:alphaModFix/>
          </a:blip>
          <a:srcRect t="6014" b="28119"/>
          <a:stretch/>
        </p:blipFill>
        <p:spPr>
          <a:xfrm>
            <a:off x="152400" y="121556"/>
            <a:ext cx="8839199" cy="2967899"/>
          </a:xfrm>
          <a:prstGeom prst="rect">
            <a:avLst/>
          </a:prstGeom>
          <a:noFill/>
          <a:ln w="9525" cap="flat" cmpd="sng">
            <a:solidFill>
              <a:schemeClr val="dk1"/>
            </a:solidFill>
            <a:prstDash val="solid"/>
            <a:round/>
            <a:headEnd type="none" w="sm" len="sm"/>
            <a:tailEnd type="none" w="sm" len="sm"/>
          </a:ln>
        </p:spPr>
      </p:pic>
      <p:sp>
        <p:nvSpPr>
          <p:cNvPr id="174" name="Google Shape;174;p21"/>
          <p:cNvSpPr txBox="1"/>
          <p:nvPr/>
        </p:nvSpPr>
        <p:spPr>
          <a:xfrm>
            <a:off x="113182" y="3081070"/>
            <a:ext cx="9058800" cy="216479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en" sz="1000" b="0" i="0" u="none" strike="noStrike" cap="none" dirty="0">
                <a:solidFill>
                  <a:schemeClr val="dk1"/>
                </a:solidFill>
                <a:sym typeface="Arial"/>
              </a:rPr>
              <a:t>This image shows </a:t>
            </a:r>
            <a:r>
              <a:rPr lang="en" sz="1000" b="1" i="0" u="none" strike="noStrike" cap="none" dirty="0">
                <a:solidFill>
                  <a:schemeClr val="dk1"/>
                </a:solidFill>
                <a:sym typeface="Arial"/>
              </a:rPr>
              <a:t>how Grid Search tests different hyperparameter combinations</a:t>
            </a:r>
            <a:r>
              <a:rPr lang="en" sz="1000" b="0" i="0" u="none" strike="noStrike" cap="none" dirty="0">
                <a:solidFill>
                  <a:schemeClr val="dk1"/>
                </a:solidFill>
                <a:sym typeface="Arial"/>
              </a:rPr>
              <a:t>.</a:t>
            </a:r>
            <a:endParaRPr sz="1000" b="0" i="0" u="none" strike="noStrike" cap="none" dirty="0">
              <a:solidFill>
                <a:schemeClr val="dk1"/>
              </a:solidFill>
              <a:sym typeface="Arial"/>
            </a:endParaRPr>
          </a:p>
          <a:p>
            <a:pPr marL="457200" marR="0" lvl="0" indent="-298450" algn="l" rtl="0">
              <a:lnSpc>
                <a:spcPct val="115000"/>
              </a:lnSpc>
              <a:spcBef>
                <a:spcPts val="1200"/>
              </a:spcBef>
              <a:spcAft>
                <a:spcPts val="0"/>
              </a:spcAft>
              <a:buClr>
                <a:schemeClr val="dk1"/>
              </a:buClr>
              <a:buSzPts val="1100"/>
              <a:buFont typeface="Arial"/>
              <a:buChar char="●"/>
            </a:pPr>
            <a:r>
              <a:rPr lang="en" sz="1000" b="0" i="0" u="none" strike="noStrike" cap="none" dirty="0">
                <a:solidFill>
                  <a:schemeClr val="dk1"/>
                </a:solidFill>
                <a:sym typeface="Arial"/>
              </a:rPr>
              <a:t>The </a:t>
            </a:r>
            <a:r>
              <a:rPr lang="en" sz="1000" b="1" i="0" u="none" strike="noStrike" cap="none" dirty="0">
                <a:solidFill>
                  <a:schemeClr val="dk1"/>
                </a:solidFill>
                <a:sym typeface="Arial"/>
              </a:rPr>
              <a:t>columns represent different values of Alpha</a:t>
            </a:r>
            <a:r>
              <a:rPr lang="en" sz="1000" b="0" i="0" u="none" strike="noStrike" cap="none" dirty="0">
                <a:solidFill>
                  <a:schemeClr val="dk1"/>
                </a:solidFill>
                <a:sym typeface="Arial"/>
              </a:rPr>
              <a:t> (0.1, 0.01, 0.001, 0.0001).</a:t>
            </a:r>
            <a:endParaRPr sz="1000" b="0" i="0" u="none" strike="noStrike" cap="none" dirty="0">
              <a:solidFill>
                <a:schemeClr val="dk1"/>
              </a:solidFil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n" sz="1000" b="0" i="0" u="none" strike="noStrike" cap="none" dirty="0">
                <a:solidFill>
                  <a:schemeClr val="dk1"/>
                </a:solidFill>
                <a:sym typeface="Arial"/>
              </a:rPr>
              <a:t>The </a:t>
            </a:r>
            <a:r>
              <a:rPr lang="en" sz="1000" b="1" i="0" u="none" strike="noStrike" cap="none" dirty="0">
                <a:solidFill>
                  <a:schemeClr val="dk1"/>
                </a:solidFill>
                <a:sym typeface="Arial"/>
              </a:rPr>
              <a:t>rows represent different values of Beta</a:t>
            </a:r>
            <a:r>
              <a:rPr lang="en" sz="1000" b="0" i="0" u="none" strike="noStrike" cap="none" dirty="0">
                <a:solidFill>
                  <a:schemeClr val="dk1"/>
                </a:solidFill>
                <a:sym typeface="Arial"/>
              </a:rPr>
              <a:t> (0.1, 0.01, 0.001, 0.0001).</a:t>
            </a:r>
            <a:endParaRPr sz="1000" b="0" i="0" u="none" strike="noStrike" cap="none" dirty="0">
              <a:solidFill>
                <a:schemeClr val="dk1"/>
              </a:solidFil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n" sz="1000" b="0" i="0" u="none" strike="noStrike" cap="none" dirty="0">
                <a:solidFill>
                  <a:schemeClr val="dk1"/>
                </a:solidFill>
                <a:sym typeface="Arial"/>
              </a:rPr>
              <a:t>Each cell shows the </a:t>
            </a:r>
            <a:r>
              <a:rPr lang="en" sz="1000" b="1" i="0" u="none" strike="noStrike" cap="none" dirty="0">
                <a:solidFill>
                  <a:schemeClr val="dk1"/>
                </a:solidFill>
                <a:sym typeface="Arial"/>
              </a:rPr>
              <a:t>accuracy obtained for that Alpha–Beta combination</a:t>
            </a:r>
            <a:r>
              <a:rPr lang="en" sz="1000" b="0" i="0" u="none" strike="noStrike" cap="none" dirty="0">
                <a:solidFill>
                  <a:schemeClr val="dk1"/>
                </a:solidFill>
                <a:sym typeface="Arial"/>
              </a:rPr>
              <a:t>.(Alpha–beta combination in Grid Search means testing multiple pairs of hyperparameter values to find the best performing model.)</a:t>
            </a:r>
            <a:endParaRPr sz="1000" b="0" i="0" u="none" strike="noStrike" cap="none" dirty="0">
              <a:solidFill>
                <a:schemeClr val="dk1"/>
              </a:solidFil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n" sz="1000" b="0" i="0" u="none" strike="noStrike" cap="none" dirty="0">
                <a:solidFill>
                  <a:schemeClr val="dk1"/>
                </a:solidFill>
                <a:sym typeface="Arial"/>
              </a:rPr>
              <a:t>Grid Search </a:t>
            </a:r>
            <a:r>
              <a:rPr lang="en" sz="1000" b="1" i="0" u="none" strike="noStrike" cap="none" dirty="0">
                <a:solidFill>
                  <a:schemeClr val="dk1"/>
                </a:solidFill>
                <a:sym typeface="Arial"/>
              </a:rPr>
              <a:t>trains the model for every combination</a:t>
            </a:r>
            <a:r>
              <a:rPr lang="en" sz="1000" b="0" i="0" u="none" strike="noStrike" cap="none" dirty="0">
                <a:solidFill>
                  <a:schemeClr val="dk1"/>
                </a:solidFill>
                <a:sym typeface="Arial"/>
              </a:rPr>
              <a:t> and records the accuracy.</a:t>
            </a:r>
            <a:endParaRPr sz="1000" dirty="0">
              <a:solidFill>
                <a:schemeClr val="dk1"/>
              </a:solidFill>
            </a:endParaRPr>
          </a:p>
          <a:p>
            <a:pPr marL="457200" marR="0" lvl="0" indent="0" algn="l" rtl="0">
              <a:lnSpc>
                <a:spcPct val="115000"/>
              </a:lnSpc>
              <a:spcBef>
                <a:spcPts val="0"/>
              </a:spcBef>
              <a:spcAft>
                <a:spcPts val="0"/>
              </a:spcAft>
              <a:buNone/>
            </a:pPr>
            <a:r>
              <a:rPr lang="en" sz="1000" b="0" i="0" u="none" strike="noStrike" cap="none" dirty="0">
                <a:solidFill>
                  <a:schemeClr val="dk1"/>
                </a:solidFill>
                <a:sym typeface="Arial"/>
              </a:rPr>
              <a:t/>
            </a:r>
            <a:br>
              <a:rPr lang="en" sz="1000" b="0" i="0" u="none" strike="noStrike" cap="none" dirty="0">
                <a:solidFill>
                  <a:schemeClr val="dk1"/>
                </a:solidFill>
                <a:sym typeface="Arial"/>
              </a:rPr>
            </a:br>
            <a:r>
              <a:rPr lang="en" sz="1000" b="0" i="0" u="none" strike="noStrike" cap="none" dirty="0">
                <a:solidFill>
                  <a:schemeClr val="dk1"/>
                </a:solidFill>
                <a:sym typeface="Arial"/>
              </a:rPr>
              <a:t> From the table, the </a:t>
            </a:r>
            <a:r>
              <a:rPr lang="en" sz="1000" b="1" i="0" u="none" strike="noStrike" cap="none" dirty="0">
                <a:solidFill>
                  <a:schemeClr val="dk1"/>
                </a:solidFill>
                <a:sym typeface="Arial"/>
              </a:rPr>
              <a:t>best accuracy is 0.94</a:t>
            </a:r>
            <a:r>
              <a:rPr lang="en" sz="1000" b="0" i="0" u="none" strike="noStrike" cap="none" dirty="0">
                <a:solidFill>
                  <a:schemeClr val="dk1"/>
                </a:solidFill>
                <a:sym typeface="Arial"/>
              </a:rPr>
              <a:t>, which occurs when </a:t>
            </a:r>
            <a:r>
              <a:rPr lang="en" sz="1000" b="1" i="0" u="none" strike="noStrike" cap="none" dirty="0">
                <a:solidFill>
                  <a:schemeClr val="dk1"/>
                </a:solidFill>
                <a:sym typeface="Arial"/>
              </a:rPr>
              <a:t>Alpha = 0.001 and Beta = 0.01</a:t>
            </a:r>
            <a:r>
              <a:rPr lang="en" sz="1000" b="0" i="0" u="none" strike="noStrike" cap="none" dirty="0">
                <a:solidFill>
                  <a:schemeClr val="dk1"/>
                </a:solidFill>
                <a:sym typeface="Arial"/>
              </a:rPr>
              <a:t>.</a:t>
            </a:r>
            <a:br>
              <a:rPr lang="en" sz="1000" b="0" i="0" u="none" strike="noStrike" cap="none" dirty="0">
                <a:solidFill>
                  <a:schemeClr val="dk1"/>
                </a:solidFill>
                <a:sym typeface="Arial"/>
              </a:rPr>
            </a:br>
            <a:r>
              <a:rPr lang="en" sz="1000" b="0" i="0" u="none" strike="noStrike" cap="none" dirty="0">
                <a:solidFill>
                  <a:schemeClr val="dk1"/>
                </a:solidFill>
                <a:sym typeface="Arial"/>
              </a:rPr>
              <a:t>So, Grid Search helps </a:t>
            </a:r>
            <a:r>
              <a:rPr lang="en" sz="1000" b="1" i="0" u="none" strike="noStrike" cap="none" dirty="0">
                <a:solidFill>
                  <a:schemeClr val="dk1"/>
                </a:solidFill>
                <a:sym typeface="Arial"/>
              </a:rPr>
              <a:t>find the best hyperparameter combination that gives the highest accuracy</a:t>
            </a:r>
            <a:r>
              <a:rPr lang="en" sz="1000" b="0" i="0" u="none" strike="noStrike" cap="none" dirty="0">
                <a:solidFill>
                  <a:schemeClr val="dk1"/>
                </a:solidFill>
                <a:sym typeface="Arial"/>
              </a:rPr>
              <a:t>.</a:t>
            </a:r>
            <a:endParaRPr sz="1000" b="0" i="0" u="none" strike="noStrike" cap="none" dirty="0">
              <a:solidFill>
                <a:schemeClr val="dk1"/>
              </a:solidFill>
              <a:sym typeface="Aria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2"/>
          <p:cNvSpPr txBox="1"/>
          <p:nvPr/>
        </p:nvSpPr>
        <p:spPr>
          <a:xfrm>
            <a:off x="0" y="0"/>
            <a:ext cx="9144000" cy="2012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200"/>
              <a:buFont typeface="Arial"/>
              <a:buNone/>
            </a:pPr>
            <a:r>
              <a:rPr lang="en" sz="1200" b="0" i="0" u="none" strike="noStrike" cap="none">
                <a:solidFill>
                  <a:schemeClr val="dk1"/>
                </a:solidFill>
                <a:latin typeface="Arial"/>
                <a:ea typeface="Arial"/>
                <a:cs typeface="Arial"/>
                <a:sym typeface="Arial"/>
              </a:rPr>
              <a:t>The </a:t>
            </a:r>
            <a:r>
              <a:rPr lang="en" sz="1200" b="1" i="0" u="none" strike="noStrike" cap="none">
                <a:solidFill>
                  <a:schemeClr val="dk1"/>
                </a:solidFill>
                <a:latin typeface="Arial"/>
                <a:ea typeface="Arial"/>
                <a:cs typeface="Arial"/>
                <a:sym typeface="Arial"/>
              </a:rPr>
              <a:t>grid</a:t>
            </a:r>
            <a:r>
              <a:rPr lang="en" sz="1200" b="0" i="0" u="none" strike="noStrike" cap="none">
                <a:solidFill>
                  <a:schemeClr val="dk1"/>
                </a:solidFill>
                <a:latin typeface="Arial"/>
                <a:ea typeface="Arial"/>
                <a:cs typeface="Arial"/>
                <a:sym typeface="Arial"/>
              </a:rPr>
              <a:t> defines the range of values that will be tested for each hyperparameter. Grid Search then checks </a:t>
            </a:r>
            <a:r>
              <a:rPr lang="en" sz="1200" b="1" i="0" u="none" strike="noStrike" cap="none">
                <a:solidFill>
                  <a:schemeClr val="dk1"/>
                </a:solidFill>
                <a:latin typeface="Arial"/>
                <a:ea typeface="Arial"/>
                <a:cs typeface="Arial"/>
                <a:sym typeface="Arial"/>
              </a:rPr>
              <a:t>different combinations of these values within that range</a:t>
            </a:r>
            <a:r>
              <a:rPr lang="en" sz="1200" b="0" i="0" u="none" strike="noStrike" cap="none">
                <a:solidFill>
                  <a:schemeClr val="dk1"/>
                </a:solidFill>
                <a:latin typeface="Arial"/>
                <a:ea typeface="Arial"/>
                <a:cs typeface="Arial"/>
                <a:sym typeface="Arial"/>
              </a:rPr>
              <a:t>. In simple terms, the grid tells the model </a:t>
            </a:r>
            <a:r>
              <a:rPr lang="en" sz="1200" b="1" i="0" u="none" strike="noStrike" cap="none">
                <a:solidFill>
                  <a:schemeClr val="dk1"/>
                </a:solidFill>
                <a:latin typeface="Arial"/>
                <a:ea typeface="Arial"/>
                <a:cs typeface="Arial"/>
                <a:sym typeface="Arial"/>
              </a:rPr>
              <a:t>which parameter values should be tried during tuning</a:t>
            </a:r>
            <a:r>
              <a:rPr lang="en" sz="1200" b="0" i="0" u="none" strike="noStrike" cap="none">
                <a:solidFill>
                  <a:schemeClr val="dk1"/>
                </a:solidFill>
                <a:latin typeface="Arial"/>
                <a:ea typeface="Arial"/>
                <a:cs typeface="Arial"/>
                <a:sym typeface="Arial"/>
              </a:rPr>
              <a:t>.</a:t>
            </a:r>
            <a:endParaRPr sz="1200" b="0" i="0" u="none" strike="noStrike" cap="none">
              <a:solidFill>
                <a:schemeClr val="dk1"/>
              </a:solidFill>
              <a:latin typeface="Arial"/>
              <a:ea typeface="Arial"/>
              <a:cs typeface="Arial"/>
              <a:sym typeface="Arial"/>
            </a:endParaRPr>
          </a:p>
          <a:p>
            <a:pPr marL="0" marR="0" lvl="0" indent="0" algn="l" rtl="0">
              <a:lnSpc>
                <a:spcPct val="115000"/>
              </a:lnSpc>
              <a:spcBef>
                <a:spcPts val="1400"/>
              </a:spcBef>
              <a:spcAft>
                <a:spcPts val="0"/>
              </a:spcAft>
              <a:buClr>
                <a:srgbClr val="000000"/>
              </a:buClr>
              <a:buSzPts val="1400"/>
              <a:buFont typeface="Arial"/>
              <a:buNone/>
            </a:pPr>
            <a:r>
              <a:rPr lang="en" sz="1400" b="1" i="0" u="none" strike="noStrike" cap="none">
                <a:solidFill>
                  <a:schemeClr val="dk1"/>
                </a:solidFill>
                <a:latin typeface="Arial"/>
                <a:ea typeface="Arial"/>
                <a:cs typeface="Arial"/>
                <a:sym typeface="Arial"/>
              </a:rPr>
              <a:t>The “Cross-Validation” in Grid Search</a:t>
            </a:r>
            <a:endParaRPr sz="14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200"/>
              <a:buFont typeface="Arial"/>
              <a:buNone/>
            </a:pPr>
            <a:r>
              <a:rPr lang="en" sz="1200" b="0" i="0" u="none" strike="noStrike" cap="none">
                <a:solidFill>
                  <a:schemeClr val="dk1"/>
                </a:solidFill>
                <a:latin typeface="Arial"/>
                <a:ea typeface="Arial"/>
                <a:cs typeface="Arial"/>
                <a:sym typeface="Arial"/>
              </a:rPr>
              <a:t>In Machine Learning, some hyperparameter combinations may </a:t>
            </a:r>
            <a:r>
              <a:rPr lang="en" sz="1200" b="1" i="0" u="none" strike="noStrike" cap="none">
                <a:solidFill>
                  <a:schemeClr val="dk1"/>
                </a:solidFill>
                <a:latin typeface="Arial"/>
                <a:ea typeface="Arial"/>
                <a:cs typeface="Arial"/>
                <a:sym typeface="Arial"/>
              </a:rPr>
              <a:t>perform very well on training data but poorly on unseen data</a:t>
            </a:r>
            <a:r>
              <a:rPr lang="en" sz="1200" b="0" i="0" u="none" strike="noStrike" cap="none">
                <a:solidFill>
                  <a:schemeClr val="dk1"/>
                </a:solidFill>
                <a:latin typeface="Arial"/>
                <a:ea typeface="Arial"/>
                <a:cs typeface="Arial"/>
                <a:sym typeface="Arial"/>
              </a:rPr>
              <a:t>, which leads to </a:t>
            </a:r>
            <a:r>
              <a:rPr lang="en" sz="1200" b="1" i="0" u="none" strike="noStrike" cap="none">
                <a:solidFill>
                  <a:schemeClr val="dk1"/>
                </a:solidFill>
                <a:latin typeface="Arial"/>
                <a:ea typeface="Arial"/>
                <a:cs typeface="Arial"/>
                <a:sym typeface="Arial"/>
              </a:rPr>
              <a:t>overfitting</a:t>
            </a:r>
            <a:r>
              <a:rPr lang="en" sz="1200" b="0" i="0" u="none" strike="noStrike" cap="none">
                <a:solidFill>
                  <a:schemeClr val="dk1"/>
                </a:solidFill>
                <a:latin typeface="Arial"/>
                <a:ea typeface="Arial"/>
                <a:cs typeface="Arial"/>
                <a:sym typeface="Arial"/>
              </a:rPr>
              <a:t>. To reduce this problem, </a:t>
            </a:r>
            <a:r>
              <a:rPr lang="en" sz="1200" b="1" i="0" u="none" strike="noStrike" cap="none">
                <a:solidFill>
                  <a:schemeClr val="dk1"/>
                </a:solidFill>
                <a:latin typeface="Arial"/>
                <a:ea typeface="Arial"/>
                <a:cs typeface="Arial"/>
                <a:sym typeface="Arial"/>
              </a:rPr>
              <a:t>cross-validation</a:t>
            </a:r>
            <a:r>
              <a:rPr lang="en" sz="1200" b="0" i="0" u="none" strike="noStrike" cap="none">
                <a:solidFill>
                  <a:schemeClr val="dk1"/>
                </a:solidFill>
                <a:latin typeface="Arial"/>
                <a:ea typeface="Arial"/>
                <a:cs typeface="Arial"/>
                <a:sym typeface="Arial"/>
              </a:rPr>
              <a:t> is used. It evaluates the model on different splits of the dataset and calculates the </a:t>
            </a:r>
            <a:r>
              <a:rPr lang="en" sz="1200" b="1" i="0" u="none" strike="noStrike" cap="none">
                <a:solidFill>
                  <a:schemeClr val="dk1"/>
                </a:solidFill>
                <a:latin typeface="Arial"/>
                <a:ea typeface="Arial"/>
                <a:cs typeface="Arial"/>
                <a:sym typeface="Arial"/>
              </a:rPr>
              <a:t>average validation error</a:t>
            </a:r>
            <a:r>
              <a:rPr lang="en" sz="1200" b="0" i="0" u="none" strike="noStrike" cap="none">
                <a:solidFill>
                  <a:schemeClr val="dk1"/>
                </a:solidFill>
                <a:latin typeface="Arial"/>
                <a:ea typeface="Arial"/>
                <a:cs typeface="Arial"/>
                <a:sym typeface="Arial"/>
              </a:rPr>
              <a:t>, giving a more reliable measure of model performance.</a:t>
            </a:r>
            <a:endParaRPr sz="1200" b="0" i="0" u="none" strike="noStrike" cap="none">
              <a:solidFill>
                <a:schemeClr val="dk1"/>
              </a:solidFill>
              <a:latin typeface="Arial"/>
              <a:ea typeface="Arial"/>
              <a:cs typeface="Arial"/>
              <a:sym typeface="Arial"/>
            </a:endParaRPr>
          </a:p>
        </p:txBody>
      </p:sp>
      <p:pic>
        <p:nvPicPr>
          <p:cNvPr id="180" name="Google Shape;180;p22"/>
          <p:cNvPicPr preferRelativeResize="0"/>
          <p:nvPr/>
        </p:nvPicPr>
        <p:blipFill rotWithShape="1">
          <a:blip r:embed="rId3">
            <a:alphaModFix/>
          </a:blip>
          <a:srcRect b="19936"/>
          <a:stretch/>
        </p:blipFill>
        <p:spPr>
          <a:xfrm>
            <a:off x="104812" y="2246875"/>
            <a:ext cx="5885450" cy="2678626"/>
          </a:xfrm>
          <a:prstGeom prst="rect">
            <a:avLst/>
          </a:prstGeom>
          <a:noFill/>
          <a:ln w="9525" cap="flat" cmpd="sng">
            <a:solidFill>
              <a:schemeClr val="dk1"/>
            </a:solidFill>
            <a:prstDash val="solid"/>
            <a:round/>
            <a:headEnd type="none" w="sm" len="sm"/>
            <a:tailEnd type="none" w="sm" len="sm"/>
          </a:ln>
        </p:spPr>
      </p:pic>
      <p:sp>
        <p:nvSpPr>
          <p:cNvPr id="181" name="Google Shape;181;p22"/>
          <p:cNvSpPr txBox="1"/>
          <p:nvPr/>
        </p:nvSpPr>
        <p:spPr>
          <a:xfrm>
            <a:off x="6068545" y="2074710"/>
            <a:ext cx="3000000" cy="2947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000"/>
              <a:buFont typeface="Arial"/>
              <a:buNone/>
            </a:pPr>
            <a:r>
              <a:rPr lang="en" sz="1000" b="0" i="0" u="none" strike="noStrike" cap="none">
                <a:solidFill>
                  <a:schemeClr val="dk1"/>
                </a:solidFill>
                <a:latin typeface="Arial"/>
                <a:ea typeface="Arial"/>
                <a:cs typeface="Arial"/>
                <a:sym typeface="Arial"/>
              </a:rPr>
              <a:t>This image shows </a:t>
            </a:r>
            <a:r>
              <a:rPr lang="en" sz="1000" b="1" i="0" u="none" strike="noStrike" cap="none">
                <a:solidFill>
                  <a:schemeClr val="dk1"/>
                </a:solidFill>
                <a:latin typeface="Arial"/>
                <a:ea typeface="Arial"/>
                <a:cs typeface="Arial"/>
                <a:sym typeface="Arial"/>
              </a:rPr>
              <a:t>5-Fold Cross Validation</a:t>
            </a:r>
            <a:r>
              <a:rPr lang="en" sz="1000" b="0" i="0" u="none" strike="noStrike" cap="none">
                <a:solidFill>
                  <a:schemeClr val="dk1"/>
                </a:solidFill>
                <a:latin typeface="Arial"/>
                <a:ea typeface="Arial"/>
                <a:cs typeface="Arial"/>
                <a:sym typeface="Arial"/>
              </a:rPr>
              <a:t>.</a:t>
            </a:r>
            <a:endParaRPr sz="1000" b="0" i="0" u="none" strike="noStrike" cap="none">
              <a:solidFill>
                <a:schemeClr val="dk1"/>
              </a:solidFill>
              <a:latin typeface="Arial"/>
              <a:ea typeface="Arial"/>
              <a:cs typeface="Arial"/>
              <a:sym typeface="Arial"/>
            </a:endParaRPr>
          </a:p>
          <a:p>
            <a:pPr marL="457200" marR="0" lvl="0" indent="-292100" algn="l" rtl="0">
              <a:lnSpc>
                <a:spcPct val="115000"/>
              </a:lnSpc>
              <a:spcBef>
                <a:spcPts val="1200"/>
              </a:spcBef>
              <a:spcAft>
                <a:spcPts val="0"/>
              </a:spcAft>
              <a:buClr>
                <a:schemeClr val="dk1"/>
              </a:buClr>
              <a:buSzPts val="1000"/>
              <a:buFont typeface="Arial"/>
              <a:buChar char="●"/>
            </a:pPr>
            <a:r>
              <a:rPr lang="en" sz="1000" b="0" i="0" u="none" strike="noStrike" cap="none">
                <a:solidFill>
                  <a:schemeClr val="dk1"/>
                </a:solidFill>
                <a:latin typeface="Arial"/>
                <a:ea typeface="Arial"/>
                <a:cs typeface="Arial"/>
                <a:sym typeface="Arial"/>
              </a:rPr>
              <a:t>The dataset is divided into </a:t>
            </a:r>
            <a:r>
              <a:rPr lang="en" sz="1000" b="1" i="0" u="none" strike="noStrike" cap="none">
                <a:solidFill>
                  <a:schemeClr val="dk1"/>
                </a:solidFill>
                <a:latin typeface="Arial"/>
                <a:ea typeface="Arial"/>
                <a:cs typeface="Arial"/>
                <a:sym typeface="Arial"/>
              </a:rPr>
              <a:t>10 equal parts (10% each)</a:t>
            </a:r>
            <a:r>
              <a:rPr lang="en" sz="1000" b="0" i="0" u="none" strike="noStrike" cap="none">
                <a:solidFill>
                  <a:schemeClr val="dk1"/>
                </a:solidFill>
                <a:latin typeface="Arial"/>
                <a:ea typeface="Arial"/>
                <a:cs typeface="Arial"/>
                <a:sym typeface="Arial"/>
              </a:rPr>
              <a:t>.</a:t>
            </a:r>
            <a:endParaRPr sz="1000" b="0" i="0" u="none" strike="noStrike" cap="none">
              <a:solidFill>
                <a:schemeClr val="dk1"/>
              </a:solidFill>
              <a:latin typeface="Arial"/>
              <a:ea typeface="Arial"/>
              <a:cs typeface="Arial"/>
              <a:sym typeface="Arial"/>
            </a:endParaRPr>
          </a:p>
          <a:p>
            <a:pPr marL="457200" marR="0" lvl="0" indent="-292100" algn="l" rtl="0">
              <a:lnSpc>
                <a:spcPct val="115000"/>
              </a:lnSpc>
              <a:spcBef>
                <a:spcPts val="0"/>
              </a:spcBef>
              <a:spcAft>
                <a:spcPts val="0"/>
              </a:spcAft>
              <a:buClr>
                <a:schemeClr val="dk1"/>
              </a:buClr>
              <a:buSzPts val="1000"/>
              <a:buFont typeface="Arial"/>
              <a:buChar char="●"/>
            </a:pPr>
            <a:r>
              <a:rPr lang="en" sz="1000" b="0" i="0" u="none" strike="noStrike" cap="none">
                <a:solidFill>
                  <a:schemeClr val="dk1"/>
                </a:solidFill>
                <a:latin typeface="Arial"/>
                <a:ea typeface="Arial"/>
                <a:cs typeface="Arial"/>
                <a:sym typeface="Arial"/>
              </a:rPr>
              <a:t>In each round (CV1 to CV5), </a:t>
            </a:r>
            <a:r>
              <a:rPr lang="en" sz="1000" b="1" i="0" u="none" strike="noStrike" cap="none">
                <a:solidFill>
                  <a:schemeClr val="dk1"/>
                </a:solidFill>
                <a:latin typeface="Arial"/>
                <a:ea typeface="Arial"/>
                <a:cs typeface="Arial"/>
                <a:sym typeface="Arial"/>
              </a:rPr>
              <a:t>most parts are used for training</a:t>
            </a:r>
            <a:r>
              <a:rPr lang="en" sz="1000" b="0" i="0" u="none" strike="noStrike" cap="none">
                <a:solidFill>
                  <a:schemeClr val="dk1"/>
                </a:solidFill>
                <a:latin typeface="Arial"/>
                <a:ea typeface="Arial"/>
                <a:cs typeface="Arial"/>
                <a:sym typeface="Arial"/>
              </a:rPr>
              <a:t> and </a:t>
            </a:r>
            <a:r>
              <a:rPr lang="en" sz="1000" b="1" i="0" u="none" strike="noStrike" cap="none">
                <a:solidFill>
                  <a:schemeClr val="dk1"/>
                </a:solidFill>
                <a:latin typeface="Arial"/>
                <a:ea typeface="Arial"/>
                <a:cs typeface="Arial"/>
                <a:sym typeface="Arial"/>
              </a:rPr>
              <a:t>some parts are used for testing</a:t>
            </a:r>
            <a:r>
              <a:rPr lang="en" sz="1000" b="0" i="0" u="none" strike="noStrike" cap="none">
                <a:solidFill>
                  <a:schemeClr val="dk1"/>
                </a:solidFill>
                <a:latin typeface="Arial"/>
                <a:ea typeface="Arial"/>
                <a:cs typeface="Arial"/>
                <a:sym typeface="Arial"/>
              </a:rPr>
              <a:t>.</a:t>
            </a:r>
            <a:endParaRPr sz="1000" b="0" i="0" u="none" strike="noStrike" cap="none">
              <a:solidFill>
                <a:schemeClr val="dk1"/>
              </a:solidFill>
              <a:latin typeface="Arial"/>
              <a:ea typeface="Arial"/>
              <a:cs typeface="Arial"/>
              <a:sym typeface="Arial"/>
            </a:endParaRPr>
          </a:p>
          <a:p>
            <a:pPr marL="457200" marR="0" lvl="0" indent="-292100" algn="l" rtl="0">
              <a:lnSpc>
                <a:spcPct val="115000"/>
              </a:lnSpc>
              <a:spcBef>
                <a:spcPts val="0"/>
              </a:spcBef>
              <a:spcAft>
                <a:spcPts val="0"/>
              </a:spcAft>
              <a:buClr>
                <a:schemeClr val="dk1"/>
              </a:buClr>
              <a:buSzPts val="1000"/>
              <a:buFont typeface="Arial"/>
              <a:buChar char="●"/>
            </a:pPr>
            <a:r>
              <a:rPr lang="en" sz="1000" b="0" i="0" u="none" strike="noStrike" cap="none">
                <a:solidFill>
                  <a:schemeClr val="dk1"/>
                </a:solidFill>
                <a:latin typeface="Arial"/>
                <a:ea typeface="Arial"/>
                <a:cs typeface="Arial"/>
                <a:sym typeface="Arial"/>
              </a:rPr>
              <a:t>The model is trained and tested </a:t>
            </a:r>
            <a:r>
              <a:rPr lang="en" sz="1000" b="1" i="0" u="none" strike="noStrike" cap="none">
                <a:solidFill>
                  <a:schemeClr val="dk1"/>
                </a:solidFill>
                <a:latin typeface="Arial"/>
                <a:ea typeface="Arial"/>
                <a:cs typeface="Arial"/>
                <a:sym typeface="Arial"/>
              </a:rPr>
              <a:t>5 different times</a:t>
            </a:r>
            <a:r>
              <a:rPr lang="en" sz="1000" b="0" i="0" u="none" strike="noStrike" cap="none">
                <a:solidFill>
                  <a:schemeClr val="dk1"/>
                </a:solidFill>
                <a:latin typeface="Arial"/>
                <a:ea typeface="Arial"/>
                <a:cs typeface="Arial"/>
                <a:sym typeface="Arial"/>
              </a:rPr>
              <a:t>, producing </a:t>
            </a:r>
            <a:r>
              <a:rPr lang="en" sz="1000" b="1" i="0" u="none" strike="noStrike" cap="none">
                <a:solidFill>
                  <a:schemeClr val="dk1"/>
                </a:solidFill>
                <a:latin typeface="Arial"/>
                <a:ea typeface="Arial"/>
                <a:cs typeface="Arial"/>
                <a:sym typeface="Arial"/>
              </a:rPr>
              <a:t>Error 1, Error 2, Error 3, Error 4, and Error 5</a:t>
            </a:r>
            <a:r>
              <a:rPr lang="en" sz="1000" b="0" i="0" u="none" strike="noStrike" cap="none">
                <a:solidFill>
                  <a:schemeClr val="dk1"/>
                </a:solidFill>
                <a:latin typeface="Arial"/>
                <a:ea typeface="Arial"/>
                <a:cs typeface="Arial"/>
                <a:sym typeface="Arial"/>
              </a:rPr>
              <a:t>.</a:t>
            </a:r>
            <a:endParaRPr sz="1000" b="0" i="0" u="none" strike="noStrike" cap="none">
              <a:solidFill>
                <a:schemeClr val="dk1"/>
              </a:solidFill>
              <a:latin typeface="Arial"/>
              <a:ea typeface="Arial"/>
              <a:cs typeface="Arial"/>
              <a:sym typeface="Arial"/>
            </a:endParaRPr>
          </a:p>
          <a:p>
            <a:pPr marL="457200" marR="0" lvl="0" indent="-292100" algn="l" rtl="0">
              <a:lnSpc>
                <a:spcPct val="115000"/>
              </a:lnSpc>
              <a:spcBef>
                <a:spcPts val="0"/>
              </a:spcBef>
              <a:spcAft>
                <a:spcPts val="0"/>
              </a:spcAft>
              <a:buClr>
                <a:schemeClr val="dk1"/>
              </a:buClr>
              <a:buSzPts val="1000"/>
              <a:buFont typeface="Arial"/>
              <a:buChar char="●"/>
            </a:pPr>
            <a:r>
              <a:rPr lang="en" sz="1000" b="0" i="0" u="none" strike="noStrike" cap="none">
                <a:solidFill>
                  <a:schemeClr val="dk1"/>
                </a:solidFill>
                <a:latin typeface="Arial"/>
                <a:ea typeface="Arial"/>
                <a:cs typeface="Arial"/>
                <a:sym typeface="Arial"/>
              </a:rPr>
              <a:t>Finally, the </a:t>
            </a:r>
            <a:r>
              <a:rPr lang="en" sz="1000" b="1" i="0" u="none" strike="noStrike" cap="none">
                <a:solidFill>
                  <a:schemeClr val="dk1"/>
                </a:solidFill>
                <a:latin typeface="Arial"/>
                <a:ea typeface="Arial"/>
                <a:cs typeface="Arial"/>
                <a:sym typeface="Arial"/>
              </a:rPr>
              <a:t>average of these errors</a:t>
            </a:r>
            <a:r>
              <a:rPr lang="en" sz="1000" b="0" i="0" u="none" strike="noStrike" cap="none">
                <a:solidFill>
                  <a:schemeClr val="dk1"/>
                </a:solidFill>
                <a:latin typeface="Arial"/>
                <a:ea typeface="Arial"/>
                <a:cs typeface="Arial"/>
                <a:sym typeface="Arial"/>
              </a:rPr>
              <a:t> is calculated.</a:t>
            </a:r>
            <a:endParaRPr sz="10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000"/>
              <a:buFont typeface="Arial"/>
              <a:buNone/>
            </a:pPr>
            <a:r>
              <a:rPr lang="en" sz="1000" b="0" i="0" u="none" strike="noStrike" cap="none">
                <a:solidFill>
                  <a:schemeClr val="dk1"/>
                </a:solidFill>
                <a:latin typeface="Arial"/>
                <a:ea typeface="Arial"/>
                <a:cs typeface="Arial"/>
                <a:sym typeface="Arial"/>
              </a:rPr>
              <a:t>This </a:t>
            </a:r>
            <a:r>
              <a:rPr lang="en" sz="1000" b="1" i="0" u="none" strike="noStrike" cap="none">
                <a:solidFill>
                  <a:schemeClr val="dk1"/>
                </a:solidFill>
                <a:latin typeface="Arial"/>
                <a:ea typeface="Arial"/>
                <a:cs typeface="Arial"/>
                <a:sym typeface="Arial"/>
              </a:rPr>
              <a:t>average error is called the Cross Validation Error</a:t>
            </a:r>
            <a:r>
              <a:rPr lang="en" sz="1000" b="0" i="0" u="none" strike="noStrike" cap="none">
                <a:solidFill>
                  <a:schemeClr val="dk1"/>
                </a:solidFill>
                <a:latin typeface="Arial"/>
                <a:ea typeface="Arial"/>
                <a:cs typeface="Arial"/>
                <a:sym typeface="Arial"/>
              </a:rPr>
              <a:t>, which gives a more reliable measure of model performance.</a:t>
            </a:r>
            <a:endParaRPr sz="10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3"/>
          <p:cNvSpPr txBox="1"/>
          <p:nvPr/>
        </p:nvSpPr>
        <p:spPr>
          <a:xfrm>
            <a:off x="0" y="0"/>
            <a:ext cx="9209700" cy="516292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500"/>
              <a:buFont typeface="Arial"/>
              <a:buNone/>
            </a:pPr>
            <a:r>
              <a:rPr lang="en" sz="1500" b="0" i="0" u="none" strike="noStrike" cap="none">
                <a:solidFill>
                  <a:schemeClr val="dk1"/>
                </a:solidFill>
                <a:latin typeface="Arial"/>
                <a:ea typeface="Arial"/>
                <a:cs typeface="Arial"/>
                <a:sym typeface="Arial"/>
              </a:rPr>
              <a:t>The dataset is divided into </a:t>
            </a:r>
            <a:r>
              <a:rPr lang="en" sz="1500" b="1" i="0" u="none" strike="noStrike" cap="none">
                <a:solidFill>
                  <a:schemeClr val="dk1"/>
                </a:solidFill>
                <a:latin typeface="Arial"/>
                <a:ea typeface="Arial"/>
                <a:cs typeface="Arial"/>
                <a:sym typeface="Arial"/>
              </a:rPr>
              <a:t>K equal parts (K = number of folds)</a:t>
            </a:r>
            <a:r>
              <a:rPr lang="en" sz="1500" b="0" i="0" u="none" strike="noStrike" cap="none">
                <a:solidFill>
                  <a:schemeClr val="dk1"/>
                </a:solidFill>
                <a:latin typeface="Arial"/>
                <a:ea typeface="Arial"/>
                <a:cs typeface="Arial"/>
                <a:sym typeface="Arial"/>
              </a:rPr>
              <a:t>. The model is trained </a:t>
            </a:r>
            <a:r>
              <a:rPr lang="en" sz="1500" b="1" i="0" u="none" strike="noStrike" cap="none">
                <a:solidFill>
                  <a:schemeClr val="dk1"/>
                </a:solidFill>
                <a:latin typeface="Arial"/>
                <a:ea typeface="Arial"/>
                <a:cs typeface="Arial"/>
                <a:sym typeface="Arial"/>
              </a:rPr>
              <a:t>K times</a:t>
            </a:r>
            <a:r>
              <a:rPr lang="en" sz="1500" b="0" i="0" u="none" strike="noStrike" cap="none">
                <a:solidFill>
                  <a:schemeClr val="dk1"/>
                </a:solidFill>
                <a:latin typeface="Arial"/>
                <a:ea typeface="Arial"/>
                <a:cs typeface="Arial"/>
                <a:sym typeface="Arial"/>
              </a:rPr>
              <a:t>, and in each round </a:t>
            </a:r>
            <a:r>
              <a:rPr lang="en" sz="1500" b="1" i="0" u="none" strike="noStrike" cap="none">
                <a:solidFill>
                  <a:schemeClr val="dk1"/>
                </a:solidFill>
                <a:latin typeface="Arial"/>
                <a:ea typeface="Arial"/>
                <a:cs typeface="Arial"/>
                <a:sym typeface="Arial"/>
              </a:rPr>
              <a:t>one part is kept aside for testing while the remaining parts are used for training</a:t>
            </a:r>
            <a:r>
              <a:rPr lang="en" sz="1500" b="0" i="0" u="none" strike="noStrike" cap="none">
                <a:solidFill>
                  <a:schemeClr val="dk1"/>
                </a:solidFill>
                <a:latin typeface="Arial"/>
                <a:ea typeface="Arial"/>
                <a:cs typeface="Arial"/>
                <a:sym typeface="Arial"/>
              </a:rPr>
              <a:t>.</a:t>
            </a:r>
            <a:endParaRPr sz="15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500"/>
              <a:buFont typeface="Arial"/>
              <a:buNone/>
            </a:pPr>
            <a:r>
              <a:rPr lang="en" sz="1500" b="0" i="0" u="none" strike="noStrike" cap="none">
                <a:solidFill>
                  <a:schemeClr val="dk1"/>
                </a:solidFill>
                <a:latin typeface="Arial"/>
                <a:ea typeface="Arial"/>
                <a:cs typeface="Arial"/>
                <a:sym typeface="Arial"/>
              </a:rPr>
              <a:t>The left-out part is used to </a:t>
            </a:r>
            <a:r>
              <a:rPr lang="en" sz="1500" b="1" i="0" u="none" strike="noStrike" cap="none">
                <a:solidFill>
                  <a:schemeClr val="dk1"/>
                </a:solidFill>
                <a:latin typeface="Arial"/>
                <a:ea typeface="Arial"/>
                <a:cs typeface="Arial"/>
                <a:sym typeface="Arial"/>
              </a:rPr>
              <a:t>calculate the error and evaluate the model’s performance</a:t>
            </a:r>
            <a:r>
              <a:rPr lang="en" sz="1500" b="0" i="0" u="none" strike="noStrike" cap="none">
                <a:solidFill>
                  <a:schemeClr val="dk1"/>
                </a:solidFill>
                <a:latin typeface="Arial"/>
                <a:ea typeface="Arial"/>
                <a:cs typeface="Arial"/>
                <a:sym typeface="Arial"/>
              </a:rPr>
              <a:t>. After all K rounds are completed, the </a:t>
            </a:r>
            <a:r>
              <a:rPr lang="en" sz="1500" b="1" i="0" u="none" strike="noStrike" cap="none">
                <a:solidFill>
                  <a:schemeClr val="dk1"/>
                </a:solidFill>
                <a:latin typeface="Arial"/>
                <a:ea typeface="Arial"/>
                <a:cs typeface="Arial"/>
                <a:sym typeface="Arial"/>
              </a:rPr>
              <a:t>average of all the errors is calculated</a:t>
            </a:r>
            <a:r>
              <a:rPr lang="en" sz="1500" b="0" i="0" u="none" strike="noStrike" cap="none">
                <a:solidFill>
                  <a:schemeClr val="dk1"/>
                </a:solidFill>
                <a:latin typeface="Arial"/>
                <a:ea typeface="Arial"/>
                <a:cs typeface="Arial"/>
                <a:sym typeface="Arial"/>
              </a:rPr>
              <a:t>, which is called the </a:t>
            </a:r>
            <a:r>
              <a:rPr lang="en" sz="1500" b="1" i="0" u="none" strike="noStrike" cap="none">
                <a:solidFill>
                  <a:schemeClr val="dk1"/>
                </a:solidFill>
                <a:latin typeface="Arial"/>
                <a:ea typeface="Arial"/>
                <a:cs typeface="Arial"/>
                <a:sym typeface="Arial"/>
              </a:rPr>
              <a:t>cross-validation error</a:t>
            </a:r>
            <a:r>
              <a:rPr lang="en" sz="1500" b="0" i="0" u="none" strike="noStrike" cap="none">
                <a:solidFill>
                  <a:schemeClr val="dk1"/>
                </a:solidFill>
                <a:latin typeface="Arial"/>
                <a:ea typeface="Arial"/>
                <a:cs typeface="Arial"/>
                <a:sym typeface="Arial"/>
              </a:rPr>
              <a:t>.</a:t>
            </a:r>
            <a:endParaRPr sz="15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500"/>
              <a:buFont typeface="Arial"/>
              <a:buNone/>
            </a:pPr>
            <a:r>
              <a:rPr lang="en" sz="1500" b="0" i="0" u="none" strike="noStrike" cap="none">
                <a:solidFill>
                  <a:schemeClr val="dk1"/>
                </a:solidFill>
                <a:latin typeface="Arial"/>
                <a:ea typeface="Arial"/>
                <a:cs typeface="Arial"/>
                <a:sym typeface="Arial"/>
              </a:rPr>
              <a:t>This process </a:t>
            </a:r>
            <a:r>
              <a:rPr lang="en" sz="1500" b="1" i="0" u="none" strike="noStrike" cap="none">
                <a:solidFill>
                  <a:schemeClr val="dk1"/>
                </a:solidFill>
                <a:latin typeface="Arial"/>
                <a:ea typeface="Arial"/>
                <a:cs typeface="Arial"/>
                <a:sym typeface="Arial"/>
              </a:rPr>
              <a:t>reduces bias and gives a more reliable evaluation of the model’s performance</a:t>
            </a:r>
            <a:r>
              <a:rPr lang="en" sz="1500" b="0" i="0" u="none" strike="noStrike" cap="none">
                <a:solidFill>
                  <a:schemeClr val="dk1"/>
                </a:solidFill>
                <a:latin typeface="Arial"/>
                <a:ea typeface="Arial"/>
                <a:cs typeface="Arial"/>
                <a:sym typeface="Arial"/>
              </a:rPr>
              <a:t>.</a:t>
            </a:r>
            <a:endParaRPr/>
          </a:p>
          <a:p>
            <a:pPr marL="0" marR="0" lvl="0" indent="0" algn="l" rtl="0">
              <a:lnSpc>
                <a:spcPct val="100000"/>
              </a:lnSpc>
              <a:spcBef>
                <a:spcPts val="1200"/>
              </a:spcBef>
              <a:spcAft>
                <a:spcPts val="0"/>
              </a:spcAft>
              <a:buNone/>
            </a:pPr>
            <a:r>
              <a:rPr lang="en" sz="1600" b="1" i="0" u="sng" strike="noStrike" cap="none">
                <a:solidFill>
                  <a:srgbClr val="000000"/>
                </a:solidFill>
                <a:latin typeface="Arial"/>
                <a:ea typeface="Arial"/>
                <a:cs typeface="Arial"/>
                <a:sym typeface="Arial"/>
              </a:rPr>
              <a:t>Why is Grid Search Important?</a:t>
            </a:r>
            <a:endParaRPr/>
          </a:p>
          <a:p>
            <a:pPr marL="0" marR="0" lvl="0" indent="0" algn="l" rtl="0">
              <a:lnSpc>
                <a:spcPct val="100000"/>
              </a:lnSpc>
              <a:spcBef>
                <a:spcPts val="0"/>
              </a:spcBef>
              <a:spcAft>
                <a:spcPts val="0"/>
              </a:spcAft>
              <a:buNone/>
            </a:pPr>
            <a:r>
              <a:rPr lang="en" sz="1600" b="0" i="0" u="none" strike="noStrike" cap="none">
                <a:solidFill>
                  <a:srgbClr val="000000"/>
                </a:solidFill>
                <a:latin typeface="Arial"/>
                <a:ea typeface="Arial"/>
                <a:cs typeface="Arial"/>
                <a:sym typeface="Arial"/>
              </a:rPr>
              <a:t>Automation is widely used by developers to make tasks easier and faster. </a:t>
            </a:r>
            <a:r>
              <a:rPr lang="en" sz="1600" b="1" i="0" u="none" strike="noStrike" cap="none">
                <a:solidFill>
                  <a:srgbClr val="000000"/>
                </a:solidFill>
                <a:latin typeface="Arial"/>
                <a:ea typeface="Arial"/>
                <a:cs typeface="Arial"/>
                <a:sym typeface="Arial"/>
              </a:rPr>
              <a:t>Grid Search helps automate the process of finding the best combination of hyperparameters</a:t>
            </a:r>
            <a:r>
              <a:rPr lang="en" sz="1600" b="0" i="0" u="none" strike="noStrike" cap="none">
                <a:solidFill>
                  <a:srgbClr val="000000"/>
                </a:solidFill>
                <a:latin typeface="Arial"/>
                <a:ea typeface="Arial"/>
                <a:cs typeface="Arial"/>
                <a:sym typeface="Arial"/>
              </a:rPr>
              <a:t> for a machine learning model.</a:t>
            </a:r>
            <a:endParaRPr/>
          </a:p>
          <a:p>
            <a:pPr marL="0" marR="0" lvl="0" indent="0" algn="l" rtl="0">
              <a:lnSpc>
                <a:spcPct val="100000"/>
              </a:lnSpc>
              <a:spcBef>
                <a:spcPts val="0"/>
              </a:spcBef>
              <a:spcAft>
                <a:spcPts val="0"/>
              </a:spcAft>
              <a:buNone/>
            </a:pPr>
            <a:r>
              <a:rPr lang="en" sz="1600" b="0" i="0" u="none" strike="noStrike" cap="none">
                <a:solidFill>
                  <a:srgbClr val="000000"/>
                </a:solidFill>
                <a:latin typeface="Arial"/>
                <a:ea typeface="Arial"/>
                <a:cs typeface="Arial"/>
                <a:sym typeface="Arial"/>
              </a:rPr>
              <a:t>It systematically tests different parameter combinations and identifies the set that gives the </a:t>
            </a:r>
            <a:r>
              <a:rPr lang="en" sz="1600" b="1" i="0" u="none" strike="noStrike" cap="none">
                <a:solidFill>
                  <a:srgbClr val="000000"/>
                </a:solidFill>
                <a:latin typeface="Arial"/>
                <a:ea typeface="Arial"/>
                <a:cs typeface="Arial"/>
                <a:sym typeface="Arial"/>
              </a:rPr>
              <a:t>best model performance</a:t>
            </a:r>
            <a:r>
              <a:rPr lang="en" sz="16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r>
              <a:rPr lang="en" sz="1600" b="0" i="0" u="none" strike="noStrike" cap="none">
                <a:solidFill>
                  <a:srgbClr val="000000"/>
                </a:solidFill>
                <a:latin typeface="Arial"/>
                <a:ea typeface="Arial"/>
                <a:cs typeface="Arial"/>
                <a:sym typeface="Arial"/>
              </a:rPr>
              <a:t>However, some tasks still need to be done manually, such as </a:t>
            </a:r>
            <a:r>
              <a:rPr lang="en" sz="1600" b="1" i="0" u="none" strike="noStrike" cap="none">
                <a:solidFill>
                  <a:srgbClr val="000000"/>
                </a:solidFill>
                <a:latin typeface="Arial"/>
                <a:ea typeface="Arial"/>
                <a:cs typeface="Arial"/>
                <a:sym typeface="Arial"/>
              </a:rPr>
              <a:t>choosing the evaluation metric, selecting the machine learning algorithm, and preparing the dataset</a:t>
            </a:r>
            <a:r>
              <a:rPr lang="en" sz="1600" b="0" i="0" u="none" strike="noStrike" cap="none">
                <a:solidFill>
                  <a:srgbClr val="000000"/>
                </a:solidFill>
                <a:latin typeface="Arial"/>
                <a:ea typeface="Arial"/>
                <a:cs typeface="Arial"/>
                <a:sym typeface="Arial"/>
              </a:rPr>
              <a:t>. Grid Search mainly helps by </a:t>
            </a:r>
            <a:r>
              <a:rPr lang="en" sz="1600" b="1" i="0" u="none" strike="noStrike" cap="none">
                <a:solidFill>
                  <a:srgbClr val="000000"/>
                </a:solidFill>
                <a:latin typeface="Arial"/>
                <a:ea typeface="Arial"/>
                <a:cs typeface="Arial"/>
                <a:sym typeface="Arial"/>
              </a:rPr>
              <a:t>automating the process of testing multiple hyperparameter combinations</a:t>
            </a:r>
            <a:r>
              <a:rPr lang="en" sz="1600" b="0" i="0" u="none" strike="noStrike" cap="none">
                <a:solidFill>
                  <a:srgbClr val="000000"/>
                </a:solidFill>
                <a:latin typeface="Arial"/>
                <a:ea typeface="Arial"/>
                <a:cs typeface="Arial"/>
                <a:sym typeface="Arial"/>
              </a:rPr>
              <a:t>, which saves time and effort.</a:t>
            </a:r>
            <a:endParaRPr/>
          </a:p>
          <a:p>
            <a:pPr marL="0" marR="0" lvl="0" indent="0" algn="l" rtl="0">
              <a:lnSpc>
                <a:spcPct val="115000"/>
              </a:lnSpc>
              <a:spcBef>
                <a:spcPts val="1200"/>
              </a:spcBef>
              <a:spcAft>
                <a:spcPts val="120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4"/>
          <p:cNvSpPr/>
          <p:nvPr/>
        </p:nvSpPr>
        <p:spPr>
          <a:xfrm>
            <a:off x="107950" y="50801"/>
            <a:ext cx="9036050" cy="110799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800" b="1" i="0" u="sng" strike="noStrike" cap="none">
                <a:solidFill>
                  <a:srgbClr val="000000"/>
                </a:solidFill>
                <a:latin typeface="Arial"/>
                <a:ea typeface="Arial"/>
                <a:cs typeface="Arial"/>
                <a:sym typeface="Arial"/>
              </a:rPr>
              <a:t>Implementation of Grid Search in Python</a:t>
            </a:r>
            <a:br>
              <a:rPr lang="en" sz="1800" b="1" i="0" u="sng" strike="noStrike" cap="none">
                <a:solidFill>
                  <a:srgbClr val="000000"/>
                </a:solidFill>
                <a:latin typeface="Arial"/>
                <a:ea typeface="Arial"/>
                <a:cs typeface="Arial"/>
                <a:sym typeface="Arial"/>
              </a:rPr>
            </a:br>
            <a:endParaRPr sz="1600" b="1" i="0" u="sng"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600" b="0" i="0" u="none" strike="noStrike" cap="none">
                <a:solidFill>
                  <a:srgbClr val="000000"/>
                </a:solidFill>
                <a:latin typeface="Arial"/>
                <a:ea typeface="Arial"/>
                <a:cs typeface="Arial"/>
                <a:sym typeface="Arial"/>
              </a:rPr>
              <a:t>Since we know the basics of Grid Search, let us go on and implement it using </a:t>
            </a:r>
            <a:r>
              <a:rPr lang="en" sz="1600" b="1" i="0" u="none" strike="noStrike" cap="none">
                <a:solidFill>
                  <a:srgbClr val="000000"/>
                </a:solidFill>
                <a:latin typeface="Arial"/>
                <a:ea typeface="Arial"/>
                <a:cs typeface="Arial"/>
                <a:sym typeface="Arial"/>
              </a:rPr>
              <a:t>GridSearchCV</a:t>
            </a:r>
            <a:r>
              <a:rPr lang="en" sz="1600" b="0" i="0" u="none" strike="noStrike" cap="none">
                <a:solidFill>
                  <a:srgbClr val="000000"/>
                </a:solidFill>
                <a:latin typeface="Arial"/>
                <a:ea typeface="Arial"/>
                <a:cs typeface="Arial"/>
                <a:sym typeface="Arial"/>
              </a:rPr>
              <a:t> provided by sklearn.</a:t>
            </a:r>
            <a:endParaRPr/>
          </a:p>
        </p:txBody>
      </p:sp>
      <p:sp>
        <p:nvSpPr>
          <p:cNvPr id="192" name="Google Shape;192;p24"/>
          <p:cNvSpPr/>
          <p:nvPr/>
        </p:nvSpPr>
        <p:spPr>
          <a:xfrm>
            <a:off x="12700" y="1212771"/>
            <a:ext cx="4625975" cy="36471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100" b="0" i="0" u="none" strike="noStrike" cap="none" dirty="0">
                <a:solidFill>
                  <a:srgbClr val="000000"/>
                </a:solidFill>
                <a:latin typeface="Arial"/>
                <a:ea typeface="Arial"/>
                <a:cs typeface="Arial"/>
                <a:sym typeface="Arial"/>
              </a:rPr>
              <a:t># Importing all the necessary libraries</a:t>
            </a:r>
            <a:endParaRPr dirty="0"/>
          </a:p>
          <a:p>
            <a:pPr marL="0" marR="0" lvl="0" indent="0" algn="l" rtl="0">
              <a:lnSpc>
                <a:spcPct val="100000"/>
              </a:lnSpc>
              <a:spcBef>
                <a:spcPts val="0"/>
              </a:spcBef>
              <a:spcAft>
                <a:spcPts val="0"/>
              </a:spcAft>
              <a:buNone/>
            </a:pPr>
            <a:r>
              <a:rPr lang="en" sz="1100" b="0" i="0" u="none" strike="noStrike" cap="none" dirty="0">
                <a:solidFill>
                  <a:srgbClr val="000000"/>
                </a:solidFill>
                <a:latin typeface="Arial"/>
                <a:ea typeface="Arial"/>
                <a:cs typeface="Arial"/>
                <a:sym typeface="Arial"/>
              </a:rPr>
              <a:t>import pandas as pd</a:t>
            </a:r>
            <a:endParaRPr sz="11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100" b="0" i="0" u="none" strike="noStrike" cap="none" dirty="0">
                <a:solidFill>
                  <a:srgbClr val="000000"/>
                </a:solidFill>
                <a:latin typeface="Arial"/>
                <a:ea typeface="Arial"/>
                <a:cs typeface="Arial"/>
                <a:sym typeface="Arial"/>
              </a:rPr>
              <a:t>from sklearn.ensemble import RandomForestClassifier</a:t>
            </a:r>
            <a:endParaRPr sz="11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100" b="0" i="0" u="none" strike="noStrike" cap="none" dirty="0">
                <a:solidFill>
                  <a:srgbClr val="000000"/>
                </a:solidFill>
                <a:latin typeface="Arial"/>
                <a:ea typeface="Arial"/>
                <a:cs typeface="Arial"/>
                <a:sym typeface="Arial"/>
              </a:rPr>
              <a:t>from sklearn.model_selection import train_test_split</a:t>
            </a:r>
            <a:endParaRPr sz="11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100" b="0" i="0" u="none" strike="noStrike" cap="none" dirty="0">
                <a:solidFill>
                  <a:srgbClr val="000000"/>
                </a:solidFill>
                <a:latin typeface="Arial"/>
                <a:ea typeface="Arial"/>
                <a:cs typeface="Arial"/>
                <a:sym typeface="Arial"/>
              </a:rPr>
              <a:t>from sklearn.model_selection import GridSearchCV</a:t>
            </a:r>
            <a:endParaRPr sz="11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100" b="0" i="0" u="none" strike="noStrike" cap="none" dirty="0">
                <a:solidFill>
                  <a:srgbClr val="000000"/>
                </a:solidFill>
                <a:latin typeface="Arial"/>
                <a:ea typeface="Arial"/>
                <a:cs typeface="Arial"/>
                <a:sym typeface="Arial"/>
              </a:rPr>
              <a:t>from sklearn import metrics</a:t>
            </a:r>
            <a:endParaRPr dirty="0"/>
          </a:p>
          <a:p>
            <a:pPr marL="0" marR="0" lvl="0" indent="0" algn="l" rtl="0">
              <a:lnSpc>
                <a:spcPct val="100000"/>
              </a:lnSpc>
              <a:spcBef>
                <a:spcPts val="0"/>
              </a:spcBef>
              <a:spcAft>
                <a:spcPts val="0"/>
              </a:spcAft>
              <a:buNone/>
            </a:pPr>
            <a:endParaRPr sz="11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100" b="0" i="0" u="none" strike="noStrike" cap="none" dirty="0">
                <a:solidFill>
                  <a:srgbClr val="000000"/>
                </a:solidFill>
                <a:latin typeface="Arial"/>
                <a:ea typeface="Arial"/>
                <a:cs typeface="Arial"/>
                <a:sym typeface="Arial"/>
              </a:rPr>
              <a:t># Reading our dataset</a:t>
            </a:r>
            <a:endParaRPr dirty="0"/>
          </a:p>
          <a:p>
            <a:pPr marL="0" marR="0" lvl="0" indent="0" algn="l" rtl="0">
              <a:lnSpc>
                <a:spcPct val="100000"/>
              </a:lnSpc>
              <a:spcBef>
                <a:spcPts val="0"/>
              </a:spcBef>
              <a:spcAft>
                <a:spcPts val="0"/>
              </a:spcAft>
              <a:buNone/>
            </a:pPr>
            <a:r>
              <a:rPr lang="en" sz="1100" b="0" i="0" u="none" strike="noStrike" cap="none" dirty="0">
                <a:solidFill>
                  <a:srgbClr val="000000"/>
                </a:solidFill>
                <a:latin typeface="Arial"/>
                <a:ea typeface="Arial"/>
                <a:cs typeface="Arial"/>
                <a:sym typeface="Arial"/>
              </a:rPr>
              <a:t>df = pd.read_csv('heart.csv')</a:t>
            </a:r>
            <a:endParaRPr dirty="0"/>
          </a:p>
          <a:p>
            <a:pPr marL="0" marR="0" lvl="0" indent="0" algn="l" rtl="0">
              <a:lnSpc>
                <a:spcPct val="100000"/>
              </a:lnSpc>
              <a:spcBef>
                <a:spcPts val="0"/>
              </a:spcBef>
              <a:spcAft>
                <a:spcPts val="0"/>
              </a:spcAft>
              <a:buNone/>
            </a:pPr>
            <a:r>
              <a:rPr lang="en" sz="1100" b="0" i="0" u="none" strike="noStrike" cap="none" dirty="0">
                <a:solidFill>
                  <a:srgbClr val="000000"/>
                </a:solidFill>
                <a:latin typeface="Arial"/>
                <a:ea typeface="Arial"/>
                <a:cs typeface="Arial"/>
                <a:sym typeface="Arial"/>
              </a:rPr>
              <a:t># Independent variables</a:t>
            </a:r>
            <a:endParaRPr dirty="0"/>
          </a:p>
          <a:p>
            <a:pPr marL="0" marR="0" lvl="0" indent="0" algn="l" rtl="0">
              <a:lnSpc>
                <a:spcPct val="100000"/>
              </a:lnSpc>
              <a:spcBef>
                <a:spcPts val="0"/>
              </a:spcBef>
              <a:spcAft>
                <a:spcPts val="0"/>
              </a:spcAft>
              <a:buNone/>
            </a:pPr>
            <a:r>
              <a:rPr lang="en" sz="1100" b="0" i="0" u="none" strike="noStrike" cap="none" dirty="0">
                <a:solidFill>
                  <a:srgbClr val="000000"/>
                </a:solidFill>
                <a:latin typeface="Arial"/>
                <a:ea typeface="Arial"/>
                <a:cs typeface="Arial"/>
                <a:sym typeface="Arial"/>
              </a:rPr>
              <a:t>X = df.drop('target', axis = 1)</a:t>
            </a:r>
            <a:endParaRPr dirty="0"/>
          </a:p>
          <a:p>
            <a:pPr marL="0" marR="0" lvl="0" indent="0" algn="l" rtl="0">
              <a:lnSpc>
                <a:spcPct val="100000"/>
              </a:lnSpc>
              <a:spcBef>
                <a:spcPts val="0"/>
              </a:spcBef>
              <a:spcAft>
                <a:spcPts val="0"/>
              </a:spcAft>
              <a:buNone/>
            </a:pPr>
            <a:r>
              <a:rPr lang="en" sz="1100" b="0" i="0" u="none" strike="noStrike" cap="none" dirty="0">
                <a:solidFill>
                  <a:srgbClr val="000000"/>
                </a:solidFill>
                <a:latin typeface="Arial"/>
                <a:ea typeface="Arial"/>
                <a:cs typeface="Arial"/>
                <a:sym typeface="Arial"/>
              </a:rPr>
              <a:t># Target variable </a:t>
            </a:r>
            <a:endParaRPr dirty="0"/>
          </a:p>
          <a:p>
            <a:pPr marL="0" marR="0" lvl="0" indent="0" algn="l" rtl="0">
              <a:lnSpc>
                <a:spcPct val="100000"/>
              </a:lnSpc>
              <a:spcBef>
                <a:spcPts val="0"/>
              </a:spcBef>
              <a:spcAft>
                <a:spcPts val="0"/>
              </a:spcAft>
              <a:buNone/>
            </a:pPr>
            <a:r>
              <a:rPr lang="en" sz="1100" b="0" i="0" u="none" strike="noStrike" cap="none" dirty="0">
                <a:solidFill>
                  <a:srgbClr val="000000"/>
                </a:solidFill>
                <a:latin typeface="Arial"/>
                <a:ea typeface="Arial"/>
                <a:cs typeface="Arial"/>
                <a:sym typeface="Arial"/>
              </a:rPr>
              <a:t>y = df['target']</a:t>
            </a:r>
            <a:endParaRPr dirty="0"/>
          </a:p>
          <a:p>
            <a:pPr marL="0" marR="0" lvl="0" indent="0" algn="l" rtl="0">
              <a:lnSpc>
                <a:spcPct val="100000"/>
              </a:lnSpc>
              <a:spcBef>
                <a:spcPts val="0"/>
              </a:spcBef>
              <a:spcAft>
                <a:spcPts val="0"/>
              </a:spcAft>
              <a:buNone/>
            </a:pPr>
            <a:endParaRPr sz="11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100" b="0" i="0" u="none" strike="noStrike" cap="none" dirty="0">
                <a:solidFill>
                  <a:srgbClr val="000000"/>
                </a:solidFill>
                <a:latin typeface="Arial"/>
                <a:ea typeface="Arial"/>
                <a:cs typeface="Arial"/>
                <a:sym typeface="Arial"/>
              </a:rPr>
              <a:t># Splitting our dataset into train and test</a:t>
            </a:r>
            <a:endParaRPr dirty="0"/>
          </a:p>
          <a:p>
            <a:pPr marL="0" marR="0" lvl="0" indent="0" algn="l" rtl="0">
              <a:lnSpc>
                <a:spcPct val="100000"/>
              </a:lnSpc>
              <a:spcBef>
                <a:spcPts val="0"/>
              </a:spcBef>
              <a:spcAft>
                <a:spcPts val="0"/>
              </a:spcAft>
              <a:buNone/>
            </a:pPr>
            <a:r>
              <a:rPr lang="en" sz="1100" b="0" i="0" u="none" strike="noStrike" cap="none" dirty="0">
                <a:solidFill>
                  <a:srgbClr val="000000"/>
                </a:solidFill>
                <a:latin typeface="Arial"/>
                <a:ea typeface="Arial"/>
                <a:cs typeface="Arial"/>
                <a:sym typeface="Arial"/>
              </a:rPr>
              <a:t>X_train, X_test, y_train, y_test = train_test_split(X, y, test_size = 0.3, random_state = 42)</a:t>
            </a:r>
            <a:endParaRPr dirty="0"/>
          </a:p>
          <a:p>
            <a:pPr marL="0" marR="0" lvl="0" indent="0" algn="l" rtl="0">
              <a:lnSpc>
                <a:spcPct val="100000"/>
              </a:lnSpc>
              <a:spcBef>
                <a:spcPts val="0"/>
              </a:spcBef>
              <a:spcAft>
                <a:spcPts val="0"/>
              </a:spcAft>
              <a:buNone/>
            </a:pPr>
            <a:endParaRPr sz="11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100" b="0" i="0" u="none" strike="noStrike" cap="none" dirty="0">
                <a:solidFill>
                  <a:srgbClr val="000000"/>
                </a:solidFill>
                <a:latin typeface="Arial"/>
                <a:ea typeface="Arial"/>
                <a:cs typeface="Arial"/>
                <a:sym typeface="Arial"/>
              </a:rPr>
              <a:t># Random Forest Classifier</a:t>
            </a:r>
            <a:endParaRPr dirty="0"/>
          </a:p>
          <a:p>
            <a:pPr marL="0" marR="0" lvl="0" indent="0" algn="l" rtl="0">
              <a:lnSpc>
                <a:spcPct val="100000"/>
              </a:lnSpc>
              <a:spcBef>
                <a:spcPts val="0"/>
              </a:spcBef>
              <a:spcAft>
                <a:spcPts val="0"/>
              </a:spcAft>
              <a:buNone/>
            </a:pPr>
            <a:r>
              <a:rPr lang="en" sz="1100" b="0" i="0" u="none" strike="noStrike" cap="none" dirty="0">
                <a:solidFill>
                  <a:srgbClr val="000000"/>
                </a:solidFill>
                <a:latin typeface="Arial"/>
                <a:ea typeface="Arial"/>
                <a:cs typeface="Arial"/>
                <a:sym typeface="Arial"/>
              </a:rPr>
              <a:t>rfc = RandomForestClassifier()</a:t>
            </a:r>
            <a:endParaRPr dirty="0"/>
          </a:p>
          <a:p>
            <a:pPr marL="0" marR="0" lvl="0" indent="0" algn="l" rtl="0">
              <a:lnSpc>
                <a:spcPct val="100000"/>
              </a:lnSpc>
              <a:spcBef>
                <a:spcPts val="0"/>
              </a:spcBef>
              <a:spcAft>
                <a:spcPts val="0"/>
              </a:spcAft>
              <a:buNone/>
            </a:pPr>
            <a:endParaRPr sz="1100" b="0" i="0" u="none" strike="noStrike" cap="none" dirty="0">
              <a:solidFill>
                <a:srgbClr val="000000"/>
              </a:solidFill>
              <a:latin typeface="Arial"/>
              <a:ea typeface="Arial"/>
              <a:cs typeface="Arial"/>
              <a:sym typeface="Arial"/>
            </a:endParaRPr>
          </a:p>
        </p:txBody>
      </p:sp>
      <p:sp>
        <p:nvSpPr>
          <p:cNvPr id="193" name="Google Shape;193;p24"/>
          <p:cNvSpPr/>
          <p:nvPr/>
        </p:nvSpPr>
        <p:spPr>
          <a:xfrm>
            <a:off x="4324350" y="1220679"/>
            <a:ext cx="4572000" cy="23544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050" b="0" i="0" u="none" strike="noStrike" cap="none" dirty="0">
                <a:solidFill>
                  <a:srgbClr val="000000"/>
                </a:solidFill>
                <a:latin typeface="Arial"/>
                <a:ea typeface="Arial"/>
                <a:cs typeface="Arial"/>
                <a:sym typeface="Arial"/>
              </a:rPr>
              <a:t># Limit of parameters</a:t>
            </a:r>
            <a:endParaRPr dirty="0"/>
          </a:p>
          <a:p>
            <a:pPr marL="0" marR="0" lvl="0" indent="0" algn="l" rtl="0">
              <a:lnSpc>
                <a:spcPct val="100000"/>
              </a:lnSpc>
              <a:spcBef>
                <a:spcPts val="0"/>
              </a:spcBef>
              <a:spcAft>
                <a:spcPts val="0"/>
              </a:spcAft>
              <a:buNone/>
            </a:pPr>
            <a:r>
              <a:rPr lang="en" sz="1050" b="0" i="0" u="none" strike="noStrike" cap="none" dirty="0">
                <a:solidFill>
                  <a:srgbClr val="000000"/>
                </a:solidFill>
                <a:latin typeface="Arial"/>
                <a:ea typeface="Arial"/>
                <a:cs typeface="Arial"/>
                <a:sym typeface="Arial"/>
              </a:rPr>
              <a:t>forest_params = [{'max_depth': list(range(10, 15)), max_features: list(range(1,14))}]</a:t>
            </a:r>
            <a:endParaRPr sz="105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05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050" b="0" i="0" u="none" strike="noStrike" cap="none" dirty="0">
                <a:solidFill>
                  <a:srgbClr val="000000"/>
                </a:solidFill>
                <a:latin typeface="Arial"/>
                <a:ea typeface="Arial"/>
                <a:cs typeface="Arial"/>
                <a:sym typeface="Arial"/>
              </a:rPr>
              <a:t># GridSearchCV</a:t>
            </a:r>
            <a:endParaRPr sz="105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050" b="0" i="0" u="none" strike="noStrike" cap="none" dirty="0">
                <a:solidFill>
                  <a:srgbClr val="000000"/>
                </a:solidFill>
                <a:latin typeface="Arial"/>
                <a:ea typeface="Arial"/>
                <a:cs typeface="Arial"/>
                <a:sym typeface="Arial"/>
              </a:rPr>
              <a:t>clf = GridSearchCV(rfc, forest_params, cv = 10, scoring='accuracy')</a:t>
            </a:r>
            <a:endParaRPr dirty="0"/>
          </a:p>
          <a:p>
            <a:pPr marL="0" marR="0" lvl="0" indent="0" algn="l" rtl="0">
              <a:lnSpc>
                <a:spcPct val="100000"/>
              </a:lnSpc>
              <a:spcBef>
                <a:spcPts val="0"/>
              </a:spcBef>
              <a:spcAft>
                <a:spcPts val="0"/>
              </a:spcAft>
              <a:buNone/>
            </a:pPr>
            <a:endParaRPr sz="105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050" b="0" i="0" u="none" strike="noStrike" cap="none" dirty="0">
                <a:solidFill>
                  <a:srgbClr val="000000"/>
                </a:solidFill>
                <a:latin typeface="Arial"/>
                <a:ea typeface="Arial"/>
                <a:cs typeface="Arial"/>
                <a:sym typeface="Arial"/>
              </a:rPr>
              <a:t>clf.fit(X_train, y_train)</a:t>
            </a:r>
            <a:endParaRPr dirty="0"/>
          </a:p>
          <a:p>
            <a:pPr marL="0" marR="0" lvl="0" indent="0" algn="l" rtl="0">
              <a:lnSpc>
                <a:spcPct val="100000"/>
              </a:lnSpc>
              <a:spcBef>
                <a:spcPts val="0"/>
              </a:spcBef>
              <a:spcAft>
                <a:spcPts val="0"/>
              </a:spcAft>
              <a:buNone/>
            </a:pPr>
            <a:endParaRPr sz="105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050" b="0" i="0" u="none" strike="noStrike" cap="none" dirty="0">
                <a:solidFill>
                  <a:srgbClr val="000000"/>
                </a:solidFill>
                <a:latin typeface="Arial"/>
                <a:ea typeface="Arial"/>
                <a:cs typeface="Arial"/>
                <a:sym typeface="Arial"/>
              </a:rPr>
              <a:t># Printing our best metrics</a:t>
            </a:r>
            <a:endParaRPr dirty="0"/>
          </a:p>
          <a:p>
            <a:pPr marL="0" marR="0" lvl="0" indent="0" algn="l" rtl="0">
              <a:lnSpc>
                <a:spcPct val="100000"/>
              </a:lnSpc>
              <a:spcBef>
                <a:spcPts val="0"/>
              </a:spcBef>
              <a:spcAft>
                <a:spcPts val="0"/>
              </a:spcAft>
              <a:buNone/>
            </a:pPr>
            <a:r>
              <a:rPr lang="en" sz="1050" b="0" i="0" u="none" strike="noStrike" cap="none" dirty="0">
                <a:solidFill>
                  <a:srgbClr val="000000"/>
                </a:solidFill>
                <a:latin typeface="Arial"/>
                <a:ea typeface="Arial"/>
                <a:cs typeface="Arial"/>
                <a:sym typeface="Arial"/>
              </a:rPr>
              <a:t>print(clf.best_params_)</a:t>
            </a:r>
            <a:endParaRPr dirty="0"/>
          </a:p>
          <a:p>
            <a:pPr marL="0" marR="0" lvl="0" indent="0" algn="l" rtl="0">
              <a:lnSpc>
                <a:spcPct val="100000"/>
              </a:lnSpc>
              <a:spcBef>
                <a:spcPts val="0"/>
              </a:spcBef>
              <a:spcAft>
                <a:spcPts val="0"/>
              </a:spcAft>
              <a:buNone/>
            </a:pPr>
            <a:endParaRPr sz="105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050" b="0" i="0" u="none" strike="noStrike" cap="none" dirty="0">
                <a:solidFill>
                  <a:srgbClr val="000000"/>
                </a:solidFill>
                <a:latin typeface="Arial"/>
                <a:ea typeface="Arial"/>
                <a:cs typeface="Arial"/>
                <a:sym typeface="Arial"/>
              </a:rPr>
              <a:t>print(clf.best_score_)</a:t>
            </a:r>
            <a:endParaRPr dirty="0"/>
          </a:p>
          <a:p>
            <a:pPr marL="0" marR="0" lvl="0" indent="0" algn="l" rtl="0">
              <a:lnSpc>
                <a:spcPct val="100000"/>
              </a:lnSpc>
              <a:spcBef>
                <a:spcPts val="0"/>
              </a:spcBef>
              <a:spcAft>
                <a:spcPts val="0"/>
              </a:spcAft>
              <a:buNone/>
            </a:pPr>
            <a:endParaRPr sz="1050" b="0" i="0" u="none" strike="noStrike" cap="none" dirty="0">
              <a:solidFill>
                <a:srgbClr val="000000"/>
              </a:solidFill>
              <a:latin typeface="Arial"/>
              <a:ea typeface="Arial"/>
              <a:cs typeface="Arial"/>
              <a:sym typeface="Arial"/>
            </a:endParaRPr>
          </a:p>
        </p:txBody>
      </p:sp>
      <p:sp>
        <p:nvSpPr>
          <p:cNvPr id="194" name="Google Shape;194;p24"/>
          <p:cNvSpPr/>
          <p:nvPr/>
        </p:nvSpPr>
        <p:spPr>
          <a:xfrm>
            <a:off x="4572000" y="3846840"/>
            <a:ext cx="457200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dirty="0">
                <a:solidFill>
                  <a:srgbClr val="FF0000"/>
                </a:solidFill>
                <a:latin typeface="Arial"/>
                <a:ea typeface="Arial"/>
                <a:cs typeface="Arial"/>
                <a:sym typeface="Arial"/>
              </a:rPr>
              <a:t>{'max-depth': 13, 'max-features': 3}</a:t>
            </a:r>
            <a:endParaRPr dirty="0"/>
          </a:p>
          <a:p>
            <a:pPr marL="0" marR="0" lvl="0" indent="0" algn="l" rtl="0">
              <a:lnSpc>
                <a:spcPct val="100000"/>
              </a:lnSpc>
              <a:spcBef>
                <a:spcPts val="0"/>
              </a:spcBef>
              <a:spcAft>
                <a:spcPts val="0"/>
              </a:spcAft>
              <a:buNone/>
            </a:pPr>
            <a:r>
              <a:rPr lang="en" sz="1400" b="0" i="0" u="none" strike="noStrike" cap="none" dirty="0" smtClean="0">
                <a:solidFill>
                  <a:srgbClr val="FF0000"/>
                </a:solidFill>
                <a:latin typeface="Arial"/>
                <a:ea typeface="Arial"/>
                <a:cs typeface="Arial"/>
                <a:sym typeface="Arial"/>
              </a:rPr>
              <a:t>0.9818075</a:t>
            </a:r>
            <a:endParaRPr dirty="0"/>
          </a:p>
        </p:txBody>
      </p:sp>
      <p:sp>
        <p:nvSpPr>
          <p:cNvPr id="195" name="Google Shape;195;p24"/>
          <p:cNvSpPr/>
          <p:nvPr/>
        </p:nvSpPr>
        <p:spPr>
          <a:xfrm>
            <a:off x="4603043" y="3545413"/>
            <a:ext cx="87876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Output :</a:t>
            </a:r>
            <a:endParaRPr sz="1400" b="0" i="0" u="none" strike="noStrike" cap="none">
              <a:solidFill>
                <a:srgbClr val="000000"/>
              </a:solidFill>
              <a:latin typeface="Arial"/>
              <a:ea typeface="Arial"/>
              <a:cs typeface="Arial"/>
              <a:sym typeface="Arial"/>
            </a:endParaRPr>
          </a:p>
        </p:txBody>
      </p:sp>
      <p:sp>
        <p:nvSpPr>
          <p:cNvPr id="196" name="Google Shape;196;p24"/>
          <p:cNvSpPr/>
          <p:nvPr/>
        </p:nvSpPr>
        <p:spPr>
          <a:xfrm>
            <a:off x="4603043" y="4370060"/>
            <a:ext cx="4572000"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After execution, we can see the best parameters we can use and the best score we can achieve on our model.</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5"/>
          <p:cNvSpPr/>
          <p:nvPr/>
        </p:nvSpPr>
        <p:spPr>
          <a:xfrm>
            <a:off x="0" y="0"/>
            <a:ext cx="914400" cy="914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2" name="Google Shape;202;p25"/>
          <p:cNvSpPr/>
          <p:nvPr/>
        </p:nvSpPr>
        <p:spPr>
          <a:xfrm>
            <a:off x="44450" y="185742"/>
            <a:ext cx="9225602" cy="4924425"/>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r>
              <a:rPr lang="en" sz="2400" b="1" i="0" u="sng" strike="noStrike" cap="none">
                <a:solidFill>
                  <a:schemeClr val="dk1"/>
                </a:solidFill>
                <a:latin typeface="Arial"/>
                <a:ea typeface="Arial"/>
                <a:cs typeface="Arial"/>
                <a:sym typeface="Arial"/>
              </a:rPr>
              <a:t>Limitations of Grid Search</a:t>
            </a:r>
            <a:endParaRPr/>
          </a:p>
          <a:p>
            <a:pPr marL="0" marR="0" lvl="0" indent="0" algn="l" rtl="0">
              <a:lnSpc>
                <a:spcPct val="100000"/>
              </a:lnSpc>
              <a:spcBef>
                <a:spcPts val="0"/>
              </a:spcBef>
              <a:spcAft>
                <a:spcPts val="0"/>
              </a:spcAft>
              <a:buNone/>
            </a:pPr>
            <a:endParaRPr sz="2400" b="1" i="0" u="sng" strike="noStrike" cap="none">
              <a:solidFill>
                <a:schemeClr val="dk1"/>
              </a:solidFill>
              <a:latin typeface="Arial"/>
              <a:ea typeface="Arial"/>
              <a:cs typeface="Arial"/>
              <a:sym typeface="Arial"/>
            </a:endParaRPr>
          </a:p>
          <a:p>
            <a:pPr marL="228600" marR="0" lvl="0" indent="-228600" algn="l" rtl="0">
              <a:lnSpc>
                <a:spcPct val="100000"/>
              </a:lnSpc>
              <a:spcBef>
                <a:spcPts val="0"/>
              </a:spcBef>
              <a:spcAft>
                <a:spcPts val="0"/>
              </a:spcAft>
              <a:buClr>
                <a:schemeClr val="dk1"/>
              </a:buClr>
              <a:buSzPts val="1400"/>
              <a:buFont typeface="Arial"/>
              <a:buAutoNum type="arabicPeriod"/>
            </a:pPr>
            <a:r>
              <a:rPr lang="en" sz="1400" b="1" i="0" u="none" strike="noStrike" cap="none">
                <a:solidFill>
                  <a:schemeClr val="dk1"/>
                </a:solidFill>
                <a:latin typeface="Arial"/>
                <a:ea typeface="Arial"/>
                <a:cs typeface="Arial"/>
                <a:sym typeface="Arial"/>
              </a:rPr>
              <a:t>Time-Consuming Process</a:t>
            </a:r>
            <a:r>
              <a:rPr lang="en" sz="1400" b="0" i="0" u="none" strike="noStrike" cap="none">
                <a:solidFill>
                  <a:schemeClr val="dk1"/>
                </a:solidFill>
                <a:latin typeface="Arial"/>
                <a:ea typeface="Arial"/>
                <a:cs typeface="Arial"/>
                <a:sym typeface="Arial"/>
              </a:rPr>
              <a:t/>
            </a:r>
            <a:br>
              <a:rPr lang="en" sz="1400" b="0" i="0" u="none" strike="noStrike" cap="none">
                <a:solidFill>
                  <a:schemeClr val="dk1"/>
                </a:solidFill>
                <a:latin typeface="Arial"/>
                <a:ea typeface="Arial"/>
                <a:cs typeface="Arial"/>
                <a:sym typeface="Arial"/>
              </a:rPr>
            </a:br>
            <a:r>
              <a:rPr lang="en" sz="1400" b="0" i="0" u="none" strike="noStrike" cap="none">
                <a:solidFill>
                  <a:schemeClr val="dk1"/>
                </a:solidFill>
                <a:latin typeface="Arial"/>
                <a:ea typeface="Arial"/>
                <a:cs typeface="Arial"/>
                <a:sym typeface="Arial"/>
              </a:rPr>
              <a:t>Grid Search tries </a:t>
            </a:r>
            <a:r>
              <a:rPr lang="en" sz="1400" b="1" i="0" u="none" strike="noStrike" cap="none">
                <a:solidFill>
                  <a:schemeClr val="dk1"/>
                </a:solidFill>
                <a:latin typeface="Arial"/>
                <a:ea typeface="Arial"/>
                <a:cs typeface="Arial"/>
                <a:sym typeface="Arial"/>
              </a:rPr>
              <a:t>every possible combination of hyperparameters</a:t>
            </a:r>
            <a:r>
              <a:rPr lang="en" sz="1400" b="0" i="0" u="none" strike="noStrike" cap="none">
                <a:solidFill>
                  <a:schemeClr val="dk1"/>
                </a:solidFill>
                <a:latin typeface="Arial"/>
                <a:ea typeface="Arial"/>
                <a:cs typeface="Arial"/>
                <a:sym typeface="Arial"/>
              </a:rPr>
              <a:t> defined in the grid. When there are many </a:t>
            </a:r>
            <a:endParaRPr/>
          </a:p>
          <a:p>
            <a:pPr marL="0" marR="0" lvl="0" indent="0" algn="l"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     parameters and many values for each parameter, the number of combinations becomes very large. </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     As a result, the model has to be trained many times, which makes the process </a:t>
            </a:r>
            <a:r>
              <a:rPr lang="en" sz="1400" b="1" i="0" u="none" strike="noStrike" cap="none">
                <a:solidFill>
                  <a:schemeClr val="dk1"/>
                </a:solidFill>
                <a:latin typeface="Arial"/>
                <a:ea typeface="Arial"/>
                <a:cs typeface="Arial"/>
                <a:sym typeface="Arial"/>
              </a:rPr>
              <a:t>slow and time-consuming</a:t>
            </a:r>
            <a:r>
              <a:rPr lang="en" sz="1400" b="0" i="0" u="none" strike="noStrike" cap="none">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None/>
            </a:pPr>
            <a:r>
              <a:rPr lang="en" sz="1400" b="1" i="0" u="none" strike="noStrike" cap="none">
                <a:solidFill>
                  <a:schemeClr val="dk1"/>
                </a:solidFill>
                <a:latin typeface="Arial"/>
                <a:ea typeface="Arial"/>
                <a:cs typeface="Arial"/>
                <a:sym typeface="Arial"/>
              </a:rPr>
              <a:t>2. High Computational Cost</a:t>
            </a:r>
            <a:r>
              <a:rPr lang="en" sz="1400" b="0" i="0" u="none" strike="noStrike" cap="none">
                <a:solidFill>
                  <a:schemeClr val="dk1"/>
                </a:solidFill>
                <a:latin typeface="Arial"/>
                <a:ea typeface="Arial"/>
                <a:cs typeface="Arial"/>
                <a:sym typeface="Arial"/>
              </a:rPr>
              <a:t/>
            </a:r>
            <a:br>
              <a:rPr lang="en" sz="1400" b="0" i="0" u="none" strike="noStrike" cap="none">
                <a:solidFill>
                  <a:schemeClr val="dk1"/>
                </a:solidFill>
                <a:latin typeface="Arial"/>
                <a:ea typeface="Arial"/>
                <a:cs typeface="Arial"/>
                <a:sym typeface="Arial"/>
              </a:rPr>
            </a:br>
            <a:r>
              <a:rPr lang="en" sz="1400" b="0" i="0" u="none" strike="noStrike" cap="none">
                <a:solidFill>
                  <a:schemeClr val="dk1"/>
                </a:solidFill>
                <a:latin typeface="Arial"/>
                <a:ea typeface="Arial"/>
                <a:cs typeface="Arial"/>
                <a:sym typeface="Arial"/>
              </a:rPr>
              <a:t>    Since the model is trained repeatedly for different parameter combinations, Grid Search requires </a:t>
            </a:r>
            <a:r>
              <a:rPr lang="en" sz="1400" b="1" i="0" u="none" strike="noStrike" cap="none">
                <a:solidFill>
                  <a:schemeClr val="dk1"/>
                </a:solidFill>
                <a:latin typeface="Arial"/>
                <a:ea typeface="Arial"/>
                <a:cs typeface="Arial"/>
                <a:sym typeface="Arial"/>
              </a:rPr>
              <a:t>high </a:t>
            </a:r>
            <a:endParaRPr sz="14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 sz="1400" b="1" i="0" u="none" strike="noStrike" cap="none">
                <a:solidFill>
                  <a:schemeClr val="dk1"/>
                </a:solidFill>
                <a:latin typeface="Arial"/>
                <a:ea typeface="Arial"/>
                <a:cs typeface="Arial"/>
                <a:sym typeface="Arial"/>
              </a:rPr>
              <a:t>    computational power and memory</a:t>
            </a:r>
            <a:r>
              <a:rPr lang="en" sz="1400" b="0" i="0" u="none" strike="noStrike" cap="none">
                <a:solidFill>
                  <a:schemeClr val="dk1"/>
                </a:solidFill>
                <a:latin typeface="Arial"/>
                <a:ea typeface="Arial"/>
                <a:cs typeface="Arial"/>
                <a:sym typeface="Arial"/>
              </a:rPr>
              <a:t>. If cross-validation is also used, the number of model trainings increases </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    even more.</a:t>
            </a:r>
            <a:endParaRPr/>
          </a:p>
          <a:p>
            <a:pPr marL="0" marR="0" lvl="0" indent="0" algn="l" rtl="0">
              <a:lnSpc>
                <a:spcPct val="100000"/>
              </a:lnSpc>
              <a:spcBef>
                <a:spcPts val="0"/>
              </a:spcBef>
              <a:spcAft>
                <a:spcPts val="0"/>
              </a:spcAft>
              <a:buNone/>
            </a:pPr>
            <a:r>
              <a:rPr lang="en" sz="1400" b="1" i="0" u="none" strike="noStrike" cap="none">
                <a:solidFill>
                  <a:schemeClr val="dk1"/>
                </a:solidFill>
                <a:latin typeface="Arial"/>
                <a:ea typeface="Arial"/>
                <a:cs typeface="Arial"/>
                <a:sym typeface="Arial"/>
              </a:rPr>
              <a:t>3. Not Efficient for High-Dimensional Data</a:t>
            </a:r>
            <a:r>
              <a:rPr lang="en" sz="1400" b="0" i="0" u="none" strike="noStrike" cap="none">
                <a:solidFill>
                  <a:schemeClr val="dk1"/>
                </a:solidFill>
                <a:latin typeface="Arial"/>
                <a:ea typeface="Arial"/>
                <a:cs typeface="Arial"/>
                <a:sym typeface="Arial"/>
              </a:rPr>
              <a:t/>
            </a:r>
            <a:br>
              <a:rPr lang="en" sz="1400" b="0" i="0" u="none" strike="noStrike" cap="none">
                <a:solidFill>
                  <a:schemeClr val="dk1"/>
                </a:solidFill>
                <a:latin typeface="Arial"/>
                <a:ea typeface="Arial"/>
                <a:cs typeface="Arial"/>
                <a:sym typeface="Arial"/>
              </a:rPr>
            </a:br>
            <a:r>
              <a:rPr lang="en" sz="1400" b="0" i="0" u="none" strike="noStrike" cap="none">
                <a:solidFill>
                  <a:schemeClr val="dk1"/>
                </a:solidFill>
                <a:latin typeface="Arial"/>
                <a:ea typeface="Arial"/>
                <a:cs typeface="Arial"/>
                <a:sym typeface="Arial"/>
              </a:rPr>
              <a:t>   When the dataset has </a:t>
            </a:r>
            <a:r>
              <a:rPr lang="en" sz="1400" b="1" i="0" u="none" strike="noStrike" cap="none">
                <a:solidFill>
                  <a:schemeClr val="dk1"/>
                </a:solidFill>
                <a:latin typeface="Arial"/>
                <a:ea typeface="Arial"/>
                <a:cs typeface="Arial"/>
                <a:sym typeface="Arial"/>
              </a:rPr>
              <a:t>many features or many hyperparameters</a:t>
            </a:r>
            <a:r>
              <a:rPr lang="en" sz="1400" b="0" i="0" u="none" strike="noStrike" cap="none">
                <a:solidFill>
                  <a:schemeClr val="dk1"/>
                </a:solidFill>
                <a:latin typeface="Arial"/>
                <a:ea typeface="Arial"/>
                <a:cs typeface="Arial"/>
                <a:sym typeface="Arial"/>
              </a:rPr>
              <a:t>, the search space becomes very large. </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   In such cases, Grid Search may take </a:t>
            </a:r>
            <a:r>
              <a:rPr lang="en" sz="1400" b="1" i="0" u="none" strike="noStrike" cap="none">
                <a:solidFill>
                  <a:schemeClr val="dk1"/>
                </a:solidFill>
                <a:latin typeface="Arial"/>
                <a:ea typeface="Arial"/>
                <a:cs typeface="Arial"/>
                <a:sym typeface="Arial"/>
              </a:rPr>
              <a:t>too much time to complete</a:t>
            </a:r>
            <a:r>
              <a:rPr lang="en" sz="1400" b="0" i="0" u="none" strike="noStrike" cap="none">
                <a:solidFill>
                  <a:schemeClr val="dk1"/>
                </a:solidFill>
                <a:latin typeface="Arial"/>
                <a:ea typeface="Arial"/>
                <a:cs typeface="Arial"/>
                <a:sym typeface="Arial"/>
              </a:rPr>
              <a:t> and may not be practical for very complex </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   problems.</a:t>
            </a:r>
            <a:endParaRPr/>
          </a:p>
          <a:p>
            <a:pPr marL="0" marR="0" lvl="0" indent="0" algn="l" rtl="0">
              <a:lnSpc>
                <a:spcPct val="100000"/>
              </a:lnSpc>
              <a:spcBef>
                <a:spcPts val="0"/>
              </a:spcBef>
              <a:spcAft>
                <a:spcPts val="0"/>
              </a:spcAft>
              <a:buNone/>
            </a:pPr>
            <a:r>
              <a:rPr lang="en" sz="1400" b="1" i="0" u="none" strike="noStrike" cap="none">
                <a:solidFill>
                  <a:schemeClr val="dk1"/>
                </a:solidFill>
                <a:latin typeface="Arial"/>
                <a:ea typeface="Arial"/>
                <a:cs typeface="Arial"/>
                <a:sym typeface="Arial"/>
              </a:rPr>
              <a:t>4. May Test Unnecessary Combinations</a:t>
            </a:r>
            <a:r>
              <a:rPr lang="en" sz="1400" b="0" i="0" u="none" strike="noStrike" cap="none">
                <a:solidFill>
                  <a:schemeClr val="dk1"/>
                </a:solidFill>
                <a:latin typeface="Arial"/>
                <a:ea typeface="Arial"/>
                <a:cs typeface="Arial"/>
                <a:sym typeface="Arial"/>
              </a:rPr>
              <a:t/>
            </a:r>
            <a:br>
              <a:rPr lang="en" sz="1400" b="0" i="0" u="none" strike="noStrike" cap="none">
                <a:solidFill>
                  <a:schemeClr val="dk1"/>
                </a:solidFill>
                <a:latin typeface="Arial"/>
                <a:ea typeface="Arial"/>
                <a:cs typeface="Arial"/>
                <a:sym typeface="Arial"/>
              </a:rPr>
            </a:br>
            <a:r>
              <a:rPr lang="en" sz="1400" b="0" i="0" u="none" strike="noStrike" cap="none">
                <a:solidFill>
                  <a:schemeClr val="dk1"/>
                </a:solidFill>
                <a:latin typeface="Arial"/>
                <a:ea typeface="Arial"/>
                <a:cs typeface="Arial"/>
                <a:sym typeface="Arial"/>
              </a:rPr>
              <a:t>   Grid Search checks </a:t>
            </a:r>
            <a:r>
              <a:rPr lang="en" sz="1400" b="1" i="0" u="none" strike="noStrike" cap="none">
                <a:solidFill>
                  <a:schemeClr val="dk1"/>
                </a:solidFill>
                <a:latin typeface="Arial"/>
                <a:ea typeface="Arial"/>
                <a:cs typeface="Arial"/>
                <a:sym typeface="Arial"/>
              </a:rPr>
              <a:t>all combinations in the grid</a:t>
            </a:r>
            <a:r>
              <a:rPr lang="en" sz="1400" b="0" i="0" u="none" strike="noStrike" cap="none">
                <a:solidFill>
                  <a:schemeClr val="dk1"/>
                </a:solidFill>
                <a:latin typeface="Arial"/>
                <a:ea typeface="Arial"/>
                <a:cs typeface="Arial"/>
                <a:sym typeface="Arial"/>
              </a:rPr>
              <a:t>, even those that may not improve the model. </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   This makes the process less efficient compared to other methods like </a:t>
            </a:r>
            <a:r>
              <a:rPr lang="en" sz="1400" b="1" i="0" u="none" strike="noStrike" cap="none">
                <a:solidFill>
                  <a:schemeClr val="dk1"/>
                </a:solidFill>
                <a:latin typeface="Arial"/>
                <a:ea typeface="Arial"/>
                <a:cs typeface="Arial"/>
                <a:sym typeface="Arial"/>
              </a:rPr>
              <a:t>Random Search or Bayesian</a:t>
            </a:r>
            <a:endParaRPr/>
          </a:p>
          <a:p>
            <a:pPr marL="0" marR="0" lvl="0" indent="0" algn="l" rtl="0">
              <a:lnSpc>
                <a:spcPct val="100000"/>
              </a:lnSpc>
              <a:spcBef>
                <a:spcPts val="0"/>
              </a:spcBef>
              <a:spcAft>
                <a:spcPts val="0"/>
              </a:spcAft>
              <a:buNone/>
            </a:pPr>
            <a:r>
              <a:rPr lang="en" sz="1400" b="1" i="0" u="none" strike="noStrike" cap="none">
                <a:solidFill>
                  <a:schemeClr val="dk1"/>
                </a:solidFill>
                <a:latin typeface="Arial"/>
                <a:ea typeface="Arial"/>
                <a:cs typeface="Arial"/>
                <a:sym typeface="Arial"/>
              </a:rPr>
              <a:t>   Optimization</a:t>
            </a:r>
            <a:r>
              <a:rPr lang="en" sz="1400" b="0" i="0" u="none" strike="noStrike" cap="none">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chemeClr val="dk1"/>
              </a:buClr>
              <a:buSzPts val="1400"/>
              <a:buFont typeface="Arial"/>
              <a:buNone/>
            </a:pPr>
            <a:r>
              <a:rPr lang="en" sz="1400" b="0" i="0" u="none" strike="noStrike" cap="none">
                <a:solidFill>
                  <a:schemeClr val="dk1"/>
                </a:solidFill>
                <a:latin typeface="Arial"/>
                <a:ea typeface="Arial"/>
                <a:cs typeface="Arial"/>
                <a:sym typeface="Arial"/>
              </a:rPr>
              <a:t/>
            </a:r>
            <a:br>
              <a:rPr lang="en" sz="1400" b="0" i="0" u="none" strike="noStrike" cap="none">
                <a:solidFill>
                  <a:schemeClr val="dk1"/>
                </a:solidFill>
                <a:latin typeface="Arial"/>
                <a:ea typeface="Arial"/>
                <a:cs typeface="Arial"/>
                <a:sym typeface="Arial"/>
              </a:rPr>
            </a:b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3" name="Google Shape;203;p25"/>
          <p:cNvSpPr/>
          <p:nvPr/>
        </p:nvSpPr>
        <p:spPr>
          <a:xfrm>
            <a:off x="152400" y="152400"/>
            <a:ext cx="914400" cy="914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p:nvPr/>
        </p:nvSpPr>
        <p:spPr>
          <a:xfrm>
            <a:off x="0" y="387351"/>
            <a:ext cx="9144000" cy="37856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400" b="1" i="0" u="sng" strike="noStrike" cap="none">
                <a:solidFill>
                  <a:srgbClr val="000000"/>
                </a:solidFill>
                <a:latin typeface="Arial"/>
                <a:ea typeface="Arial"/>
                <a:cs typeface="Arial"/>
                <a:sym typeface="Arial"/>
              </a:rPr>
              <a:t>Conclusion</a:t>
            </a:r>
            <a:endParaRPr/>
          </a:p>
          <a:p>
            <a:pPr marL="0" marR="0" lvl="0" indent="0" algn="l" rtl="0">
              <a:lnSpc>
                <a:spcPct val="100000"/>
              </a:lnSpc>
              <a:spcBef>
                <a:spcPts val="0"/>
              </a:spcBef>
              <a:spcAft>
                <a:spcPts val="0"/>
              </a:spcAft>
              <a:buNone/>
            </a:pPr>
            <a:r>
              <a:rPr lang="en" sz="1800" b="1" i="0" u="none" strike="noStrike" cap="none">
                <a:solidFill>
                  <a:srgbClr val="000000"/>
                </a:solidFill>
                <a:latin typeface="Arial"/>
                <a:ea typeface="Arial"/>
                <a:cs typeface="Arial"/>
                <a:sym typeface="Arial"/>
              </a:rPr>
              <a:t>Grid Search</a:t>
            </a:r>
            <a:r>
              <a:rPr lang="en" sz="1800" b="0" i="0" u="none" strike="noStrike" cap="none">
                <a:solidFill>
                  <a:srgbClr val="000000"/>
                </a:solidFill>
                <a:latin typeface="Arial"/>
                <a:ea typeface="Arial"/>
                <a:cs typeface="Arial"/>
                <a:sym typeface="Arial"/>
              </a:rPr>
              <a:t> is a technique used to find the </a:t>
            </a:r>
            <a:r>
              <a:rPr lang="en" sz="1800" b="1" i="0" u="none" strike="noStrike" cap="none">
                <a:solidFill>
                  <a:srgbClr val="000000"/>
                </a:solidFill>
                <a:latin typeface="Arial"/>
                <a:ea typeface="Arial"/>
                <a:cs typeface="Arial"/>
                <a:sym typeface="Arial"/>
              </a:rPr>
              <a:t>best combination of hyperparameters</a:t>
            </a:r>
            <a:r>
              <a:rPr lang="en" sz="1800" b="0" i="0" u="none" strike="noStrike" cap="none">
                <a:solidFill>
                  <a:srgbClr val="000000"/>
                </a:solidFill>
                <a:latin typeface="Arial"/>
                <a:ea typeface="Arial"/>
                <a:cs typeface="Arial"/>
                <a:sym typeface="Arial"/>
              </a:rPr>
              <a:t> for a machine learning model. Choosing the right hyperparameters helps </a:t>
            </a:r>
            <a:r>
              <a:rPr lang="en" sz="1800" b="1" i="0" u="none" strike="noStrike" cap="none">
                <a:solidFill>
                  <a:srgbClr val="000000"/>
                </a:solidFill>
                <a:latin typeface="Arial"/>
                <a:ea typeface="Arial"/>
                <a:cs typeface="Arial"/>
                <a:sym typeface="Arial"/>
              </a:rPr>
              <a:t>improve model accuracy and reduce prediction error</a:t>
            </a:r>
            <a:r>
              <a:rPr lang="en" sz="18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800" b="0" i="0" u="none" strike="noStrike" cap="none">
                <a:solidFill>
                  <a:srgbClr val="000000"/>
                </a:solidFill>
                <a:latin typeface="Arial"/>
                <a:ea typeface="Arial"/>
                <a:cs typeface="Arial"/>
                <a:sym typeface="Arial"/>
              </a:rPr>
              <a:t>Grid Search automatically tests different parameter combinations to identify the </a:t>
            </a:r>
            <a:r>
              <a:rPr lang="en" sz="1800" b="1" i="0" u="none" strike="noStrike" cap="none">
                <a:solidFill>
                  <a:srgbClr val="000000"/>
                </a:solidFill>
                <a:latin typeface="Arial"/>
                <a:ea typeface="Arial"/>
                <a:cs typeface="Arial"/>
                <a:sym typeface="Arial"/>
              </a:rPr>
              <a:t>best settings for the model</a:t>
            </a:r>
            <a:r>
              <a:rPr lang="en" sz="18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800" b="1" i="0" u="none" strike="noStrike" cap="none">
                <a:solidFill>
                  <a:srgbClr val="000000"/>
                </a:solidFill>
                <a:latin typeface="Arial"/>
                <a:ea typeface="Arial"/>
                <a:cs typeface="Arial"/>
                <a:sym typeface="Arial"/>
              </a:rPr>
              <a:t>Evaluation metrics and cross-validation</a:t>
            </a:r>
            <a:r>
              <a:rPr lang="en" sz="1800" b="0" i="0" u="none" strike="noStrike" cap="none">
                <a:solidFill>
                  <a:srgbClr val="000000"/>
                </a:solidFill>
                <a:latin typeface="Arial"/>
                <a:ea typeface="Arial"/>
                <a:cs typeface="Arial"/>
                <a:sym typeface="Arial"/>
              </a:rPr>
              <a:t> help measure the model’s performance during the Grid Search process and make the results more reliable.</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800" b="0" i="0" u="none" strike="noStrike" cap="none">
                <a:solidFill>
                  <a:srgbClr val="000000"/>
                </a:solidFill>
                <a:latin typeface="Arial"/>
                <a:ea typeface="Arial"/>
                <a:cs typeface="Arial"/>
                <a:sym typeface="Arial"/>
              </a:rPr>
              <a:t>However, Grid Search also has some </a:t>
            </a:r>
            <a:r>
              <a:rPr lang="en" sz="1800" b="1" i="0" u="none" strike="noStrike" cap="none">
                <a:solidFill>
                  <a:srgbClr val="000000"/>
                </a:solidFill>
                <a:latin typeface="Arial"/>
                <a:ea typeface="Arial"/>
                <a:cs typeface="Arial"/>
                <a:sym typeface="Arial"/>
              </a:rPr>
              <a:t>limitations</a:t>
            </a:r>
            <a:r>
              <a:rPr lang="en" sz="1800" b="0" i="0" u="none" strike="noStrike" cap="none">
                <a:solidFill>
                  <a:srgbClr val="000000"/>
                </a:solidFill>
                <a:latin typeface="Arial"/>
                <a:ea typeface="Arial"/>
                <a:cs typeface="Arial"/>
                <a:sym typeface="Arial"/>
              </a:rPr>
              <a:t>, such as high computation time and difficulty when working with large or complex datasets.</a:t>
            </a:r>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8"/>
          <p:cNvSpPr txBox="1"/>
          <p:nvPr/>
        </p:nvSpPr>
        <p:spPr>
          <a:xfrm>
            <a:off x="1594617" y="1846375"/>
            <a:ext cx="65223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b="1"/>
              <a:t>Randomized Search</a:t>
            </a:r>
            <a:endParaRPr sz="4000" b="1"/>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9"/>
          <p:cNvSpPr txBox="1"/>
          <p:nvPr/>
        </p:nvSpPr>
        <p:spPr>
          <a:xfrm>
            <a:off x="0" y="0"/>
            <a:ext cx="9144000" cy="164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a:solidFill>
                  <a:schemeClr val="dk1"/>
                </a:solidFill>
              </a:rPr>
              <a:t>Optimizing hyperparameters is one of the most difficult parts of developing machine learning and artificial intelligence models. It is difficult to predict the best parameter values when building a model, especially in the first few attempts. So, how can we find the best hyperparameter values? One method is </a:t>
            </a:r>
            <a:r>
              <a:rPr lang="en" sz="1900" b="1">
                <a:solidFill>
                  <a:schemeClr val="dk1"/>
                </a:solidFill>
              </a:rPr>
              <a:t>Random Search</a:t>
            </a:r>
            <a:r>
              <a:rPr lang="en" sz="1900">
                <a:solidFill>
                  <a:schemeClr val="dk1"/>
                </a:solidFill>
              </a:rPr>
              <a:t> in machine learning.</a:t>
            </a:r>
            <a:endParaRPr sz="2200"/>
          </a:p>
        </p:txBody>
      </p:sp>
      <p:sp>
        <p:nvSpPr>
          <p:cNvPr id="219" name="Google Shape;219;p29"/>
          <p:cNvSpPr txBox="1"/>
          <p:nvPr/>
        </p:nvSpPr>
        <p:spPr>
          <a:xfrm>
            <a:off x="71925" y="1606578"/>
            <a:ext cx="9072000" cy="3280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2700" b="1" u="sng">
                <a:solidFill>
                  <a:schemeClr val="dk1"/>
                </a:solidFill>
              </a:rPr>
              <a:t>Introduction</a:t>
            </a:r>
            <a:endParaRPr sz="2700" b="1" u="sng">
              <a:solidFill>
                <a:schemeClr val="dk1"/>
              </a:solidFill>
            </a:endParaRPr>
          </a:p>
          <a:p>
            <a:pPr marL="0" lvl="0" indent="0" algn="l" rtl="0">
              <a:lnSpc>
                <a:spcPct val="115000"/>
              </a:lnSpc>
              <a:spcBef>
                <a:spcPts val="1200"/>
              </a:spcBef>
              <a:spcAft>
                <a:spcPts val="0"/>
              </a:spcAft>
              <a:buNone/>
            </a:pPr>
            <a:r>
              <a:rPr lang="en" sz="1900">
                <a:solidFill>
                  <a:schemeClr val="dk1"/>
                </a:solidFill>
              </a:rPr>
              <a:t>In machine learning, </a:t>
            </a:r>
            <a:r>
              <a:rPr lang="en" sz="1900" b="1">
                <a:solidFill>
                  <a:schemeClr val="dk1"/>
                </a:solidFill>
              </a:rPr>
              <a:t>Random Search</a:t>
            </a:r>
            <a:r>
              <a:rPr lang="en" sz="1900">
                <a:solidFill>
                  <a:schemeClr val="dk1"/>
                </a:solidFill>
              </a:rPr>
              <a:t> is a method that uses random combinations of hyperparameters to find the best result for a model. Since the parameters are selected randomly and no specific strategy is used to choose them, chance plays a role in finding the best combination.</a:t>
            </a:r>
            <a:endParaRPr sz="1900">
              <a:solidFill>
                <a:schemeClr val="dk1"/>
              </a:solidFill>
            </a:endParaRPr>
          </a:p>
          <a:p>
            <a:pPr marL="0" lvl="0" indent="0" algn="l" rtl="0">
              <a:lnSpc>
                <a:spcPct val="115000"/>
              </a:lnSpc>
              <a:spcBef>
                <a:spcPts val="1200"/>
              </a:spcBef>
              <a:spcAft>
                <a:spcPts val="1200"/>
              </a:spcAft>
              <a:buNone/>
            </a:pPr>
            <a:r>
              <a:rPr lang="en" sz="1900">
                <a:solidFill>
                  <a:schemeClr val="dk1"/>
                </a:solidFill>
              </a:rPr>
              <a:t>Hyperparameter search is a useful technique for finding the most suitable values for hyperparameters. There are different methods to perform hyperparameter search, and one of them is </a:t>
            </a:r>
            <a:r>
              <a:rPr lang="en" sz="1900" b="1">
                <a:solidFill>
                  <a:schemeClr val="dk1"/>
                </a:solidFill>
              </a:rPr>
              <a:t>Random Search</a:t>
            </a:r>
            <a:r>
              <a:rPr lang="en" sz="1900">
                <a:solidFill>
                  <a:schemeClr val="dk1"/>
                </a:solidFill>
              </a:rPr>
              <a:t> in machine learning.</a:t>
            </a:r>
            <a:endParaRPr sz="1900">
              <a:solidFill>
                <a:schemeClr val="dk1"/>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0"/>
          <p:cNvSpPr txBox="1"/>
          <p:nvPr/>
        </p:nvSpPr>
        <p:spPr>
          <a:xfrm>
            <a:off x="0" y="0"/>
            <a:ext cx="9144000" cy="2369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800" b="1">
                <a:solidFill>
                  <a:schemeClr val="dk1"/>
                </a:solidFill>
              </a:rPr>
              <a:t>What is Random Search?</a:t>
            </a:r>
            <a:endParaRPr sz="1800" b="1">
              <a:solidFill>
                <a:schemeClr val="dk1"/>
              </a:solidFill>
            </a:endParaRPr>
          </a:p>
          <a:p>
            <a:pPr marL="0" lvl="0" indent="0" algn="l" rtl="0">
              <a:lnSpc>
                <a:spcPct val="115000"/>
              </a:lnSpc>
              <a:spcBef>
                <a:spcPts val="1200"/>
              </a:spcBef>
              <a:spcAft>
                <a:spcPts val="0"/>
              </a:spcAft>
              <a:buNone/>
            </a:pPr>
            <a:r>
              <a:rPr lang="en" sz="1500">
                <a:solidFill>
                  <a:schemeClr val="dk1"/>
                </a:solidFill>
              </a:rPr>
              <a:t>Random Search in machine learning involves generating and testing random combinations of inputs (hyperparameters) for the objective function. It is useful because it does not assume anything about the structure of the objective function. This helps in problems where domain knowledge might influence or bias the optimization process, allowing the model to find solutions that may not be obvious. The main drawback of Random Search is that it can produce high variance during computation.</a:t>
            </a:r>
            <a:endParaRPr sz="1500">
              <a:solidFill>
                <a:schemeClr val="dk1"/>
              </a:solidFill>
            </a:endParaRPr>
          </a:p>
          <a:p>
            <a:pPr marL="0" lvl="0" indent="0" algn="l" rtl="0">
              <a:lnSpc>
                <a:spcPct val="115000"/>
              </a:lnSpc>
              <a:spcBef>
                <a:spcPts val="1200"/>
              </a:spcBef>
              <a:spcAft>
                <a:spcPts val="1200"/>
              </a:spcAft>
              <a:buNone/>
            </a:pPr>
            <a:r>
              <a:rPr lang="en" sz="1500">
                <a:solidFill>
                  <a:schemeClr val="dk1"/>
                </a:solidFill>
              </a:rPr>
              <a:t>The graphic below shows the pattern of Random Search.</a:t>
            </a:r>
            <a:endParaRPr sz="1500">
              <a:solidFill>
                <a:schemeClr val="dk1"/>
              </a:solidFill>
            </a:endParaRPr>
          </a:p>
        </p:txBody>
      </p:sp>
      <p:pic>
        <p:nvPicPr>
          <p:cNvPr id="225" name="Google Shape;225;p30"/>
          <p:cNvPicPr preferRelativeResize="0"/>
          <p:nvPr/>
        </p:nvPicPr>
        <p:blipFill rotWithShape="1">
          <a:blip r:embed="rId3">
            <a:alphaModFix/>
          </a:blip>
          <a:srcRect l="26753" t="8729" r="26064" b="22806"/>
          <a:stretch/>
        </p:blipFill>
        <p:spPr>
          <a:xfrm>
            <a:off x="2793550" y="2571750"/>
            <a:ext cx="2901473" cy="2430100"/>
          </a:xfrm>
          <a:prstGeom prst="rect">
            <a:avLst/>
          </a:prstGeom>
          <a:noFill/>
          <a:ln w="9525" cap="flat" cmpd="sng">
            <a:solidFill>
              <a:schemeClr val="dk1"/>
            </a:solidFill>
            <a:prstDash val="solid"/>
            <a:round/>
            <a:headEnd type="none" w="sm" len="sm"/>
            <a:tailEnd type="none" w="sm" len="sm"/>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1"/>
          <p:cNvSpPr txBox="1"/>
          <p:nvPr/>
        </p:nvSpPr>
        <p:spPr>
          <a:xfrm>
            <a:off x="59950" y="107900"/>
            <a:ext cx="5949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u="sng"/>
              <a:t>The Algorithm </a:t>
            </a:r>
            <a:r>
              <a:rPr lang="en" sz="1700" b="1" u="sng">
                <a:solidFill>
                  <a:schemeClr val="dk1"/>
                </a:solidFill>
              </a:rPr>
              <a:t>How Random Search Works </a:t>
            </a:r>
            <a:endParaRPr sz="2100" b="1" u="sng"/>
          </a:p>
        </p:txBody>
      </p:sp>
      <p:sp>
        <p:nvSpPr>
          <p:cNvPr id="231" name="Google Shape;231;p31"/>
          <p:cNvSpPr txBox="1"/>
          <p:nvPr/>
        </p:nvSpPr>
        <p:spPr>
          <a:xfrm>
            <a:off x="0" y="491570"/>
            <a:ext cx="9144000" cy="467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a:solidFill>
                  <a:schemeClr val="dk1"/>
                </a:solidFill>
              </a:rPr>
              <a:t>Random Search is a method used to find the </a:t>
            </a:r>
            <a:r>
              <a:rPr lang="en" sz="1100" b="1">
                <a:solidFill>
                  <a:schemeClr val="dk1"/>
                </a:solidFill>
              </a:rPr>
              <a:t>best hyperparameters for a machine learning model</a:t>
            </a:r>
            <a:r>
              <a:rPr lang="en" sz="1100">
                <a:solidFill>
                  <a:schemeClr val="dk1"/>
                </a:solidFill>
              </a:rPr>
              <a:t>. Instead of testing every possible combination, it </a:t>
            </a:r>
            <a:r>
              <a:rPr lang="en" sz="1100" b="1">
                <a:solidFill>
                  <a:schemeClr val="dk1"/>
                </a:solidFill>
              </a:rPr>
              <a:t>randomly selects different combinations and checks which one works best</a:t>
            </a:r>
            <a:r>
              <a:rPr lang="en" sz="1100">
                <a:solidFill>
                  <a:schemeClr val="dk1"/>
                </a:solidFill>
              </a:rPr>
              <a:t>.</a:t>
            </a:r>
            <a:endParaRPr sz="1100">
              <a:solidFill>
                <a:schemeClr val="dk1"/>
              </a:solidFill>
            </a:endParaRPr>
          </a:p>
          <a:p>
            <a:pPr marL="0" lvl="0" indent="0" algn="l" rtl="0">
              <a:lnSpc>
                <a:spcPct val="115000"/>
              </a:lnSpc>
              <a:spcBef>
                <a:spcPts val="1400"/>
              </a:spcBef>
              <a:spcAft>
                <a:spcPts val="0"/>
              </a:spcAft>
              <a:buNone/>
            </a:pPr>
            <a:r>
              <a:rPr lang="en" sz="1300" b="1">
                <a:solidFill>
                  <a:schemeClr val="dk1"/>
                </a:solidFill>
              </a:rPr>
              <a:t>Step-by-Step Process</a:t>
            </a:r>
            <a:endParaRPr sz="1300"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n" sz="1100">
                <a:solidFill>
                  <a:schemeClr val="dk1"/>
                </a:solidFill>
              </a:rPr>
              <a:t>First, choose a </a:t>
            </a:r>
            <a:r>
              <a:rPr lang="en" sz="1100" b="1">
                <a:solidFill>
                  <a:schemeClr val="dk1"/>
                </a:solidFill>
              </a:rPr>
              <a:t>random combination of hyperparameters</a:t>
            </a:r>
            <a:r>
              <a:rPr lang="en" sz="1100">
                <a:solidFill>
                  <a:schemeClr val="dk1"/>
                </a:solidFill>
              </a:rPr>
              <a:t> from the search space.</a:t>
            </a:r>
            <a:br>
              <a:rPr lang="en" sz="1100">
                <a:solidFill>
                  <a:schemeClr val="dk1"/>
                </a:solidFill>
              </a:rPr>
            </a:br>
            <a:r>
              <a:rPr lang="en" sz="1100">
                <a:solidFill>
                  <a:schemeClr val="dk1"/>
                </a:solidFill>
              </a:rPr>
              <a:t> Call this combination </a:t>
            </a:r>
            <a:r>
              <a:rPr lang="en" sz="1100" b="1">
                <a:solidFill>
                  <a:schemeClr val="dk1"/>
                </a:solidFill>
              </a:rPr>
              <a:t>x</a:t>
            </a:r>
            <a:r>
              <a:rPr lang="en" sz="1100">
                <a:solidFill>
                  <a:schemeClr val="dk1"/>
                </a:solidFill>
              </a:rPr>
              <a:t>.</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sz="1100">
                <a:solidFill>
                  <a:schemeClr val="dk1"/>
                </a:solidFill>
              </a:rPr>
              <a:t>Train the model using </a:t>
            </a:r>
            <a:r>
              <a:rPr lang="en" sz="1100" b="1">
                <a:solidFill>
                  <a:schemeClr val="dk1"/>
                </a:solidFill>
              </a:rPr>
              <a:t>x</a:t>
            </a:r>
            <a:r>
              <a:rPr lang="en" sz="1100">
                <a:solidFill>
                  <a:schemeClr val="dk1"/>
                </a:solidFill>
              </a:rPr>
              <a:t> and calculate the </a:t>
            </a:r>
            <a:r>
              <a:rPr lang="en" sz="1100" b="1">
                <a:solidFill>
                  <a:schemeClr val="dk1"/>
                </a:solidFill>
              </a:rPr>
              <a:t>cost (or error)</a:t>
            </a:r>
            <a:r>
              <a:rPr lang="en" sz="1100">
                <a:solidFill>
                  <a:schemeClr val="dk1"/>
                </a:solidFill>
              </a:rPr>
              <a:t> of the model.</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sz="1100">
                <a:solidFill>
                  <a:schemeClr val="dk1"/>
                </a:solidFill>
              </a:rPr>
              <a:t>Then choose another </a:t>
            </a:r>
            <a:r>
              <a:rPr lang="en" sz="1100" b="1">
                <a:solidFill>
                  <a:schemeClr val="dk1"/>
                </a:solidFill>
              </a:rPr>
              <a:t>random combination</a:t>
            </a:r>
            <a:r>
              <a:rPr lang="en" sz="1100">
                <a:solidFill>
                  <a:schemeClr val="dk1"/>
                </a:solidFill>
              </a:rPr>
              <a:t> of hyperparameters.</a:t>
            </a:r>
            <a:br>
              <a:rPr lang="en" sz="1100">
                <a:solidFill>
                  <a:schemeClr val="dk1"/>
                </a:solidFill>
              </a:rPr>
            </a:br>
            <a:r>
              <a:rPr lang="en" sz="1100">
                <a:solidFill>
                  <a:schemeClr val="dk1"/>
                </a:solidFill>
              </a:rPr>
              <a:t> Call this </a:t>
            </a:r>
            <a:r>
              <a:rPr lang="en" sz="1100" b="1">
                <a:solidFill>
                  <a:schemeClr val="dk1"/>
                </a:solidFill>
              </a:rPr>
              <a:t>y</a:t>
            </a:r>
            <a:r>
              <a:rPr lang="en" sz="1100">
                <a:solidFill>
                  <a:schemeClr val="dk1"/>
                </a:solidFill>
              </a:rPr>
              <a:t>.</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sz="1100">
                <a:solidFill>
                  <a:schemeClr val="dk1"/>
                </a:solidFill>
              </a:rPr>
              <a:t>Train the model using </a:t>
            </a:r>
            <a:r>
              <a:rPr lang="en" sz="1100" b="1">
                <a:solidFill>
                  <a:schemeClr val="dk1"/>
                </a:solidFill>
              </a:rPr>
              <a:t>y</a:t>
            </a:r>
            <a:r>
              <a:rPr lang="en" sz="1100">
                <a:solidFill>
                  <a:schemeClr val="dk1"/>
                </a:solidFill>
              </a:rPr>
              <a:t> and calculate its cost.</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sz="1100">
                <a:solidFill>
                  <a:schemeClr val="dk1"/>
                </a:solidFill>
              </a:rPr>
              <a:t>Compare the two results:</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a:solidFill>
                  <a:schemeClr val="dk1"/>
                </a:solidFill>
              </a:rPr>
              <a:t>If </a:t>
            </a:r>
            <a:r>
              <a:rPr lang="en" sz="1100" b="1">
                <a:solidFill>
                  <a:schemeClr val="dk1"/>
                </a:solidFill>
              </a:rPr>
              <a:t>y gives a lower cost (better result)</a:t>
            </a:r>
            <a:r>
              <a:rPr lang="en" sz="1100">
                <a:solidFill>
                  <a:schemeClr val="dk1"/>
                </a:solidFill>
              </a:rPr>
              <a:t> than </a:t>
            </a:r>
            <a:r>
              <a:rPr lang="en" sz="1100" b="1">
                <a:solidFill>
                  <a:schemeClr val="dk1"/>
                </a:solidFill>
              </a:rPr>
              <a:t>x</a:t>
            </a:r>
            <a:r>
              <a:rPr lang="en" sz="1100">
                <a:solidFill>
                  <a:schemeClr val="dk1"/>
                </a:solidFill>
              </a:rPr>
              <a:t>, then replace </a:t>
            </a:r>
            <a:r>
              <a:rPr lang="en" sz="1100" b="1">
                <a:solidFill>
                  <a:schemeClr val="dk1"/>
                </a:solidFill>
              </a:rPr>
              <a:t>x with y</a:t>
            </a:r>
            <a:r>
              <a:rPr lang="en" sz="1100">
                <a:solidFill>
                  <a:schemeClr val="dk1"/>
                </a:solidFill>
              </a:rPr>
              <a:t>.</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a:solidFill>
                  <a:schemeClr val="dk1"/>
                </a:solidFill>
              </a:rPr>
              <a:t>If </a:t>
            </a:r>
            <a:r>
              <a:rPr lang="en" sz="1100" b="1">
                <a:solidFill>
                  <a:schemeClr val="dk1"/>
                </a:solidFill>
              </a:rPr>
              <a:t>y is worse</a:t>
            </a:r>
            <a:r>
              <a:rPr lang="en" sz="1100">
                <a:solidFill>
                  <a:schemeClr val="dk1"/>
                </a:solidFill>
              </a:rPr>
              <a:t>, keep </a:t>
            </a:r>
            <a:r>
              <a:rPr lang="en" sz="1100" b="1">
                <a:solidFill>
                  <a:schemeClr val="dk1"/>
                </a:solidFill>
              </a:rPr>
              <a:t>x</a:t>
            </a:r>
            <a:r>
              <a:rPr lang="en" sz="1100">
                <a:solidFill>
                  <a:schemeClr val="dk1"/>
                </a:solidFill>
              </a:rPr>
              <a:t>.</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sz="1100">
                <a:solidFill>
                  <a:schemeClr val="dk1"/>
                </a:solidFill>
              </a:rPr>
              <a:t>Repeat this process many times until:</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a:solidFill>
                  <a:schemeClr val="dk1"/>
                </a:solidFill>
              </a:rPr>
              <a:t>a fixed number of iterations is reached, or</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a:solidFill>
                  <a:schemeClr val="dk1"/>
                </a:solidFill>
              </a:rPr>
              <a:t>a good result is found.</a:t>
            </a:r>
            <a:br>
              <a:rPr lang="en" sz="1100">
                <a:solidFill>
                  <a:schemeClr val="dk1"/>
                </a:solidFill>
              </a:rPr>
            </a:br>
            <a:endParaRPr sz="1500">
              <a:solidFill>
                <a:schemeClr val="dk1"/>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d0286cfc55_0_101"/>
          <p:cNvSpPr txBox="1"/>
          <p:nvPr/>
        </p:nvSpPr>
        <p:spPr>
          <a:xfrm>
            <a:off x="0" y="0"/>
            <a:ext cx="9144000" cy="4806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 sz="1700" b="1">
                <a:solidFill>
                  <a:schemeClr val="dk1"/>
                </a:solidFill>
              </a:rPr>
              <a:t>Simple Real-Life Example</a:t>
            </a:r>
            <a:endParaRPr sz="1700" b="1">
              <a:solidFill>
                <a:schemeClr val="dk1"/>
              </a:solidFill>
            </a:endParaRPr>
          </a:p>
          <a:p>
            <a:pPr marL="0" lvl="0" indent="0" algn="l" rtl="0">
              <a:lnSpc>
                <a:spcPct val="115000"/>
              </a:lnSpc>
              <a:spcBef>
                <a:spcPts val="1200"/>
              </a:spcBef>
              <a:spcAft>
                <a:spcPts val="0"/>
              </a:spcAft>
              <a:buNone/>
            </a:pPr>
            <a:r>
              <a:rPr lang="en" sz="1100">
                <a:solidFill>
                  <a:schemeClr val="dk1"/>
                </a:solidFill>
              </a:rPr>
              <a:t>Imagine you are </a:t>
            </a:r>
            <a:r>
              <a:rPr lang="en" sz="1100" b="1">
                <a:solidFill>
                  <a:schemeClr val="dk1"/>
                </a:solidFill>
              </a:rPr>
              <a:t>trying to make the best coffee</a:t>
            </a:r>
            <a:r>
              <a:rPr lang="en" sz="1100">
                <a:solidFill>
                  <a:schemeClr val="dk1"/>
                </a:solidFill>
              </a:rPr>
              <a:t>.</a:t>
            </a:r>
            <a:endParaRPr sz="1100">
              <a:solidFill>
                <a:schemeClr val="dk1"/>
              </a:solidFill>
            </a:endParaRPr>
          </a:p>
          <a:p>
            <a:pPr marL="0" lvl="0" indent="0" algn="l" rtl="0">
              <a:lnSpc>
                <a:spcPct val="115000"/>
              </a:lnSpc>
              <a:spcBef>
                <a:spcPts val="1200"/>
              </a:spcBef>
              <a:spcAft>
                <a:spcPts val="0"/>
              </a:spcAft>
              <a:buNone/>
            </a:pPr>
            <a:r>
              <a:rPr lang="en" sz="1100">
                <a:solidFill>
                  <a:schemeClr val="dk1"/>
                </a:solidFill>
              </a:rPr>
              <a:t>You change three things:</a:t>
            </a:r>
            <a:endParaRPr sz="110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a:solidFill>
                  <a:schemeClr val="dk1"/>
                </a:solidFill>
              </a:rPr>
              <a:t>coffee powder amount</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milk amount</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sugar amount</a:t>
            </a:r>
            <a:endParaRPr sz="1100">
              <a:solidFill>
                <a:schemeClr val="dk1"/>
              </a:solidFill>
            </a:endParaRPr>
          </a:p>
          <a:p>
            <a:pPr marL="0" lvl="0" indent="0" algn="l" rtl="0">
              <a:lnSpc>
                <a:spcPct val="115000"/>
              </a:lnSpc>
              <a:spcBef>
                <a:spcPts val="1200"/>
              </a:spcBef>
              <a:spcAft>
                <a:spcPts val="0"/>
              </a:spcAft>
              <a:buNone/>
            </a:pPr>
            <a:r>
              <a:rPr lang="en" sz="1100">
                <a:solidFill>
                  <a:schemeClr val="dk1"/>
                </a:solidFill>
              </a:rPr>
              <a:t>Instead of trying </a:t>
            </a:r>
            <a:r>
              <a:rPr lang="en" sz="1100" b="1">
                <a:solidFill>
                  <a:schemeClr val="dk1"/>
                </a:solidFill>
              </a:rPr>
              <a:t>every possible combination</a:t>
            </a:r>
            <a:r>
              <a:rPr lang="en" sz="1100">
                <a:solidFill>
                  <a:schemeClr val="dk1"/>
                </a:solidFill>
              </a:rPr>
              <a:t>, you randomly try different combinations like:</a:t>
            </a:r>
            <a:endParaRPr sz="110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a:solidFill>
                  <a:schemeClr val="dk1"/>
                </a:solidFill>
              </a:rPr>
              <a:t>Try 1: more sugar, less milk</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Try 2: less sugar, more coffee</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Try 3: medium sugar, medium milk</a:t>
            </a:r>
            <a:endParaRPr sz="1100">
              <a:solidFill>
                <a:schemeClr val="dk1"/>
              </a:solidFill>
            </a:endParaRPr>
          </a:p>
          <a:p>
            <a:pPr marL="0" lvl="0" indent="0" algn="l" rtl="0">
              <a:lnSpc>
                <a:spcPct val="115000"/>
              </a:lnSpc>
              <a:spcBef>
                <a:spcPts val="1200"/>
              </a:spcBef>
              <a:spcAft>
                <a:spcPts val="0"/>
              </a:spcAft>
              <a:buNone/>
            </a:pPr>
            <a:r>
              <a:rPr lang="en" sz="1100">
                <a:solidFill>
                  <a:schemeClr val="dk1"/>
                </a:solidFill>
              </a:rPr>
              <a:t>Then you </a:t>
            </a:r>
            <a:r>
              <a:rPr lang="en" sz="1100" b="1">
                <a:solidFill>
                  <a:schemeClr val="dk1"/>
                </a:solidFill>
              </a:rPr>
              <a:t>taste each one and keep the best recipe</a:t>
            </a:r>
            <a:r>
              <a:rPr lang="en" sz="1100">
                <a:solidFill>
                  <a:schemeClr val="dk1"/>
                </a:solidFill>
              </a:rPr>
              <a:t>.</a:t>
            </a:r>
            <a:endParaRPr sz="1100">
              <a:solidFill>
                <a:schemeClr val="dk1"/>
              </a:solidFill>
            </a:endParaRPr>
          </a:p>
          <a:p>
            <a:pPr marL="0" lvl="0" indent="0" algn="l" rtl="0">
              <a:lnSpc>
                <a:spcPct val="115000"/>
              </a:lnSpc>
              <a:spcBef>
                <a:spcPts val="1200"/>
              </a:spcBef>
              <a:spcAft>
                <a:spcPts val="0"/>
              </a:spcAft>
              <a:buNone/>
            </a:pPr>
            <a:r>
              <a:rPr lang="en" sz="1100">
                <a:solidFill>
                  <a:schemeClr val="dk1"/>
                </a:solidFill>
              </a:rPr>
              <a:t>This is exactly how </a:t>
            </a:r>
            <a:r>
              <a:rPr lang="en" sz="1100" b="1">
                <a:solidFill>
                  <a:schemeClr val="dk1"/>
                </a:solidFill>
              </a:rPr>
              <a:t>Random Search finds the best model parameters</a:t>
            </a:r>
            <a:r>
              <a:rPr lang="en" sz="1100">
                <a:solidFill>
                  <a:schemeClr val="dk1"/>
                </a:solidFill>
              </a:rPr>
              <a:t>.</a:t>
            </a:r>
            <a:endParaRPr sz="1700" b="1">
              <a:solidFill>
                <a:schemeClr val="dk1"/>
              </a:solidFill>
            </a:endParaRPr>
          </a:p>
          <a:p>
            <a:pPr marL="0" lvl="0" indent="0" algn="l" rtl="0">
              <a:lnSpc>
                <a:spcPct val="115000"/>
              </a:lnSpc>
              <a:spcBef>
                <a:spcPts val="1200"/>
              </a:spcBef>
              <a:spcAft>
                <a:spcPts val="1200"/>
              </a:spcAft>
              <a:buNone/>
            </a:pPr>
            <a:r>
              <a:rPr lang="en" sz="1100" b="1">
                <a:solidFill>
                  <a:schemeClr val="dk1"/>
                </a:solidFill>
              </a:rPr>
              <a:t>Random Search randomly tries different hyperparameter combinations and keeps the one that gives the best model performance.</a:t>
            </a:r>
            <a:endParaRPr sz="1100" b="1">
              <a:solidFill>
                <a:schemeClr val="dk1"/>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2"/>
          <p:cNvSpPr txBox="1"/>
          <p:nvPr/>
        </p:nvSpPr>
        <p:spPr>
          <a:xfrm>
            <a:off x="0" y="995129"/>
            <a:ext cx="9144000" cy="2817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700" b="1">
                <a:solidFill>
                  <a:schemeClr val="dk1"/>
                </a:solidFill>
              </a:rPr>
              <a:t>            </a:t>
            </a:r>
            <a:r>
              <a:rPr lang="en" sz="2200" b="1">
                <a:solidFill>
                  <a:schemeClr val="dk1"/>
                </a:solidFill>
              </a:rPr>
              <a:t>        Advantages of Random Search Over Grid Search</a:t>
            </a:r>
            <a:endParaRPr sz="2200" b="1">
              <a:solidFill>
                <a:schemeClr val="dk1"/>
              </a:solidFill>
            </a:endParaRPr>
          </a:p>
          <a:p>
            <a:pPr marL="457200" lvl="0" indent="-323850" algn="l" rtl="0">
              <a:lnSpc>
                <a:spcPct val="115000"/>
              </a:lnSpc>
              <a:spcBef>
                <a:spcPts val="1200"/>
              </a:spcBef>
              <a:spcAft>
                <a:spcPts val="0"/>
              </a:spcAft>
              <a:buClr>
                <a:schemeClr val="dk1"/>
              </a:buClr>
              <a:buSzPts val="1500"/>
              <a:buChar char="●"/>
            </a:pPr>
            <a:r>
              <a:rPr lang="en" sz="1500">
                <a:solidFill>
                  <a:schemeClr val="dk1"/>
                </a:solidFill>
              </a:rPr>
              <a:t>Random search gives better results than grid search when the number of hyperparameters and dimensions is high.</a:t>
            </a:r>
            <a:br>
              <a:rPr lang="en" sz="1500">
                <a:solidFill>
                  <a:schemeClr val="dk1"/>
                </a:solidFill>
              </a:rPr>
            </a:b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a:solidFill>
                  <a:schemeClr val="dk1"/>
                </a:solidFill>
              </a:rPr>
              <a:t>Random search allows us to limit the number of hyperparameter combinations to test, while grid search checks all possible combinations.</a:t>
            </a:r>
            <a:br>
              <a:rPr lang="en" sz="1500">
                <a:solidFill>
                  <a:schemeClr val="dk1"/>
                </a:solidFill>
              </a:rPr>
            </a:b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a:solidFill>
                  <a:schemeClr val="dk1"/>
                </a:solidFill>
              </a:rPr>
              <a:t>Random search often provides better results than grid search in fewer iterations.</a:t>
            </a:r>
            <a:br>
              <a:rPr lang="en" sz="1500">
                <a:solidFill>
                  <a:schemeClr val="dk1"/>
                </a:solidFill>
              </a:rPr>
            </a:br>
            <a:endParaRPr sz="1500">
              <a:solidFill>
                <a:schemeClr val="dk1"/>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3"/>
          <p:cNvSpPr txBox="1"/>
          <p:nvPr/>
        </p:nvSpPr>
        <p:spPr>
          <a:xfrm>
            <a:off x="0" y="0"/>
            <a:ext cx="9144000" cy="177353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b="1" dirty="0">
                <a:solidFill>
                  <a:schemeClr val="dk1"/>
                </a:solidFill>
              </a:rPr>
              <a:t>Code Example</a:t>
            </a:r>
            <a:endParaRPr sz="1100" b="1" dirty="0">
              <a:solidFill>
                <a:schemeClr val="dk1"/>
              </a:solidFill>
            </a:endParaRPr>
          </a:p>
          <a:p>
            <a:pPr marL="0" lvl="0" indent="0" algn="l" rtl="0">
              <a:lnSpc>
                <a:spcPct val="115000"/>
              </a:lnSpc>
              <a:spcBef>
                <a:spcPts val="1200"/>
              </a:spcBef>
              <a:spcAft>
                <a:spcPts val="0"/>
              </a:spcAft>
              <a:buNone/>
            </a:pPr>
            <a:r>
              <a:rPr lang="en" sz="1050" dirty="0">
                <a:solidFill>
                  <a:schemeClr val="dk1"/>
                </a:solidFill>
              </a:rPr>
              <a:t>For this code demonstration, we will use the </a:t>
            </a:r>
            <a:r>
              <a:rPr lang="en" sz="1050" b="1" dirty="0">
                <a:solidFill>
                  <a:schemeClr val="dk1"/>
                </a:solidFill>
              </a:rPr>
              <a:t>Heart Disease dataset</a:t>
            </a:r>
            <a:r>
              <a:rPr lang="en" sz="1050" dirty="0">
                <a:solidFill>
                  <a:schemeClr val="dk1"/>
                </a:solidFill>
              </a:rPr>
              <a:t>.</a:t>
            </a:r>
            <a:endParaRPr sz="1050" dirty="0">
              <a:solidFill>
                <a:schemeClr val="dk1"/>
              </a:solidFill>
            </a:endParaRPr>
          </a:p>
          <a:p>
            <a:pPr marL="0" lvl="0" indent="0" algn="l" rtl="0">
              <a:lnSpc>
                <a:spcPct val="115000"/>
              </a:lnSpc>
              <a:spcBef>
                <a:spcPts val="1200"/>
              </a:spcBef>
              <a:spcAft>
                <a:spcPts val="1200"/>
              </a:spcAft>
              <a:buNone/>
            </a:pPr>
            <a:r>
              <a:rPr lang="en" sz="1050" b="1" dirty="0">
                <a:solidFill>
                  <a:schemeClr val="dk1"/>
                </a:solidFill>
              </a:rPr>
              <a:t>1.Building a Base Model</a:t>
            </a:r>
            <a:br>
              <a:rPr lang="en" sz="1050" b="1" dirty="0">
                <a:solidFill>
                  <a:schemeClr val="dk1"/>
                </a:solidFill>
              </a:rPr>
            </a:br>
            <a:r>
              <a:rPr lang="en" sz="1050" dirty="0">
                <a:solidFill>
                  <a:schemeClr val="dk1"/>
                </a:solidFill>
              </a:rPr>
              <a:t> First, we will build a default </a:t>
            </a:r>
            <a:r>
              <a:rPr lang="en" sz="1050" b="1" dirty="0">
                <a:solidFill>
                  <a:schemeClr val="dk1"/>
                </a:solidFill>
              </a:rPr>
              <a:t>Decision Tree Classifier</a:t>
            </a:r>
            <a:r>
              <a:rPr lang="en" sz="1050" dirty="0">
                <a:solidFill>
                  <a:schemeClr val="dk1"/>
                </a:solidFill>
              </a:rPr>
              <a:t> and use it as our base model. Then, we will compare its results with the results obtained after performing </a:t>
            </a:r>
            <a:r>
              <a:rPr lang="en" sz="1050" b="1" dirty="0">
                <a:solidFill>
                  <a:schemeClr val="dk1"/>
                </a:solidFill>
              </a:rPr>
              <a:t>hyperparameter tuning</a:t>
            </a:r>
            <a:r>
              <a:rPr lang="en" sz="1050" dirty="0">
                <a:solidFill>
                  <a:schemeClr val="dk1"/>
                </a:solidFill>
              </a:rPr>
              <a:t>.</a:t>
            </a:r>
            <a:endParaRPr sz="1050" dirty="0">
              <a:solidFill>
                <a:schemeClr val="dk1"/>
              </a:solidFill>
            </a:endParaRPr>
          </a:p>
        </p:txBody>
      </p:sp>
      <p:sp>
        <p:nvSpPr>
          <p:cNvPr id="247" name="Google Shape;247;p33"/>
          <p:cNvSpPr txBox="1"/>
          <p:nvPr/>
        </p:nvSpPr>
        <p:spPr>
          <a:xfrm>
            <a:off x="47950" y="1394768"/>
            <a:ext cx="8124900" cy="3909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solidFill>
                  <a:srgbClr val="0000FF"/>
                </a:solidFill>
              </a:rPr>
              <a:t>import numpy as np</a:t>
            </a:r>
            <a:endParaRPr sz="1100" dirty="0">
              <a:solidFill>
                <a:srgbClr val="0000FF"/>
              </a:solidFill>
            </a:endParaRPr>
          </a:p>
          <a:p>
            <a:pPr marL="0" lvl="0" indent="0" algn="l" rtl="0">
              <a:spcBef>
                <a:spcPts val="0"/>
              </a:spcBef>
              <a:spcAft>
                <a:spcPts val="0"/>
              </a:spcAft>
              <a:buNone/>
            </a:pPr>
            <a:r>
              <a:rPr lang="en" sz="1100" dirty="0">
                <a:solidFill>
                  <a:srgbClr val="0000FF"/>
                </a:solidFill>
              </a:rPr>
              <a:t>import pandas as pd</a:t>
            </a:r>
            <a:endParaRPr sz="1100" dirty="0">
              <a:solidFill>
                <a:srgbClr val="0000FF"/>
              </a:solidFill>
            </a:endParaRPr>
          </a:p>
          <a:p>
            <a:pPr marL="0" lvl="0" indent="0" algn="l" rtl="0">
              <a:spcBef>
                <a:spcPts val="0"/>
              </a:spcBef>
              <a:spcAft>
                <a:spcPts val="0"/>
              </a:spcAft>
              <a:buNone/>
            </a:pPr>
            <a:r>
              <a:rPr lang="en" sz="1100" dirty="0">
                <a:solidFill>
                  <a:srgbClr val="0000FF"/>
                </a:solidFill>
              </a:rPr>
              <a:t>import seaborn as sns</a:t>
            </a:r>
            <a:endParaRPr sz="1100" dirty="0">
              <a:solidFill>
                <a:srgbClr val="0000FF"/>
              </a:solidFill>
            </a:endParaRPr>
          </a:p>
          <a:p>
            <a:pPr marL="0" lvl="0" indent="0" algn="l" rtl="0">
              <a:spcBef>
                <a:spcPts val="0"/>
              </a:spcBef>
              <a:spcAft>
                <a:spcPts val="0"/>
              </a:spcAft>
              <a:buNone/>
            </a:pPr>
            <a:r>
              <a:rPr lang="en" sz="1100" dirty="0">
                <a:solidFill>
                  <a:srgbClr val="0000FF"/>
                </a:solidFill>
              </a:rPr>
              <a:t>import matplotlib.pyplot as plt</a:t>
            </a:r>
            <a:endParaRPr sz="1100" dirty="0">
              <a:solidFill>
                <a:srgbClr val="0000FF"/>
              </a:solidFill>
            </a:endParaRPr>
          </a:p>
          <a:p>
            <a:pPr marL="0" lvl="0" indent="0" algn="l" rtl="0">
              <a:spcBef>
                <a:spcPts val="0"/>
              </a:spcBef>
              <a:spcAft>
                <a:spcPts val="0"/>
              </a:spcAft>
              <a:buNone/>
            </a:pPr>
            <a:endParaRPr sz="1100" dirty="0">
              <a:solidFill>
                <a:srgbClr val="0000FF"/>
              </a:solidFill>
            </a:endParaRPr>
          </a:p>
          <a:p>
            <a:pPr marL="0" lvl="0" indent="0" algn="l" rtl="0">
              <a:spcBef>
                <a:spcPts val="0"/>
              </a:spcBef>
              <a:spcAft>
                <a:spcPts val="0"/>
              </a:spcAft>
              <a:buNone/>
            </a:pPr>
            <a:r>
              <a:rPr lang="en" sz="1100" dirty="0">
                <a:solidFill>
                  <a:srgbClr val="0000FF"/>
                </a:solidFill>
              </a:rPr>
              <a:t>df = pd.read_csv("heart_disease.csv")</a:t>
            </a:r>
            <a:endParaRPr sz="1100" dirty="0">
              <a:solidFill>
                <a:srgbClr val="0000FF"/>
              </a:solidFill>
            </a:endParaRPr>
          </a:p>
          <a:p>
            <a:pPr marL="0" lvl="0" indent="0" algn="l" rtl="0">
              <a:spcBef>
                <a:spcPts val="0"/>
              </a:spcBef>
              <a:spcAft>
                <a:spcPts val="0"/>
              </a:spcAft>
              <a:buNone/>
            </a:pPr>
            <a:r>
              <a:rPr lang="en" sz="1100" dirty="0">
                <a:solidFill>
                  <a:srgbClr val="0000FF"/>
                </a:solidFill>
              </a:rPr>
              <a:t>X = df.drop(columns="target")</a:t>
            </a:r>
            <a:endParaRPr sz="1100" dirty="0">
              <a:solidFill>
                <a:srgbClr val="0000FF"/>
              </a:solidFill>
            </a:endParaRPr>
          </a:p>
          <a:p>
            <a:pPr marL="0" lvl="0" indent="0" algn="l" rtl="0">
              <a:spcBef>
                <a:spcPts val="0"/>
              </a:spcBef>
              <a:spcAft>
                <a:spcPts val="0"/>
              </a:spcAft>
              <a:buNone/>
            </a:pPr>
            <a:r>
              <a:rPr lang="en" sz="1100" dirty="0">
                <a:solidFill>
                  <a:srgbClr val="0000FF"/>
                </a:solidFill>
              </a:rPr>
              <a:t>y = df["target"]</a:t>
            </a:r>
            <a:endParaRPr sz="1100" dirty="0">
              <a:solidFill>
                <a:srgbClr val="0000FF"/>
              </a:solidFill>
            </a:endParaRPr>
          </a:p>
          <a:p>
            <a:pPr marL="0" lvl="0" indent="0" algn="l" rtl="0">
              <a:spcBef>
                <a:spcPts val="0"/>
              </a:spcBef>
              <a:spcAft>
                <a:spcPts val="0"/>
              </a:spcAft>
              <a:buNone/>
            </a:pPr>
            <a:endParaRPr sz="1100" dirty="0">
              <a:solidFill>
                <a:srgbClr val="0000FF"/>
              </a:solidFill>
            </a:endParaRPr>
          </a:p>
          <a:p>
            <a:pPr marL="0" lvl="0" indent="0" algn="l" rtl="0">
              <a:spcBef>
                <a:spcPts val="0"/>
              </a:spcBef>
              <a:spcAft>
                <a:spcPts val="0"/>
              </a:spcAft>
              <a:buNone/>
            </a:pPr>
            <a:r>
              <a:rPr lang="en" sz="1100" dirty="0">
                <a:solidFill>
                  <a:srgbClr val="0000FF"/>
                </a:solidFill>
              </a:rPr>
              <a:t>from sklearn.model_selection import train_test_split</a:t>
            </a:r>
            <a:endParaRPr sz="1100" dirty="0">
              <a:solidFill>
                <a:srgbClr val="0000FF"/>
              </a:solidFill>
            </a:endParaRPr>
          </a:p>
          <a:p>
            <a:pPr marL="0" lvl="0" indent="0" algn="l" rtl="0">
              <a:spcBef>
                <a:spcPts val="0"/>
              </a:spcBef>
              <a:spcAft>
                <a:spcPts val="0"/>
              </a:spcAft>
              <a:buNone/>
            </a:pPr>
            <a:r>
              <a:rPr lang="en" sz="1100" dirty="0">
                <a:solidFill>
                  <a:srgbClr val="0000FF"/>
                </a:solidFill>
              </a:rPr>
              <a:t>X_train, X_test, y_train, y_test = train_test_split(X, y, test_size=0.10, shuffle=True, random_state=0)</a:t>
            </a:r>
            <a:endParaRPr sz="1100" dirty="0">
              <a:solidFill>
                <a:srgbClr val="0000FF"/>
              </a:solidFill>
            </a:endParaRPr>
          </a:p>
          <a:p>
            <a:pPr marL="0" lvl="0" indent="0" algn="l" rtl="0">
              <a:spcBef>
                <a:spcPts val="0"/>
              </a:spcBef>
              <a:spcAft>
                <a:spcPts val="0"/>
              </a:spcAft>
              <a:buNone/>
            </a:pPr>
            <a:endParaRPr sz="1100" dirty="0">
              <a:solidFill>
                <a:srgbClr val="0000FF"/>
              </a:solidFill>
            </a:endParaRPr>
          </a:p>
          <a:p>
            <a:pPr marL="0" lvl="0" indent="0" algn="l" rtl="0">
              <a:spcBef>
                <a:spcPts val="0"/>
              </a:spcBef>
              <a:spcAft>
                <a:spcPts val="0"/>
              </a:spcAft>
              <a:buNone/>
            </a:pPr>
            <a:r>
              <a:rPr lang="en" sz="1100" dirty="0">
                <a:solidFill>
                  <a:srgbClr val="0000FF"/>
                </a:solidFill>
              </a:rPr>
              <a:t>from sklearn.tree import DecisionTreeClassifier</a:t>
            </a:r>
            <a:endParaRPr sz="1100" dirty="0">
              <a:solidFill>
                <a:srgbClr val="0000FF"/>
              </a:solidFill>
            </a:endParaRPr>
          </a:p>
          <a:p>
            <a:pPr marL="0" lvl="0" indent="0" algn="l" rtl="0">
              <a:spcBef>
                <a:spcPts val="0"/>
              </a:spcBef>
              <a:spcAft>
                <a:spcPts val="0"/>
              </a:spcAft>
              <a:buNone/>
            </a:pPr>
            <a:r>
              <a:rPr lang="en" sz="1100" dirty="0">
                <a:solidFill>
                  <a:srgbClr val="0000FF"/>
                </a:solidFill>
              </a:rPr>
              <a:t>dtclf = DecisionTreeClassifier(random_state=42)</a:t>
            </a:r>
            <a:endParaRPr sz="1100" dirty="0">
              <a:solidFill>
                <a:srgbClr val="0000FF"/>
              </a:solidFill>
            </a:endParaRPr>
          </a:p>
          <a:p>
            <a:pPr marL="0" lvl="0" indent="0" algn="l" rtl="0">
              <a:spcBef>
                <a:spcPts val="0"/>
              </a:spcBef>
              <a:spcAft>
                <a:spcPts val="0"/>
              </a:spcAft>
              <a:buNone/>
            </a:pPr>
            <a:r>
              <a:rPr lang="en" sz="1100" dirty="0">
                <a:solidFill>
                  <a:srgbClr val="0000FF"/>
                </a:solidFill>
              </a:rPr>
              <a:t>dtclf.fit(X_train, y_train)</a:t>
            </a:r>
            <a:endParaRPr sz="1100" dirty="0">
              <a:solidFill>
                <a:srgbClr val="0000FF"/>
              </a:solidFill>
            </a:endParaRPr>
          </a:p>
          <a:p>
            <a:pPr marL="0" lvl="0" indent="0" algn="l" rtl="0">
              <a:spcBef>
                <a:spcPts val="0"/>
              </a:spcBef>
              <a:spcAft>
                <a:spcPts val="0"/>
              </a:spcAft>
              <a:buNone/>
            </a:pPr>
            <a:r>
              <a:rPr lang="en" sz="1100" dirty="0">
                <a:solidFill>
                  <a:srgbClr val="0000FF"/>
                </a:solidFill>
              </a:rPr>
              <a:t>y_pred = dtclf.predict(X_test) # Predictions</a:t>
            </a:r>
            <a:endParaRPr sz="1100" dirty="0">
              <a:solidFill>
                <a:srgbClr val="0000FF"/>
              </a:solidFill>
            </a:endParaRPr>
          </a:p>
          <a:p>
            <a:pPr marL="0" lvl="0" indent="0" algn="l" rtl="0">
              <a:spcBef>
                <a:spcPts val="0"/>
              </a:spcBef>
              <a:spcAft>
                <a:spcPts val="0"/>
              </a:spcAft>
              <a:buNone/>
            </a:pPr>
            <a:r>
              <a:rPr lang="en" sz="1100" dirty="0">
                <a:solidFill>
                  <a:srgbClr val="0000FF"/>
                </a:solidFill>
              </a:rPr>
              <a:t>y_true = y_test # True values</a:t>
            </a:r>
            <a:endParaRPr sz="1100" dirty="0">
              <a:solidFill>
                <a:srgbClr val="0000FF"/>
              </a:solidFill>
            </a:endParaRPr>
          </a:p>
          <a:p>
            <a:pPr marL="0" lvl="0" indent="0" algn="l" rtl="0">
              <a:spcBef>
                <a:spcPts val="0"/>
              </a:spcBef>
              <a:spcAft>
                <a:spcPts val="0"/>
              </a:spcAft>
              <a:buNone/>
            </a:pPr>
            <a:endParaRPr sz="1100" dirty="0">
              <a:solidFill>
                <a:srgbClr val="0000FF"/>
              </a:solidFill>
            </a:endParaRPr>
          </a:p>
          <a:p>
            <a:pPr marL="0" lvl="0" indent="0" algn="l" rtl="0">
              <a:spcBef>
                <a:spcPts val="0"/>
              </a:spcBef>
              <a:spcAft>
                <a:spcPts val="0"/>
              </a:spcAft>
              <a:buNone/>
            </a:pPr>
            <a:r>
              <a:rPr lang="en" sz="1100" dirty="0">
                <a:solidFill>
                  <a:srgbClr val="0000FF"/>
                </a:solidFill>
              </a:rPr>
              <a:t>from sklearn.metrics import accuracy_score</a:t>
            </a:r>
            <a:endParaRPr sz="1100" dirty="0">
              <a:solidFill>
                <a:srgbClr val="0000FF"/>
              </a:solidFill>
            </a:endParaRPr>
          </a:p>
          <a:p>
            <a:pPr marL="0" lvl="0" indent="0" algn="l" rtl="0">
              <a:spcBef>
                <a:spcPts val="0"/>
              </a:spcBef>
              <a:spcAft>
                <a:spcPts val="0"/>
              </a:spcAft>
              <a:buNone/>
            </a:pPr>
            <a:r>
              <a:rPr lang="en" sz="1100" dirty="0">
                <a:solidFill>
                  <a:srgbClr val="0000FF"/>
                </a:solidFill>
              </a:rPr>
              <a:t>print("Train accuracy:", np.round(accuracy_score(y_train, dtclf.predict(X_train)), 2))</a:t>
            </a:r>
            <a:endParaRPr sz="1100" dirty="0">
              <a:solidFill>
                <a:srgbClr val="0000FF"/>
              </a:solidFill>
            </a:endParaRPr>
          </a:p>
          <a:p>
            <a:pPr marL="0" lvl="0" indent="0" algn="l" rtl="0">
              <a:spcBef>
                <a:spcPts val="0"/>
              </a:spcBef>
              <a:spcAft>
                <a:spcPts val="0"/>
              </a:spcAft>
              <a:buNone/>
            </a:pPr>
            <a:r>
              <a:rPr lang="en" sz="1100" dirty="0">
                <a:solidFill>
                  <a:srgbClr val="0000FF"/>
                </a:solidFill>
              </a:rPr>
              <a:t>print("Test accuracy:", np.round(accuracy_score(y_true, y_pred), 2))</a:t>
            </a:r>
            <a:endParaRPr sz="1100" dirty="0">
              <a:solidFill>
                <a:srgbClr val="0000FF"/>
              </a:solidFill>
            </a:endParaRPr>
          </a:p>
          <a:p>
            <a:pPr marL="0" lvl="0" indent="0" algn="l" rtl="0">
              <a:spcBef>
                <a:spcPts val="0"/>
              </a:spcBef>
              <a:spcAft>
                <a:spcPts val="0"/>
              </a:spcAft>
              <a:buNone/>
            </a:pPr>
            <a:endParaRPr sz="1100" dirty="0">
              <a:solidFill>
                <a:srgbClr val="0000FF"/>
              </a:solidFill>
            </a:endParaRPr>
          </a:p>
        </p:txBody>
      </p:sp>
      <p:sp>
        <p:nvSpPr>
          <p:cNvPr id="248" name="Google Shape;248;p33"/>
          <p:cNvSpPr txBox="1"/>
          <p:nvPr/>
        </p:nvSpPr>
        <p:spPr>
          <a:xfrm>
            <a:off x="5443252" y="1750475"/>
            <a:ext cx="2361900" cy="1064235"/>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350" dirty="0">
                <a:solidFill>
                  <a:srgbClr val="61738E"/>
                </a:solidFill>
                <a:highlight>
                  <a:srgbClr val="FAFBFC"/>
                </a:highlight>
              </a:rPr>
              <a:t>Output:</a:t>
            </a:r>
            <a:endParaRPr sz="1350" dirty="0">
              <a:solidFill>
                <a:srgbClr val="61738E"/>
              </a:solidFill>
              <a:highlight>
                <a:srgbClr val="FAFBFC"/>
              </a:highlight>
            </a:endParaRPr>
          </a:p>
          <a:p>
            <a:pPr marL="0" lvl="0" indent="0" algn="l" rtl="0">
              <a:spcBef>
                <a:spcPts val="1900"/>
              </a:spcBef>
              <a:spcAft>
                <a:spcPts val="0"/>
              </a:spcAft>
              <a:buNone/>
            </a:pPr>
            <a:r>
              <a:rPr lang="en" sz="1200" dirty="0">
                <a:solidFill>
                  <a:schemeClr val="dk1"/>
                </a:solidFill>
                <a:highlight>
                  <a:schemeClr val="lt1"/>
                </a:highlight>
              </a:rPr>
              <a:t>Train accuracy: 1.0</a:t>
            </a:r>
            <a:endParaRPr sz="1200" dirty="0">
              <a:solidFill>
                <a:schemeClr val="dk1"/>
              </a:solidFill>
              <a:highlight>
                <a:schemeClr val="lt1"/>
              </a:highlight>
            </a:endParaRPr>
          </a:p>
          <a:p>
            <a:pPr marL="0" marR="76200" lvl="0" indent="0" algn="l" rtl="0">
              <a:lnSpc>
                <a:spcPct val="115000"/>
              </a:lnSpc>
              <a:spcBef>
                <a:spcPts val="0"/>
              </a:spcBef>
              <a:spcAft>
                <a:spcPts val="0"/>
              </a:spcAft>
              <a:buNone/>
            </a:pPr>
            <a:r>
              <a:rPr lang="en" sz="1200" dirty="0">
                <a:solidFill>
                  <a:schemeClr val="dk1"/>
                </a:solidFill>
                <a:highlight>
                  <a:schemeClr val="lt1"/>
                </a:highlight>
              </a:rPr>
              <a:t>Test accuracy: </a:t>
            </a:r>
            <a:r>
              <a:rPr lang="en" sz="1200" dirty="0" smtClean="0">
                <a:solidFill>
                  <a:schemeClr val="dk1"/>
                </a:solidFill>
                <a:highlight>
                  <a:schemeClr val="lt1"/>
                </a:highlight>
              </a:rPr>
              <a:t>1.0</a:t>
            </a:r>
            <a:endParaRPr sz="1200" dirty="0">
              <a:solidFill>
                <a:schemeClr val="dk1"/>
              </a:solidFill>
              <a:highlight>
                <a:schemeClr val="lt1"/>
              </a:highlight>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4"/>
          <p:cNvSpPr txBox="1"/>
          <p:nvPr/>
        </p:nvSpPr>
        <p:spPr>
          <a:xfrm>
            <a:off x="0" y="0"/>
            <a:ext cx="57429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t>2. Python Implementation of Random Search</a:t>
            </a:r>
            <a:endParaRPr sz="1500" b="1"/>
          </a:p>
        </p:txBody>
      </p:sp>
      <p:sp>
        <p:nvSpPr>
          <p:cNvPr id="255" name="Google Shape;255;p34"/>
          <p:cNvSpPr txBox="1"/>
          <p:nvPr/>
        </p:nvSpPr>
        <p:spPr>
          <a:xfrm>
            <a:off x="0" y="443612"/>
            <a:ext cx="9144000" cy="4528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a:solidFill>
                  <a:schemeClr val="dk1"/>
                </a:solidFill>
              </a:rPr>
              <a:t>In Python, Random Search can be implemented using the </a:t>
            </a:r>
            <a:r>
              <a:rPr lang="en" sz="1300" b="1">
                <a:solidFill>
                  <a:schemeClr val="dk1"/>
                </a:solidFill>
              </a:rPr>
              <a:t>RandomizedSearchCV</a:t>
            </a:r>
            <a:r>
              <a:rPr lang="en" sz="1300">
                <a:solidFill>
                  <a:schemeClr val="dk1"/>
                </a:solidFill>
              </a:rPr>
              <a:t> function from the </a:t>
            </a:r>
            <a:r>
              <a:rPr lang="en" sz="1300" b="1">
                <a:solidFill>
                  <a:schemeClr val="dk1"/>
                </a:solidFill>
              </a:rPr>
              <a:t>Scikit-learn</a:t>
            </a:r>
            <a:r>
              <a:rPr lang="en" sz="1300">
                <a:solidFill>
                  <a:schemeClr val="dk1"/>
                </a:solidFill>
              </a:rPr>
              <a:t> library.</a:t>
            </a:r>
            <a:endParaRPr sz="1300">
              <a:solidFill>
                <a:schemeClr val="dk1"/>
              </a:solidFill>
            </a:endParaRPr>
          </a:p>
          <a:p>
            <a:pPr marL="0" lvl="0" indent="0" algn="l" rtl="0">
              <a:lnSpc>
                <a:spcPct val="115000"/>
              </a:lnSpc>
              <a:spcBef>
                <a:spcPts val="1200"/>
              </a:spcBef>
              <a:spcAft>
                <a:spcPts val="0"/>
              </a:spcAft>
              <a:buNone/>
            </a:pPr>
            <a:r>
              <a:rPr lang="en" sz="1300" b="1">
                <a:solidFill>
                  <a:schemeClr val="dk1"/>
                </a:solidFill>
              </a:rPr>
              <a:t>Parameters used in Random Search:</a:t>
            </a:r>
            <a:endParaRPr sz="1300" b="1">
              <a:solidFill>
                <a:schemeClr val="dk1"/>
              </a:solidFill>
            </a:endParaRPr>
          </a:p>
          <a:p>
            <a:pPr marL="457200" lvl="0" indent="-311150" algn="l" rtl="0">
              <a:lnSpc>
                <a:spcPct val="115000"/>
              </a:lnSpc>
              <a:spcBef>
                <a:spcPts val="1200"/>
              </a:spcBef>
              <a:spcAft>
                <a:spcPts val="0"/>
              </a:spcAft>
              <a:buClr>
                <a:schemeClr val="dk1"/>
              </a:buClr>
              <a:buSzPts val="1300"/>
              <a:buChar char="●"/>
            </a:pPr>
            <a:r>
              <a:rPr lang="en" sz="1300" b="1">
                <a:solidFill>
                  <a:schemeClr val="dk1"/>
                </a:solidFill>
              </a:rPr>
              <a:t>param_distributions</a:t>
            </a:r>
            <a:r>
              <a:rPr lang="en" sz="1300">
                <a:solidFill>
                  <a:schemeClr val="dk1"/>
                </a:solidFill>
              </a:rPr>
              <a:t> – Defines the search space for hyperparameters.</a:t>
            </a:r>
            <a:br>
              <a:rPr lang="en" sz="1300">
                <a:solidFill>
                  <a:schemeClr val="dk1"/>
                </a:solidFill>
              </a:rPr>
            </a:br>
            <a:endParaRPr sz="1300">
              <a:solidFill>
                <a:schemeClr val="dk1"/>
              </a:solidFill>
            </a:endParaRPr>
          </a:p>
          <a:p>
            <a:pPr marL="457200" lvl="0" indent="-311150" algn="l" rtl="0">
              <a:lnSpc>
                <a:spcPct val="115000"/>
              </a:lnSpc>
              <a:spcBef>
                <a:spcPts val="0"/>
              </a:spcBef>
              <a:spcAft>
                <a:spcPts val="0"/>
              </a:spcAft>
              <a:buClr>
                <a:schemeClr val="dk1"/>
              </a:buClr>
              <a:buSzPts val="1300"/>
              <a:buChar char="●"/>
            </a:pPr>
            <a:r>
              <a:rPr lang="en" sz="1300" b="1">
                <a:solidFill>
                  <a:schemeClr val="dk1"/>
                </a:solidFill>
              </a:rPr>
              <a:t>n_iter</a:t>
            </a:r>
            <a:r>
              <a:rPr lang="en" sz="1300">
                <a:solidFill>
                  <a:schemeClr val="dk1"/>
                </a:solidFill>
              </a:rPr>
              <a:t> – Number of random hyperparameter combinations to be selected.</a:t>
            </a:r>
            <a:br>
              <a:rPr lang="en" sz="1300">
                <a:solidFill>
                  <a:schemeClr val="dk1"/>
                </a:solidFill>
              </a:rPr>
            </a:br>
            <a:endParaRPr sz="1300">
              <a:solidFill>
                <a:schemeClr val="dk1"/>
              </a:solidFill>
            </a:endParaRPr>
          </a:p>
          <a:p>
            <a:pPr marL="457200" lvl="0" indent="-311150" algn="l" rtl="0">
              <a:lnSpc>
                <a:spcPct val="115000"/>
              </a:lnSpc>
              <a:spcBef>
                <a:spcPts val="0"/>
              </a:spcBef>
              <a:spcAft>
                <a:spcPts val="0"/>
              </a:spcAft>
              <a:buClr>
                <a:schemeClr val="dk1"/>
              </a:buClr>
              <a:buSzPts val="1300"/>
              <a:buChar char="●"/>
            </a:pPr>
            <a:r>
              <a:rPr lang="en" sz="1300" b="1">
                <a:solidFill>
                  <a:schemeClr val="dk1"/>
                </a:solidFill>
              </a:rPr>
              <a:t>scoring</a:t>
            </a:r>
            <a:r>
              <a:rPr lang="en" sz="1300">
                <a:solidFill>
                  <a:schemeClr val="dk1"/>
                </a:solidFill>
              </a:rPr>
              <a:t> – The evaluation metric used to measure the model’s performance.</a:t>
            </a:r>
            <a:br>
              <a:rPr lang="en" sz="1300">
                <a:solidFill>
                  <a:schemeClr val="dk1"/>
                </a:solidFill>
              </a:rPr>
            </a:br>
            <a:endParaRPr sz="1300">
              <a:solidFill>
                <a:schemeClr val="dk1"/>
              </a:solidFill>
            </a:endParaRPr>
          </a:p>
          <a:p>
            <a:pPr marL="457200" lvl="0" indent="-311150" algn="l" rtl="0">
              <a:lnSpc>
                <a:spcPct val="115000"/>
              </a:lnSpc>
              <a:spcBef>
                <a:spcPts val="0"/>
              </a:spcBef>
              <a:spcAft>
                <a:spcPts val="0"/>
              </a:spcAft>
              <a:buClr>
                <a:schemeClr val="dk1"/>
              </a:buClr>
              <a:buSzPts val="1300"/>
              <a:buChar char="●"/>
            </a:pPr>
            <a:r>
              <a:rPr lang="en" sz="1300" b="1">
                <a:solidFill>
                  <a:schemeClr val="dk1"/>
                </a:solidFill>
              </a:rPr>
              <a:t>random_state</a:t>
            </a:r>
            <a:r>
              <a:rPr lang="en" sz="1300">
                <a:solidFill>
                  <a:schemeClr val="dk1"/>
                </a:solidFill>
              </a:rPr>
              <a:t> – Controls the randomness of the hyperparameter combinations selected in each run.</a:t>
            </a:r>
            <a:br>
              <a:rPr lang="en" sz="1300">
                <a:solidFill>
                  <a:schemeClr val="dk1"/>
                </a:solidFill>
              </a:rPr>
            </a:br>
            <a:endParaRPr sz="1300">
              <a:solidFill>
                <a:schemeClr val="dk1"/>
              </a:solidFill>
            </a:endParaRPr>
          </a:p>
          <a:p>
            <a:pPr marL="457200" lvl="0" indent="-311150" algn="l" rtl="0">
              <a:lnSpc>
                <a:spcPct val="115000"/>
              </a:lnSpc>
              <a:spcBef>
                <a:spcPts val="0"/>
              </a:spcBef>
              <a:spcAft>
                <a:spcPts val="0"/>
              </a:spcAft>
              <a:buClr>
                <a:schemeClr val="dk1"/>
              </a:buClr>
              <a:buSzPts val="1300"/>
              <a:buChar char="●"/>
            </a:pPr>
            <a:r>
              <a:rPr lang="en" sz="1300" b="1">
                <a:solidFill>
                  <a:schemeClr val="dk1"/>
                </a:solidFill>
              </a:rPr>
              <a:t>n_jobs</a:t>
            </a:r>
            <a:r>
              <a:rPr lang="en" sz="1300">
                <a:solidFill>
                  <a:schemeClr val="dk1"/>
                </a:solidFill>
              </a:rPr>
              <a:t> – Specifies the number of parallel jobs to run during the search.</a:t>
            </a:r>
            <a:br>
              <a:rPr lang="en" sz="1300">
                <a:solidFill>
                  <a:schemeClr val="dk1"/>
                </a:solidFill>
              </a:rPr>
            </a:br>
            <a:endParaRPr sz="1300">
              <a:solidFill>
                <a:schemeClr val="dk1"/>
              </a:solidFill>
            </a:endParaRPr>
          </a:p>
          <a:p>
            <a:pPr marL="457200" lvl="0" indent="-311150" algn="l" rtl="0">
              <a:lnSpc>
                <a:spcPct val="115000"/>
              </a:lnSpc>
              <a:spcBef>
                <a:spcPts val="0"/>
              </a:spcBef>
              <a:spcAft>
                <a:spcPts val="0"/>
              </a:spcAft>
              <a:buClr>
                <a:schemeClr val="dk1"/>
              </a:buClr>
              <a:buSzPts val="1300"/>
              <a:buChar char="●"/>
            </a:pPr>
            <a:r>
              <a:rPr lang="en" sz="1300" b="1">
                <a:solidFill>
                  <a:schemeClr val="dk1"/>
                </a:solidFill>
              </a:rPr>
              <a:t>cv</a:t>
            </a:r>
            <a:r>
              <a:rPr lang="en" sz="1300">
                <a:solidFill>
                  <a:schemeClr val="dk1"/>
                </a:solidFill>
              </a:rPr>
              <a:t> – Number of cross-validation folds.</a:t>
            </a:r>
            <a:br>
              <a:rPr lang="en" sz="1300">
                <a:solidFill>
                  <a:schemeClr val="dk1"/>
                </a:solidFill>
              </a:rPr>
            </a:br>
            <a:endParaRPr sz="1300">
              <a:solidFill>
                <a:schemeClr val="dk1"/>
              </a:solidFill>
            </a:endParaRPr>
          </a:p>
          <a:p>
            <a:pPr marL="0" lvl="0" indent="0" algn="l" rtl="0">
              <a:lnSpc>
                <a:spcPct val="115000"/>
              </a:lnSpc>
              <a:spcBef>
                <a:spcPts val="1200"/>
              </a:spcBef>
              <a:spcAft>
                <a:spcPts val="1200"/>
              </a:spcAft>
              <a:buNone/>
            </a:pPr>
            <a:r>
              <a:rPr lang="en" sz="1300">
                <a:solidFill>
                  <a:schemeClr val="dk1"/>
                </a:solidFill>
              </a:rPr>
              <a:t>In this example, the total possible combinations are </a:t>
            </a:r>
            <a:r>
              <a:rPr lang="en" sz="1300" b="1">
                <a:solidFill>
                  <a:schemeClr val="dk1"/>
                </a:solidFill>
              </a:rPr>
              <a:t>100 (10 × 10)</a:t>
            </a:r>
            <a:r>
              <a:rPr lang="en" sz="1300">
                <a:solidFill>
                  <a:schemeClr val="dk1"/>
                </a:solidFill>
              </a:rPr>
              <a:t>. Setting </a:t>
            </a:r>
            <a:r>
              <a:rPr lang="en" sz="1300" b="1">
                <a:solidFill>
                  <a:schemeClr val="dk1"/>
                </a:solidFill>
              </a:rPr>
              <a:t>n_iter = 10</a:t>
            </a:r>
            <a:r>
              <a:rPr lang="en" sz="1300">
                <a:solidFill>
                  <a:schemeClr val="dk1"/>
                </a:solidFill>
              </a:rPr>
              <a:t> means that only </a:t>
            </a:r>
            <a:r>
              <a:rPr lang="en" sz="1300" b="1">
                <a:solidFill>
                  <a:schemeClr val="dk1"/>
                </a:solidFill>
              </a:rPr>
              <a:t>10 random hyperparameter combinations</a:t>
            </a:r>
            <a:r>
              <a:rPr lang="en" sz="1300">
                <a:solidFill>
                  <a:schemeClr val="dk1"/>
                </a:solidFill>
              </a:rPr>
              <a:t> will be selected. Therefore, Random Search only needs to train </a:t>
            </a:r>
            <a:r>
              <a:rPr lang="en" sz="1300" b="1">
                <a:solidFill>
                  <a:schemeClr val="dk1"/>
                </a:solidFill>
              </a:rPr>
              <a:t>10 different models</a:t>
            </a:r>
            <a:r>
              <a:rPr lang="en" sz="1300">
                <a:solidFill>
                  <a:schemeClr val="dk1"/>
                </a:solidFill>
              </a:rPr>
              <a:t> instead of testing all combinations.</a:t>
            </a:r>
            <a:endParaRPr sz="1300">
              <a:solidFill>
                <a:schemeClr val="dk1"/>
              </a:solidFil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3d0286cfc55_0_41"/>
          <p:cNvSpPr txBox="1"/>
          <p:nvPr/>
        </p:nvSpPr>
        <p:spPr>
          <a:xfrm>
            <a:off x="71935" y="-28200"/>
            <a:ext cx="9207900" cy="517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solidFill>
                  <a:srgbClr val="0000FF"/>
                </a:solidFill>
              </a:rPr>
              <a:t>import time</a:t>
            </a:r>
            <a:endParaRPr sz="1200" dirty="0">
              <a:solidFill>
                <a:srgbClr val="0000FF"/>
              </a:solidFill>
            </a:endParaRPr>
          </a:p>
          <a:p>
            <a:pPr marL="0" lvl="0" indent="0" algn="l" rtl="0">
              <a:spcBef>
                <a:spcPts val="0"/>
              </a:spcBef>
              <a:spcAft>
                <a:spcPts val="0"/>
              </a:spcAft>
              <a:buNone/>
            </a:pPr>
            <a:r>
              <a:rPr lang="en" sz="1200" dirty="0">
                <a:solidFill>
                  <a:srgbClr val="0000FF"/>
                </a:solidFill>
              </a:rPr>
              <a:t>start = time.time()</a:t>
            </a:r>
            <a:endParaRPr sz="1200" dirty="0">
              <a:solidFill>
                <a:srgbClr val="0000FF"/>
              </a:solidFill>
            </a:endParaRPr>
          </a:p>
          <a:p>
            <a:pPr marL="0" lvl="0" indent="0" algn="l" rtl="0">
              <a:spcBef>
                <a:spcPts val="0"/>
              </a:spcBef>
              <a:spcAft>
                <a:spcPts val="0"/>
              </a:spcAft>
              <a:buNone/>
            </a:pPr>
            <a:endParaRPr sz="1200" dirty="0">
              <a:solidFill>
                <a:srgbClr val="0000FF"/>
              </a:solidFill>
            </a:endParaRPr>
          </a:p>
          <a:p>
            <a:pPr marL="0" lvl="0" indent="0" algn="l" rtl="0">
              <a:spcBef>
                <a:spcPts val="0"/>
              </a:spcBef>
              <a:spcAft>
                <a:spcPts val="0"/>
              </a:spcAft>
              <a:buNone/>
            </a:pPr>
            <a:r>
              <a:rPr lang="en" sz="1200" dirty="0">
                <a:solidFill>
                  <a:srgbClr val="0000FF"/>
                </a:solidFill>
              </a:rPr>
              <a:t># Defining 3-dimensional hyperparameter space as a Python dictionary</a:t>
            </a:r>
            <a:endParaRPr sz="1200" dirty="0">
              <a:solidFill>
                <a:srgbClr val="0000FF"/>
              </a:solidFill>
            </a:endParaRPr>
          </a:p>
          <a:p>
            <a:pPr marL="0" lvl="0" indent="0" algn="l" rtl="0">
              <a:spcBef>
                <a:spcPts val="0"/>
              </a:spcBef>
              <a:spcAft>
                <a:spcPts val="0"/>
              </a:spcAft>
              <a:buNone/>
            </a:pPr>
            <a:r>
              <a:rPr lang="en" sz="1200" dirty="0">
                <a:solidFill>
                  <a:srgbClr val="0000FF"/>
                </a:solidFill>
              </a:rPr>
              <a:t>hyperparameter_space = {'max_depth':[2,3,4,6,8,10,12,15,20], </a:t>
            </a:r>
            <a:endParaRPr sz="1200" dirty="0">
              <a:solidFill>
                <a:srgbClr val="0000FF"/>
              </a:solidFill>
            </a:endParaRPr>
          </a:p>
          <a:p>
            <a:pPr marL="0" lvl="0" indent="0" algn="l" rtl="0">
              <a:spcBef>
                <a:spcPts val="0"/>
              </a:spcBef>
              <a:spcAft>
                <a:spcPts val="0"/>
              </a:spcAft>
              <a:buNone/>
            </a:pPr>
            <a:r>
              <a:rPr lang="en" sz="1200" dirty="0">
                <a:solidFill>
                  <a:srgbClr val="0000FF"/>
                </a:solidFill>
              </a:rPr>
              <a:t>                        'min_samples_leaf':[1,2,4,6,8,10,20,30],</a:t>
            </a:r>
            <a:endParaRPr sz="1200" dirty="0">
              <a:solidFill>
                <a:srgbClr val="0000FF"/>
              </a:solidFill>
            </a:endParaRPr>
          </a:p>
          <a:p>
            <a:pPr marL="0" lvl="0" indent="0" algn="l" rtl="0">
              <a:spcBef>
                <a:spcPts val="0"/>
              </a:spcBef>
              <a:spcAft>
                <a:spcPts val="0"/>
              </a:spcAft>
              <a:buNone/>
            </a:pPr>
            <a:r>
              <a:rPr lang="en" sz="1200" dirty="0">
                <a:solidFill>
                  <a:srgbClr val="0000FF"/>
                </a:solidFill>
              </a:rPr>
              <a:t>                        'min_samples_split':[1,2,3,4,5,6,8,10]}</a:t>
            </a:r>
            <a:endParaRPr sz="1200" dirty="0">
              <a:solidFill>
                <a:srgbClr val="0000FF"/>
              </a:solidFill>
            </a:endParaRPr>
          </a:p>
          <a:p>
            <a:pPr marL="0" lvl="0" indent="0" algn="l" rtl="0">
              <a:spcBef>
                <a:spcPts val="0"/>
              </a:spcBef>
              <a:spcAft>
                <a:spcPts val="0"/>
              </a:spcAft>
              <a:buNone/>
            </a:pPr>
            <a:endParaRPr sz="1200" dirty="0">
              <a:solidFill>
                <a:srgbClr val="0000FF"/>
              </a:solidFill>
            </a:endParaRPr>
          </a:p>
          <a:p>
            <a:pPr marL="0" lvl="0" indent="0" algn="l" rtl="0">
              <a:spcBef>
                <a:spcPts val="0"/>
              </a:spcBef>
              <a:spcAft>
                <a:spcPts val="0"/>
              </a:spcAft>
              <a:buNone/>
            </a:pPr>
            <a:r>
              <a:rPr lang="en" sz="1200" dirty="0">
                <a:solidFill>
                  <a:srgbClr val="0000FF"/>
                </a:solidFill>
              </a:rPr>
              <a:t>from sklearn.model_selection import RandomizedSearchCV</a:t>
            </a:r>
            <a:endParaRPr sz="1200" dirty="0">
              <a:solidFill>
                <a:srgbClr val="0000FF"/>
              </a:solidFill>
            </a:endParaRPr>
          </a:p>
          <a:p>
            <a:pPr marL="0" lvl="0" indent="0" algn="l" rtl="0">
              <a:spcBef>
                <a:spcPts val="0"/>
              </a:spcBef>
              <a:spcAft>
                <a:spcPts val="0"/>
              </a:spcAft>
              <a:buNone/>
            </a:pPr>
            <a:r>
              <a:rPr lang="en" sz="1200" dirty="0">
                <a:solidFill>
                  <a:srgbClr val="0000FF"/>
                </a:solidFill>
              </a:rPr>
              <a:t>rs = RandomizedSearchCV(dtclf, param_distributions=hyperparameter_space,</a:t>
            </a:r>
            <a:endParaRPr sz="1200" dirty="0">
              <a:solidFill>
                <a:srgbClr val="0000FF"/>
              </a:solidFill>
            </a:endParaRPr>
          </a:p>
          <a:p>
            <a:pPr marL="0" lvl="0" indent="0" algn="l" rtl="0">
              <a:spcBef>
                <a:spcPts val="0"/>
              </a:spcBef>
              <a:spcAft>
                <a:spcPts val="0"/>
              </a:spcAft>
              <a:buNone/>
            </a:pPr>
            <a:r>
              <a:rPr lang="en" sz="1200" dirty="0">
                <a:solidFill>
                  <a:srgbClr val="0000FF"/>
                </a:solidFill>
              </a:rPr>
              <a:t>                        n_iter=10, scoring="accuracy", random_state=0,</a:t>
            </a:r>
            <a:endParaRPr sz="1200" dirty="0">
              <a:solidFill>
                <a:srgbClr val="0000FF"/>
              </a:solidFill>
            </a:endParaRPr>
          </a:p>
          <a:p>
            <a:pPr marL="0" lvl="0" indent="0" algn="l" rtl="0">
              <a:spcBef>
                <a:spcPts val="0"/>
              </a:spcBef>
              <a:spcAft>
                <a:spcPts val="0"/>
              </a:spcAft>
              <a:buNone/>
            </a:pPr>
            <a:r>
              <a:rPr lang="en" sz="1200" dirty="0">
                <a:solidFill>
                  <a:srgbClr val="0000FF"/>
                </a:solidFill>
              </a:rPr>
              <a:t>                        n_jobs=-1, cv=10, return_train_score=True)</a:t>
            </a:r>
            <a:endParaRPr sz="1200" dirty="0">
              <a:solidFill>
                <a:srgbClr val="0000FF"/>
              </a:solidFill>
            </a:endParaRPr>
          </a:p>
          <a:p>
            <a:pPr marL="0" lvl="0" indent="0" algn="l" rtl="0">
              <a:spcBef>
                <a:spcPts val="0"/>
              </a:spcBef>
              <a:spcAft>
                <a:spcPts val="0"/>
              </a:spcAft>
              <a:buNone/>
            </a:pPr>
            <a:endParaRPr sz="1200" dirty="0">
              <a:solidFill>
                <a:srgbClr val="0000FF"/>
              </a:solidFill>
            </a:endParaRPr>
          </a:p>
          <a:p>
            <a:pPr marL="0" lvl="0" indent="0" algn="l" rtl="0">
              <a:spcBef>
                <a:spcPts val="0"/>
              </a:spcBef>
              <a:spcAft>
                <a:spcPts val="0"/>
              </a:spcAft>
              <a:buNone/>
            </a:pPr>
            <a:r>
              <a:rPr lang="en" sz="1200" dirty="0">
                <a:solidFill>
                  <a:srgbClr val="0000FF"/>
                </a:solidFill>
              </a:rPr>
              <a:t>rs.fit(X_train, y_train)</a:t>
            </a:r>
            <a:endParaRPr sz="1200" dirty="0">
              <a:solidFill>
                <a:srgbClr val="0000FF"/>
              </a:solidFill>
            </a:endParaRPr>
          </a:p>
          <a:p>
            <a:pPr marL="0" lvl="0" indent="0" algn="l" rtl="0">
              <a:spcBef>
                <a:spcPts val="0"/>
              </a:spcBef>
              <a:spcAft>
                <a:spcPts val="0"/>
              </a:spcAft>
              <a:buNone/>
            </a:pPr>
            <a:r>
              <a:rPr lang="en" sz="1200" dirty="0">
                <a:solidFill>
                  <a:srgbClr val="0000FF"/>
                </a:solidFill>
              </a:rPr>
              <a:t>print("Optimal hyperparameter combination:", rs.best_params_)</a:t>
            </a:r>
            <a:endParaRPr sz="1200" dirty="0">
              <a:solidFill>
                <a:srgbClr val="0000FF"/>
              </a:solidFill>
            </a:endParaRPr>
          </a:p>
          <a:p>
            <a:pPr marL="0" lvl="0" indent="0" algn="l" rtl="0">
              <a:spcBef>
                <a:spcPts val="0"/>
              </a:spcBef>
              <a:spcAft>
                <a:spcPts val="0"/>
              </a:spcAft>
              <a:buNone/>
            </a:pPr>
            <a:r>
              <a:rPr lang="en" sz="1200" dirty="0">
                <a:solidFill>
                  <a:srgbClr val="0000FF"/>
                </a:solidFill>
              </a:rPr>
              <a:t>print()</a:t>
            </a:r>
            <a:endParaRPr sz="1200" dirty="0">
              <a:solidFill>
                <a:srgbClr val="0000FF"/>
              </a:solidFill>
            </a:endParaRPr>
          </a:p>
          <a:p>
            <a:pPr marL="0" lvl="0" indent="0" algn="l" rtl="0">
              <a:spcBef>
                <a:spcPts val="0"/>
              </a:spcBef>
              <a:spcAft>
                <a:spcPts val="0"/>
              </a:spcAft>
              <a:buNone/>
            </a:pPr>
            <a:r>
              <a:rPr lang="en" sz="1200" dirty="0">
                <a:solidFill>
                  <a:srgbClr val="0000FF"/>
                </a:solidFill>
              </a:rPr>
              <a:t>print("Mean cross-validated training accuracy score:",  rs.best_score_)</a:t>
            </a:r>
            <a:endParaRPr sz="1200" dirty="0">
              <a:solidFill>
                <a:srgbClr val="0000FF"/>
              </a:solidFill>
            </a:endParaRPr>
          </a:p>
          <a:p>
            <a:pPr marL="0" lvl="0" indent="0" algn="l" rtl="0">
              <a:spcBef>
                <a:spcPts val="0"/>
              </a:spcBef>
              <a:spcAft>
                <a:spcPts val="0"/>
              </a:spcAft>
              <a:buNone/>
            </a:pPr>
            <a:r>
              <a:rPr lang="en" sz="1200" dirty="0">
                <a:solidFill>
                  <a:srgbClr val="0000FF"/>
                </a:solidFill>
              </a:rPr>
              <a:t>rs.best_estimator_.fit(X_train, y_train)</a:t>
            </a:r>
            <a:endParaRPr sz="1200" dirty="0">
              <a:solidFill>
                <a:srgbClr val="0000FF"/>
              </a:solidFill>
            </a:endParaRPr>
          </a:p>
          <a:p>
            <a:pPr marL="0" lvl="0" indent="0" algn="l" rtl="0">
              <a:spcBef>
                <a:spcPts val="0"/>
              </a:spcBef>
              <a:spcAft>
                <a:spcPts val="0"/>
              </a:spcAft>
              <a:buNone/>
            </a:pPr>
            <a:r>
              <a:rPr lang="en" sz="1200" dirty="0">
                <a:solidFill>
                  <a:srgbClr val="0000FF"/>
                </a:solidFill>
              </a:rPr>
              <a:t>y_pred = rs.best_estimator_.predict(X_test) # Predictions</a:t>
            </a:r>
            <a:endParaRPr sz="1200" dirty="0">
              <a:solidFill>
                <a:srgbClr val="0000FF"/>
              </a:solidFill>
            </a:endParaRPr>
          </a:p>
          <a:p>
            <a:pPr marL="0" lvl="0" indent="0" algn="l" rtl="0">
              <a:spcBef>
                <a:spcPts val="0"/>
              </a:spcBef>
              <a:spcAft>
                <a:spcPts val="0"/>
              </a:spcAft>
              <a:buNone/>
            </a:pPr>
            <a:r>
              <a:rPr lang="en" sz="1200" dirty="0">
                <a:solidFill>
                  <a:srgbClr val="0000FF"/>
                </a:solidFill>
              </a:rPr>
              <a:t>y_true = y_test # True values</a:t>
            </a:r>
            <a:endParaRPr sz="1200" dirty="0">
              <a:solidFill>
                <a:srgbClr val="0000FF"/>
              </a:solidFill>
            </a:endParaRPr>
          </a:p>
          <a:p>
            <a:pPr marL="0" lvl="0" indent="0" algn="l" rtl="0">
              <a:spcBef>
                <a:spcPts val="0"/>
              </a:spcBef>
              <a:spcAft>
                <a:spcPts val="0"/>
              </a:spcAft>
              <a:buNone/>
            </a:pPr>
            <a:endParaRPr sz="1200" dirty="0">
              <a:solidFill>
                <a:srgbClr val="0000FF"/>
              </a:solidFill>
            </a:endParaRPr>
          </a:p>
          <a:p>
            <a:pPr marL="0" lvl="0" indent="0" algn="l" rtl="0">
              <a:spcBef>
                <a:spcPts val="0"/>
              </a:spcBef>
              <a:spcAft>
                <a:spcPts val="0"/>
              </a:spcAft>
              <a:buNone/>
            </a:pPr>
            <a:r>
              <a:rPr lang="en" sz="1200" dirty="0">
                <a:solidFill>
                  <a:srgbClr val="0000FF"/>
                </a:solidFill>
              </a:rPr>
              <a:t>print("Test accuracy:", np.round(accuracy_score(y_true, y_pred), 2))</a:t>
            </a:r>
            <a:endParaRPr sz="1200" dirty="0">
              <a:solidFill>
                <a:srgbClr val="0000FF"/>
              </a:solidFill>
            </a:endParaRPr>
          </a:p>
          <a:p>
            <a:pPr marL="0" lvl="0" indent="0" algn="l" rtl="0">
              <a:spcBef>
                <a:spcPts val="0"/>
              </a:spcBef>
              <a:spcAft>
                <a:spcPts val="0"/>
              </a:spcAft>
              <a:buNone/>
            </a:pPr>
            <a:endParaRPr sz="1200" dirty="0">
              <a:solidFill>
                <a:srgbClr val="0000FF"/>
              </a:solidFill>
            </a:endParaRPr>
          </a:p>
          <a:p>
            <a:pPr marL="0" lvl="0" indent="0" algn="l" rtl="0">
              <a:spcBef>
                <a:spcPts val="0"/>
              </a:spcBef>
              <a:spcAft>
                <a:spcPts val="0"/>
              </a:spcAft>
              <a:buNone/>
            </a:pPr>
            <a:r>
              <a:rPr lang="en" sz="1200" dirty="0">
                <a:solidFill>
                  <a:srgbClr val="0000FF"/>
                </a:solidFill>
              </a:rPr>
              <a:t>end = time.time()</a:t>
            </a:r>
            <a:endParaRPr sz="1200" dirty="0">
              <a:solidFill>
                <a:srgbClr val="0000FF"/>
              </a:solidFill>
            </a:endParaRPr>
          </a:p>
          <a:p>
            <a:pPr marL="0" lvl="0" indent="0" algn="l" rtl="0">
              <a:spcBef>
                <a:spcPts val="0"/>
              </a:spcBef>
              <a:spcAft>
                <a:spcPts val="0"/>
              </a:spcAft>
              <a:buNone/>
            </a:pPr>
            <a:r>
              <a:rPr lang="en" sz="1200" dirty="0">
                <a:solidFill>
                  <a:srgbClr val="0000FF"/>
                </a:solidFill>
              </a:rPr>
              <a:t>diff = end - start</a:t>
            </a:r>
            <a:endParaRPr sz="1200" dirty="0">
              <a:solidFill>
                <a:srgbClr val="0000FF"/>
              </a:solidFill>
            </a:endParaRPr>
          </a:p>
          <a:p>
            <a:pPr marL="0" lvl="0" indent="0" algn="l" rtl="0">
              <a:spcBef>
                <a:spcPts val="0"/>
              </a:spcBef>
              <a:spcAft>
                <a:spcPts val="0"/>
              </a:spcAft>
              <a:buNone/>
            </a:pPr>
            <a:r>
              <a:rPr lang="en" sz="1200" dirty="0">
                <a:solidFill>
                  <a:srgbClr val="0000FF"/>
                </a:solidFill>
              </a:rPr>
              <a:t>print('Execution time of Random Search (in Seconds):', diff)</a:t>
            </a:r>
            <a:endParaRPr sz="1200" dirty="0">
              <a:solidFill>
                <a:srgbClr val="0000FF"/>
              </a:solidFill>
            </a:endParaRPr>
          </a:p>
          <a:p>
            <a:pPr marL="0" lvl="0" indent="0" algn="l" rtl="0">
              <a:spcBef>
                <a:spcPts val="0"/>
              </a:spcBef>
              <a:spcAft>
                <a:spcPts val="0"/>
              </a:spcAft>
              <a:buNone/>
            </a:pPr>
            <a:endParaRPr sz="1200" dirty="0">
              <a:solidFill>
                <a:srgbClr val="0000FF"/>
              </a:solidFill>
            </a:endParaRPr>
          </a:p>
        </p:txBody>
      </p:sp>
      <p:sp>
        <p:nvSpPr>
          <p:cNvPr id="261" name="Google Shape;261;g3d0286cfc55_0_41"/>
          <p:cNvSpPr txBox="1"/>
          <p:nvPr/>
        </p:nvSpPr>
        <p:spPr>
          <a:xfrm>
            <a:off x="5611101" y="899225"/>
            <a:ext cx="3323700" cy="2246739"/>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OUTPUT:</a:t>
            </a:r>
            <a:endParaRPr sz="1200" dirty="0"/>
          </a:p>
          <a:p>
            <a:pPr marL="0" lvl="0" indent="0" algn="l" rtl="0">
              <a:spcBef>
                <a:spcPts val="0"/>
              </a:spcBef>
              <a:spcAft>
                <a:spcPts val="0"/>
              </a:spcAft>
              <a:buNone/>
            </a:pPr>
            <a:endParaRPr sz="1200" dirty="0"/>
          </a:p>
          <a:p>
            <a:pPr marL="0" lvl="0" indent="0" algn="l" rtl="0">
              <a:spcBef>
                <a:spcPts val="0"/>
              </a:spcBef>
              <a:spcAft>
                <a:spcPts val="0"/>
              </a:spcAft>
              <a:buNone/>
            </a:pPr>
            <a:r>
              <a:rPr lang="en" sz="1200" dirty="0"/>
              <a:t>Optimal hyperparameter combination: {'min_samples_split': 8, 'min_samples_leaf': 6, 'max_depth':12}</a:t>
            </a:r>
            <a:endParaRPr sz="1200" dirty="0"/>
          </a:p>
          <a:p>
            <a:pPr marL="0" lvl="0" indent="0" algn="l" rtl="0">
              <a:spcBef>
                <a:spcPts val="0"/>
              </a:spcBef>
              <a:spcAft>
                <a:spcPts val="0"/>
              </a:spcAft>
              <a:buNone/>
            </a:pPr>
            <a:endParaRPr sz="1200" dirty="0"/>
          </a:p>
          <a:p>
            <a:pPr lvl="0"/>
            <a:r>
              <a:rPr lang="en" sz="1200" dirty="0"/>
              <a:t>Mean cross-validated training accuracy score: </a:t>
            </a:r>
            <a:r>
              <a:rPr lang="en-IN" sz="1200" dirty="0" smtClean="0"/>
              <a:t>0.9099462365591396</a:t>
            </a:r>
          </a:p>
          <a:p>
            <a:pPr lvl="0"/>
            <a:r>
              <a:rPr lang="en" sz="1200" dirty="0" smtClean="0"/>
              <a:t>Test accuracy:</a:t>
            </a:r>
            <a:endParaRPr sz="1200" dirty="0"/>
          </a:p>
          <a:p>
            <a:pPr lvl="0"/>
            <a:r>
              <a:rPr lang="en" sz="1200" dirty="0"/>
              <a:t>Execution time of Random Search (in seconds): </a:t>
            </a:r>
            <a:r>
              <a:rPr lang="en" sz="1200" dirty="0" smtClean="0"/>
              <a:t>0.</a:t>
            </a:r>
            <a:r>
              <a:rPr lang="en-IN" sz="1200" dirty="0" smtClean="0"/>
              <a:t>2303011417388916</a:t>
            </a:r>
            <a:endParaRPr sz="12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g3d0286cfc55_0_44"/>
          <p:cNvSpPr txBox="1"/>
          <p:nvPr/>
        </p:nvSpPr>
        <p:spPr>
          <a:xfrm>
            <a:off x="0" y="0"/>
            <a:ext cx="9144000" cy="1458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200" b="1">
                <a:solidFill>
                  <a:schemeClr val="dk1"/>
                </a:solidFill>
              </a:rPr>
              <a:t>3. Python Implementation of Grid Search</a:t>
            </a:r>
            <a:endParaRPr sz="1200" b="1">
              <a:solidFill>
                <a:schemeClr val="dk1"/>
              </a:solidFill>
            </a:endParaRPr>
          </a:p>
          <a:p>
            <a:pPr marL="0" lvl="0" indent="0" algn="l" rtl="0">
              <a:lnSpc>
                <a:spcPct val="115000"/>
              </a:lnSpc>
              <a:spcBef>
                <a:spcPts val="1200"/>
              </a:spcBef>
              <a:spcAft>
                <a:spcPts val="0"/>
              </a:spcAft>
              <a:buNone/>
            </a:pPr>
            <a:r>
              <a:rPr lang="en" sz="1100">
                <a:solidFill>
                  <a:schemeClr val="dk1"/>
                </a:solidFill>
              </a:rPr>
              <a:t>In Python, Grid Search can be implemented using the </a:t>
            </a:r>
            <a:r>
              <a:rPr lang="en" sz="1100" b="1">
                <a:solidFill>
                  <a:schemeClr val="dk1"/>
                </a:solidFill>
              </a:rPr>
              <a:t>GridSearchCV</a:t>
            </a:r>
            <a:r>
              <a:rPr lang="en" sz="1100">
                <a:solidFill>
                  <a:schemeClr val="dk1"/>
                </a:solidFill>
              </a:rPr>
              <a:t> function from the </a:t>
            </a:r>
            <a:r>
              <a:rPr lang="en" sz="1100" b="1">
                <a:solidFill>
                  <a:schemeClr val="dk1"/>
                </a:solidFill>
              </a:rPr>
              <a:t>Scikit-learn</a:t>
            </a:r>
            <a:r>
              <a:rPr lang="en" sz="1100">
                <a:solidFill>
                  <a:schemeClr val="dk1"/>
                </a:solidFill>
              </a:rPr>
              <a:t> library. The parameters are similar to those used in Random Search, but </a:t>
            </a:r>
            <a:r>
              <a:rPr lang="en" sz="1100" b="1">
                <a:solidFill>
                  <a:schemeClr val="dk1"/>
                </a:solidFill>
              </a:rPr>
              <a:t>param_distributions</a:t>
            </a:r>
            <a:r>
              <a:rPr lang="en" sz="1100">
                <a:solidFill>
                  <a:schemeClr val="dk1"/>
                </a:solidFill>
              </a:rPr>
              <a:t> is called </a:t>
            </a:r>
            <a:r>
              <a:rPr lang="en" sz="1100" b="1">
                <a:solidFill>
                  <a:schemeClr val="dk1"/>
                </a:solidFill>
              </a:rPr>
              <a:t>param_grid</a:t>
            </a:r>
            <a:r>
              <a:rPr lang="en" sz="1100">
                <a:solidFill>
                  <a:schemeClr val="dk1"/>
                </a:solidFill>
              </a:rPr>
              <a:t> here.</a:t>
            </a:r>
            <a:endParaRPr sz="1100">
              <a:solidFill>
                <a:schemeClr val="dk1"/>
              </a:solidFill>
            </a:endParaRPr>
          </a:p>
          <a:p>
            <a:pPr marL="0" lvl="0" indent="0" algn="l" rtl="0">
              <a:lnSpc>
                <a:spcPct val="115000"/>
              </a:lnSpc>
              <a:spcBef>
                <a:spcPts val="1200"/>
              </a:spcBef>
              <a:spcAft>
                <a:spcPts val="1200"/>
              </a:spcAft>
              <a:buNone/>
            </a:pPr>
            <a:r>
              <a:rPr lang="en" sz="1100">
                <a:solidFill>
                  <a:schemeClr val="dk1"/>
                </a:solidFill>
              </a:rPr>
              <a:t>In this example, the search space is three-dimensional with </a:t>
            </a:r>
            <a:r>
              <a:rPr lang="en" sz="1100" b="1">
                <a:solidFill>
                  <a:schemeClr val="dk1"/>
                </a:solidFill>
              </a:rPr>
              <a:t>576 (9 × 8 × 8)</a:t>
            </a:r>
            <a:r>
              <a:rPr lang="en" sz="1100">
                <a:solidFill>
                  <a:schemeClr val="dk1"/>
                </a:solidFill>
              </a:rPr>
              <a:t> possible combinations. This means that Grid Search trains </a:t>
            </a:r>
            <a:r>
              <a:rPr lang="en" sz="1100" b="1">
                <a:solidFill>
                  <a:schemeClr val="dk1"/>
                </a:solidFill>
              </a:rPr>
              <a:t>576 different models</a:t>
            </a:r>
            <a:r>
              <a:rPr lang="en" sz="1100">
                <a:solidFill>
                  <a:schemeClr val="dk1"/>
                </a:solidFill>
              </a:rPr>
              <a:t>, which is much higher compared to the </a:t>
            </a:r>
            <a:r>
              <a:rPr lang="en" sz="1100" b="1">
                <a:solidFill>
                  <a:schemeClr val="dk1"/>
                </a:solidFill>
              </a:rPr>
              <a:t>10 models</a:t>
            </a:r>
            <a:r>
              <a:rPr lang="en" sz="1100">
                <a:solidFill>
                  <a:schemeClr val="dk1"/>
                </a:solidFill>
              </a:rPr>
              <a:t> trained using Random Search.</a:t>
            </a:r>
            <a:endParaRPr sz="1100">
              <a:solidFill>
                <a:schemeClr val="dk1"/>
              </a:solidFill>
            </a:endParaRPr>
          </a:p>
        </p:txBody>
      </p:sp>
      <p:sp>
        <p:nvSpPr>
          <p:cNvPr id="267" name="Google Shape;267;g3d0286cfc55_0_44"/>
          <p:cNvSpPr txBox="1"/>
          <p:nvPr/>
        </p:nvSpPr>
        <p:spPr>
          <a:xfrm>
            <a:off x="0" y="1390785"/>
            <a:ext cx="7889100" cy="4248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solidFill>
                  <a:srgbClr val="0000FF"/>
                </a:solidFill>
              </a:rPr>
              <a:t># Let's measure execution time too</a:t>
            </a:r>
            <a:endParaRPr sz="1100" dirty="0">
              <a:solidFill>
                <a:srgbClr val="0000FF"/>
              </a:solidFill>
            </a:endParaRPr>
          </a:p>
          <a:p>
            <a:pPr marL="0" lvl="0" indent="0" algn="l" rtl="0">
              <a:spcBef>
                <a:spcPts val="0"/>
              </a:spcBef>
              <a:spcAft>
                <a:spcPts val="0"/>
              </a:spcAft>
              <a:buNone/>
            </a:pPr>
            <a:r>
              <a:rPr lang="en" sz="1100" dirty="0">
                <a:solidFill>
                  <a:srgbClr val="0000FF"/>
                </a:solidFill>
              </a:rPr>
              <a:t>import time</a:t>
            </a:r>
            <a:endParaRPr sz="1100" dirty="0">
              <a:solidFill>
                <a:srgbClr val="0000FF"/>
              </a:solidFill>
            </a:endParaRPr>
          </a:p>
          <a:p>
            <a:pPr marL="0" lvl="0" indent="0" algn="l" rtl="0">
              <a:spcBef>
                <a:spcPts val="0"/>
              </a:spcBef>
              <a:spcAft>
                <a:spcPts val="0"/>
              </a:spcAft>
              <a:buNone/>
            </a:pPr>
            <a:r>
              <a:rPr lang="en" sz="1100" dirty="0">
                <a:solidFill>
                  <a:srgbClr val="0000FF"/>
                </a:solidFill>
              </a:rPr>
              <a:t>start = time.time()</a:t>
            </a:r>
            <a:endParaRPr sz="1100" dirty="0">
              <a:solidFill>
                <a:srgbClr val="0000FF"/>
              </a:solidFill>
            </a:endParaRPr>
          </a:p>
          <a:p>
            <a:pPr marL="0" lvl="0" indent="0" algn="l" rtl="0">
              <a:spcBef>
                <a:spcPts val="0"/>
              </a:spcBef>
              <a:spcAft>
                <a:spcPts val="0"/>
              </a:spcAft>
              <a:buNone/>
            </a:pPr>
            <a:endParaRPr sz="1100" dirty="0">
              <a:solidFill>
                <a:srgbClr val="0000FF"/>
              </a:solidFill>
            </a:endParaRPr>
          </a:p>
          <a:p>
            <a:pPr marL="0" lvl="0" indent="0" algn="l" rtl="0">
              <a:spcBef>
                <a:spcPts val="0"/>
              </a:spcBef>
              <a:spcAft>
                <a:spcPts val="0"/>
              </a:spcAft>
              <a:buNone/>
            </a:pPr>
            <a:r>
              <a:rPr lang="en" sz="1100" dirty="0">
                <a:solidFill>
                  <a:srgbClr val="0000FF"/>
                </a:solidFill>
              </a:rPr>
              <a:t># Defining 3-dimensional hyperparameter space as a Python dictionary</a:t>
            </a:r>
            <a:endParaRPr sz="1100" dirty="0">
              <a:solidFill>
                <a:srgbClr val="0000FF"/>
              </a:solidFill>
            </a:endParaRPr>
          </a:p>
          <a:p>
            <a:pPr marL="0" lvl="0" indent="0" algn="l" rtl="0">
              <a:spcBef>
                <a:spcPts val="0"/>
              </a:spcBef>
              <a:spcAft>
                <a:spcPts val="0"/>
              </a:spcAft>
              <a:buNone/>
            </a:pPr>
            <a:r>
              <a:rPr lang="en" sz="1100" dirty="0">
                <a:solidFill>
                  <a:srgbClr val="0000FF"/>
                </a:solidFill>
              </a:rPr>
              <a:t>hyperparameter_space = {'max_depth':[2,3,4,6,8,10,12,15,20], </a:t>
            </a:r>
            <a:endParaRPr sz="1100" dirty="0">
              <a:solidFill>
                <a:srgbClr val="0000FF"/>
              </a:solidFill>
            </a:endParaRPr>
          </a:p>
          <a:p>
            <a:pPr marL="0" lvl="0" indent="0" algn="l" rtl="0">
              <a:spcBef>
                <a:spcPts val="0"/>
              </a:spcBef>
              <a:spcAft>
                <a:spcPts val="0"/>
              </a:spcAft>
              <a:buNone/>
            </a:pPr>
            <a:r>
              <a:rPr lang="en" sz="1100" dirty="0">
                <a:solidFill>
                  <a:srgbClr val="0000FF"/>
                </a:solidFill>
              </a:rPr>
              <a:t>                        'min_samples_leaf':[1,2,4,6,8,10,20,30],</a:t>
            </a:r>
            <a:endParaRPr sz="1100" dirty="0">
              <a:solidFill>
                <a:srgbClr val="0000FF"/>
              </a:solidFill>
            </a:endParaRPr>
          </a:p>
          <a:p>
            <a:pPr marL="0" lvl="0" indent="0" algn="l" rtl="0">
              <a:spcBef>
                <a:spcPts val="0"/>
              </a:spcBef>
              <a:spcAft>
                <a:spcPts val="0"/>
              </a:spcAft>
              <a:buNone/>
            </a:pPr>
            <a:r>
              <a:rPr lang="en" sz="1100" dirty="0">
                <a:solidFill>
                  <a:srgbClr val="0000FF"/>
                </a:solidFill>
              </a:rPr>
              <a:t>                        'min_samples_split':[1,2,3,4,5,6,8,10]}</a:t>
            </a:r>
            <a:endParaRPr sz="1100" dirty="0">
              <a:solidFill>
                <a:srgbClr val="0000FF"/>
              </a:solidFill>
            </a:endParaRPr>
          </a:p>
          <a:p>
            <a:pPr marL="0" lvl="0" indent="0" algn="l" rtl="0">
              <a:spcBef>
                <a:spcPts val="0"/>
              </a:spcBef>
              <a:spcAft>
                <a:spcPts val="0"/>
              </a:spcAft>
              <a:buNone/>
            </a:pPr>
            <a:endParaRPr sz="1100" dirty="0">
              <a:solidFill>
                <a:srgbClr val="0000FF"/>
              </a:solidFill>
            </a:endParaRPr>
          </a:p>
          <a:p>
            <a:pPr marL="0" lvl="0" indent="0" algn="l" rtl="0">
              <a:spcBef>
                <a:spcPts val="0"/>
              </a:spcBef>
              <a:spcAft>
                <a:spcPts val="0"/>
              </a:spcAft>
              <a:buNone/>
            </a:pPr>
            <a:r>
              <a:rPr lang="en" sz="1100" dirty="0">
                <a:solidFill>
                  <a:srgbClr val="0000FF"/>
                </a:solidFill>
              </a:rPr>
              <a:t>from sklearn.model_selection import GridSearchCV</a:t>
            </a:r>
            <a:endParaRPr sz="1100" dirty="0">
              <a:solidFill>
                <a:srgbClr val="0000FF"/>
              </a:solidFill>
            </a:endParaRPr>
          </a:p>
          <a:p>
            <a:pPr marL="0" lvl="0" indent="0" algn="l" rtl="0">
              <a:spcBef>
                <a:spcPts val="0"/>
              </a:spcBef>
              <a:spcAft>
                <a:spcPts val="0"/>
              </a:spcAft>
              <a:buNone/>
            </a:pPr>
            <a:r>
              <a:rPr lang="en" sz="1100" dirty="0">
                <a:solidFill>
                  <a:srgbClr val="0000FF"/>
                </a:solidFill>
              </a:rPr>
              <a:t>gs = GridSearchCV(dtclf, param_grid=hyperparameter_space, </a:t>
            </a:r>
            <a:endParaRPr sz="1100" dirty="0">
              <a:solidFill>
                <a:srgbClr val="0000FF"/>
              </a:solidFill>
            </a:endParaRPr>
          </a:p>
          <a:p>
            <a:pPr marL="0" lvl="0" indent="0" algn="l" rtl="0">
              <a:spcBef>
                <a:spcPts val="0"/>
              </a:spcBef>
              <a:spcAft>
                <a:spcPts val="0"/>
              </a:spcAft>
              <a:buNone/>
            </a:pPr>
            <a:r>
              <a:rPr lang="en" sz="1100" dirty="0">
                <a:solidFill>
                  <a:srgbClr val="0000FF"/>
                </a:solidFill>
              </a:rPr>
              <a:t>                  scoring= "accuracy",</a:t>
            </a:r>
            <a:endParaRPr sz="1100" dirty="0">
              <a:solidFill>
                <a:srgbClr val="0000FF"/>
              </a:solidFill>
            </a:endParaRPr>
          </a:p>
          <a:p>
            <a:pPr marL="0" lvl="0" indent="0" algn="l" rtl="0">
              <a:spcBef>
                <a:spcPts val="0"/>
              </a:spcBef>
              <a:spcAft>
                <a:spcPts val="0"/>
              </a:spcAft>
              <a:buNone/>
            </a:pPr>
            <a:r>
              <a:rPr lang="en" sz="1100" dirty="0">
                <a:solidFill>
                  <a:srgbClr val="0000FF"/>
                </a:solidFill>
              </a:rPr>
              <a:t>                  n_jobs=-1, cv=10, return_train_score=True)</a:t>
            </a:r>
            <a:endParaRPr sz="1100" dirty="0">
              <a:solidFill>
                <a:srgbClr val="0000FF"/>
              </a:solidFill>
            </a:endParaRPr>
          </a:p>
          <a:p>
            <a:pPr marL="0" lvl="0" indent="0" algn="l" rtl="0">
              <a:spcBef>
                <a:spcPts val="0"/>
              </a:spcBef>
              <a:spcAft>
                <a:spcPts val="0"/>
              </a:spcAft>
              <a:buNone/>
            </a:pPr>
            <a:endParaRPr sz="1100" dirty="0">
              <a:solidFill>
                <a:srgbClr val="0000FF"/>
              </a:solidFill>
            </a:endParaRPr>
          </a:p>
          <a:p>
            <a:pPr marL="0" lvl="0" indent="0" algn="l" rtl="0">
              <a:spcBef>
                <a:spcPts val="0"/>
              </a:spcBef>
              <a:spcAft>
                <a:spcPts val="0"/>
              </a:spcAft>
              <a:buNone/>
            </a:pPr>
            <a:r>
              <a:rPr lang="en" sz="1100" dirty="0">
                <a:solidFill>
                  <a:srgbClr val="0000FF"/>
                </a:solidFill>
              </a:rPr>
              <a:t>gs.fit(X_train, y_train)</a:t>
            </a:r>
            <a:endParaRPr sz="1100" dirty="0">
              <a:solidFill>
                <a:srgbClr val="0000FF"/>
              </a:solidFill>
            </a:endParaRPr>
          </a:p>
          <a:p>
            <a:pPr marL="0" lvl="0" indent="0" algn="l" rtl="0">
              <a:spcBef>
                <a:spcPts val="0"/>
              </a:spcBef>
              <a:spcAft>
                <a:spcPts val="0"/>
              </a:spcAft>
              <a:buNone/>
            </a:pPr>
            <a:r>
              <a:rPr lang="en" sz="1100" dirty="0">
                <a:solidFill>
                  <a:srgbClr val="0000FF"/>
                </a:solidFill>
              </a:rPr>
              <a:t>print("Optimal hyperparameter combination:", gs.best_params_)</a:t>
            </a:r>
            <a:endParaRPr sz="1100" dirty="0">
              <a:solidFill>
                <a:srgbClr val="0000FF"/>
              </a:solidFill>
            </a:endParaRPr>
          </a:p>
          <a:p>
            <a:pPr marL="0" lvl="0" indent="0" algn="l" rtl="0">
              <a:spcBef>
                <a:spcPts val="0"/>
              </a:spcBef>
              <a:spcAft>
                <a:spcPts val="0"/>
              </a:spcAft>
              <a:buNone/>
            </a:pPr>
            <a:r>
              <a:rPr lang="en" sz="1100" dirty="0">
                <a:solidFill>
                  <a:srgbClr val="0000FF"/>
                </a:solidFill>
              </a:rPr>
              <a:t>print()</a:t>
            </a:r>
            <a:endParaRPr sz="1100" dirty="0">
              <a:solidFill>
                <a:srgbClr val="0000FF"/>
              </a:solidFill>
            </a:endParaRPr>
          </a:p>
          <a:p>
            <a:pPr marL="0" lvl="0" indent="0" algn="l" rtl="0">
              <a:spcBef>
                <a:spcPts val="0"/>
              </a:spcBef>
              <a:spcAft>
                <a:spcPts val="0"/>
              </a:spcAft>
              <a:buNone/>
            </a:pPr>
            <a:r>
              <a:rPr lang="en" sz="1100" dirty="0">
                <a:solidFill>
                  <a:srgbClr val="0000FF"/>
                </a:solidFill>
              </a:rPr>
              <a:t>print("Mean cross-validated training accuracy score:", gs.best_score_)</a:t>
            </a:r>
            <a:endParaRPr sz="1100" dirty="0">
              <a:solidFill>
                <a:srgbClr val="0000FF"/>
              </a:solidFill>
            </a:endParaRPr>
          </a:p>
          <a:p>
            <a:pPr marL="0" lvl="0" indent="0" algn="l" rtl="0">
              <a:spcBef>
                <a:spcPts val="0"/>
              </a:spcBef>
              <a:spcAft>
                <a:spcPts val="0"/>
              </a:spcAft>
              <a:buNone/>
            </a:pPr>
            <a:r>
              <a:rPr lang="en" sz="1100" dirty="0">
                <a:solidFill>
                  <a:srgbClr val="0000FF"/>
                </a:solidFill>
              </a:rPr>
              <a:t>gs.best_estimator_.fit(X_train, y_train)</a:t>
            </a:r>
            <a:endParaRPr sz="1100" dirty="0">
              <a:solidFill>
                <a:srgbClr val="0000FF"/>
              </a:solidFill>
            </a:endParaRPr>
          </a:p>
          <a:p>
            <a:pPr marL="0" lvl="0" indent="0" algn="l" rtl="0">
              <a:spcBef>
                <a:spcPts val="0"/>
              </a:spcBef>
              <a:spcAft>
                <a:spcPts val="0"/>
              </a:spcAft>
              <a:buNone/>
            </a:pPr>
            <a:r>
              <a:rPr lang="en" sz="1100" dirty="0">
                <a:solidFill>
                  <a:srgbClr val="0000FF"/>
                </a:solidFill>
              </a:rPr>
              <a:t>y_pred = gs.best_estimator_.predict(X_test) # Predictions</a:t>
            </a:r>
            <a:endParaRPr sz="1100" dirty="0">
              <a:solidFill>
                <a:srgbClr val="0000FF"/>
              </a:solidFill>
            </a:endParaRPr>
          </a:p>
          <a:p>
            <a:pPr marL="0" lvl="0" indent="0" algn="l" rtl="0">
              <a:spcBef>
                <a:spcPts val="0"/>
              </a:spcBef>
              <a:spcAft>
                <a:spcPts val="0"/>
              </a:spcAft>
              <a:buNone/>
            </a:pPr>
            <a:r>
              <a:rPr lang="en" sz="1100" dirty="0">
                <a:solidFill>
                  <a:srgbClr val="0000FF"/>
                </a:solidFill>
              </a:rPr>
              <a:t>y_true = y_test # True values</a:t>
            </a:r>
            <a:endParaRPr sz="1100" dirty="0">
              <a:solidFill>
                <a:srgbClr val="0000FF"/>
              </a:solidFill>
            </a:endParaRPr>
          </a:p>
          <a:p>
            <a:pPr marL="0" lvl="0" indent="0" algn="l" rtl="0">
              <a:spcBef>
                <a:spcPts val="0"/>
              </a:spcBef>
              <a:spcAft>
                <a:spcPts val="0"/>
              </a:spcAft>
              <a:buNone/>
            </a:pPr>
            <a:endParaRPr sz="1100" dirty="0">
              <a:solidFill>
                <a:srgbClr val="0000FF"/>
              </a:solidFill>
            </a:endParaRPr>
          </a:p>
          <a:p>
            <a:pPr marL="0" lvl="0" indent="0" algn="l" rtl="0">
              <a:spcBef>
                <a:spcPts val="0"/>
              </a:spcBef>
              <a:spcAft>
                <a:spcPts val="0"/>
              </a:spcAft>
              <a:buNone/>
            </a:pPr>
            <a:endParaRPr sz="1100" dirty="0">
              <a:solidFill>
                <a:srgbClr val="0000FF"/>
              </a:solidFill>
            </a:endParaRPr>
          </a:p>
          <a:p>
            <a:pPr marL="0" lvl="0" indent="0" algn="l" rtl="0">
              <a:spcBef>
                <a:spcPts val="0"/>
              </a:spcBef>
              <a:spcAft>
                <a:spcPts val="0"/>
              </a:spcAft>
              <a:buNone/>
            </a:pPr>
            <a:endParaRPr sz="1100" dirty="0">
              <a:solidFill>
                <a:srgbClr val="0000FF"/>
              </a:solidFill>
            </a:endParaRPr>
          </a:p>
        </p:txBody>
      </p:sp>
      <p:sp>
        <p:nvSpPr>
          <p:cNvPr id="268" name="Google Shape;268;g3d0286cfc55_0_44"/>
          <p:cNvSpPr txBox="1"/>
          <p:nvPr/>
        </p:nvSpPr>
        <p:spPr>
          <a:xfrm>
            <a:off x="5419250" y="1498681"/>
            <a:ext cx="3000000" cy="1200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solidFill>
                  <a:srgbClr val="0000FF"/>
                </a:solidFill>
              </a:rPr>
              <a:t>print("Test accuracy:", np.round(accuracy_score(y_true, y_pred), 2))</a:t>
            </a:r>
            <a:endParaRPr sz="1100" dirty="0">
              <a:solidFill>
                <a:srgbClr val="0000FF"/>
              </a:solidFill>
            </a:endParaRPr>
          </a:p>
          <a:p>
            <a:pPr marL="0" lvl="0" indent="0" algn="l" rtl="0">
              <a:spcBef>
                <a:spcPts val="0"/>
              </a:spcBef>
              <a:spcAft>
                <a:spcPts val="0"/>
              </a:spcAft>
              <a:buNone/>
            </a:pPr>
            <a:r>
              <a:rPr lang="en" sz="1100" dirty="0">
                <a:solidFill>
                  <a:srgbClr val="0000FF"/>
                </a:solidFill>
              </a:rPr>
              <a:t>end = time.time()</a:t>
            </a:r>
            <a:endParaRPr sz="1100" dirty="0">
              <a:solidFill>
                <a:srgbClr val="0000FF"/>
              </a:solidFill>
            </a:endParaRPr>
          </a:p>
          <a:p>
            <a:pPr marL="0" lvl="0" indent="0" algn="l" rtl="0">
              <a:spcBef>
                <a:spcPts val="0"/>
              </a:spcBef>
              <a:spcAft>
                <a:spcPts val="0"/>
              </a:spcAft>
              <a:buNone/>
            </a:pPr>
            <a:r>
              <a:rPr lang="en" sz="1100" dirty="0">
                <a:solidFill>
                  <a:srgbClr val="0000FF"/>
                </a:solidFill>
              </a:rPr>
              <a:t>diff = end - start</a:t>
            </a:r>
            <a:endParaRPr sz="1100" dirty="0">
              <a:solidFill>
                <a:srgbClr val="0000FF"/>
              </a:solidFill>
            </a:endParaRPr>
          </a:p>
          <a:p>
            <a:pPr marL="0" lvl="0" indent="0" algn="l" rtl="0">
              <a:spcBef>
                <a:spcPts val="0"/>
              </a:spcBef>
              <a:spcAft>
                <a:spcPts val="0"/>
              </a:spcAft>
              <a:buNone/>
            </a:pPr>
            <a:r>
              <a:rPr lang="en" sz="1100" dirty="0">
                <a:solidFill>
                  <a:srgbClr val="0000FF"/>
                </a:solidFill>
              </a:rPr>
              <a:t>print('Execution time of Grid Search (in Seconds):', diff)</a:t>
            </a:r>
            <a:endParaRPr sz="1500" dirty="0">
              <a:solidFill>
                <a:srgbClr val="0000FF"/>
              </a:solidFill>
            </a:endParaRPr>
          </a:p>
        </p:txBody>
      </p:sp>
      <p:sp>
        <p:nvSpPr>
          <p:cNvPr id="269" name="Google Shape;269;g3d0286cfc55_0_44"/>
          <p:cNvSpPr txBox="1"/>
          <p:nvPr/>
        </p:nvSpPr>
        <p:spPr>
          <a:xfrm>
            <a:off x="4887050" y="2841494"/>
            <a:ext cx="4064400" cy="2462182"/>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OUTPUT:</a:t>
            </a:r>
            <a:endParaRPr sz="1200" dirty="0"/>
          </a:p>
          <a:p>
            <a:pPr marL="0" lvl="0" indent="0" algn="l" rtl="0">
              <a:spcBef>
                <a:spcPts val="0"/>
              </a:spcBef>
              <a:spcAft>
                <a:spcPts val="0"/>
              </a:spcAft>
              <a:buNone/>
            </a:pPr>
            <a:endParaRPr sz="1200" dirty="0"/>
          </a:p>
          <a:p>
            <a:pPr marL="0" lvl="0" indent="0" algn="l" rtl="0">
              <a:spcBef>
                <a:spcPts val="0"/>
              </a:spcBef>
              <a:spcAft>
                <a:spcPts val="0"/>
              </a:spcAft>
              <a:buNone/>
            </a:pPr>
            <a:r>
              <a:rPr lang="en" sz="1200" dirty="0"/>
              <a:t>Optimal hyperparameter combination: {'max_depth':6, 'min_samples_leaf': 6, 'min_samples_split': 2}</a:t>
            </a:r>
            <a:endParaRPr sz="1200" dirty="0"/>
          </a:p>
          <a:p>
            <a:pPr marL="0" lvl="0" indent="0" algn="l" rtl="0">
              <a:spcBef>
                <a:spcPts val="0"/>
              </a:spcBef>
              <a:spcAft>
                <a:spcPts val="0"/>
              </a:spcAft>
              <a:buNone/>
            </a:pPr>
            <a:endParaRPr sz="1200" dirty="0"/>
          </a:p>
          <a:p>
            <a:pPr marL="0" lvl="0" indent="0" algn="l" rtl="0">
              <a:spcBef>
                <a:spcPts val="0"/>
              </a:spcBef>
              <a:spcAft>
                <a:spcPts val="0"/>
              </a:spcAft>
              <a:buNone/>
            </a:pPr>
            <a:r>
              <a:rPr lang="en" sz="1200" dirty="0"/>
              <a:t>Mean cross-validated training accuracy score: </a:t>
            </a:r>
            <a:r>
              <a:rPr lang="en" sz="1200" dirty="0" smtClean="0"/>
              <a:t>0.9923544973544973</a:t>
            </a:r>
            <a:endParaRPr sz="1200" dirty="0"/>
          </a:p>
          <a:p>
            <a:pPr marL="0" lvl="0" indent="0" algn="l" rtl="0">
              <a:spcBef>
                <a:spcPts val="0"/>
              </a:spcBef>
              <a:spcAft>
                <a:spcPts val="0"/>
              </a:spcAft>
              <a:buNone/>
            </a:pPr>
            <a:r>
              <a:rPr lang="en" sz="1200" dirty="0"/>
              <a:t>Test accuracy: </a:t>
            </a:r>
            <a:r>
              <a:rPr lang="en" sz="1200" dirty="0" smtClean="0"/>
              <a:t>1.0</a:t>
            </a:r>
            <a:endParaRPr sz="1200" dirty="0"/>
          </a:p>
          <a:p>
            <a:r>
              <a:rPr lang="en" sz="1200" dirty="0"/>
              <a:t>Execution time of Random Search (in seconds): </a:t>
            </a:r>
            <a:r>
              <a:rPr lang="en-IN" sz="1200" dirty="0"/>
              <a:t>7.455021381378174 </a:t>
            </a:r>
          </a:p>
          <a:p>
            <a:r>
              <a:rPr lang="en-IN" sz="1200" dirty="0"/>
              <a:t/>
            </a:r>
            <a:br>
              <a:rPr lang="en-IN" sz="1200" dirty="0"/>
            </a:br>
            <a:endParaRPr sz="12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g3d0286cfc55_0_47"/>
          <p:cNvSpPr txBox="1"/>
          <p:nvPr/>
        </p:nvSpPr>
        <p:spPr>
          <a:xfrm>
            <a:off x="0" y="0"/>
            <a:ext cx="9144000" cy="1867404"/>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700" b="1" dirty="0">
                <a:solidFill>
                  <a:schemeClr val="dk1"/>
                </a:solidFill>
              </a:rPr>
              <a:t>Comparison</a:t>
            </a:r>
            <a:endParaRPr sz="1700" b="1" dirty="0">
              <a:solidFill>
                <a:schemeClr val="dk1"/>
              </a:solidFill>
            </a:endParaRPr>
          </a:p>
          <a:p>
            <a:pPr marL="0" lvl="0" indent="0" algn="l" rtl="0">
              <a:lnSpc>
                <a:spcPct val="115000"/>
              </a:lnSpc>
              <a:spcBef>
                <a:spcPts val="1200"/>
              </a:spcBef>
              <a:spcAft>
                <a:spcPts val="1200"/>
              </a:spcAft>
              <a:buNone/>
            </a:pPr>
            <a:r>
              <a:rPr lang="en" sz="1300" dirty="0">
                <a:solidFill>
                  <a:schemeClr val="dk1"/>
                </a:solidFill>
              </a:rPr>
              <a:t>In this case, both </a:t>
            </a:r>
            <a:r>
              <a:rPr lang="en" sz="1300" b="1" dirty="0">
                <a:solidFill>
                  <a:schemeClr val="dk1"/>
                </a:solidFill>
              </a:rPr>
              <a:t>Grid Search</a:t>
            </a:r>
            <a:r>
              <a:rPr lang="en" sz="1300" dirty="0">
                <a:solidFill>
                  <a:schemeClr val="dk1"/>
                </a:solidFill>
              </a:rPr>
              <a:t> and </a:t>
            </a:r>
            <a:r>
              <a:rPr lang="en" sz="1300" b="1" dirty="0">
                <a:solidFill>
                  <a:schemeClr val="dk1"/>
                </a:solidFill>
              </a:rPr>
              <a:t>Random Search</a:t>
            </a:r>
            <a:r>
              <a:rPr lang="en" sz="1300" dirty="0">
                <a:solidFill>
                  <a:schemeClr val="dk1"/>
                </a:solidFill>
              </a:rPr>
              <a:t> give similar results. However, Random Search is much faster. In this example, it is </a:t>
            </a:r>
            <a:r>
              <a:rPr lang="en" sz="1300" b="1" dirty="0" smtClean="0">
                <a:solidFill>
                  <a:schemeClr val="dk1"/>
                </a:solidFill>
              </a:rPr>
              <a:t>32</a:t>
            </a:r>
            <a:r>
              <a:rPr lang="en" sz="1300" b="1" dirty="0" smtClean="0">
                <a:solidFill>
                  <a:schemeClr val="dk1"/>
                </a:solidFill>
              </a:rPr>
              <a:t> </a:t>
            </a:r>
            <a:r>
              <a:rPr lang="en" sz="1300" b="1" dirty="0">
                <a:solidFill>
                  <a:schemeClr val="dk1"/>
                </a:solidFill>
              </a:rPr>
              <a:t>times faster </a:t>
            </a:r>
            <a:r>
              <a:rPr lang="en" sz="1300" b="1" dirty="0" smtClean="0">
                <a:solidFill>
                  <a:schemeClr val="dk1"/>
                </a:solidFill>
              </a:rPr>
              <a:t>(</a:t>
            </a:r>
            <a:r>
              <a:rPr lang="en" sz="1300" b="1" dirty="0">
                <a:solidFill>
                  <a:schemeClr val="dk1"/>
                </a:solidFill>
              </a:rPr>
              <a:t>7</a:t>
            </a:r>
            <a:r>
              <a:rPr lang="en" sz="1300" b="1" dirty="0" smtClean="0">
                <a:solidFill>
                  <a:schemeClr val="dk1"/>
                </a:solidFill>
              </a:rPr>
              <a:t>.5 </a:t>
            </a:r>
            <a:r>
              <a:rPr lang="en" sz="1300" b="1" dirty="0">
                <a:solidFill>
                  <a:schemeClr val="dk1"/>
                </a:solidFill>
              </a:rPr>
              <a:t>/ </a:t>
            </a:r>
            <a:r>
              <a:rPr lang="en" sz="1300" b="1" dirty="0" smtClean="0">
                <a:solidFill>
                  <a:schemeClr val="dk1"/>
                </a:solidFill>
              </a:rPr>
              <a:t>0.23)</a:t>
            </a:r>
            <a:r>
              <a:rPr lang="en" sz="1300" dirty="0" smtClean="0">
                <a:solidFill>
                  <a:schemeClr val="dk1"/>
                </a:solidFill>
              </a:rPr>
              <a:t>. </a:t>
            </a:r>
            <a:r>
              <a:rPr lang="en" sz="1300" dirty="0">
                <a:solidFill>
                  <a:schemeClr val="dk1"/>
                </a:solidFill>
              </a:rPr>
              <a:t>This means that if Random Search takes </a:t>
            </a:r>
            <a:r>
              <a:rPr lang="en" sz="1300" b="1" dirty="0">
                <a:solidFill>
                  <a:schemeClr val="dk1"/>
                </a:solidFill>
              </a:rPr>
              <a:t>1 minute</a:t>
            </a:r>
            <a:r>
              <a:rPr lang="en" sz="1300" dirty="0">
                <a:solidFill>
                  <a:schemeClr val="dk1"/>
                </a:solidFill>
              </a:rPr>
              <a:t>, Grid Search would take about </a:t>
            </a:r>
            <a:r>
              <a:rPr lang="en" sz="1300" b="1" dirty="0">
                <a:solidFill>
                  <a:schemeClr val="dk1"/>
                </a:solidFill>
              </a:rPr>
              <a:t>44 minutes</a:t>
            </a:r>
            <a:r>
              <a:rPr lang="en" sz="1300" dirty="0">
                <a:solidFill>
                  <a:schemeClr val="dk1"/>
                </a:solidFill>
              </a:rPr>
              <a:t>. Therefore, when the search space is large and contains many hyperparameter combinations, </a:t>
            </a:r>
            <a:r>
              <a:rPr lang="en" sz="1300" b="1" dirty="0">
                <a:solidFill>
                  <a:schemeClr val="dk1"/>
                </a:solidFill>
              </a:rPr>
              <a:t>Random Search is usually preferred</a:t>
            </a:r>
            <a:r>
              <a:rPr lang="en" sz="1300" dirty="0">
                <a:solidFill>
                  <a:schemeClr val="dk1"/>
                </a:solidFill>
              </a:rPr>
              <a:t>.</a:t>
            </a:r>
            <a:endParaRPr sz="1300" dirty="0">
              <a:solidFill>
                <a:schemeClr val="dk1"/>
              </a:solidFill>
            </a:endParaRPr>
          </a:p>
        </p:txBody>
      </p:sp>
      <p:pic>
        <p:nvPicPr>
          <p:cNvPr id="275" name="Google Shape;275;g3d0286cfc55_0_47"/>
          <p:cNvPicPr preferRelativeResize="0"/>
          <p:nvPr/>
        </p:nvPicPr>
        <p:blipFill rotWithShape="1">
          <a:blip r:embed="rId3">
            <a:alphaModFix/>
          </a:blip>
          <a:srcRect t="7613" b="22088"/>
          <a:stretch/>
        </p:blipFill>
        <p:spPr>
          <a:xfrm>
            <a:off x="128421" y="1934300"/>
            <a:ext cx="5460301" cy="2325975"/>
          </a:xfrm>
          <a:prstGeom prst="rect">
            <a:avLst/>
          </a:prstGeom>
          <a:noFill/>
          <a:ln w="9525" cap="flat" cmpd="sng">
            <a:solidFill>
              <a:schemeClr val="dk1"/>
            </a:solidFill>
            <a:prstDash val="solid"/>
            <a:round/>
            <a:headEnd type="none" w="sm" len="sm"/>
            <a:tailEnd type="none" w="sm" len="sm"/>
          </a:ln>
        </p:spPr>
      </p:pic>
      <p:sp>
        <p:nvSpPr>
          <p:cNvPr id="276" name="Google Shape;276;g3d0286cfc55_0_47"/>
          <p:cNvSpPr txBox="1"/>
          <p:nvPr/>
        </p:nvSpPr>
        <p:spPr>
          <a:xfrm>
            <a:off x="5838900" y="1834400"/>
            <a:ext cx="3000000" cy="2803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a:solidFill>
                  <a:schemeClr val="dk1"/>
                </a:solidFill>
              </a:rPr>
              <a:t>This image compares </a:t>
            </a:r>
            <a:r>
              <a:rPr lang="en" sz="1100" b="1">
                <a:solidFill>
                  <a:schemeClr val="dk1"/>
                </a:solidFill>
              </a:rPr>
              <a:t>Grid Search</a:t>
            </a:r>
            <a:r>
              <a:rPr lang="en" sz="1100">
                <a:solidFill>
                  <a:schemeClr val="dk1"/>
                </a:solidFill>
              </a:rPr>
              <a:t> and </a:t>
            </a:r>
            <a:r>
              <a:rPr lang="en" sz="1100" b="1">
                <a:solidFill>
                  <a:schemeClr val="dk1"/>
                </a:solidFill>
              </a:rPr>
              <a:t>Random Search</a:t>
            </a:r>
            <a:r>
              <a:rPr lang="en" sz="1100">
                <a:solidFill>
                  <a:schemeClr val="dk1"/>
                </a:solidFill>
              </a:rPr>
              <a:t> for hyperparameter tuning.</a:t>
            </a:r>
            <a:endParaRPr sz="1100">
              <a:solidFill>
                <a:schemeClr val="dk1"/>
              </a:solidFill>
            </a:endParaRPr>
          </a:p>
          <a:p>
            <a:pPr marL="0" lvl="0" indent="0" algn="l" rtl="0">
              <a:lnSpc>
                <a:spcPct val="115000"/>
              </a:lnSpc>
              <a:spcBef>
                <a:spcPts val="1200"/>
              </a:spcBef>
              <a:spcAft>
                <a:spcPts val="0"/>
              </a:spcAft>
              <a:buNone/>
            </a:pPr>
            <a:r>
              <a:rPr lang="en" sz="1100" b="1">
                <a:solidFill>
                  <a:schemeClr val="dk1"/>
                </a:solidFill>
              </a:rPr>
              <a:t>Grid Search (left):</a:t>
            </a:r>
            <a:br>
              <a:rPr lang="en" sz="1100" b="1">
                <a:solidFill>
                  <a:schemeClr val="dk1"/>
                </a:solidFill>
              </a:rPr>
            </a:br>
            <a:r>
              <a:rPr lang="en" sz="1100">
                <a:solidFill>
                  <a:schemeClr val="dk1"/>
                </a:solidFill>
              </a:rPr>
              <a:t> The algorithm tests </a:t>
            </a:r>
            <a:r>
              <a:rPr lang="en" sz="1100" b="1">
                <a:solidFill>
                  <a:schemeClr val="dk1"/>
                </a:solidFill>
              </a:rPr>
              <a:t>all possible combinations</a:t>
            </a:r>
            <a:r>
              <a:rPr lang="en" sz="1100">
                <a:solidFill>
                  <a:schemeClr val="dk1"/>
                </a:solidFill>
              </a:rPr>
              <a:t> of parameters X1X_1X1​ and X2X_2X2​ at fixed grid points. It is systematic but </a:t>
            </a:r>
            <a:r>
              <a:rPr lang="en" sz="1100" b="1">
                <a:solidFill>
                  <a:schemeClr val="dk1"/>
                </a:solidFill>
              </a:rPr>
              <a:t>takes more time</a:t>
            </a:r>
            <a:r>
              <a:rPr lang="en" sz="1100">
                <a:solidFill>
                  <a:schemeClr val="dk1"/>
                </a:solidFill>
              </a:rPr>
              <a:t>.</a:t>
            </a:r>
            <a:endParaRPr sz="1100">
              <a:solidFill>
                <a:schemeClr val="dk1"/>
              </a:solidFill>
            </a:endParaRPr>
          </a:p>
          <a:p>
            <a:pPr marL="0" lvl="0" indent="0" algn="l" rtl="0">
              <a:lnSpc>
                <a:spcPct val="115000"/>
              </a:lnSpc>
              <a:spcBef>
                <a:spcPts val="1200"/>
              </a:spcBef>
              <a:spcAft>
                <a:spcPts val="1200"/>
              </a:spcAft>
              <a:buNone/>
            </a:pPr>
            <a:r>
              <a:rPr lang="en" sz="1100" b="1">
                <a:solidFill>
                  <a:schemeClr val="dk1"/>
                </a:solidFill>
              </a:rPr>
              <a:t>Random Search (right):</a:t>
            </a:r>
            <a:br>
              <a:rPr lang="en" sz="1100" b="1">
                <a:solidFill>
                  <a:schemeClr val="dk1"/>
                </a:solidFill>
              </a:rPr>
            </a:br>
            <a:r>
              <a:rPr lang="en" sz="1100">
                <a:solidFill>
                  <a:schemeClr val="dk1"/>
                </a:solidFill>
              </a:rPr>
              <a:t> The algorithm tests </a:t>
            </a:r>
            <a:r>
              <a:rPr lang="en" sz="1100" b="1">
                <a:solidFill>
                  <a:schemeClr val="dk1"/>
                </a:solidFill>
              </a:rPr>
              <a:t>random combinations</a:t>
            </a:r>
            <a:r>
              <a:rPr lang="en" sz="1100">
                <a:solidFill>
                  <a:schemeClr val="dk1"/>
                </a:solidFill>
              </a:rPr>
              <a:t> of parameters in the search space. It checks fewer points, so it is </a:t>
            </a:r>
            <a:r>
              <a:rPr lang="en" sz="1100" b="1">
                <a:solidFill>
                  <a:schemeClr val="dk1"/>
                </a:solidFill>
              </a:rPr>
              <a:t>faster</a:t>
            </a:r>
            <a:r>
              <a:rPr lang="en" sz="1100">
                <a:solidFill>
                  <a:schemeClr val="dk1"/>
                </a:solidFill>
              </a:rPr>
              <a:t> and often finds good results quickly.</a:t>
            </a:r>
            <a:endParaRPr sz="1100">
              <a:solidFill>
                <a:schemeClr val="dk1"/>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g3d0286cfc55_0_50"/>
          <p:cNvSpPr txBox="1"/>
          <p:nvPr/>
        </p:nvSpPr>
        <p:spPr>
          <a:xfrm>
            <a:off x="0" y="0"/>
            <a:ext cx="9088200" cy="300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700" b="1">
                <a:solidFill>
                  <a:schemeClr val="dk1"/>
                </a:solidFill>
              </a:rPr>
              <a:t>Conclusion</a:t>
            </a:r>
            <a:endParaRPr sz="1700" b="1">
              <a:solidFill>
                <a:schemeClr val="dk1"/>
              </a:solidFill>
            </a:endParaRPr>
          </a:p>
          <a:p>
            <a:pPr marL="457200" lvl="0" indent="-336550" algn="l" rtl="0">
              <a:lnSpc>
                <a:spcPct val="115000"/>
              </a:lnSpc>
              <a:spcBef>
                <a:spcPts val="1200"/>
              </a:spcBef>
              <a:spcAft>
                <a:spcPts val="0"/>
              </a:spcAft>
              <a:buClr>
                <a:schemeClr val="dk1"/>
              </a:buClr>
              <a:buSzPts val="1700"/>
              <a:buChar char="●"/>
            </a:pPr>
            <a:r>
              <a:rPr lang="en" sz="1700">
                <a:solidFill>
                  <a:schemeClr val="dk1"/>
                </a:solidFill>
              </a:rPr>
              <a:t>Random Search is a hyperparameter tuning technique often used when the search space has </a:t>
            </a:r>
            <a:r>
              <a:rPr lang="en" sz="1700" b="1">
                <a:solidFill>
                  <a:schemeClr val="dk1"/>
                </a:solidFill>
              </a:rPr>
              <a:t>high dimensionality</a:t>
            </a:r>
            <a:r>
              <a:rPr lang="en" sz="1700">
                <a:solidFill>
                  <a:schemeClr val="dk1"/>
                </a:solidFill>
              </a:rPr>
              <a:t>.</a:t>
            </a:r>
            <a:br>
              <a:rPr lang="en" sz="1700">
                <a:solidFill>
                  <a:schemeClr val="dk1"/>
                </a:solidFill>
              </a:rPr>
            </a:br>
            <a:endParaRPr sz="1700">
              <a:solidFill>
                <a:schemeClr val="dk1"/>
              </a:solidFill>
            </a:endParaRPr>
          </a:p>
          <a:p>
            <a:pPr marL="457200" lvl="0" indent="-336550" algn="l" rtl="0">
              <a:lnSpc>
                <a:spcPct val="115000"/>
              </a:lnSpc>
              <a:spcBef>
                <a:spcPts val="0"/>
              </a:spcBef>
              <a:spcAft>
                <a:spcPts val="0"/>
              </a:spcAft>
              <a:buClr>
                <a:schemeClr val="dk1"/>
              </a:buClr>
              <a:buSzPts val="1700"/>
              <a:buChar char="●"/>
            </a:pPr>
            <a:r>
              <a:rPr lang="en" sz="1700">
                <a:solidFill>
                  <a:schemeClr val="dk1"/>
                </a:solidFill>
              </a:rPr>
              <a:t>It usually performs better than </a:t>
            </a:r>
            <a:r>
              <a:rPr lang="en" sz="1700" b="1">
                <a:solidFill>
                  <a:schemeClr val="dk1"/>
                </a:solidFill>
              </a:rPr>
              <a:t>Grid Search</a:t>
            </a:r>
            <a:r>
              <a:rPr lang="en" sz="1700">
                <a:solidFill>
                  <a:schemeClr val="dk1"/>
                </a:solidFill>
              </a:rPr>
              <a:t>, but it does not always guarantee the best hyperparameters.</a:t>
            </a:r>
            <a:br>
              <a:rPr lang="en" sz="1700">
                <a:solidFill>
                  <a:schemeClr val="dk1"/>
                </a:solidFill>
              </a:rPr>
            </a:br>
            <a:endParaRPr sz="1700">
              <a:solidFill>
                <a:schemeClr val="dk1"/>
              </a:solidFill>
            </a:endParaRPr>
          </a:p>
          <a:p>
            <a:pPr marL="457200" lvl="0" indent="-336550" algn="l" rtl="0">
              <a:lnSpc>
                <a:spcPct val="115000"/>
              </a:lnSpc>
              <a:spcBef>
                <a:spcPts val="0"/>
              </a:spcBef>
              <a:spcAft>
                <a:spcPts val="0"/>
              </a:spcAft>
              <a:buClr>
                <a:schemeClr val="dk1"/>
              </a:buClr>
              <a:buSzPts val="1700"/>
              <a:buChar char="●"/>
            </a:pPr>
            <a:r>
              <a:rPr lang="en" sz="1700">
                <a:solidFill>
                  <a:schemeClr val="dk1"/>
                </a:solidFill>
              </a:rPr>
              <a:t>Random Search replaces </a:t>
            </a:r>
            <a:r>
              <a:rPr lang="en" sz="1700" b="1">
                <a:solidFill>
                  <a:schemeClr val="dk1"/>
                </a:solidFill>
              </a:rPr>
              <a:t>exhaustive search</a:t>
            </a:r>
            <a:r>
              <a:rPr lang="en" sz="1700">
                <a:solidFill>
                  <a:schemeClr val="dk1"/>
                </a:solidFill>
              </a:rPr>
              <a:t> by selecting hyperparameter values </a:t>
            </a:r>
            <a:r>
              <a:rPr lang="en" sz="1700" b="1">
                <a:solidFill>
                  <a:schemeClr val="dk1"/>
                </a:solidFill>
              </a:rPr>
              <a:t>randomly</a:t>
            </a:r>
            <a:r>
              <a:rPr lang="en" sz="1700">
                <a:solidFill>
                  <a:schemeClr val="dk1"/>
                </a:solidFill>
              </a:rPr>
              <a:t>.</a:t>
            </a:r>
            <a:endParaRPr sz="1700">
              <a:solidFill>
                <a:schemeClr val="dk1"/>
              </a:solidFill>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g3d0286cfc55_0_53"/>
          <p:cNvSpPr txBox="1"/>
          <p:nvPr/>
        </p:nvSpPr>
        <p:spPr>
          <a:xfrm>
            <a:off x="0" y="2062196"/>
            <a:ext cx="9144000" cy="646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3000" b="1">
                <a:solidFill>
                  <a:schemeClr val="dk1"/>
                </a:solidFill>
              </a:rPr>
              <a:t>Saving and Loading Models in Machine Learning</a:t>
            </a:r>
            <a:endParaRPr sz="3000" b="1">
              <a:solidFill>
                <a:schemeClr val="dk1"/>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g3d0286cfc55_0_56"/>
          <p:cNvSpPr txBox="1"/>
          <p:nvPr/>
        </p:nvSpPr>
        <p:spPr>
          <a:xfrm>
            <a:off x="0" y="0"/>
            <a:ext cx="9144000" cy="2565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 sz="1800" b="1" u="sng">
                <a:solidFill>
                  <a:schemeClr val="dk1"/>
                </a:solidFill>
              </a:rPr>
              <a:t>Introduction</a:t>
            </a:r>
            <a:endParaRPr sz="1800" b="1" u="sng">
              <a:solidFill>
                <a:schemeClr val="dk1"/>
              </a:solidFill>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In machine learning, training a model can take a lot of time and computational resources.</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Once a model is trained, it is useful to save the model so that it can be reused later without retraining.</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Saving and loading models allows developers to store trained models on disk and load them whenever needed</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for predictions or deployment. This is commonly used in real-world applications where models are trained once</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 sz="1500">
                <a:solidFill>
                  <a:schemeClr val="dk1"/>
                </a:solidFill>
                <a:latin typeface="Calibri"/>
                <a:ea typeface="Calibri"/>
                <a:cs typeface="Calibri"/>
                <a:sym typeface="Calibri"/>
              </a:rPr>
              <a:t>and used multiple times.</a:t>
            </a:r>
            <a:endParaRPr sz="1500">
              <a:solidFill>
                <a:schemeClr val="dk1"/>
              </a:solidFill>
              <a:latin typeface="Calibri"/>
              <a:ea typeface="Calibri"/>
              <a:cs typeface="Calibri"/>
              <a:sym typeface="Calibri"/>
            </a:endParaRPr>
          </a:p>
        </p:txBody>
      </p:sp>
      <p:sp>
        <p:nvSpPr>
          <p:cNvPr id="292" name="Google Shape;292;g3d0286cfc55_0_56"/>
          <p:cNvSpPr txBox="1"/>
          <p:nvPr/>
        </p:nvSpPr>
        <p:spPr>
          <a:xfrm>
            <a:off x="0" y="2769577"/>
            <a:ext cx="9144000" cy="212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 sz="1700" b="1" u="sng">
                <a:solidFill>
                  <a:schemeClr val="dk1"/>
                </a:solidFill>
              </a:rPr>
              <a:t>Why Saving Models is Important</a:t>
            </a:r>
            <a:endParaRPr sz="1700" b="1" u="sng">
              <a:solidFill>
                <a:schemeClr val="dk1"/>
              </a:solidFill>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1. Avoid Retraining – Training models repeatedly is time</a:t>
            </a:r>
            <a:r>
              <a:rPr lang="en" sz="1500">
                <a:solidFill>
                  <a:schemeClr val="dk1"/>
                </a:solidFill>
                <a:latin typeface="Times New Roman"/>
                <a:ea typeface="Times New Roman"/>
                <a:cs typeface="Times New Roman"/>
                <a:sym typeface="Times New Roman"/>
              </a:rPr>
              <a:t>‑</a:t>
            </a:r>
            <a:r>
              <a:rPr lang="en" sz="1500">
                <a:solidFill>
                  <a:schemeClr val="dk1"/>
                </a:solidFill>
                <a:latin typeface="Calibri"/>
                <a:ea typeface="Calibri"/>
                <a:cs typeface="Calibri"/>
                <a:sym typeface="Calibri"/>
              </a:rPr>
              <a:t>consuming. Saving allows reuse of trained models.</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2. Deployment – Models used in applications or APIs must be saved and loaded.</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3. Reproducibility – Saved models allow experiments to be reproduced later.</a:t>
            </a:r>
            <a:endParaRPr sz="1500">
              <a:solidFill>
                <a:schemeClr val="dk1"/>
              </a:solidFill>
              <a:latin typeface="Calibri"/>
              <a:ea typeface="Calibri"/>
              <a:cs typeface="Calibri"/>
              <a:sym typeface="Calibri"/>
            </a:endParaRPr>
          </a:p>
          <a:p>
            <a:pPr marL="0" lvl="0" indent="0" algn="l" rtl="0">
              <a:spcBef>
                <a:spcPts val="1200"/>
              </a:spcBef>
              <a:spcAft>
                <a:spcPts val="0"/>
              </a:spcAft>
              <a:buNone/>
            </a:pPr>
            <a:r>
              <a:rPr lang="en" sz="1500">
                <a:solidFill>
                  <a:schemeClr val="dk1"/>
                </a:solidFill>
                <a:latin typeface="Calibri"/>
                <a:ea typeface="Calibri"/>
                <a:cs typeface="Calibri"/>
                <a:sym typeface="Calibri"/>
              </a:rPr>
              <a:t>4. Sharing Models – Models can be shared with other developers or teams.</a:t>
            </a:r>
            <a:endParaRPr sz="170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g3d0286cfc55_0_59"/>
          <p:cNvSpPr txBox="1"/>
          <p:nvPr/>
        </p:nvSpPr>
        <p:spPr>
          <a:xfrm>
            <a:off x="0" y="419633"/>
            <a:ext cx="9144000" cy="211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 sz="1600" b="1" u="sng">
                <a:solidFill>
                  <a:schemeClr val="dk1"/>
                </a:solidFill>
              </a:rPr>
              <a:t>Common Methods to Save and Load Models in Python</a:t>
            </a:r>
            <a:endParaRPr sz="1600" b="1" u="sng">
              <a:solidFill>
                <a:schemeClr val="dk1"/>
              </a:solidFill>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The most common methods are:</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 Pickle – Python built</a:t>
            </a:r>
            <a:r>
              <a:rPr lang="en" sz="1500">
                <a:solidFill>
                  <a:schemeClr val="dk1"/>
                </a:solidFill>
                <a:latin typeface="Times New Roman"/>
                <a:ea typeface="Times New Roman"/>
                <a:cs typeface="Times New Roman"/>
                <a:sym typeface="Times New Roman"/>
              </a:rPr>
              <a:t>‑</a:t>
            </a:r>
            <a:r>
              <a:rPr lang="en" sz="1500">
                <a:solidFill>
                  <a:schemeClr val="dk1"/>
                </a:solidFill>
                <a:latin typeface="Calibri"/>
                <a:ea typeface="Calibri"/>
                <a:cs typeface="Calibri"/>
                <a:sym typeface="Calibri"/>
              </a:rPr>
              <a:t>in library used to serialize Python objects.</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 Joblib – Efficient library commonly used with Scikit</a:t>
            </a:r>
            <a:r>
              <a:rPr lang="en" sz="1500">
                <a:solidFill>
                  <a:schemeClr val="dk1"/>
                </a:solidFill>
                <a:latin typeface="Times New Roman"/>
                <a:ea typeface="Times New Roman"/>
                <a:cs typeface="Times New Roman"/>
                <a:sym typeface="Times New Roman"/>
              </a:rPr>
              <a:t>‑</a:t>
            </a:r>
            <a:r>
              <a:rPr lang="en" sz="1500">
                <a:solidFill>
                  <a:schemeClr val="dk1"/>
                </a:solidFill>
                <a:latin typeface="Calibri"/>
                <a:ea typeface="Calibri"/>
                <a:cs typeface="Calibri"/>
                <a:sym typeface="Calibri"/>
              </a:rPr>
              <a:t>learn models.</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 sz="1500">
                <a:solidFill>
                  <a:schemeClr val="dk1"/>
                </a:solidFill>
                <a:latin typeface="Calibri"/>
                <a:ea typeface="Calibri"/>
                <a:cs typeface="Calibri"/>
                <a:sym typeface="Calibri"/>
              </a:rPr>
              <a:t>• Model</a:t>
            </a:r>
            <a:r>
              <a:rPr lang="en" sz="1500">
                <a:solidFill>
                  <a:schemeClr val="dk1"/>
                </a:solidFill>
                <a:latin typeface="Times New Roman"/>
                <a:ea typeface="Times New Roman"/>
                <a:cs typeface="Times New Roman"/>
                <a:sym typeface="Times New Roman"/>
              </a:rPr>
              <a:t>‑</a:t>
            </a:r>
            <a:r>
              <a:rPr lang="en" sz="1500">
                <a:solidFill>
                  <a:schemeClr val="dk1"/>
                </a:solidFill>
                <a:latin typeface="Calibri"/>
                <a:ea typeface="Calibri"/>
                <a:cs typeface="Calibri"/>
                <a:sym typeface="Calibri"/>
              </a:rPr>
              <a:t>specific saving – Libraries such as TensorFlow or PyTorch provide their own saving methods.</a:t>
            </a:r>
            <a:endParaRPr sz="1500">
              <a:solidFill>
                <a:schemeClr val="dk1"/>
              </a:solidFill>
              <a:latin typeface="Calibri"/>
              <a:ea typeface="Calibri"/>
              <a:cs typeface="Calibri"/>
              <a:sym typeface="Calibri"/>
            </a:endParaRPr>
          </a:p>
        </p:txBody>
      </p:sp>
      <p:sp>
        <p:nvSpPr>
          <p:cNvPr id="298" name="Google Shape;298;g3d0286cfc55_0_59"/>
          <p:cNvSpPr txBox="1"/>
          <p:nvPr/>
        </p:nvSpPr>
        <p:spPr>
          <a:xfrm>
            <a:off x="0" y="2685634"/>
            <a:ext cx="9144000" cy="1272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 sz="1600" b="1" u="sng">
                <a:solidFill>
                  <a:schemeClr val="dk1"/>
                </a:solidFill>
              </a:rPr>
              <a:t>Method 1: Using Pickle</a:t>
            </a:r>
            <a:endParaRPr sz="1600" b="1" u="sng">
              <a:solidFill>
                <a:schemeClr val="dk1"/>
              </a:solidFill>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Pickle is a Python library used to serialize and deserialize Python objects.</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 sz="1500">
                <a:solidFill>
                  <a:schemeClr val="dk1"/>
                </a:solidFill>
                <a:latin typeface="Calibri"/>
                <a:ea typeface="Calibri"/>
                <a:cs typeface="Calibri"/>
                <a:sym typeface="Calibri"/>
              </a:rPr>
              <a:t>Serialization means converting an object into a format that can be stored in a file.</a:t>
            </a:r>
            <a:endParaRPr sz="15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g3d779cc280c_0_15"/>
          <p:cNvSpPr txBox="1"/>
          <p:nvPr/>
        </p:nvSpPr>
        <p:spPr>
          <a:xfrm>
            <a:off x="203822" y="0"/>
            <a:ext cx="9144000" cy="5202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 sz="1600" b="1" u="sng">
                <a:solidFill>
                  <a:schemeClr val="dk1"/>
                </a:solidFill>
              </a:rPr>
              <a:t>Example: Saving a Model using Pickle</a:t>
            </a:r>
            <a:endParaRPr sz="1600" b="1" u="sng">
              <a:solidFill>
                <a:schemeClr val="dk1"/>
              </a:solidFill>
            </a:endParaRPr>
          </a:p>
          <a:p>
            <a:pPr marL="0" lvl="0" indent="0" algn="l" rtl="0">
              <a:lnSpc>
                <a:spcPct val="115000"/>
              </a:lnSpc>
              <a:spcBef>
                <a:spcPts val="1200"/>
              </a:spcBef>
              <a:spcAft>
                <a:spcPts val="0"/>
              </a:spcAft>
              <a:buNone/>
            </a:pPr>
            <a:r>
              <a:rPr lang="en" sz="1200">
                <a:solidFill>
                  <a:srgbClr val="0000FF"/>
                </a:solidFill>
              </a:rPr>
              <a:t>import pandas as pd</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from sklearn.model_selection import train_test_split</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from sklearn.tree import DecisionTreeClassifier</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import pickle</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data = pd.read_csv("heart.csv")</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X = data.drop("target", axis=1)</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y = data["target"]</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X_train, X_test, y_train, y_test = train_test_split(X, y, test_size=0.2)</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model = DecisionTreeClassifier()</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model.fit(X_train, y_train)</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with open("model.pkl", "wb") as file:</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	pickle.dump(model, file)</a:t>
            </a:r>
            <a:endParaRPr sz="1200">
              <a:solidFill>
                <a:srgbClr val="0000FF"/>
              </a:solidFill>
            </a:endParaRPr>
          </a:p>
          <a:p>
            <a:pPr marL="0" lvl="0" indent="0" algn="l" rtl="0">
              <a:lnSpc>
                <a:spcPct val="115000"/>
              </a:lnSpc>
              <a:spcBef>
                <a:spcPts val="1200"/>
              </a:spcBef>
              <a:spcAft>
                <a:spcPts val="1200"/>
              </a:spcAft>
              <a:buNone/>
            </a:pPr>
            <a:r>
              <a:rPr lang="en" sz="1200">
                <a:solidFill>
                  <a:srgbClr val="0000FF"/>
                </a:solidFill>
              </a:rPr>
              <a:t>print("Model saved successfully")</a:t>
            </a:r>
            <a:endParaRPr sz="1200">
              <a:solidFill>
                <a:srgbClr val="0000FF"/>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3d779cc280c_0_20"/>
          <p:cNvSpPr txBox="1"/>
          <p:nvPr/>
        </p:nvSpPr>
        <p:spPr>
          <a:xfrm>
            <a:off x="143874" y="131885"/>
            <a:ext cx="9144000" cy="2271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 sz="1600" b="1" u="sng">
                <a:solidFill>
                  <a:schemeClr val="dk1"/>
                </a:solidFill>
              </a:rPr>
              <a:t>Example: Loading a Model using Pickle</a:t>
            </a:r>
            <a:endParaRPr sz="1600" b="1" u="sng">
              <a:solidFill>
                <a:schemeClr val="dk1"/>
              </a:solidFill>
            </a:endParaRPr>
          </a:p>
          <a:p>
            <a:pPr marL="0" lvl="0" indent="0" algn="l" rtl="0">
              <a:lnSpc>
                <a:spcPct val="115000"/>
              </a:lnSpc>
              <a:spcBef>
                <a:spcPts val="1200"/>
              </a:spcBef>
              <a:spcAft>
                <a:spcPts val="0"/>
              </a:spcAft>
              <a:buNone/>
            </a:pPr>
            <a:r>
              <a:rPr lang="en" sz="1200">
                <a:solidFill>
                  <a:srgbClr val="0000FF"/>
                </a:solidFill>
              </a:rPr>
              <a:t>import pickle</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with open("model.pkl", "rb") as file:</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	loaded_model = pickle.load(file)</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prediction = loaded_model.predict([[63,1,3,145,233,1,0,150,0,2.3,0,0,1]])</a:t>
            </a:r>
            <a:endParaRPr sz="1200">
              <a:solidFill>
                <a:srgbClr val="0000FF"/>
              </a:solidFill>
            </a:endParaRPr>
          </a:p>
          <a:p>
            <a:pPr marL="0" lvl="0" indent="0" algn="l" rtl="0">
              <a:lnSpc>
                <a:spcPct val="115000"/>
              </a:lnSpc>
              <a:spcBef>
                <a:spcPts val="1200"/>
              </a:spcBef>
              <a:spcAft>
                <a:spcPts val="1200"/>
              </a:spcAft>
              <a:buNone/>
            </a:pPr>
            <a:r>
              <a:rPr lang="en" sz="1200">
                <a:solidFill>
                  <a:srgbClr val="0000FF"/>
                </a:solidFill>
              </a:rPr>
              <a:t>print(prediction)</a:t>
            </a:r>
            <a:endParaRPr sz="1200">
              <a:solidFill>
                <a:srgbClr val="0000FF"/>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g3d779cc280c_0_23"/>
          <p:cNvSpPr txBox="1"/>
          <p:nvPr/>
        </p:nvSpPr>
        <p:spPr>
          <a:xfrm>
            <a:off x="0" y="0"/>
            <a:ext cx="9088200" cy="5316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 sz="1600" b="1" u="sng">
                <a:solidFill>
                  <a:schemeClr val="dk1"/>
                </a:solidFill>
              </a:rPr>
              <a:t>Method 2: Using Joblib</a:t>
            </a:r>
            <a:endParaRPr sz="1600" b="1" u="sng">
              <a:solidFill>
                <a:schemeClr val="dk1"/>
              </a:solidFill>
            </a:endParaRPr>
          </a:p>
          <a:p>
            <a:pPr marL="0" lvl="0" indent="0" algn="l" rtl="0">
              <a:lnSpc>
                <a:spcPct val="115000"/>
              </a:lnSpc>
              <a:spcBef>
                <a:spcPts val="2400"/>
              </a:spcBef>
              <a:spcAft>
                <a:spcPts val="0"/>
              </a:spcAft>
              <a:buNone/>
            </a:pPr>
            <a:r>
              <a:rPr lang="en" sz="1600" b="1" u="sng">
                <a:solidFill>
                  <a:schemeClr val="dk1"/>
                </a:solidFill>
              </a:rPr>
              <a:t>Example: Saving a Model using Joblib</a:t>
            </a:r>
            <a:endParaRPr sz="1600" b="1" u="sng">
              <a:solidFill>
                <a:schemeClr val="dk1"/>
              </a:solidFill>
            </a:endParaRPr>
          </a:p>
          <a:p>
            <a:pPr marL="0" lvl="0" indent="0" algn="l" rtl="0">
              <a:lnSpc>
                <a:spcPct val="115000"/>
              </a:lnSpc>
              <a:spcBef>
                <a:spcPts val="1200"/>
              </a:spcBef>
              <a:spcAft>
                <a:spcPts val="0"/>
              </a:spcAft>
              <a:buNone/>
            </a:pPr>
            <a:r>
              <a:rPr lang="en" sz="1200">
                <a:solidFill>
                  <a:srgbClr val="0000FF"/>
                </a:solidFill>
              </a:rPr>
              <a:t>import joblib</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from sklearn.tree import DecisionTreeClassifier</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model = DecisionTreeClassifier()</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model.fit(X_train, y_train)</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joblib.dump(model, "model_joblib.pkl")</a:t>
            </a:r>
            <a:endParaRPr sz="1200">
              <a:solidFill>
                <a:srgbClr val="0000FF"/>
              </a:solidFill>
            </a:endParaRPr>
          </a:p>
          <a:p>
            <a:pPr marL="0" lvl="0" indent="0" algn="l" rtl="0">
              <a:lnSpc>
                <a:spcPct val="115000"/>
              </a:lnSpc>
              <a:spcBef>
                <a:spcPts val="2400"/>
              </a:spcBef>
              <a:spcAft>
                <a:spcPts val="0"/>
              </a:spcAft>
              <a:buNone/>
            </a:pPr>
            <a:r>
              <a:rPr lang="en" sz="1600" b="1" u="sng">
                <a:solidFill>
                  <a:schemeClr val="dk1"/>
                </a:solidFill>
              </a:rPr>
              <a:t>Example: Loading a Model using Joblib</a:t>
            </a:r>
            <a:endParaRPr sz="1600" b="1" u="sng">
              <a:solidFill>
                <a:schemeClr val="dk1"/>
              </a:solidFill>
            </a:endParaRPr>
          </a:p>
          <a:p>
            <a:pPr marL="0" lvl="0" indent="0" algn="l" rtl="0">
              <a:lnSpc>
                <a:spcPct val="115000"/>
              </a:lnSpc>
              <a:spcBef>
                <a:spcPts val="1200"/>
              </a:spcBef>
              <a:spcAft>
                <a:spcPts val="0"/>
              </a:spcAft>
              <a:buNone/>
            </a:pPr>
            <a:r>
              <a:rPr lang="en" sz="1200">
                <a:solidFill>
                  <a:srgbClr val="0000FF"/>
                </a:solidFill>
              </a:rPr>
              <a:t>import joblib</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loaded_model = joblib.load("model_joblib.pkl")</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prediction = loaded_model.predict([[63,1,3,145,233,1,0,150,0,2.3,0,0,1]])</a:t>
            </a:r>
            <a:endParaRPr sz="1200">
              <a:solidFill>
                <a:srgbClr val="0000FF"/>
              </a:solidFill>
            </a:endParaRPr>
          </a:p>
          <a:p>
            <a:pPr marL="0" lvl="0" indent="0" algn="l" rtl="0">
              <a:lnSpc>
                <a:spcPct val="115000"/>
              </a:lnSpc>
              <a:spcBef>
                <a:spcPts val="1200"/>
              </a:spcBef>
              <a:spcAft>
                <a:spcPts val="0"/>
              </a:spcAft>
              <a:buNone/>
            </a:pPr>
            <a:r>
              <a:rPr lang="en" sz="1200">
                <a:solidFill>
                  <a:srgbClr val="0000FF"/>
                </a:solidFill>
              </a:rPr>
              <a:t>print(prediction)</a:t>
            </a:r>
            <a:endParaRPr sz="1200">
              <a:solidFill>
                <a:srgbClr val="0000FF"/>
              </a:solidFill>
            </a:endParaRPr>
          </a:p>
          <a:p>
            <a:pPr marL="0" lvl="0" indent="0" algn="l" rtl="0">
              <a:lnSpc>
                <a:spcPct val="115000"/>
              </a:lnSpc>
              <a:spcBef>
                <a:spcPts val="1200"/>
              </a:spcBef>
              <a:spcAft>
                <a:spcPts val="1200"/>
              </a:spcAft>
              <a:buNone/>
            </a:pPr>
            <a:endParaRPr>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g3d779cc280c_0_26"/>
          <p:cNvSpPr txBox="1"/>
          <p:nvPr/>
        </p:nvSpPr>
        <p:spPr>
          <a:xfrm>
            <a:off x="0" y="0"/>
            <a:ext cx="9144000" cy="2846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 sz="1600" b="1" u="sng">
                <a:solidFill>
                  <a:schemeClr val="dk1"/>
                </a:solidFill>
              </a:rPr>
              <a:t>Pickle vs Joblib</a:t>
            </a:r>
            <a:endParaRPr sz="1600" b="1" u="sng">
              <a:solidFill>
                <a:schemeClr val="dk1"/>
              </a:solidFill>
            </a:endParaRPr>
          </a:p>
          <a:p>
            <a:pPr marL="0" lvl="0" indent="0" algn="l" rtl="0">
              <a:lnSpc>
                <a:spcPct val="115000"/>
              </a:lnSpc>
              <a:spcBef>
                <a:spcPts val="1200"/>
              </a:spcBef>
              <a:spcAft>
                <a:spcPts val="0"/>
              </a:spcAft>
              <a:buNone/>
            </a:pPr>
            <a:r>
              <a:rPr lang="en">
                <a:solidFill>
                  <a:schemeClr val="dk1"/>
                </a:solidFill>
                <a:latin typeface="Calibri"/>
                <a:ea typeface="Calibri"/>
                <a:cs typeface="Calibri"/>
                <a:sym typeface="Calibri"/>
              </a:rPr>
              <a:t>Pickle:</a:t>
            </a:r>
            <a:endParaRPr>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a:solidFill>
                  <a:schemeClr val="dk1"/>
                </a:solidFill>
                <a:latin typeface="Calibri"/>
                <a:ea typeface="Calibri"/>
                <a:cs typeface="Calibri"/>
                <a:sym typeface="Calibri"/>
              </a:rPr>
              <a:t>• Built</a:t>
            </a:r>
            <a:r>
              <a:rPr lang="en">
                <a:solidFill>
                  <a:schemeClr val="dk1"/>
                </a:solidFill>
                <a:latin typeface="Times New Roman"/>
                <a:ea typeface="Times New Roman"/>
                <a:cs typeface="Times New Roman"/>
                <a:sym typeface="Times New Roman"/>
              </a:rPr>
              <a:t>‑</a:t>
            </a:r>
            <a:r>
              <a:rPr lang="en">
                <a:solidFill>
                  <a:schemeClr val="dk1"/>
                </a:solidFill>
                <a:latin typeface="Calibri"/>
                <a:ea typeface="Calibri"/>
                <a:cs typeface="Calibri"/>
                <a:sym typeface="Calibri"/>
              </a:rPr>
              <a:t>in Python library</a:t>
            </a:r>
            <a:endParaRPr>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a:solidFill>
                  <a:schemeClr val="dk1"/>
                </a:solidFill>
                <a:latin typeface="Calibri"/>
                <a:ea typeface="Calibri"/>
                <a:cs typeface="Calibri"/>
                <a:sym typeface="Calibri"/>
              </a:rPr>
              <a:t>• Slower for large models</a:t>
            </a:r>
            <a:endParaRPr>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a:solidFill>
                  <a:schemeClr val="dk1"/>
                </a:solidFill>
                <a:latin typeface="Calibri"/>
                <a:ea typeface="Calibri"/>
                <a:cs typeface="Calibri"/>
                <a:sym typeface="Calibri"/>
              </a:rPr>
              <a:t>Joblib:</a:t>
            </a:r>
            <a:endParaRPr>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a:solidFill>
                  <a:schemeClr val="dk1"/>
                </a:solidFill>
                <a:latin typeface="Calibri"/>
                <a:ea typeface="Calibri"/>
                <a:cs typeface="Calibri"/>
                <a:sym typeface="Calibri"/>
              </a:rPr>
              <a:t>• Faster and optimized for large NumPy arrays</a:t>
            </a:r>
            <a:endParaRPr>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
                <a:solidFill>
                  <a:schemeClr val="dk1"/>
                </a:solidFill>
                <a:latin typeface="Calibri"/>
                <a:ea typeface="Calibri"/>
                <a:cs typeface="Calibri"/>
                <a:sym typeface="Calibri"/>
              </a:rPr>
              <a:t>• Recommended for Scikit</a:t>
            </a:r>
            <a:r>
              <a:rPr lang="en">
                <a:solidFill>
                  <a:schemeClr val="dk1"/>
                </a:solidFill>
                <a:latin typeface="Times New Roman"/>
                <a:ea typeface="Times New Roman"/>
                <a:cs typeface="Times New Roman"/>
                <a:sym typeface="Times New Roman"/>
              </a:rPr>
              <a:t>‑</a:t>
            </a:r>
            <a:r>
              <a:rPr lang="en">
                <a:solidFill>
                  <a:schemeClr val="dk1"/>
                </a:solidFill>
                <a:latin typeface="Calibri"/>
                <a:ea typeface="Calibri"/>
                <a:cs typeface="Calibri"/>
                <a:sym typeface="Calibri"/>
              </a:rPr>
              <a:t>learn models</a:t>
            </a:r>
            <a:endParaRPr>
              <a:solidFill>
                <a:schemeClr val="dk1"/>
              </a:solidFill>
              <a:latin typeface="Calibri"/>
              <a:ea typeface="Calibri"/>
              <a:cs typeface="Calibri"/>
              <a:sym typeface="Calibri"/>
            </a:endParaRPr>
          </a:p>
        </p:txBody>
      </p:sp>
      <p:sp>
        <p:nvSpPr>
          <p:cNvPr id="319" name="Google Shape;319;g3d779cc280c_0_26"/>
          <p:cNvSpPr txBox="1"/>
          <p:nvPr/>
        </p:nvSpPr>
        <p:spPr>
          <a:xfrm>
            <a:off x="71930" y="2913459"/>
            <a:ext cx="3000000" cy="211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 sz="1600" b="1" u="sng">
                <a:solidFill>
                  <a:schemeClr val="dk1"/>
                </a:solidFill>
              </a:rPr>
              <a:t>Advantages</a:t>
            </a:r>
            <a:endParaRPr sz="1600" b="1" u="sng">
              <a:solidFill>
                <a:schemeClr val="dk1"/>
              </a:solidFill>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 Saves training time</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 Enables deployment</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 Allows reuse of trained models</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 sz="1500">
                <a:solidFill>
                  <a:schemeClr val="dk1"/>
                </a:solidFill>
                <a:latin typeface="Calibri"/>
                <a:ea typeface="Calibri"/>
                <a:cs typeface="Calibri"/>
                <a:sym typeface="Calibri"/>
              </a:rPr>
              <a:t>• Easy model sharing</a:t>
            </a:r>
            <a:endParaRPr sz="1500">
              <a:solidFill>
                <a:schemeClr val="dk1"/>
              </a:solidFill>
              <a:latin typeface="Calibri"/>
              <a:ea typeface="Calibri"/>
              <a:cs typeface="Calibri"/>
              <a:sym typeface="Calibri"/>
            </a:endParaRPr>
          </a:p>
        </p:txBody>
      </p:sp>
      <p:sp>
        <p:nvSpPr>
          <p:cNvPr id="320" name="Google Shape;320;g3d779cc280c_0_26"/>
          <p:cNvSpPr txBox="1"/>
          <p:nvPr/>
        </p:nvSpPr>
        <p:spPr>
          <a:xfrm>
            <a:off x="4244275" y="2976666"/>
            <a:ext cx="4711800" cy="1957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 sz="1600" b="1" u="sng">
                <a:solidFill>
                  <a:schemeClr val="dk1"/>
                </a:solidFill>
              </a:rPr>
              <a:t>Limitations</a:t>
            </a:r>
            <a:endParaRPr sz="1600" b="1" u="sng">
              <a:solidFill>
                <a:schemeClr val="dk1"/>
              </a:solidFill>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 Saved models may not work with different library versions.</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 Loading untrusted pickle files may cause security risks.</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 sz="1500">
                <a:solidFill>
                  <a:schemeClr val="dk1"/>
                </a:solidFill>
                <a:latin typeface="Calibri"/>
                <a:ea typeface="Calibri"/>
                <a:cs typeface="Calibri"/>
                <a:sym typeface="Calibri"/>
              </a:rPr>
              <a:t>• Model files can become corrupted if not stored properly.</a:t>
            </a:r>
            <a:endParaRPr sz="15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g3d779cc280c_0_29"/>
          <p:cNvSpPr txBox="1"/>
          <p:nvPr/>
        </p:nvSpPr>
        <p:spPr>
          <a:xfrm>
            <a:off x="0" y="0"/>
            <a:ext cx="9144000" cy="4473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 sz="1600" b="1" u="sng">
                <a:solidFill>
                  <a:schemeClr val="dk1"/>
                </a:solidFill>
              </a:rPr>
              <a:t>Best Practices</a:t>
            </a:r>
            <a:endParaRPr sz="1600" b="1" u="sng">
              <a:solidFill>
                <a:schemeClr val="dk1"/>
              </a:solidFill>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 Save models after training is complete.</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 Save preprocessing objects such as scalers or encoders.</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(A </a:t>
            </a:r>
            <a:r>
              <a:rPr lang="en" sz="1500" b="1">
                <a:solidFill>
                  <a:schemeClr val="dk1"/>
                </a:solidFill>
                <a:latin typeface="Calibri"/>
                <a:ea typeface="Calibri"/>
                <a:cs typeface="Calibri"/>
                <a:sym typeface="Calibri"/>
              </a:rPr>
              <a:t>scaler</a:t>
            </a:r>
            <a:r>
              <a:rPr lang="en" sz="1500">
                <a:solidFill>
                  <a:schemeClr val="dk1"/>
                </a:solidFill>
                <a:latin typeface="Calibri"/>
                <a:ea typeface="Calibri"/>
                <a:cs typeface="Calibri"/>
                <a:sym typeface="Calibri"/>
              </a:rPr>
              <a:t> is used to normalize or standardize numerical data before training the model.</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Examples:   StandardScaler, MinMaxScaler)</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500">
                <a:solidFill>
                  <a:srgbClr val="188038"/>
                </a:solidFill>
                <a:latin typeface="Calibri"/>
                <a:ea typeface="Calibri"/>
                <a:cs typeface="Calibri"/>
                <a:sym typeface="Calibri"/>
              </a:rPr>
              <a:t>(</a:t>
            </a:r>
            <a:r>
              <a:rPr lang="en" sz="1500">
                <a:solidFill>
                  <a:schemeClr val="dk1"/>
                </a:solidFill>
                <a:latin typeface="Calibri"/>
                <a:ea typeface="Calibri"/>
                <a:cs typeface="Calibri"/>
                <a:sym typeface="Calibri"/>
              </a:rPr>
              <a:t>An </a:t>
            </a:r>
            <a:r>
              <a:rPr lang="en" sz="1500" b="1">
                <a:solidFill>
                  <a:schemeClr val="dk1"/>
                </a:solidFill>
                <a:latin typeface="Calibri"/>
                <a:ea typeface="Calibri"/>
                <a:cs typeface="Calibri"/>
                <a:sym typeface="Calibri"/>
              </a:rPr>
              <a:t>encoder</a:t>
            </a:r>
            <a:r>
              <a:rPr lang="en" sz="1500">
                <a:solidFill>
                  <a:schemeClr val="dk1"/>
                </a:solidFill>
                <a:latin typeface="Calibri"/>
                <a:ea typeface="Calibri"/>
                <a:cs typeface="Calibri"/>
                <a:sym typeface="Calibri"/>
              </a:rPr>
              <a:t> converts </a:t>
            </a:r>
            <a:r>
              <a:rPr lang="en" sz="1500" b="1">
                <a:solidFill>
                  <a:schemeClr val="dk1"/>
                </a:solidFill>
                <a:latin typeface="Calibri"/>
                <a:ea typeface="Calibri"/>
                <a:cs typeface="Calibri"/>
                <a:sym typeface="Calibri"/>
              </a:rPr>
              <a:t>categorical data into numerical values</a:t>
            </a:r>
            <a:r>
              <a:rPr lang="en" sz="1500">
                <a:solidFill>
                  <a:schemeClr val="dk1"/>
                </a:solidFill>
                <a:latin typeface="Calibri"/>
                <a:ea typeface="Calibri"/>
                <a:cs typeface="Calibri"/>
                <a:sym typeface="Calibri"/>
              </a:rPr>
              <a:t>, because machine learning models work only with numbers.</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Examples:    OneHotEncoder, LabelEncoder, OrdinalEncoder)</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 Use Joblib for large models.</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 Keep models in a dedicated 'models' folder.</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 sz="1500">
                <a:solidFill>
                  <a:schemeClr val="dk1"/>
                </a:solidFill>
                <a:latin typeface="Calibri"/>
                <a:ea typeface="Calibri"/>
                <a:cs typeface="Calibri"/>
                <a:sym typeface="Calibri"/>
              </a:rPr>
              <a:t>• Maintain model version control.</a:t>
            </a:r>
            <a:endParaRPr sz="15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g3d779cc280c_0_32"/>
          <p:cNvSpPr txBox="1"/>
          <p:nvPr/>
        </p:nvSpPr>
        <p:spPr>
          <a:xfrm>
            <a:off x="154781" y="226219"/>
            <a:ext cx="9144000" cy="169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 sz="1600" b="1" u="sng">
                <a:solidFill>
                  <a:schemeClr val="dk1"/>
                </a:solidFill>
              </a:rPr>
              <a:t>Conclusion</a:t>
            </a:r>
            <a:endParaRPr sz="1600" b="1" u="sng">
              <a:solidFill>
                <a:schemeClr val="dk1"/>
              </a:solidFill>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Saving and loading models is an essential part of the machine learning workflow.</a:t>
            </a:r>
            <a:endParaRPr sz="15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It allows trained models to be reused without retraining, saving both time and computational resources.</a:t>
            </a:r>
            <a:endParaRPr sz="1500">
              <a:solidFill>
                <a:schemeClr val="dk1"/>
              </a:solidFill>
              <a:latin typeface="Calibri"/>
              <a:ea typeface="Calibri"/>
              <a:cs typeface="Calibri"/>
              <a:sym typeface="Calibri"/>
            </a:endParaRPr>
          </a:p>
          <a:p>
            <a:pPr marL="0" lvl="0" indent="0" algn="l" rtl="0">
              <a:spcBef>
                <a:spcPts val="1200"/>
              </a:spcBef>
              <a:spcAft>
                <a:spcPts val="0"/>
              </a:spcAft>
              <a:buNone/>
            </a:pPr>
            <a:r>
              <a:rPr lang="en" sz="1500">
                <a:solidFill>
                  <a:schemeClr val="dk1"/>
                </a:solidFill>
                <a:latin typeface="Calibri"/>
                <a:ea typeface="Calibri"/>
                <a:cs typeface="Calibri"/>
                <a:sym typeface="Calibri"/>
              </a:rPr>
              <a:t>In Python, models are commonly saved using Pickle or Joblib, with Joblib often preferred for large models</a:t>
            </a:r>
            <a:endParaRPr sz="15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TotalTime>
  <Words>4208</Words>
  <Application>Microsoft Office PowerPoint</Application>
  <PresentationFormat>On-screen Show (16:9)</PresentationFormat>
  <Paragraphs>493</Paragraphs>
  <Slides>47</Slides>
  <Notes>47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Roboto Mono</vt:lpstr>
      <vt:lpstr>Times New Roman</vt:lpstr>
      <vt:lpstr>Nunito</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18</cp:revision>
  <dcterms:modified xsi:type="dcterms:W3CDTF">2026-07-02T11:37:32Z</dcterms:modified>
</cp:coreProperties>
</file>