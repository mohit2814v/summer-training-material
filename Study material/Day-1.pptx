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-56" y="-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55863-71A7-4B11-A18A-22A15ECB1429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7AE83-2404-4174-995E-D4682BEC0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926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Topics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</a:t>
            </a: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 </a:t>
            </a: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 </a:t>
            </a: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  </a:t>
            </a: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Features &amp; Getting Started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Python?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8503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purpose, high-level, interpreted programming language.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Guido van Rossum in the late 1980s at the National Research Institute for Mathematics and Computer Science in the Netherlands.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popular languages used for console-based, GUI, web programming, and data analysis.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learn and simple — suitable for beginners and experts alike.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Fact: Python is named after the comedy television show Monty Python's Flying Circus.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of Python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8503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Learn and Use — developer-friendly, high-level syntax.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Language — no compilation needed; easy debugging.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— runs on Windows, Linux, Unix, Macintosh, etc.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Open Source — interpreter under an open-source license.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— supports classes and objects.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Programming Support — graphical applications can be built.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— easily integrates with C, C++, Java, and more.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Applications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8503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GUI Applications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and Numeric Computing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Based Applications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or Video based Applications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Python Program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4114800" cy="4206240"/>
          </a:xfrm>
          <a:prstGeom prst="rect">
            <a:avLst/>
          </a:prstGeom>
          <a:solidFill>
            <a:srgbClr val="F0F4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Interpreter Prompt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terminal / command prompt.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python  (or python3)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statements one by one.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concerned about the output of each 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731520"/>
            <a:ext cx="4114800" cy="4206240"/>
          </a:xfrm>
          <a:prstGeom prst="rect">
            <a:avLst/>
          </a:prstGeom>
          <a:solidFill>
            <a:srgbClr val="F0F4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777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Script File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multiple statements in a .py file.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editor (e.g., Notepad) and save as filename.py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with: python filename.py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for larger programs.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in Python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8321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Single-line comment starts with '#'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print("Hello, Python!")   # inline comment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Multi-line comment uses triple quotes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multi-line comment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print("Done")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3611880"/>
            <a:ext cx="8595360" cy="1645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033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supports two comment types: single-line (#) and multi-line (triple quotes). Comments are ignored at runtime.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 Python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8503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named memory location used to store values.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declaration needed — a variable is created when a value is assigned.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loosely typed: the type changes automatically based on the assigned value.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= 10 (integer),  b = "Glance" (string),  c = 12.5 (float)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names must start with a letter or underscore, can contain letters and digits.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are case-sensitive: 'SUM' and 'sum' are different variables.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— Examples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8321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10              # integer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"StudyPython"   # string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12.5            # float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</a:t>
            </a:r>
            <a:r>
              <a:rPr lang="en-US" sz="1300" dirty="0" smtClean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Assign same value to multiple variables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y = z = 50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print(x, y, z</a:t>
            </a:r>
            <a:r>
              <a:rPr lang="en-US" sz="1300" dirty="0" smtClean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Assign multiple values to multiple variables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b, c = 5, 10, 15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print(a, b, c)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3611880"/>
            <a:ext cx="8595360" cy="1645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033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allows multiple assignment in a single line. Variables take the type of the value assigned.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 Operations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8503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— outputs data to the screen or standard output device.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— reads a value entered by the user.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print(object(s), separator=sep, end=end, file=file, flush=flush)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input(prompt)  → always returns a string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int(input(...)) or float(input(...)) to convert to numeric types.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 — Examples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8321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print('how are you?')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print('The value of variable x is', x</a:t>
            </a:r>
            <a:r>
              <a:rPr lang="en-US" sz="1300" dirty="0" smtClean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10, 20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print("a=", a, "b=", b</a:t>
            </a:r>
            <a:r>
              <a:rPr lang="en-US" sz="1300" dirty="0" smtClean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Formatted print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10;  b = 'python'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print("a= %d  b= %s" % (a, b</a:t>
            </a:r>
            <a:r>
              <a:rPr lang="en-US" sz="1300" dirty="0" smtClean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input() example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input('Enter your name: 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print('Hello, ' + name)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3611880"/>
            <a:ext cx="8595360" cy="1645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033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supports multiple arguments separated by comma. input() always returns a string.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Types in Python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Data Types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8503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Type:       str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Types:   int,  float,  complex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Types:  list,  tuple,  range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Type:    dict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Types:       set,  frozenset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Type:    bool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Types:    bytes,  bytearray,  memoryview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Type:       NoneType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&amp; String Types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4114800" cy="4206240"/>
          </a:xfrm>
          <a:prstGeom prst="rect">
            <a:avLst/>
          </a:prstGeom>
          <a:solidFill>
            <a:srgbClr val="F0F4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Types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— whole numbers: 10, -5, 1000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— decimals: 3.14, -0.5, 2.0e3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— complex numbers: 3+4j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conversion: int(), float(), complex()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731520"/>
            <a:ext cx="4114800" cy="4206240"/>
          </a:xfrm>
          <a:prstGeom prst="rect">
            <a:avLst/>
          </a:prstGeom>
          <a:solidFill>
            <a:srgbClr val="F0F4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777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(str)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of characters in quotes: 'hello', "world"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— cannot be changed after creation.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indexing: s[0], slicing: s[1:4]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methods: upper(), lower(), strip(), split(), replace()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&amp; Tuple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4114800" cy="4206240"/>
          </a:xfrm>
          <a:prstGeom prst="rect">
            <a:avLst/>
          </a:prstGeom>
          <a:solidFill>
            <a:srgbClr val="F0F4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mutable, allows duplicates.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 square brackets: [1, 2, 3]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hold mixed data types.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append(), remove(), pop(), sort()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731520"/>
            <a:ext cx="4114800" cy="4206240"/>
          </a:xfrm>
          <a:prstGeom prst="rect">
            <a:avLst/>
          </a:prstGeom>
          <a:solidFill>
            <a:srgbClr val="F0F4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777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immutable (cannot be changed after creation).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 parentheses: (1, 2, 3)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fixed data like coordinates.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count(), index()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&amp; Set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4114800" cy="4206240"/>
          </a:xfrm>
          <a:prstGeom prst="rect">
            <a:avLst/>
          </a:prstGeom>
          <a:solidFill>
            <a:srgbClr val="F0F4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(dict)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key:value pairs.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must be unique and immutable.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 curly braces: {"name": "Alice", "age": 20}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get(), keys(), values(), items(), pop(), update()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731520"/>
            <a:ext cx="4114800" cy="4206240"/>
          </a:xfrm>
          <a:prstGeom prst="rect">
            <a:avLst/>
          </a:prstGeom>
          <a:solidFill>
            <a:srgbClr val="F0F4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777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Unordered, unindexed, no duplicates.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 curly braces: {1, 2, 3}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— can add/remove items.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Supports: union (|), intersection (&amp;), difference (-)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— Examples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8321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int, float, complex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10;     print(type(x))    # &lt;class 'int'&gt;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3.14;   print(type(y))    # &lt;class 'float'&gt;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2 + 3j; print(type(z))    # &lt;class 'complex'&gt;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list, tuple, dict, set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my_list  = [1, "a", True]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my_tuple = (10, 20, 30)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my_dict  = {"name": "Alice", "age": 20}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my_set   = {1, 2, 3, 2}        # duplicate 2 ignored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print(my_list, my_tuple, my_dict, my_set)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3611880"/>
            <a:ext cx="8595360" cy="1645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033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type() to check the data type of any variable. Sets automatically remove duplicate values.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Comparison, Logical &amp; More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Operators in Python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8503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   — perform math operations: +, -, *, /, //, %, **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   — compare values: ==, !=, &gt;, &lt;, &gt;=, &lt;=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      — combine conditions: and, or, not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Operators   — assign values: =, +=, -=, *=, /=, //=, **=, %=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 Operators      — operate on bits: &amp;, |, ^, ~, &lt;&lt;, &gt;&gt;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Operators   — check membership: in, not 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Operators     — check identity: is, is not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8321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15, 4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+ b)   # Addition       → 19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- b)   # Subtraction    → 11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* b)   # Multiplication → 60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/ b)   # Division       → 3.75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// b)  # Floor Division → 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% b)   # Modulus        → 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** b)  # Exponentiation → 50625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3611880"/>
            <a:ext cx="8595360" cy="1645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033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gives the quotient without remainder. % gives the remainder. ** raises to a power.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Logical Operators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8321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10, 20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Comparison — return True or False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 == y)   # False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 != y)   # True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 &lt; y)    # True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 &gt;= y)   # False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Logical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 &lt; y and y &gt; 15)   # True  (both conditions true)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 &gt; y or y &gt; 15)    # True  (at least one true)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 (x == y))        # True  (negation)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3611880"/>
            <a:ext cx="8595360" cy="1645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033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 return booleans. Logical operators combine boolean expressions.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&amp; Membership Operators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8321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Assignment operators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+= 5;  print(n)   # 15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-= 3;  print(n)   # 12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*= 2;  print(n)   # 24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//= 4; print(n)   # 6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Membership operators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["apple", "banana", "mango"]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print("apple" in fruits)       # True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print("grape" not in fruits)   # True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3611880"/>
            <a:ext cx="8595360" cy="1645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033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operators modify a variable in-place. Membership operators check if a value exists in a sequence.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if-else, if-elif-else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 in Python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8503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execute different blocks of code based on conditions.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supports: if,  if-else,  if-elif-else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is used to define blocks — no curly braces needed.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4 spaces are used per indentation level.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statements at the same indentation level belong to the same block.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after if or elif must evaluate to True or False.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and if-else Statement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8321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Simple if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int(input("Enter your age: "))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age &gt;= 18: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print("You are eligible to vote!!")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print("Sorry! You have to wait!!")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without else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50: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print("You passed the exam.")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3611880"/>
            <a:ext cx="8595360" cy="1645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033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else block runs only when the if condition is False. The else block is optional.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if-elif-else Statement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8321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expression1: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block of statements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expression2: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block of statements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expression3: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block of statements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block of statements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3611880"/>
            <a:ext cx="8595360" cy="1645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033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is short for 'else if'. Use it to test multiple conditions in sequence. Only the first True block executes.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if-elif-else — Practical Example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8321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 = int(input("Enter your marks: "))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marks &gt;= 90: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A")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marks &gt;= 75: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B")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marks &gt;= 60: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C")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marks &gt;= 40: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D")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F — Please improve!")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3611880"/>
            <a:ext cx="8595360" cy="1645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033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elif is evaluated only if all preceding conditions were False. The else block is the final fallback.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for, while, break, continue and Nested Loops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in Python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8503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are used to repeat actions efficiently without writing code multiple times.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provides two main loop types: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while loop — repeats as long as a condition is True.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for loop   — iterates over a sequence (list, range, string, etc.).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control statements: break (exit loop), continue (skip iteration).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loops: a loop inside another loop.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8321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Syntax:  while expression: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statement(s)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count &lt; 3: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count + 1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print("Hello Python")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Hello Python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Hello Python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Hello Python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3611880"/>
            <a:ext cx="8595360" cy="1645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033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while loop keeps executing its body as long as the condition is True. When condition becomes False, execution continues after the loop.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8321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Syntax:  for iterator_var in sequence: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statement(s)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 1 — range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range(0, n):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          # prints 0, 1, 2, 3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 2 — list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["apple", "orange", "kiwi"]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fruit in fruits: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print(fruit, end=' 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apple orange kiwi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3611880"/>
            <a:ext cx="8595360" cy="1645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033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for-in loop iterates over any iterable (list, string, range, tuple, etc.). range(start, stop) generates integers from start up to (not including) stop.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and continue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8321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break — exits the loop immediately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6):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 == 3: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print("Number:", i)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Number: 1   Number: 2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continue — skips the rest of the current iteration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6):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 == 3: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print("Number:", i)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Number: 1  Number: 2  Number: 4  Number: 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3611880"/>
            <a:ext cx="8595360" cy="1645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033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terminates the loop entirely. continue jumps to the next iteration, skipping the remaining code in the current one.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8321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Nested for loops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4):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range(1, 4):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print(i * j, end="	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   2    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   4    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   6    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3611880"/>
            <a:ext cx="8595360" cy="1645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033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loop is a loop inside another loop. The inner loop completes all its iterations for each single iteration of the outer loop.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8412480" cy="548640"/>
          </a:xfrm>
          <a:prstGeom prst="rect">
            <a:avLst/>
          </a:prstGeom>
          <a:solidFill>
            <a:srgbClr val="162044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73152" cy="548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538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69164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overview, features, variables, I/O, comments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75688"/>
            <a:ext cx="8412480" cy="548640"/>
          </a:xfrm>
          <a:prstGeom prst="rect">
            <a:avLst/>
          </a:prstGeom>
          <a:solidFill>
            <a:srgbClr val="162044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075688"/>
            <a:ext cx="73152" cy="548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122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35000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float, str, list, tuple, dict, set, bool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34056"/>
            <a:ext cx="8412480" cy="548640"/>
          </a:xfrm>
          <a:prstGeom prst="rect">
            <a:avLst/>
          </a:prstGeom>
          <a:solidFill>
            <a:srgbClr val="162044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734056"/>
            <a:ext cx="73152" cy="548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7706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008376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comparison, logical, assignment, membership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92424"/>
            <a:ext cx="8412480" cy="548640"/>
          </a:xfrm>
          <a:prstGeom prst="rect">
            <a:avLst/>
          </a:prstGeom>
          <a:solidFill>
            <a:srgbClr val="162044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392424"/>
            <a:ext cx="73152" cy="548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290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3666744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if-else, if-elif-else with indentation rules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050792"/>
            <a:ext cx="8412480" cy="548640"/>
          </a:xfrm>
          <a:prstGeom prst="rect">
            <a:avLst/>
          </a:prstGeom>
          <a:solidFill>
            <a:srgbClr val="162044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050792"/>
            <a:ext cx="73152" cy="548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08736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432511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while, for-in, break, continue, nested loops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2313</Words>
  <Application>Microsoft Office PowerPoint</Application>
  <PresentationFormat>On-screen Show (16:9)</PresentationFormat>
  <Paragraphs>355</Paragraphs>
  <Slides>34</Slides>
  <Notes>34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- Selected Topics</dc:title>
  <dc:subject>PptxGenJS Presentation</dc:subject>
  <dc:creator>PptxGenJS</dc:creator>
  <cp:lastModifiedBy>user</cp:lastModifiedBy>
  <cp:revision>2</cp:revision>
  <dcterms:created xsi:type="dcterms:W3CDTF">2026-06-05T08:48:30Z</dcterms:created>
  <dcterms:modified xsi:type="dcterms:W3CDTF">2026-06-05T08:50:46Z</dcterms:modified>
</cp:coreProperties>
</file>