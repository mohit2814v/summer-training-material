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Mono"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8" d="100"/>
          <a:sy n="108" d="100"/>
        </p:scale>
        <p:origin x="-5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099145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be7082266a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be7082266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beccb4d51e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beccb4d51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beccb4d51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beccb4d5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beccb4d51e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beccb4d51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beccb4d51e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beccb4d51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beccb4d51e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beccb4d51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beccb4d51e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beccb4d51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eccb4d51e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eccb4d51e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be7082266a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be7082266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be7082266a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be7082266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e7082266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e7082266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e7082266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e7082266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e7082266a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be7082266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be7082266a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be7082266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e7082266a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e7082266a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be7082266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be7082266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be7082266a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be7082266a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be7082266a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be7082266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be7082266a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be7082266a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be7082266a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be7082266a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be7082266a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e7082266a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623408" y="1750650"/>
            <a:ext cx="8520600" cy="2052600"/>
          </a:xfrm>
          <a:prstGeom prst="rect">
            <a:avLst/>
          </a:prstGeom>
        </p:spPr>
        <p:txBody>
          <a:bodyPr spcFirstLastPara="1" wrap="square" lIns="91425" tIns="91425" rIns="91425" bIns="91425" anchor="b" anchorCtr="0">
            <a:normAutofit/>
          </a:bodyPr>
          <a:lstStyle/>
          <a:p>
            <a:pPr marL="0" lvl="0" indent="0" algn="l" rtl="0">
              <a:lnSpc>
                <a:spcPct val="125000"/>
              </a:lnSpc>
              <a:spcBef>
                <a:spcPts val="0"/>
              </a:spcBef>
              <a:spcAft>
                <a:spcPts val="0"/>
              </a:spcAft>
              <a:buClr>
                <a:schemeClr val="dk1"/>
              </a:buClr>
              <a:buSzPts val="1100"/>
              <a:buFont typeface="Arial"/>
              <a:buNone/>
            </a:pPr>
            <a:r>
              <a:rPr lang="en" sz="3400" b="1">
                <a:solidFill>
                  <a:srgbClr val="273239"/>
                </a:solidFill>
                <a:highlight>
                  <a:srgbClr val="FFFFFF"/>
                </a:highlight>
              </a:rPr>
              <a:t>      Introduction to Seaborn - Python</a:t>
            </a:r>
            <a:endParaRPr sz="3400" b="1">
              <a:solidFill>
                <a:srgbClr val="273239"/>
              </a:solidFill>
              <a:highlight>
                <a:srgbClr val="FFFFFF"/>
              </a:highlight>
            </a:endParaRPr>
          </a:p>
          <a:p>
            <a:pPr marL="0" lvl="0" indent="0" algn="ctr" rtl="0">
              <a:spcBef>
                <a:spcPts val="0"/>
              </a:spcBef>
              <a:spcAft>
                <a:spcPts val="0"/>
              </a:spcAft>
              <a:buNone/>
            </a:pPr>
            <a:endParaRPr sz="61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p:nvPr/>
        </p:nvSpPr>
        <p:spPr>
          <a:xfrm>
            <a:off x="0" y="578475"/>
            <a:ext cx="9144000" cy="379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800"/>
              <a:t>Seaborn is a powerful Python library used for creating statistical data visualizations. It comes with attractive default styles and color palettes, which make graphs look clean and professional. </a:t>
            </a:r>
            <a:endParaRPr sz="1800"/>
          </a:p>
          <a:p>
            <a:pPr marL="0" lvl="0" indent="0" algn="l" rtl="0">
              <a:lnSpc>
                <a:spcPct val="115000"/>
              </a:lnSpc>
              <a:spcBef>
                <a:spcPts val="1200"/>
              </a:spcBef>
              <a:spcAft>
                <a:spcPts val="0"/>
              </a:spcAft>
              <a:buNone/>
            </a:pPr>
            <a:r>
              <a:rPr lang="en" sz="1800"/>
              <a:t>Seaborn is built on top of the Matplotlib library and works smoothly with Pandas data structures like DataFrames.</a:t>
            </a:r>
            <a:endParaRPr sz="1800"/>
          </a:p>
          <a:p>
            <a:pPr marL="0" lvl="0" indent="0" algn="l" rtl="0">
              <a:lnSpc>
                <a:spcPct val="115000"/>
              </a:lnSpc>
              <a:spcBef>
                <a:spcPts val="1200"/>
              </a:spcBef>
              <a:spcAft>
                <a:spcPts val="0"/>
              </a:spcAft>
              <a:buNone/>
            </a:pPr>
            <a:r>
              <a:rPr lang="en" sz="1800"/>
              <a:t>The main goal of Seaborn is to make data visualization an important part of data analysis and understanding. </a:t>
            </a:r>
            <a:endParaRPr sz="1800"/>
          </a:p>
          <a:p>
            <a:pPr marL="0" lvl="0" indent="0" algn="l" rtl="0">
              <a:lnSpc>
                <a:spcPct val="115000"/>
              </a:lnSpc>
              <a:spcBef>
                <a:spcPts val="1200"/>
              </a:spcBef>
              <a:spcAft>
                <a:spcPts val="1200"/>
              </a:spcAft>
              <a:buNone/>
            </a:pPr>
            <a:r>
              <a:rPr lang="en" sz="1800"/>
              <a:t>It provides dataset-focused functions that allow us to easily create different types of visualizations using the same data, helping us explore and understand patterns more effectively.</a:t>
            </a:r>
            <a:endParaRPr sz="18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1342896" y="21427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4520" b="1"/>
              <a:t>Some Popular Plots</a:t>
            </a:r>
            <a:endParaRPr sz="4520" b="1"/>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p:nvPr/>
        </p:nvSpPr>
        <p:spPr>
          <a:xfrm>
            <a:off x="0" y="0"/>
            <a:ext cx="9144000" cy="12633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1100"/>
              </a:spcBef>
              <a:spcAft>
                <a:spcPts val="0"/>
              </a:spcAft>
              <a:buNone/>
            </a:pPr>
            <a:r>
              <a:rPr lang="en" sz="2350" b="1">
                <a:solidFill>
                  <a:srgbClr val="34322D"/>
                </a:solidFill>
                <a:highlight>
                  <a:srgbClr val="F8F8F7"/>
                </a:highlight>
              </a:rPr>
              <a:t>1. Scatter Plot</a:t>
            </a:r>
            <a:endParaRPr sz="2350" b="1">
              <a:solidFill>
                <a:srgbClr val="34322D"/>
              </a:solidFill>
              <a:highlight>
                <a:srgbClr val="F8F8F7"/>
              </a:highlight>
            </a:endParaRPr>
          </a:p>
          <a:p>
            <a:pPr marL="0" lvl="0" indent="0" algn="l" rtl="0">
              <a:lnSpc>
                <a:spcPct val="115000"/>
              </a:lnSpc>
              <a:spcBef>
                <a:spcPts val="100"/>
              </a:spcBef>
              <a:spcAft>
                <a:spcPts val="100"/>
              </a:spcAft>
              <a:buNone/>
            </a:pPr>
            <a:r>
              <a:rPr lang="en" sz="1800">
                <a:solidFill>
                  <a:srgbClr val="34322D"/>
                </a:solidFill>
                <a:highlight>
                  <a:srgbClr val="F8F8F7"/>
                </a:highlight>
              </a:rPr>
              <a:t>A scatter plot uses dots to represent values for two different numeric variables, making it ideal for identifying relationships or correlations between them.</a:t>
            </a:r>
            <a:endParaRPr sz="1800">
              <a:solidFill>
                <a:srgbClr val="34322D"/>
              </a:solidFill>
              <a:highlight>
                <a:srgbClr val="F8F8F7"/>
              </a:highlight>
            </a:endParaRPr>
          </a:p>
        </p:txBody>
      </p:sp>
      <p:pic>
        <p:nvPicPr>
          <p:cNvPr id="70" name="Google Shape;70;p16" title="scatter_plot.png"/>
          <p:cNvPicPr preferRelativeResize="0"/>
          <p:nvPr/>
        </p:nvPicPr>
        <p:blipFill>
          <a:blip r:embed="rId3">
            <a:alphaModFix/>
          </a:blip>
          <a:stretch>
            <a:fillRect/>
          </a:stretch>
        </p:blipFill>
        <p:spPr>
          <a:xfrm>
            <a:off x="2114225" y="1263300"/>
            <a:ext cx="4767200" cy="357540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7"/>
          <p:cNvSpPr txBox="1"/>
          <p:nvPr/>
        </p:nvSpPr>
        <p:spPr>
          <a:xfrm>
            <a:off x="0" y="0"/>
            <a:ext cx="9144000" cy="15240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1100"/>
              </a:spcBef>
              <a:spcAft>
                <a:spcPts val="0"/>
              </a:spcAft>
              <a:buNone/>
            </a:pPr>
            <a:r>
              <a:rPr lang="en" sz="2250" b="1">
                <a:solidFill>
                  <a:srgbClr val="34322D"/>
                </a:solidFill>
                <a:highlight>
                  <a:srgbClr val="F8F8F7"/>
                </a:highlight>
              </a:rPr>
              <a:t>2. Line Plot</a:t>
            </a:r>
            <a:endParaRPr sz="2250" b="1">
              <a:solidFill>
                <a:srgbClr val="34322D"/>
              </a:solidFill>
              <a:highlight>
                <a:srgbClr val="F8F8F7"/>
              </a:highlight>
            </a:endParaRPr>
          </a:p>
          <a:p>
            <a:pPr marL="0" lvl="0" indent="0" algn="l" rtl="0">
              <a:lnSpc>
                <a:spcPct val="115000"/>
              </a:lnSpc>
              <a:spcBef>
                <a:spcPts val="100"/>
              </a:spcBef>
              <a:spcAft>
                <a:spcPts val="0"/>
              </a:spcAft>
              <a:buNone/>
            </a:pPr>
            <a:r>
              <a:rPr lang="en" sz="1700">
                <a:solidFill>
                  <a:srgbClr val="34322D"/>
                </a:solidFill>
                <a:highlight>
                  <a:srgbClr val="F8F8F7"/>
                </a:highlight>
              </a:rPr>
              <a:t>A line plot displays information as a series of data points connected by straight line segments, commonly used to visualize trends over a continuous interval or time.</a:t>
            </a:r>
            <a:endParaRPr sz="1700">
              <a:solidFill>
                <a:srgbClr val="34322D"/>
              </a:solidFill>
              <a:highlight>
                <a:srgbClr val="F8F8F7"/>
              </a:highlight>
            </a:endParaRPr>
          </a:p>
          <a:p>
            <a:pPr marL="0" lvl="0" indent="0" algn="l" rtl="0">
              <a:lnSpc>
                <a:spcPct val="115000"/>
              </a:lnSpc>
              <a:spcBef>
                <a:spcPts val="100"/>
              </a:spcBef>
              <a:spcAft>
                <a:spcPts val="100"/>
              </a:spcAft>
              <a:buNone/>
            </a:pPr>
            <a:endParaRPr sz="1700">
              <a:solidFill>
                <a:srgbClr val="34322D"/>
              </a:solidFill>
              <a:highlight>
                <a:srgbClr val="F8F8F7"/>
              </a:highlight>
            </a:endParaRPr>
          </a:p>
        </p:txBody>
      </p:sp>
      <p:pic>
        <p:nvPicPr>
          <p:cNvPr id="76" name="Google Shape;76;p17" title="line_plot.png"/>
          <p:cNvPicPr preferRelativeResize="0"/>
          <p:nvPr/>
        </p:nvPicPr>
        <p:blipFill>
          <a:blip r:embed="rId3">
            <a:alphaModFix/>
          </a:blip>
          <a:stretch>
            <a:fillRect/>
          </a:stretch>
        </p:blipFill>
        <p:spPr>
          <a:xfrm>
            <a:off x="2290275" y="1524000"/>
            <a:ext cx="4419600" cy="331470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8"/>
          <p:cNvSpPr txBox="1"/>
          <p:nvPr/>
        </p:nvSpPr>
        <p:spPr>
          <a:xfrm>
            <a:off x="0" y="0"/>
            <a:ext cx="9144000" cy="12102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1100"/>
              </a:spcBef>
              <a:spcAft>
                <a:spcPts val="0"/>
              </a:spcAft>
              <a:buNone/>
            </a:pPr>
            <a:r>
              <a:rPr lang="en" sz="2250" b="1">
                <a:solidFill>
                  <a:srgbClr val="34322D"/>
                </a:solidFill>
                <a:highlight>
                  <a:srgbClr val="F8F8F7"/>
                </a:highlight>
              </a:rPr>
              <a:t>3. Heatmap</a:t>
            </a:r>
            <a:endParaRPr sz="2250" b="1">
              <a:solidFill>
                <a:srgbClr val="34322D"/>
              </a:solidFill>
              <a:highlight>
                <a:srgbClr val="F8F8F7"/>
              </a:highlight>
            </a:endParaRPr>
          </a:p>
          <a:p>
            <a:pPr marL="0" lvl="0" indent="0" algn="l" rtl="0">
              <a:lnSpc>
                <a:spcPct val="115000"/>
              </a:lnSpc>
              <a:spcBef>
                <a:spcPts val="100"/>
              </a:spcBef>
              <a:spcAft>
                <a:spcPts val="100"/>
              </a:spcAft>
              <a:buNone/>
            </a:pPr>
            <a:r>
              <a:rPr lang="en" sz="1700">
                <a:solidFill>
                  <a:srgbClr val="34322D"/>
                </a:solidFill>
                <a:highlight>
                  <a:srgbClr val="F8F8F7"/>
                </a:highlight>
              </a:rPr>
              <a:t>A heatmap uses a color-coded matrix to represent data values, allowing for the quick identification of patterns, clusters, or intensity levels across two dimensions.</a:t>
            </a:r>
            <a:endParaRPr sz="1700">
              <a:solidFill>
                <a:srgbClr val="34322D"/>
              </a:solidFill>
              <a:highlight>
                <a:srgbClr val="F8F8F7"/>
              </a:highlight>
            </a:endParaRPr>
          </a:p>
        </p:txBody>
      </p:sp>
      <p:pic>
        <p:nvPicPr>
          <p:cNvPr id="82" name="Google Shape;82;p18" title="heatmap.png"/>
          <p:cNvPicPr preferRelativeResize="0"/>
          <p:nvPr/>
        </p:nvPicPr>
        <p:blipFill>
          <a:blip r:embed="rId3">
            <a:alphaModFix/>
          </a:blip>
          <a:stretch>
            <a:fillRect/>
          </a:stretch>
        </p:blipFill>
        <p:spPr>
          <a:xfrm>
            <a:off x="1975900" y="1337450"/>
            <a:ext cx="4838000" cy="362850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9"/>
          <p:cNvSpPr txBox="1"/>
          <p:nvPr/>
        </p:nvSpPr>
        <p:spPr>
          <a:xfrm>
            <a:off x="0" y="0"/>
            <a:ext cx="9144000" cy="12102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1100"/>
              </a:spcBef>
              <a:spcAft>
                <a:spcPts val="0"/>
              </a:spcAft>
              <a:buNone/>
            </a:pPr>
            <a:r>
              <a:rPr lang="en" sz="2250" b="1">
                <a:solidFill>
                  <a:srgbClr val="34322D"/>
                </a:solidFill>
                <a:highlight>
                  <a:srgbClr val="F8F8F7"/>
                </a:highlight>
              </a:rPr>
              <a:t>4. Boxplot</a:t>
            </a:r>
            <a:endParaRPr sz="2250" b="1">
              <a:solidFill>
                <a:srgbClr val="34322D"/>
              </a:solidFill>
              <a:highlight>
                <a:srgbClr val="F8F8F7"/>
              </a:highlight>
            </a:endParaRPr>
          </a:p>
          <a:p>
            <a:pPr marL="0" lvl="0" indent="0" algn="l" rtl="0">
              <a:lnSpc>
                <a:spcPct val="115000"/>
              </a:lnSpc>
              <a:spcBef>
                <a:spcPts val="100"/>
              </a:spcBef>
              <a:spcAft>
                <a:spcPts val="100"/>
              </a:spcAft>
              <a:buNone/>
            </a:pPr>
            <a:r>
              <a:rPr lang="en" sz="1700">
                <a:solidFill>
                  <a:srgbClr val="34322D"/>
                </a:solidFill>
                <a:highlight>
                  <a:srgbClr val="F8F8F7"/>
                </a:highlight>
              </a:rPr>
              <a:t>A boxplot (or box-and-whisker plot) summarizes the distribution of a dataset based on its quartiles, highlighting the median, spread, and potential outliers.</a:t>
            </a:r>
            <a:endParaRPr sz="1700">
              <a:solidFill>
                <a:srgbClr val="34322D"/>
              </a:solidFill>
              <a:highlight>
                <a:srgbClr val="F8F8F7"/>
              </a:highlight>
            </a:endParaRPr>
          </a:p>
        </p:txBody>
      </p:sp>
      <p:pic>
        <p:nvPicPr>
          <p:cNvPr id="88" name="Google Shape;88;p19" title="boxplot.png"/>
          <p:cNvPicPr preferRelativeResize="0"/>
          <p:nvPr/>
        </p:nvPicPr>
        <p:blipFill>
          <a:blip r:embed="rId3">
            <a:alphaModFix/>
          </a:blip>
          <a:stretch>
            <a:fillRect/>
          </a:stretch>
        </p:blipFill>
        <p:spPr>
          <a:xfrm>
            <a:off x="2051325" y="1312300"/>
            <a:ext cx="4838000" cy="36285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p:nvPr/>
        </p:nvSpPr>
        <p:spPr>
          <a:xfrm>
            <a:off x="0" y="0"/>
            <a:ext cx="9144000" cy="12102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1100"/>
              </a:spcBef>
              <a:spcAft>
                <a:spcPts val="0"/>
              </a:spcAft>
              <a:buNone/>
            </a:pPr>
            <a:r>
              <a:rPr lang="en" sz="2250" b="1">
                <a:solidFill>
                  <a:srgbClr val="34322D"/>
                </a:solidFill>
                <a:highlight>
                  <a:srgbClr val="F8F8F7"/>
                </a:highlight>
              </a:rPr>
              <a:t>5. Barplot</a:t>
            </a:r>
            <a:endParaRPr sz="2250" b="1">
              <a:solidFill>
                <a:srgbClr val="34322D"/>
              </a:solidFill>
              <a:highlight>
                <a:srgbClr val="F8F8F7"/>
              </a:highlight>
            </a:endParaRPr>
          </a:p>
          <a:p>
            <a:pPr marL="0" lvl="0" indent="0" algn="l" rtl="0">
              <a:lnSpc>
                <a:spcPct val="115000"/>
              </a:lnSpc>
              <a:spcBef>
                <a:spcPts val="100"/>
              </a:spcBef>
              <a:spcAft>
                <a:spcPts val="100"/>
              </a:spcAft>
              <a:buNone/>
            </a:pPr>
            <a:r>
              <a:rPr lang="en" sz="1700">
                <a:solidFill>
                  <a:srgbClr val="34322D"/>
                </a:solidFill>
                <a:highlight>
                  <a:srgbClr val="F8F8F7"/>
                </a:highlight>
              </a:rPr>
              <a:t>A barplot presents categorical data with rectangular bars whose heights or lengths are proportional to the values they represent, perfect for comparing different groups.</a:t>
            </a:r>
            <a:endParaRPr sz="1700">
              <a:solidFill>
                <a:srgbClr val="34322D"/>
              </a:solidFill>
              <a:highlight>
                <a:srgbClr val="F8F8F7"/>
              </a:highlight>
            </a:endParaRPr>
          </a:p>
        </p:txBody>
      </p:sp>
      <p:pic>
        <p:nvPicPr>
          <p:cNvPr id="94" name="Google Shape;94;p20" title="barplot.png"/>
          <p:cNvPicPr preferRelativeResize="0"/>
          <p:nvPr/>
        </p:nvPicPr>
        <p:blipFill>
          <a:blip r:embed="rId3">
            <a:alphaModFix/>
          </a:blip>
          <a:stretch>
            <a:fillRect/>
          </a:stretch>
        </p:blipFill>
        <p:spPr>
          <a:xfrm>
            <a:off x="2121121" y="1467175"/>
            <a:ext cx="4901766" cy="367632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1"/>
          <p:cNvSpPr txBox="1"/>
          <p:nvPr/>
        </p:nvSpPr>
        <p:spPr>
          <a:xfrm>
            <a:off x="0" y="0"/>
            <a:ext cx="9144000" cy="11850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1100"/>
              </a:spcBef>
              <a:spcAft>
                <a:spcPts val="0"/>
              </a:spcAft>
              <a:buNone/>
            </a:pPr>
            <a:r>
              <a:rPr lang="en" sz="2050" b="1">
                <a:solidFill>
                  <a:srgbClr val="34322D"/>
                </a:solidFill>
                <a:highlight>
                  <a:srgbClr val="F8F8F7"/>
                </a:highlight>
              </a:rPr>
              <a:t>6. Histogram with KDE</a:t>
            </a:r>
            <a:endParaRPr sz="2050" b="1">
              <a:solidFill>
                <a:srgbClr val="34322D"/>
              </a:solidFill>
              <a:highlight>
                <a:srgbClr val="F8F8F7"/>
              </a:highlight>
            </a:endParaRPr>
          </a:p>
          <a:p>
            <a:pPr marL="0" lvl="0" indent="0" algn="l" rtl="0">
              <a:lnSpc>
                <a:spcPct val="150000"/>
              </a:lnSpc>
              <a:spcBef>
                <a:spcPts val="100"/>
              </a:spcBef>
              <a:spcAft>
                <a:spcPts val="0"/>
              </a:spcAft>
              <a:buNone/>
            </a:pPr>
            <a:r>
              <a:rPr lang="en" sz="1500">
                <a:solidFill>
                  <a:srgbClr val="34322D"/>
                </a:solidFill>
                <a:highlight>
                  <a:srgbClr val="F8F8F7"/>
                </a:highlight>
              </a:rPr>
              <a:t>A histogram with KDE (Kernel Density Estimate) shows the frequency distribution of a single numeric variable while smoothing the data to reveal the underlying probability density.</a:t>
            </a:r>
            <a:endParaRPr sz="1500">
              <a:solidFill>
                <a:srgbClr val="34322D"/>
              </a:solidFill>
              <a:highlight>
                <a:srgbClr val="F8F8F7"/>
              </a:highlight>
            </a:endParaRPr>
          </a:p>
        </p:txBody>
      </p:sp>
      <p:pic>
        <p:nvPicPr>
          <p:cNvPr id="100" name="Google Shape;100;p21" title="histogram_kde_plot.png"/>
          <p:cNvPicPr preferRelativeResize="0"/>
          <p:nvPr/>
        </p:nvPicPr>
        <p:blipFill>
          <a:blip r:embed="rId3">
            <a:alphaModFix/>
          </a:blip>
          <a:stretch>
            <a:fillRect/>
          </a:stretch>
        </p:blipFill>
        <p:spPr>
          <a:xfrm>
            <a:off x="2136416" y="1341425"/>
            <a:ext cx="5069434" cy="3802076"/>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2"/>
          <p:cNvSpPr txBox="1"/>
          <p:nvPr/>
        </p:nvSpPr>
        <p:spPr>
          <a:xfrm>
            <a:off x="0" y="0"/>
            <a:ext cx="9144000" cy="190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b="1">
                <a:solidFill>
                  <a:schemeClr val="dk1"/>
                </a:solidFill>
              </a:rPr>
              <a:t>Different Categories of Plots in Seaborn</a:t>
            </a:r>
            <a:endParaRPr sz="1800" b="1">
              <a:solidFill>
                <a:schemeClr val="dk1"/>
              </a:solidFill>
            </a:endParaRPr>
          </a:p>
          <a:p>
            <a:pPr marL="0" lvl="0" indent="0" algn="l" rtl="0">
              <a:lnSpc>
                <a:spcPct val="115000"/>
              </a:lnSpc>
              <a:spcBef>
                <a:spcPts val="1200"/>
              </a:spcBef>
              <a:spcAft>
                <a:spcPts val="0"/>
              </a:spcAft>
              <a:buNone/>
            </a:pPr>
            <a:r>
              <a:rPr lang="en" sz="1600">
                <a:solidFill>
                  <a:schemeClr val="dk1"/>
                </a:solidFill>
              </a:rPr>
              <a:t>Plots are mainly used to visualize the relationship between variables. These variables can be numerical (like age, salary, marks) or categorical (like gender, department, class). Seaborn classifies plots into the following categories:</a:t>
            </a:r>
            <a:endParaRPr sz="1600">
              <a:solidFill>
                <a:schemeClr val="dk1"/>
              </a:solidFill>
            </a:endParaRPr>
          </a:p>
          <a:p>
            <a:pPr marL="0" lvl="0" indent="0" algn="l" rtl="0">
              <a:lnSpc>
                <a:spcPct val="115000"/>
              </a:lnSpc>
              <a:spcBef>
                <a:spcPts val="1200"/>
              </a:spcBef>
              <a:spcAft>
                <a:spcPts val="1200"/>
              </a:spcAft>
              <a:buNone/>
            </a:pPr>
            <a:endParaRPr sz="1600">
              <a:solidFill>
                <a:schemeClr val="dk1"/>
              </a:solidFill>
            </a:endParaRPr>
          </a:p>
        </p:txBody>
      </p:sp>
      <p:sp>
        <p:nvSpPr>
          <p:cNvPr id="106" name="Google Shape;106;p22"/>
          <p:cNvSpPr txBox="1"/>
          <p:nvPr/>
        </p:nvSpPr>
        <p:spPr>
          <a:xfrm>
            <a:off x="0" y="1708950"/>
            <a:ext cx="9144000" cy="300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600" b="1">
                <a:solidFill>
                  <a:schemeClr val="dk1"/>
                </a:solidFill>
              </a:rPr>
              <a:t>1. Relational Plots:</a:t>
            </a:r>
            <a:br>
              <a:rPr lang="en" sz="1600" b="1">
                <a:solidFill>
                  <a:schemeClr val="dk1"/>
                </a:solidFill>
              </a:rPr>
            </a:br>
            <a:r>
              <a:rPr lang="en" sz="1600">
                <a:solidFill>
                  <a:schemeClr val="dk1"/>
                </a:solidFill>
              </a:rPr>
              <a:t> These plots help in understanding the relationship between two numerical variables. They are useful for identifying trends or patterns.</a:t>
            </a:r>
            <a:endParaRPr sz="1600">
              <a:solidFill>
                <a:schemeClr val="dk1"/>
              </a:solidFill>
            </a:endParaRPr>
          </a:p>
          <a:p>
            <a:pPr marL="0" lvl="0" indent="0" algn="l" rtl="0">
              <a:lnSpc>
                <a:spcPct val="115000"/>
              </a:lnSpc>
              <a:spcBef>
                <a:spcPts val="1200"/>
              </a:spcBef>
              <a:spcAft>
                <a:spcPts val="0"/>
              </a:spcAft>
              <a:buNone/>
            </a:pPr>
            <a:r>
              <a:rPr lang="en" sz="1600" b="1">
                <a:solidFill>
                  <a:schemeClr val="dk1"/>
                </a:solidFill>
              </a:rPr>
              <a:t>2. Categorical Plots:</a:t>
            </a:r>
            <a:br>
              <a:rPr lang="en" sz="1600" b="1">
                <a:solidFill>
                  <a:schemeClr val="dk1"/>
                </a:solidFill>
              </a:rPr>
            </a:br>
            <a:r>
              <a:rPr lang="en" sz="1600">
                <a:solidFill>
                  <a:schemeClr val="dk1"/>
                </a:solidFill>
              </a:rPr>
              <a:t> These plots are used when one or both variables are categorical. They help in comparing different groups or categories.</a:t>
            </a:r>
            <a:endParaRPr sz="1600">
              <a:solidFill>
                <a:schemeClr val="dk1"/>
              </a:solidFill>
            </a:endParaRPr>
          </a:p>
          <a:p>
            <a:pPr marL="0" lvl="0" indent="0" algn="l" rtl="0">
              <a:lnSpc>
                <a:spcPct val="115000"/>
              </a:lnSpc>
              <a:spcBef>
                <a:spcPts val="1200"/>
              </a:spcBef>
              <a:spcAft>
                <a:spcPts val="1200"/>
              </a:spcAft>
              <a:buNone/>
            </a:pPr>
            <a:r>
              <a:rPr lang="en" sz="1600" b="1">
                <a:solidFill>
                  <a:schemeClr val="dk1"/>
                </a:solidFill>
              </a:rPr>
              <a:t>3. Distribution Plots:</a:t>
            </a:r>
            <a:br>
              <a:rPr lang="en" sz="1600" b="1">
                <a:solidFill>
                  <a:schemeClr val="dk1"/>
                </a:solidFill>
              </a:rPr>
            </a:br>
            <a:r>
              <a:rPr lang="en" sz="1600">
                <a:solidFill>
                  <a:schemeClr val="dk1"/>
                </a:solidFill>
              </a:rPr>
              <a:t> These plots are used to analyze how data is distributed. They can show the distribution of a single variable (univariate) or the relationship between two variables (bivariate).</a:t>
            </a:r>
            <a:endParaRPr sz="1600">
              <a:solidFill>
                <a:schemeClr val="dk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3"/>
          <p:cNvSpPr txBox="1"/>
          <p:nvPr/>
        </p:nvSpPr>
        <p:spPr>
          <a:xfrm>
            <a:off x="0" y="0"/>
            <a:ext cx="9144000" cy="175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4. Regression Plots:</a:t>
            </a:r>
            <a:endParaRPr sz="1700" b="1">
              <a:solidFill>
                <a:schemeClr val="dk1"/>
              </a:solidFill>
            </a:endParaRPr>
          </a:p>
          <a:p>
            <a:pPr marL="0" lvl="0" indent="0" algn="l" rtl="0">
              <a:spcBef>
                <a:spcPts val="0"/>
              </a:spcBef>
              <a:spcAft>
                <a:spcPts val="0"/>
              </a:spcAft>
              <a:buNone/>
            </a:pPr>
            <a:r>
              <a:rPr lang="en" sz="1700">
                <a:solidFill>
                  <a:schemeClr val="dk1"/>
                </a:solidFill>
              </a:rPr>
              <a:t>Regression plots are used to visualize the relationship between variables along with a regression line. They help highlight patterns and trends in the data during exploratory data analysis</a:t>
            </a:r>
            <a:br>
              <a:rPr lang="en" sz="1700">
                <a:solidFill>
                  <a:schemeClr val="dk1"/>
                </a:solidFill>
              </a:rPr>
            </a:br>
            <a:endParaRPr sz="1700">
              <a:solidFill>
                <a:schemeClr val="dk1"/>
              </a:solidFill>
            </a:endParaRPr>
          </a:p>
          <a:p>
            <a:pPr marL="0" lvl="0" indent="0" algn="l" rtl="0">
              <a:spcBef>
                <a:spcPts val="0"/>
              </a:spcBef>
              <a:spcAft>
                <a:spcPts val="0"/>
              </a:spcAft>
              <a:buNone/>
            </a:pPr>
            <a:endParaRPr sz="1700">
              <a:solidFill>
                <a:schemeClr val="dk1"/>
              </a:solidFill>
            </a:endParaRPr>
          </a:p>
        </p:txBody>
      </p:sp>
      <p:sp>
        <p:nvSpPr>
          <p:cNvPr id="112" name="Google Shape;112;p23"/>
          <p:cNvSpPr txBox="1"/>
          <p:nvPr/>
        </p:nvSpPr>
        <p:spPr>
          <a:xfrm>
            <a:off x="0" y="1319550"/>
            <a:ext cx="9144000" cy="228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600" b="1">
                <a:solidFill>
                  <a:schemeClr val="dk1"/>
                </a:solidFill>
              </a:rPr>
              <a:t>5. Matrix Plots:</a:t>
            </a:r>
            <a:br>
              <a:rPr lang="en" sz="1600" b="1">
                <a:solidFill>
                  <a:schemeClr val="dk1"/>
                </a:solidFill>
              </a:rPr>
            </a:br>
            <a:r>
              <a:rPr lang="en" sz="1600">
                <a:solidFill>
                  <a:schemeClr val="dk1"/>
                </a:solidFill>
              </a:rPr>
              <a:t> Matrix plots display data in a matrix format, often showing relationships between multiple variables at once. They are useful for understanding correlations.</a:t>
            </a:r>
            <a:br>
              <a:rPr lang="en" sz="1600">
                <a:solidFill>
                  <a:schemeClr val="dk1"/>
                </a:solidFill>
              </a:rPr>
            </a:br>
            <a:endParaRPr sz="1600">
              <a:solidFill>
                <a:schemeClr val="dk1"/>
              </a:solidFill>
            </a:endParaRPr>
          </a:p>
          <a:p>
            <a:pPr marL="0" lvl="0" indent="0" algn="l" rtl="0">
              <a:lnSpc>
                <a:spcPct val="115000"/>
              </a:lnSpc>
              <a:spcBef>
                <a:spcPts val="1200"/>
              </a:spcBef>
              <a:spcAft>
                <a:spcPts val="1200"/>
              </a:spcAft>
              <a:buNone/>
            </a:pPr>
            <a:r>
              <a:rPr lang="en" sz="1600" b="1">
                <a:solidFill>
                  <a:schemeClr val="dk1"/>
                </a:solidFill>
              </a:rPr>
              <a:t>6. Multi-Plot Grids:</a:t>
            </a:r>
            <a:br>
              <a:rPr lang="en" sz="1600" b="1">
                <a:solidFill>
                  <a:schemeClr val="dk1"/>
                </a:solidFill>
              </a:rPr>
            </a:br>
            <a:r>
              <a:rPr lang="en" sz="1600">
                <a:solidFill>
                  <a:schemeClr val="dk1"/>
                </a:solidFill>
              </a:rPr>
              <a:t> These plots allow us to create multiple plots of the same type for different subsets of data. This helps in comparing patterns across different groups.</a:t>
            </a:r>
            <a:endParaRPr sz="1600">
              <a:solidFill>
                <a:schemeClr val="dk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4"/>
          <p:cNvSpPr txBox="1"/>
          <p:nvPr/>
        </p:nvSpPr>
        <p:spPr>
          <a:xfrm>
            <a:off x="0" y="0"/>
            <a:ext cx="9144000" cy="166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700" b="1">
                <a:solidFill>
                  <a:schemeClr val="dk1"/>
                </a:solidFill>
              </a:rPr>
              <a:t>Some Basic Plots Using Seaborn</a:t>
            </a:r>
            <a:endParaRPr sz="1700" b="1">
              <a:solidFill>
                <a:schemeClr val="dk1"/>
              </a:solidFill>
            </a:endParaRPr>
          </a:p>
          <a:p>
            <a:pPr marL="0" lvl="0" indent="0" algn="l" rtl="0">
              <a:lnSpc>
                <a:spcPct val="115000"/>
              </a:lnSpc>
              <a:spcBef>
                <a:spcPts val="1200"/>
              </a:spcBef>
              <a:spcAft>
                <a:spcPts val="1200"/>
              </a:spcAft>
              <a:buNone/>
            </a:pPr>
            <a:r>
              <a:rPr lang="en" sz="1500" b="1">
                <a:solidFill>
                  <a:schemeClr val="dk1"/>
                </a:solidFill>
              </a:rPr>
              <a:t>Histplot:</a:t>
            </a:r>
            <a:br>
              <a:rPr lang="en" sz="1500" b="1">
                <a:solidFill>
                  <a:schemeClr val="dk1"/>
                </a:solidFill>
              </a:rPr>
            </a:br>
            <a:r>
              <a:rPr lang="en" sz="1500">
                <a:solidFill>
                  <a:schemeClr val="dk1"/>
                </a:solidFill>
              </a:rPr>
              <a:t> Seaborn’s </a:t>
            </a:r>
            <a:r>
              <a:rPr lang="en" sz="1500">
                <a:solidFill>
                  <a:schemeClr val="dk1"/>
                </a:solidFill>
                <a:latin typeface="Roboto Mono"/>
                <a:ea typeface="Roboto Mono"/>
                <a:cs typeface="Roboto Mono"/>
                <a:sym typeface="Roboto Mono"/>
              </a:rPr>
              <a:t>histplot()</a:t>
            </a:r>
            <a:r>
              <a:rPr lang="en" sz="1500">
                <a:solidFill>
                  <a:schemeClr val="dk1"/>
                </a:solidFill>
              </a:rPr>
              <a:t> function is used to visualize the distribution of a single variable (univariate distribution). It creates a histogram and can also include additional elements like a KDE (Kernel Density Estimate) curve or a rug plot for better understanding of the data distribution.</a:t>
            </a:r>
            <a:endParaRPr sz="1500">
              <a:solidFill>
                <a:schemeClr val="dk1"/>
              </a:solidFill>
            </a:endParaRPr>
          </a:p>
        </p:txBody>
      </p:sp>
      <p:sp>
        <p:nvSpPr>
          <p:cNvPr id="118" name="Google Shape;118;p24"/>
          <p:cNvSpPr txBox="1"/>
          <p:nvPr/>
        </p:nvSpPr>
        <p:spPr>
          <a:xfrm>
            <a:off x="0" y="1866150"/>
            <a:ext cx="9144000" cy="334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dirty="0">
                <a:solidFill>
                  <a:schemeClr val="dk1"/>
                </a:solidFill>
              </a:rPr>
              <a:t>The </a:t>
            </a:r>
            <a:r>
              <a:rPr lang="en" sz="1200" dirty="0">
                <a:solidFill>
                  <a:schemeClr val="dk1"/>
                </a:solidFill>
                <a:latin typeface="Roboto Mono"/>
                <a:ea typeface="Roboto Mono"/>
                <a:cs typeface="Roboto Mono"/>
                <a:sym typeface="Roboto Mono"/>
              </a:rPr>
              <a:t>histplot()</a:t>
            </a:r>
            <a:r>
              <a:rPr lang="en" sz="1200" dirty="0">
                <a:solidFill>
                  <a:schemeClr val="dk1"/>
                </a:solidFill>
              </a:rPr>
              <a:t> function accepts several arguments, but the most important ones are:</a:t>
            </a:r>
            <a:endParaRPr sz="1200"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sz="1200" b="1" dirty="0">
                <a:solidFill>
                  <a:schemeClr val="dk1"/>
                </a:solidFill>
              </a:rPr>
              <a:t>data:</a:t>
            </a:r>
            <a:br>
              <a:rPr lang="en" sz="1200" b="1" dirty="0">
                <a:solidFill>
                  <a:schemeClr val="dk1"/>
                </a:solidFill>
              </a:rPr>
            </a:br>
            <a:r>
              <a:rPr lang="en" sz="1200" dirty="0">
                <a:solidFill>
                  <a:schemeClr val="dk1"/>
                </a:solidFill>
              </a:rPr>
              <a:t> The dataset you want to visualize. It can be an array, Pandas Series, or DataFrame. This is a required parameter.</a:t>
            </a:r>
            <a:br>
              <a:rPr lang="en" sz="1200" dirty="0">
                <a:solidFill>
                  <a:schemeClr val="dk1"/>
                </a:solidFill>
              </a:rPr>
            </a:br>
            <a:endParaRPr sz="1200"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sz="1200" b="1" dirty="0">
                <a:solidFill>
                  <a:schemeClr val="dk1"/>
                </a:solidFill>
              </a:rPr>
              <a:t>x:</a:t>
            </a:r>
            <a:br>
              <a:rPr lang="en" sz="1200" b="1" dirty="0">
                <a:solidFill>
                  <a:schemeClr val="dk1"/>
                </a:solidFill>
              </a:rPr>
            </a:br>
            <a:r>
              <a:rPr lang="en" sz="1200" dirty="0">
                <a:solidFill>
                  <a:schemeClr val="dk1"/>
                </a:solidFill>
              </a:rPr>
              <a:t> Specifies the column to be plotted on the x-axis. If you are using a DataFrame, you can mention the column name.</a:t>
            </a:r>
            <a:br>
              <a:rPr lang="en" sz="1200" dirty="0">
                <a:solidFill>
                  <a:schemeClr val="dk1"/>
                </a:solidFill>
              </a:rPr>
            </a:br>
            <a:endParaRPr sz="1200"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sz="1200" b="1" dirty="0">
                <a:solidFill>
                  <a:schemeClr val="dk1"/>
                </a:solidFill>
              </a:rPr>
              <a:t>y:</a:t>
            </a:r>
            <a:br>
              <a:rPr lang="en" sz="1200" b="1" dirty="0">
                <a:solidFill>
                  <a:schemeClr val="dk1"/>
                </a:solidFill>
              </a:rPr>
            </a:br>
            <a:r>
              <a:rPr lang="en" sz="1200" dirty="0">
                <a:solidFill>
                  <a:schemeClr val="dk1"/>
                </a:solidFill>
              </a:rPr>
              <a:t> Used when creating a bivariate histogram (two variables). By default, it is set to </a:t>
            </a:r>
            <a:r>
              <a:rPr lang="en" sz="1200" dirty="0">
                <a:solidFill>
                  <a:srgbClr val="188038"/>
                </a:solidFill>
                <a:latin typeface="Roboto Mono"/>
                <a:ea typeface="Roboto Mono"/>
                <a:cs typeface="Roboto Mono"/>
                <a:sym typeface="Roboto Mono"/>
              </a:rPr>
              <a:t>None</a:t>
            </a:r>
            <a:r>
              <a:rPr lang="en" sz="1200" dirty="0">
                <a:solidFill>
                  <a:schemeClr val="dk1"/>
                </a:solidFill>
              </a:rPr>
              <a:t>, which means a univariate histogram will be created.</a:t>
            </a:r>
            <a:br>
              <a:rPr lang="en" sz="1200" dirty="0">
                <a:solidFill>
                  <a:schemeClr val="dk1"/>
                </a:solidFill>
              </a:rPr>
            </a:br>
            <a:endParaRPr sz="1200" dirty="0">
              <a:solidFill>
                <a:schemeClr val="dk1"/>
              </a:solidFill>
            </a:endParaRPr>
          </a:p>
          <a:p>
            <a:pPr marL="0" lvl="0" indent="0" algn="l" rtl="0">
              <a:lnSpc>
                <a:spcPct val="115000"/>
              </a:lnSpc>
              <a:spcBef>
                <a:spcPts val="1200"/>
              </a:spcBef>
              <a:spcAft>
                <a:spcPts val="1200"/>
              </a:spcAft>
              <a:buNone/>
            </a:pPr>
            <a:endParaRPr sz="1200" dirty="0">
              <a:solidFill>
                <a:schemeClr val="dk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5"/>
          <p:cNvSpPr txBox="1"/>
          <p:nvPr/>
        </p:nvSpPr>
        <p:spPr>
          <a:xfrm>
            <a:off x="0" y="0"/>
            <a:ext cx="9144000" cy="20088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200"/>
              </a:spcBef>
              <a:spcAft>
                <a:spcPts val="0"/>
              </a:spcAft>
              <a:buClr>
                <a:schemeClr val="dk1"/>
              </a:buClr>
              <a:buSzPts val="1500"/>
              <a:buChar char="●"/>
            </a:pPr>
            <a:r>
              <a:rPr lang="en" sz="1500" b="1">
                <a:solidFill>
                  <a:schemeClr val="dk1"/>
                </a:solidFill>
              </a:rPr>
              <a:t>bins:</a:t>
            </a:r>
            <a:br>
              <a:rPr lang="en" sz="1500" b="1">
                <a:solidFill>
                  <a:schemeClr val="dk1"/>
                </a:solidFill>
              </a:rPr>
            </a:br>
            <a:r>
              <a:rPr lang="en" sz="1500">
                <a:solidFill>
                  <a:schemeClr val="dk1"/>
                </a:solidFill>
              </a:rPr>
              <a:t> Determines the number of intervals (bars) in the histogram. The default value is </a:t>
            </a:r>
            <a:r>
              <a:rPr lang="en" sz="1500">
                <a:solidFill>
                  <a:srgbClr val="188038"/>
                </a:solidFill>
                <a:latin typeface="Roboto Mono"/>
                <a:ea typeface="Roboto Mono"/>
                <a:cs typeface="Roboto Mono"/>
                <a:sym typeface="Roboto Mono"/>
              </a:rPr>
              <a:t>"auto"</a:t>
            </a:r>
            <a:r>
              <a:rPr lang="en" sz="1500">
                <a:solidFill>
                  <a:schemeClr val="dk1"/>
                </a:solidFill>
              </a:rPr>
              <a:t>, which automatically calculates the optimal number of bins.</a:t>
            </a:r>
            <a:br>
              <a:rPr lang="en" sz="1500">
                <a:solidFill>
                  <a:schemeClr val="dk1"/>
                </a:solidFill>
              </a:rPr>
            </a:b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kde:</a:t>
            </a:r>
            <a:br>
              <a:rPr lang="en" sz="1500" b="1">
                <a:solidFill>
                  <a:schemeClr val="dk1"/>
                </a:solidFill>
              </a:rPr>
            </a:br>
            <a:r>
              <a:rPr lang="en" sz="1500">
                <a:solidFill>
                  <a:schemeClr val="dk1"/>
                </a:solidFill>
              </a:rPr>
              <a:t> If set to </a:t>
            </a:r>
            <a:r>
              <a:rPr lang="en" sz="1500">
                <a:solidFill>
                  <a:schemeClr val="dk1"/>
                </a:solidFill>
                <a:latin typeface="Roboto Mono"/>
                <a:ea typeface="Roboto Mono"/>
                <a:cs typeface="Roboto Mono"/>
                <a:sym typeface="Roboto Mono"/>
              </a:rPr>
              <a:t>True</a:t>
            </a:r>
            <a:r>
              <a:rPr lang="en" sz="1500">
                <a:solidFill>
                  <a:schemeClr val="dk1"/>
                </a:solidFill>
              </a:rPr>
              <a:t>, it adds a smooth Kernel Density Estimate (KDE) curve along with the histogram. By default, it is </a:t>
            </a:r>
            <a:r>
              <a:rPr lang="en" sz="1500">
                <a:solidFill>
                  <a:schemeClr val="dk1"/>
                </a:solidFill>
                <a:latin typeface="Roboto Mono"/>
                <a:ea typeface="Roboto Mono"/>
                <a:cs typeface="Roboto Mono"/>
                <a:sym typeface="Roboto Mono"/>
              </a:rPr>
              <a:t>False</a:t>
            </a:r>
            <a:r>
              <a:rPr lang="en" sz="1500">
                <a:solidFill>
                  <a:schemeClr val="dk1"/>
                </a:solidFill>
              </a:rPr>
              <a:t>, so only the histogram is displayed.</a:t>
            </a:r>
            <a:endParaRPr sz="1800"/>
          </a:p>
        </p:txBody>
      </p:sp>
      <p:sp>
        <p:nvSpPr>
          <p:cNvPr id="124" name="Google Shape;124;p25"/>
          <p:cNvSpPr txBox="1"/>
          <p:nvPr/>
        </p:nvSpPr>
        <p:spPr>
          <a:xfrm>
            <a:off x="326950" y="2219625"/>
            <a:ext cx="9144000" cy="276995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0000FF"/>
                </a:solidFill>
              </a:rPr>
              <a:t>import numpy as np</a:t>
            </a:r>
            <a:endParaRPr dirty="0">
              <a:solidFill>
                <a:srgbClr val="0000FF"/>
              </a:solidFill>
            </a:endParaRPr>
          </a:p>
          <a:p>
            <a:pPr marL="0" lvl="0" indent="0" algn="l" rtl="0">
              <a:spcBef>
                <a:spcPts val="0"/>
              </a:spcBef>
              <a:spcAft>
                <a:spcPts val="0"/>
              </a:spcAft>
              <a:buNone/>
            </a:pPr>
            <a:r>
              <a:rPr lang="en" dirty="0">
                <a:solidFill>
                  <a:srgbClr val="0000FF"/>
                </a:solidFill>
              </a:rPr>
              <a:t>import seaborn as sns</a:t>
            </a:r>
            <a:endParaRPr dirty="0">
              <a:solidFill>
                <a:srgbClr val="0000FF"/>
              </a:solidFill>
            </a:endParaRPr>
          </a:p>
          <a:p>
            <a:pPr marL="0" lvl="0" indent="0" algn="l" rtl="0">
              <a:spcBef>
                <a:spcPts val="0"/>
              </a:spcBef>
              <a:spcAft>
                <a:spcPts val="0"/>
              </a:spcAft>
              <a:buNone/>
            </a:pPr>
            <a:endParaRPr dirty="0">
              <a:solidFill>
                <a:srgbClr val="0000FF"/>
              </a:solidFill>
            </a:endParaRPr>
          </a:p>
          <a:p>
            <a:pPr marL="0" lvl="0" indent="0" algn="l" rtl="0">
              <a:spcBef>
                <a:spcPts val="0"/>
              </a:spcBef>
              <a:spcAft>
                <a:spcPts val="0"/>
              </a:spcAft>
              <a:buNone/>
            </a:pPr>
            <a:r>
              <a:rPr lang="en" dirty="0">
                <a:solidFill>
                  <a:srgbClr val="0000FF"/>
                </a:solidFill>
              </a:rPr>
              <a:t>sns.set(style="white")</a:t>
            </a:r>
            <a:endParaRPr dirty="0">
              <a:solidFill>
                <a:srgbClr val="0000FF"/>
              </a:solidFill>
            </a:endParaRPr>
          </a:p>
          <a:p>
            <a:pPr lvl="0"/>
            <a:r>
              <a:rPr lang="en-IN" dirty="0" smtClean="0">
                <a:solidFill>
                  <a:srgbClr val="0000FF"/>
                </a:solidFill>
              </a:rPr>
              <a:t>//(</a:t>
            </a:r>
            <a:r>
              <a:rPr lang="en-US" dirty="0"/>
              <a:t>A </a:t>
            </a:r>
            <a:r>
              <a:rPr lang="en-US" b="1" dirty="0"/>
              <a:t>seed</a:t>
            </a:r>
            <a:r>
              <a:rPr lang="en-US" dirty="0"/>
              <a:t> is a starting number used by the random number generator</a:t>
            </a:r>
            <a:r>
              <a:rPr lang="en-US" dirty="0" smtClean="0"/>
              <a:t>.)</a:t>
            </a:r>
            <a:endParaRPr dirty="0">
              <a:solidFill>
                <a:srgbClr val="0000FF"/>
              </a:solidFill>
            </a:endParaRPr>
          </a:p>
          <a:p>
            <a:pPr marL="0" lvl="0" indent="0" algn="l" rtl="0">
              <a:spcBef>
                <a:spcPts val="0"/>
              </a:spcBef>
              <a:spcAft>
                <a:spcPts val="0"/>
              </a:spcAft>
              <a:buNone/>
            </a:pPr>
            <a:r>
              <a:rPr lang="en" dirty="0">
                <a:solidFill>
                  <a:srgbClr val="0000FF"/>
                </a:solidFill>
              </a:rPr>
              <a:t># Generate a random univariate dataset</a:t>
            </a:r>
            <a:endParaRPr dirty="0">
              <a:solidFill>
                <a:srgbClr val="0000FF"/>
              </a:solidFill>
            </a:endParaRPr>
          </a:p>
          <a:p>
            <a:pPr marL="0" lvl="0" indent="0" algn="l" rtl="0">
              <a:spcBef>
                <a:spcPts val="0"/>
              </a:spcBef>
              <a:spcAft>
                <a:spcPts val="0"/>
              </a:spcAft>
              <a:buNone/>
            </a:pPr>
            <a:r>
              <a:rPr lang="en" dirty="0">
                <a:solidFill>
                  <a:srgbClr val="0000FF"/>
                </a:solidFill>
              </a:rPr>
              <a:t>rs = np.random.RandomState(10)</a:t>
            </a:r>
            <a:endParaRPr dirty="0">
              <a:solidFill>
                <a:srgbClr val="0000FF"/>
              </a:solidFill>
            </a:endParaRPr>
          </a:p>
          <a:p>
            <a:pPr marL="0" lvl="0" indent="0" algn="l" rtl="0">
              <a:spcBef>
                <a:spcPts val="0"/>
              </a:spcBef>
              <a:spcAft>
                <a:spcPts val="0"/>
              </a:spcAft>
              <a:buNone/>
            </a:pPr>
            <a:r>
              <a:rPr lang="en" dirty="0">
                <a:solidFill>
                  <a:srgbClr val="0000FF"/>
                </a:solidFill>
              </a:rPr>
              <a:t>d = rs.normal(size=100)</a:t>
            </a:r>
            <a:endParaRPr dirty="0">
              <a:solidFill>
                <a:srgbClr val="0000FF"/>
              </a:solidFill>
            </a:endParaRPr>
          </a:p>
          <a:p>
            <a:pPr lvl="0"/>
            <a:r>
              <a:rPr lang="en-IN" dirty="0" smtClean="0">
                <a:solidFill>
                  <a:srgbClr val="0000FF"/>
                </a:solidFill>
              </a:rPr>
              <a:t>//(</a:t>
            </a:r>
            <a:r>
              <a:rPr lang="en-US" dirty="0"/>
              <a:t>Create a random number generator with seed 10, then generate </a:t>
            </a:r>
            <a:r>
              <a:rPr lang="en-US" b="1" dirty="0"/>
              <a:t>100 bell-curve random numbers</a:t>
            </a:r>
            <a:r>
              <a:rPr lang="en-US" dirty="0"/>
              <a:t> and store them in d</a:t>
            </a:r>
            <a:r>
              <a:rPr lang="en-US" dirty="0" smtClean="0"/>
              <a:t>.)</a:t>
            </a:r>
            <a:endParaRPr dirty="0">
              <a:solidFill>
                <a:srgbClr val="0000FF"/>
              </a:solidFill>
            </a:endParaRPr>
          </a:p>
          <a:p>
            <a:pPr marL="0" lvl="0" indent="0" algn="l" rtl="0">
              <a:spcBef>
                <a:spcPts val="0"/>
              </a:spcBef>
              <a:spcAft>
                <a:spcPts val="0"/>
              </a:spcAft>
              <a:buNone/>
            </a:pPr>
            <a:r>
              <a:rPr lang="en" dirty="0">
                <a:solidFill>
                  <a:srgbClr val="0000FF"/>
                </a:solidFill>
              </a:rPr>
              <a:t># Plot a simple histogram and kde</a:t>
            </a:r>
            <a:endParaRPr dirty="0">
              <a:solidFill>
                <a:srgbClr val="0000FF"/>
              </a:solidFill>
            </a:endParaRPr>
          </a:p>
          <a:p>
            <a:pPr marL="0" lvl="0" indent="0" algn="l" rtl="0">
              <a:spcBef>
                <a:spcPts val="0"/>
              </a:spcBef>
              <a:spcAft>
                <a:spcPts val="0"/>
              </a:spcAft>
              <a:buNone/>
            </a:pPr>
            <a:r>
              <a:rPr lang="en" dirty="0">
                <a:solidFill>
                  <a:srgbClr val="0000FF"/>
                </a:solidFill>
              </a:rPr>
              <a:t>sns.histplot(d, kde=True, color="m")</a:t>
            </a:r>
            <a:endParaRPr dirty="0">
              <a:solidFill>
                <a:srgbClr val="0000FF"/>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6" title="download-(2).png"/>
          <p:cNvPicPr preferRelativeResize="0"/>
          <p:nvPr/>
        </p:nvPicPr>
        <p:blipFill>
          <a:blip r:embed="rId3">
            <a:alphaModFix/>
          </a:blip>
          <a:stretch>
            <a:fillRect/>
          </a:stretch>
        </p:blipFill>
        <p:spPr>
          <a:xfrm>
            <a:off x="783900" y="0"/>
            <a:ext cx="7482599" cy="514350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7"/>
          <p:cNvSpPr txBox="1"/>
          <p:nvPr/>
        </p:nvSpPr>
        <p:spPr>
          <a:xfrm>
            <a:off x="0" y="0"/>
            <a:ext cx="9144000" cy="548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b="1">
                <a:solidFill>
                  <a:schemeClr val="dk1"/>
                </a:solidFill>
              </a:rPr>
              <a:t>Distplot</a:t>
            </a:r>
            <a:endParaRPr sz="1800" b="1">
              <a:solidFill>
                <a:schemeClr val="dk1"/>
              </a:solidFill>
            </a:endParaRPr>
          </a:p>
          <a:p>
            <a:pPr marL="0" lvl="0" indent="0" algn="l" rtl="0">
              <a:lnSpc>
                <a:spcPct val="115000"/>
              </a:lnSpc>
              <a:spcBef>
                <a:spcPts val="1200"/>
              </a:spcBef>
              <a:spcAft>
                <a:spcPts val="0"/>
              </a:spcAft>
              <a:buNone/>
            </a:pPr>
            <a:r>
              <a:rPr lang="en" sz="1600">
                <a:solidFill>
                  <a:schemeClr val="dk1"/>
                </a:solidFill>
              </a:rPr>
              <a:t>Seaborn’s </a:t>
            </a:r>
            <a:r>
              <a:rPr lang="en" sz="1600">
                <a:solidFill>
                  <a:schemeClr val="dk1"/>
                </a:solidFill>
                <a:latin typeface="Roboto Mono"/>
                <a:ea typeface="Roboto Mono"/>
                <a:cs typeface="Roboto Mono"/>
                <a:sym typeface="Roboto Mono"/>
              </a:rPr>
              <a:t>distplot()</a:t>
            </a:r>
            <a:r>
              <a:rPr lang="en" sz="1600">
                <a:solidFill>
                  <a:schemeClr val="dk1"/>
                </a:solidFill>
              </a:rPr>
              <a:t> function is used to visualize the distribution of a single variable (single feature). It displays a histogram and can also include additional elements such as a KDE (Kernel Density Estimate) curve and a rug plot to better understand how the data is distributed.</a:t>
            </a:r>
            <a:endParaRPr sz="1600">
              <a:solidFill>
                <a:schemeClr val="dk1"/>
              </a:solidFill>
            </a:endParaRPr>
          </a:p>
          <a:p>
            <a:pPr marL="381000" marR="381000" lvl="0" indent="0" algn="l" rtl="0">
              <a:lnSpc>
                <a:spcPct val="115000"/>
              </a:lnSpc>
              <a:spcBef>
                <a:spcPts val="1200"/>
              </a:spcBef>
              <a:spcAft>
                <a:spcPts val="0"/>
              </a:spcAft>
              <a:buNone/>
            </a:pPr>
            <a:r>
              <a:rPr lang="en" sz="1600">
                <a:solidFill>
                  <a:schemeClr val="dk1"/>
                </a:solidFill>
              </a:rPr>
              <a:t>Note: In newer versions of Seaborn, </a:t>
            </a:r>
            <a:r>
              <a:rPr lang="en" sz="1600">
                <a:solidFill>
                  <a:schemeClr val="dk1"/>
                </a:solidFill>
                <a:latin typeface="Roboto Mono"/>
                <a:ea typeface="Roboto Mono"/>
                <a:cs typeface="Roboto Mono"/>
                <a:sym typeface="Roboto Mono"/>
              </a:rPr>
              <a:t>distplot()</a:t>
            </a:r>
            <a:r>
              <a:rPr lang="en" sz="1600">
                <a:solidFill>
                  <a:schemeClr val="dk1"/>
                </a:solidFill>
              </a:rPr>
              <a:t> is deprecated and replaced by </a:t>
            </a:r>
            <a:r>
              <a:rPr lang="en" sz="1600">
                <a:solidFill>
                  <a:schemeClr val="dk1"/>
                </a:solidFill>
                <a:latin typeface="Roboto Mono"/>
                <a:ea typeface="Roboto Mono"/>
                <a:cs typeface="Roboto Mono"/>
                <a:sym typeface="Roboto Mono"/>
              </a:rPr>
              <a:t>histplot()</a:t>
            </a:r>
            <a:r>
              <a:rPr lang="en" sz="1600">
                <a:solidFill>
                  <a:schemeClr val="dk1"/>
                </a:solidFill>
              </a:rPr>
              <a:t> and </a:t>
            </a:r>
            <a:r>
              <a:rPr lang="en" sz="1600">
                <a:solidFill>
                  <a:schemeClr val="dk1"/>
                </a:solidFill>
                <a:latin typeface="Roboto Mono"/>
                <a:ea typeface="Roboto Mono"/>
                <a:cs typeface="Roboto Mono"/>
                <a:sym typeface="Roboto Mono"/>
              </a:rPr>
              <a:t>kdeplot()</a:t>
            </a:r>
            <a:r>
              <a:rPr lang="en" sz="1600">
                <a:solidFill>
                  <a:schemeClr val="dk1"/>
                </a:solidFill>
              </a:rPr>
              <a:t>.</a:t>
            </a:r>
            <a:endParaRPr sz="1600">
              <a:solidFill>
                <a:schemeClr val="dk1"/>
              </a:solidFill>
            </a:endParaRPr>
          </a:p>
          <a:p>
            <a:pPr marL="0" lvl="0" indent="0" algn="l" rtl="0">
              <a:lnSpc>
                <a:spcPct val="115000"/>
              </a:lnSpc>
              <a:spcBef>
                <a:spcPts val="1200"/>
              </a:spcBef>
              <a:spcAft>
                <a:spcPts val="0"/>
              </a:spcAft>
              <a:buNone/>
            </a:pPr>
            <a:r>
              <a:rPr lang="en" sz="1600">
                <a:solidFill>
                  <a:schemeClr val="dk1"/>
                </a:solidFill>
              </a:rPr>
              <a:t>The function takes several parameters, but the most important ones are:</a:t>
            </a:r>
            <a:endParaRPr sz="1600">
              <a:solidFill>
                <a:schemeClr val="dk1"/>
              </a:solidFil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a:</a:t>
            </a:r>
            <a:br>
              <a:rPr lang="en" sz="1600" b="1">
                <a:solidFill>
                  <a:schemeClr val="dk1"/>
                </a:solidFill>
              </a:rPr>
            </a:br>
            <a:r>
              <a:rPr lang="en" sz="1600">
                <a:solidFill>
                  <a:schemeClr val="dk1"/>
                </a:solidFill>
              </a:rPr>
              <a:t> The array, list, or Pandas Series that contains the data you want to visualize. This is a required parameter.</a:t>
            </a:r>
            <a:br>
              <a:rPr lang="en"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bins:</a:t>
            </a:r>
            <a:br>
              <a:rPr lang="en" sz="1600" b="1">
                <a:solidFill>
                  <a:schemeClr val="dk1"/>
                </a:solidFill>
              </a:rPr>
            </a:br>
            <a:r>
              <a:rPr lang="en" sz="1600">
                <a:solidFill>
                  <a:schemeClr val="dk1"/>
                </a:solidFill>
              </a:rPr>
              <a:t> Specifies the number of intervals (bars) in the histogram. By default, it is set to </a:t>
            </a:r>
            <a:r>
              <a:rPr lang="en" sz="1600">
                <a:solidFill>
                  <a:srgbClr val="188038"/>
                </a:solidFill>
                <a:latin typeface="Roboto Mono"/>
                <a:ea typeface="Roboto Mono"/>
                <a:cs typeface="Roboto Mono"/>
                <a:sym typeface="Roboto Mono"/>
              </a:rPr>
              <a:t>"auto"</a:t>
            </a:r>
            <a:r>
              <a:rPr lang="en" sz="1600">
                <a:solidFill>
                  <a:schemeClr val="dk1"/>
                </a:solidFill>
              </a:rPr>
              <a:t>, which automatically selects the optimal number of bins.</a:t>
            </a:r>
            <a:br>
              <a:rPr lang="en" sz="1600">
                <a:solidFill>
                  <a:schemeClr val="dk1"/>
                </a:solidFill>
              </a:rPr>
            </a:br>
            <a:endParaRPr sz="1600">
              <a:solidFill>
                <a:schemeClr val="dk1"/>
              </a:solidFill>
            </a:endParaRPr>
          </a:p>
          <a:p>
            <a:pPr marL="457200" lvl="0" indent="0" algn="l" rtl="0">
              <a:lnSpc>
                <a:spcPct val="115000"/>
              </a:lnSpc>
              <a:spcBef>
                <a:spcPts val="1200"/>
              </a:spcBef>
              <a:spcAft>
                <a:spcPts val="1200"/>
              </a:spcAft>
              <a:buNone/>
            </a:pPr>
            <a:endParaRPr sz="1600">
              <a:solidFill>
                <a:schemeClr val="dk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8"/>
          <p:cNvSpPr txBox="1"/>
          <p:nvPr/>
        </p:nvSpPr>
        <p:spPr>
          <a:xfrm>
            <a:off x="0" y="0"/>
            <a:ext cx="9144000" cy="21303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kde:</a:t>
            </a:r>
            <a:br>
              <a:rPr lang="en" sz="1600" b="1">
                <a:solidFill>
                  <a:schemeClr val="dk1"/>
                </a:solidFill>
              </a:rPr>
            </a:br>
            <a:r>
              <a:rPr lang="en" sz="1600">
                <a:solidFill>
                  <a:schemeClr val="dk1"/>
                </a:solidFill>
              </a:rPr>
              <a:t> Determines whether to display the KDE (smooth density curve) along with the histogram. By default, it is set to </a:t>
            </a:r>
            <a:r>
              <a:rPr lang="en" sz="1600">
                <a:solidFill>
                  <a:schemeClr val="dk1"/>
                </a:solidFill>
                <a:latin typeface="Roboto Mono"/>
                <a:ea typeface="Roboto Mono"/>
                <a:cs typeface="Roboto Mono"/>
                <a:sym typeface="Roboto Mono"/>
              </a:rPr>
              <a:t>True</a:t>
            </a:r>
            <a:r>
              <a:rPr lang="en" sz="1600">
                <a:solidFill>
                  <a:schemeClr val="dk1"/>
                </a:solidFill>
              </a:rPr>
              <a:t>, so the KDE curve is shown.</a:t>
            </a:r>
            <a:br>
              <a:rPr lang="en"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hist:</a:t>
            </a:r>
            <a:br>
              <a:rPr lang="en" sz="1600" b="1">
                <a:solidFill>
                  <a:schemeClr val="dk1"/>
                </a:solidFill>
              </a:rPr>
            </a:br>
            <a:r>
              <a:rPr lang="en" sz="1600">
                <a:solidFill>
                  <a:schemeClr val="dk1"/>
                </a:solidFill>
              </a:rPr>
              <a:t> Controls whether to display the histogram. By default, it is set to </a:t>
            </a:r>
            <a:r>
              <a:rPr lang="en" sz="1600">
                <a:solidFill>
                  <a:schemeClr val="dk1"/>
                </a:solidFill>
                <a:latin typeface="Roboto Mono"/>
                <a:ea typeface="Roboto Mono"/>
                <a:cs typeface="Roboto Mono"/>
                <a:sym typeface="Roboto Mono"/>
              </a:rPr>
              <a:t>True</a:t>
            </a:r>
            <a:r>
              <a:rPr lang="en" sz="1600">
                <a:solidFill>
                  <a:schemeClr val="dk1"/>
                </a:solidFill>
              </a:rPr>
              <a:t>, meaning the histogram will be plotted along with the KDE curve (unless changed).</a:t>
            </a:r>
            <a:endParaRPr sz="1600">
              <a:solidFill>
                <a:schemeClr val="dk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9"/>
          <p:cNvSpPr txBox="1"/>
          <p:nvPr/>
        </p:nvSpPr>
        <p:spPr>
          <a:xfrm>
            <a:off x="188625" y="201225"/>
            <a:ext cx="9144000" cy="41857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rgbClr val="0000FF"/>
                </a:solidFill>
              </a:rPr>
              <a:t>import numpy as np</a:t>
            </a:r>
            <a:endParaRPr sz="1600" dirty="0">
              <a:solidFill>
                <a:srgbClr val="0000FF"/>
              </a:solidFill>
            </a:endParaRPr>
          </a:p>
          <a:p>
            <a:pPr marL="0" lvl="0" indent="0" algn="l" rtl="0">
              <a:spcBef>
                <a:spcPts val="0"/>
              </a:spcBef>
              <a:spcAft>
                <a:spcPts val="0"/>
              </a:spcAft>
              <a:buNone/>
            </a:pPr>
            <a:r>
              <a:rPr lang="en" sz="1600" dirty="0">
                <a:solidFill>
                  <a:srgbClr val="0000FF"/>
                </a:solidFill>
              </a:rPr>
              <a:t>import seaborn as </a:t>
            </a:r>
            <a:r>
              <a:rPr lang="en" sz="1600" dirty="0" smtClean="0">
                <a:solidFill>
                  <a:srgbClr val="0000FF"/>
                </a:solidFill>
              </a:rPr>
              <a:t>sns                                                       </a:t>
            </a:r>
            <a:endParaRPr sz="1600" dirty="0">
              <a:solidFill>
                <a:srgbClr val="0000FF"/>
              </a:solidFill>
            </a:endParaRPr>
          </a:p>
          <a:p>
            <a:pPr marL="0" lvl="0" indent="0" algn="l" rtl="0">
              <a:spcBef>
                <a:spcPts val="0"/>
              </a:spcBef>
              <a:spcAft>
                <a:spcPts val="0"/>
              </a:spcAft>
              <a:buNone/>
            </a:pPr>
            <a:r>
              <a:rPr lang="en" sz="1600" dirty="0">
                <a:solidFill>
                  <a:srgbClr val="0000FF"/>
                </a:solidFill>
              </a:rPr>
              <a:t>sns.set(style="white</a:t>
            </a:r>
            <a:r>
              <a:rPr lang="en" sz="1600" dirty="0" smtClean="0">
                <a:solidFill>
                  <a:srgbClr val="0000FF"/>
                </a:solidFill>
              </a:rPr>
              <a:t>")</a:t>
            </a:r>
            <a:endParaRPr sz="1600" dirty="0">
              <a:solidFill>
                <a:srgbClr val="0000FF"/>
              </a:solidFill>
            </a:endParaRPr>
          </a:p>
          <a:p>
            <a:pPr marL="0" lvl="0" indent="0" algn="l" rtl="0">
              <a:spcBef>
                <a:spcPts val="0"/>
              </a:spcBef>
              <a:spcAft>
                <a:spcPts val="0"/>
              </a:spcAft>
              <a:buNone/>
            </a:pPr>
            <a:r>
              <a:rPr lang="en" sz="1600" dirty="0">
                <a:solidFill>
                  <a:srgbClr val="0000FF"/>
                </a:solidFill>
              </a:rPr>
              <a:t># Generate a random univariate dataset</a:t>
            </a:r>
            <a:endParaRPr sz="1600" dirty="0">
              <a:solidFill>
                <a:srgbClr val="0000FF"/>
              </a:solidFill>
            </a:endParaRPr>
          </a:p>
          <a:p>
            <a:pPr marL="0" lvl="0" indent="0" algn="l" rtl="0">
              <a:spcBef>
                <a:spcPts val="0"/>
              </a:spcBef>
              <a:spcAft>
                <a:spcPts val="0"/>
              </a:spcAft>
              <a:buNone/>
            </a:pPr>
            <a:r>
              <a:rPr lang="en" sz="1600" dirty="0">
                <a:solidFill>
                  <a:srgbClr val="0000FF"/>
                </a:solidFill>
              </a:rPr>
              <a:t>rs = np.random.RandomState(10)</a:t>
            </a:r>
            <a:endParaRPr sz="1600" dirty="0">
              <a:solidFill>
                <a:srgbClr val="0000FF"/>
              </a:solidFill>
            </a:endParaRPr>
          </a:p>
          <a:p>
            <a:pPr marL="0" lvl="0" indent="0" algn="l" rtl="0">
              <a:spcBef>
                <a:spcPts val="0"/>
              </a:spcBef>
              <a:spcAft>
                <a:spcPts val="0"/>
              </a:spcAft>
              <a:buNone/>
            </a:pPr>
            <a:r>
              <a:rPr lang="en" sz="1600" dirty="0">
                <a:solidFill>
                  <a:srgbClr val="0000FF"/>
                </a:solidFill>
              </a:rPr>
              <a:t>d = rs.normal(size=100</a:t>
            </a:r>
            <a:r>
              <a:rPr lang="en" sz="1600" dirty="0" smtClean="0">
                <a:solidFill>
                  <a:srgbClr val="0000FF"/>
                </a:solidFill>
              </a:rPr>
              <a:t>)</a:t>
            </a:r>
            <a:endParaRPr sz="1600" dirty="0">
              <a:solidFill>
                <a:srgbClr val="0000FF"/>
              </a:solidFill>
            </a:endParaRPr>
          </a:p>
          <a:p>
            <a:pPr marL="0" lvl="0" indent="0" algn="l" rtl="0">
              <a:spcBef>
                <a:spcPts val="0"/>
              </a:spcBef>
              <a:spcAft>
                <a:spcPts val="0"/>
              </a:spcAft>
              <a:buNone/>
            </a:pPr>
            <a:r>
              <a:rPr lang="en" sz="1600" dirty="0">
                <a:solidFill>
                  <a:srgbClr val="0000FF"/>
                </a:solidFill>
              </a:rPr>
              <a:t># Define the colors to use</a:t>
            </a:r>
            <a:endParaRPr sz="1600" dirty="0">
              <a:solidFill>
                <a:srgbClr val="0000FF"/>
              </a:solidFill>
            </a:endParaRPr>
          </a:p>
          <a:p>
            <a:pPr marL="0" lvl="0" indent="0" algn="l" rtl="0">
              <a:spcBef>
                <a:spcPts val="0"/>
              </a:spcBef>
              <a:spcAft>
                <a:spcPts val="0"/>
              </a:spcAft>
              <a:buNone/>
            </a:pPr>
            <a:r>
              <a:rPr lang="en" sz="1600" dirty="0">
                <a:solidFill>
                  <a:srgbClr val="0000FF"/>
                </a:solidFill>
              </a:rPr>
              <a:t>colors = ["r", "g", "b"]</a:t>
            </a:r>
            <a:endParaRPr sz="1600" dirty="0">
              <a:solidFill>
                <a:srgbClr val="0000FF"/>
              </a:solidFill>
            </a:endParaRPr>
          </a:p>
          <a:p>
            <a:pPr lvl="0"/>
            <a:r>
              <a:rPr lang="en-IN" sz="1200" smtClean="0">
                <a:solidFill>
                  <a:srgbClr val="FF0000"/>
                </a:solidFill>
              </a:rPr>
              <a:t>//(</a:t>
            </a:r>
            <a:r>
              <a:rPr lang="en-IN" sz="1200" dirty="0" err="1" smtClean="0">
                <a:solidFill>
                  <a:srgbClr val="FF0000"/>
                </a:solidFill>
              </a:rPr>
              <a:t>hist_kws</a:t>
            </a:r>
            <a:r>
              <a:rPr lang="en-IN" sz="1200" dirty="0" smtClean="0">
                <a:solidFill>
                  <a:srgbClr val="FF0000"/>
                </a:solidFill>
              </a:rPr>
              <a:t> </a:t>
            </a:r>
            <a:r>
              <a:rPr lang="en-IN" sz="1200" dirty="0">
                <a:solidFill>
                  <a:srgbClr val="FF0000"/>
                </a:solidFill>
              </a:rPr>
              <a:t>→ controls histogram (red, transparent bars) </a:t>
            </a:r>
            <a:r>
              <a:rPr lang="en-IN" sz="1200" dirty="0" err="1">
                <a:solidFill>
                  <a:srgbClr val="FF0000"/>
                </a:solidFill>
              </a:rPr>
              <a:t>kde_kws</a:t>
            </a:r>
            <a:r>
              <a:rPr lang="en-IN" sz="1200" dirty="0">
                <a:solidFill>
                  <a:srgbClr val="FF0000"/>
                </a:solidFill>
              </a:rPr>
              <a:t> → controls KDE curve (green, thicker line) </a:t>
            </a:r>
            <a:r>
              <a:rPr lang="en-IN" sz="1200" dirty="0" err="1">
                <a:solidFill>
                  <a:srgbClr val="FF0000"/>
                </a:solidFill>
              </a:rPr>
              <a:t>rug_kws</a:t>
            </a:r>
            <a:r>
              <a:rPr lang="en-IN" sz="1200" dirty="0">
                <a:solidFill>
                  <a:srgbClr val="FF0000"/>
                </a:solidFill>
              </a:rPr>
              <a:t> → controls rug plot (blue data-point marks) bins=10 → 10 histogram bars </a:t>
            </a:r>
            <a:r>
              <a:rPr lang="en-IN" sz="1200" dirty="0" err="1">
                <a:solidFill>
                  <a:srgbClr val="FF0000"/>
                </a:solidFill>
              </a:rPr>
              <a:t>kde</a:t>
            </a:r>
            <a:r>
              <a:rPr lang="en-IN" sz="1200" dirty="0">
                <a:solidFill>
                  <a:srgbClr val="FF0000"/>
                </a:solidFill>
              </a:rPr>
              <a:t>=True → show smooth curve </a:t>
            </a:r>
            <a:r>
              <a:rPr lang="en-IN" sz="1200" dirty="0" err="1">
                <a:solidFill>
                  <a:srgbClr val="FF0000"/>
                </a:solidFill>
              </a:rPr>
              <a:t>hist</a:t>
            </a:r>
            <a:r>
              <a:rPr lang="en-IN" sz="1200" dirty="0">
                <a:solidFill>
                  <a:srgbClr val="FF0000"/>
                </a:solidFill>
              </a:rPr>
              <a:t>=True → show histogram rug=True → show data-point ticks on x-axis</a:t>
            </a:r>
            <a:r>
              <a:rPr lang="en-IN" sz="1200" dirty="0" smtClean="0">
                <a:solidFill>
                  <a:srgbClr val="FF0000"/>
                </a:solidFill>
              </a:rPr>
              <a:t>.)</a:t>
            </a:r>
            <a:endParaRPr sz="1200" dirty="0">
              <a:solidFill>
                <a:srgbClr val="FF0000"/>
              </a:solidFill>
            </a:endParaRPr>
          </a:p>
          <a:p>
            <a:pPr marL="0" lvl="0" indent="0" algn="l" rtl="0">
              <a:spcBef>
                <a:spcPts val="0"/>
              </a:spcBef>
              <a:spcAft>
                <a:spcPts val="0"/>
              </a:spcAft>
              <a:buNone/>
            </a:pPr>
            <a:r>
              <a:rPr lang="en" sz="1600" dirty="0">
                <a:solidFill>
                  <a:srgbClr val="0000FF"/>
                </a:solidFill>
              </a:rPr>
              <a:t># Plot a histogram with multiple colors</a:t>
            </a:r>
            <a:endParaRPr sz="1600" dirty="0">
              <a:solidFill>
                <a:srgbClr val="0000FF"/>
              </a:solidFill>
            </a:endParaRPr>
          </a:p>
          <a:p>
            <a:pPr marL="0" lvl="0" indent="0" algn="l" rtl="0">
              <a:spcBef>
                <a:spcPts val="0"/>
              </a:spcBef>
              <a:spcAft>
                <a:spcPts val="0"/>
              </a:spcAft>
              <a:buNone/>
            </a:pPr>
            <a:r>
              <a:rPr lang="en" sz="1600" dirty="0">
                <a:solidFill>
                  <a:srgbClr val="0000FF"/>
                </a:solidFill>
              </a:rPr>
              <a:t>sns.distplot(d, kde=True, hist=True, bins=10,</a:t>
            </a:r>
            <a:endParaRPr sz="1600" dirty="0">
              <a:solidFill>
                <a:srgbClr val="0000FF"/>
              </a:solidFill>
            </a:endParaRPr>
          </a:p>
          <a:p>
            <a:pPr marL="0" lvl="0" indent="0" algn="l" rtl="0">
              <a:spcBef>
                <a:spcPts val="0"/>
              </a:spcBef>
              <a:spcAft>
                <a:spcPts val="0"/>
              </a:spcAft>
              <a:buNone/>
            </a:pPr>
            <a:r>
              <a:rPr lang="en" sz="1600" dirty="0">
                <a:solidFill>
                  <a:srgbClr val="0000FF"/>
                </a:solidFill>
              </a:rPr>
              <a:t>             rug=True,hist_kws={"alpha": 0.3,</a:t>
            </a:r>
            <a:endParaRPr sz="1600" dirty="0">
              <a:solidFill>
                <a:srgbClr val="0000FF"/>
              </a:solidFill>
            </a:endParaRPr>
          </a:p>
          <a:p>
            <a:pPr marL="0" lvl="0" indent="0" algn="l" rtl="0">
              <a:spcBef>
                <a:spcPts val="0"/>
              </a:spcBef>
              <a:spcAft>
                <a:spcPts val="0"/>
              </a:spcAft>
              <a:buNone/>
            </a:pPr>
            <a:r>
              <a:rPr lang="en" sz="1600" dirty="0">
                <a:solidFill>
                  <a:srgbClr val="0000FF"/>
                </a:solidFill>
              </a:rPr>
              <a:t>                                "color": colors[0]},</a:t>
            </a:r>
            <a:endParaRPr sz="1600" dirty="0">
              <a:solidFill>
                <a:srgbClr val="0000FF"/>
              </a:solidFill>
            </a:endParaRPr>
          </a:p>
          <a:p>
            <a:pPr marL="0" lvl="0" indent="0" algn="l" rtl="0">
              <a:spcBef>
                <a:spcPts val="0"/>
              </a:spcBef>
              <a:spcAft>
                <a:spcPts val="0"/>
              </a:spcAft>
              <a:buNone/>
            </a:pPr>
            <a:r>
              <a:rPr lang="en" sz="1600" dirty="0">
                <a:solidFill>
                  <a:srgbClr val="0000FF"/>
                </a:solidFill>
              </a:rPr>
              <a:t>             kde_kws={"color": colors[1], "lw": 2},</a:t>
            </a:r>
            <a:endParaRPr sz="1600" dirty="0">
              <a:solidFill>
                <a:srgbClr val="0000FF"/>
              </a:solidFill>
            </a:endParaRPr>
          </a:p>
          <a:p>
            <a:pPr marL="0" lvl="0" indent="0" algn="l" rtl="0">
              <a:spcBef>
                <a:spcPts val="0"/>
              </a:spcBef>
              <a:spcAft>
                <a:spcPts val="0"/>
              </a:spcAft>
              <a:buNone/>
            </a:pPr>
            <a:r>
              <a:rPr lang="en" sz="1600" dirty="0">
                <a:solidFill>
                  <a:srgbClr val="0000FF"/>
                </a:solidFill>
              </a:rPr>
              <a:t>             rug_kws={"color": colors[2]})</a:t>
            </a:r>
            <a:endParaRPr sz="1600" dirty="0">
              <a:solidFill>
                <a:srgbClr val="0000FF"/>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0" title="download-(4).png"/>
          <p:cNvPicPr preferRelativeResize="0"/>
          <p:nvPr/>
        </p:nvPicPr>
        <p:blipFill>
          <a:blip r:embed="rId3">
            <a:alphaModFix/>
          </a:blip>
          <a:stretch>
            <a:fillRect/>
          </a:stretch>
        </p:blipFill>
        <p:spPr>
          <a:xfrm>
            <a:off x="1035400" y="8455"/>
            <a:ext cx="7105325" cy="5135044"/>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1"/>
          <p:cNvSpPr txBox="1"/>
          <p:nvPr/>
        </p:nvSpPr>
        <p:spPr>
          <a:xfrm>
            <a:off x="0" y="0"/>
            <a:ext cx="9144000" cy="1753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b="1">
                <a:solidFill>
                  <a:schemeClr val="dk1"/>
                </a:solidFill>
              </a:rPr>
              <a:t>Lineplot</a:t>
            </a:r>
            <a:endParaRPr sz="1800" b="1">
              <a:solidFill>
                <a:schemeClr val="dk1"/>
              </a:solidFill>
            </a:endParaRPr>
          </a:p>
          <a:p>
            <a:pPr marL="0" lvl="0" indent="0" algn="l" rtl="0">
              <a:lnSpc>
                <a:spcPct val="115000"/>
              </a:lnSpc>
              <a:spcBef>
                <a:spcPts val="1200"/>
              </a:spcBef>
              <a:spcAft>
                <a:spcPts val="1200"/>
              </a:spcAft>
              <a:buNone/>
            </a:pPr>
            <a:r>
              <a:rPr lang="en" sz="1600">
                <a:solidFill>
                  <a:schemeClr val="dk1"/>
                </a:solidFill>
              </a:rPr>
              <a:t>A line plot is one of the simplest and most commonly used plots in Seaborn. It is mainly used to represent data that changes continuously over a period of time.This plot is especially helpful for visualizing time-based data (time series), where values are shown in a continuous sequence. It helps us easily understand trends, patterns, and changes in the data over time.</a:t>
            </a:r>
            <a:endParaRPr sz="1600">
              <a:solidFill>
                <a:schemeClr val="dk1"/>
              </a:solidFill>
            </a:endParaRPr>
          </a:p>
        </p:txBody>
      </p:sp>
      <p:sp>
        <p:nvSpPr>
          <p:cNvPr id="155" name="Google Shape;155;p31"/>
          <p:cNvSpPr txBox="1"/>
          <p:nvPr/>
        </p:nvSpPr>
        <p:spPr>
          <a:xfrm>
            <a:off x="138325" y="1753200"/>
            <a:ext cx="9144000" cy="341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dirty="0">
                <a:solidFill>
                  <a:srgbClr val="0000FF"/>
                </a:solidFill>
              </a:rPr>
              <a:t>import seaborn as sns</a:t>
            </a:r>
            <a:endParaRPr sz="1500" dirty="0">
              <a:solidFill>
                <a:srgbClr val="0000FF"/>
              </a:solidFill>
            </a:endParaRPr>
          </a:p>
          <a:p>
            <a:pPr marL="0" lvl="0" indent="0" algn="l" rtl="0">
              <a:spcBef>
                <a:spcPts val="0"/>
              </a:spcBef>
              <a:spcAft>
                <a:spcPts val="0"/>
              </a:spcAft>
              <a:buNone/>
            </a:pPr>
            <a:r>
              <a:rPr lang="en" sz="1500" dirty="0">
                <a:solidFill>
                  <a:srgbClr val="0000FF"/>
                </a:solidFill>
              </a:rPr>
              <a:t>import matplotlib.pyplot as plt</a:t>
            </a:r>
            <a:endParaRPr sz="1500" dirty="0">
              <a:solidFill>
                <a:srgbClr val="0000FF"/>
              </a:solidFill>
            </a:endParaRPr>
          </a:p>
          <a:p>
            <a:pPr marL="0" lvl="0" indent="0" algn="l" rtl="0">
              <a:spcBef>
                <a:spcPts val="0"/>
              </a:spcBef>
              <a:spcAft>
                <a:spcPts val="0"/>
              </a:spcAft>
              <a:buNone/>
            </a:pPr>
            <a:endParaRPr sz="1500" dirty="0">
              <a:solidFill>
                <a:srgbClr val="0000FF"/>
              </a:solidFill>
            </a:endParaRPr>
          </a:p>
          <a:p>
            <a:pPr marL="0" lvl="0" indent="0" algn="l" rtl="0">
              <a:spcBef>
                <a:spcPts val="0"/>
              </a:spcBef>
              <a:spcAft>
                <a:spcPts val="0"/>
              </a:spcAft>
              <a:buNone/>
            </a:pPr>
            <a:r>
              <a:rPr lang="en" sz="1500" dirty="0">
                <a:solidFill>
                  <a:srgbClr val="0000FF"/>
                </a:solidFill>
              </a:rPr>
              <a:t>sns.set(style="dark")</a:t>
            </a:r>
            <a:endParaRPr sz="1500" dirty="0">
              <a:solidFill>
                <a:srgbClr val="0000FF"/>
              </a:solidFill>
            </a:endParaRPr>
          </a:p>
          <a:p>
            <a:pPr marL="0" lvl="0" indent="0" algn="l" rtl="0">
              <a:spcBef>
                <a:spcPts val="0"/>
              </a:spcBef>
              <a:spcAft>
                <a:spcPts val="0"/>
              </a:spcAft>
              <a:buNone/>
            </a:pPr>
            <a:r>
              <a:rPr lang="en" sz="1500" dirty="0">
                <a:solidFill>
                  <a:srgbClr val="0000FF"/>
                </a:solidFill>
              </a:rPr>
              <a:t>fmri = sns.load_dataset("fmri")</a:t>
            </a:r>
            <a:endParaRPr sz="1500" dirty="0">
              <a:solidFill>
                <a:srgbClr val="0000FF"/>
              </a:solidFill>
            </a:endParaRPr>
          </a:p>
          <a:p>
            <a:pPr marL="0" lvl="0" indent="0" algn="l" rtl="0">
              <a:spcBef>
                <a:spcPts val="0"/>
              </a:spcBef>
              <a:spcAft>
                <a:spcPts val="0"/>
              </a:spcAft>
              <a:buNone/>
            </a:pPr>
            <a:endParaRPr sz="1500" dirty="0">
              <a:solidFill>
                <a:srgbClr val="0000FF"/>
              </a:solidFill>
            </a:endParaRPr>
          </a:p>
          <a:p>
            <a:pPr marL="0" lvl="0" indent="0" algn="l" rtl="0">
              <a:spcBef>
                <a:spcPts val="0"/>
              </a:spcBef>
              <a:spcAft>
                <a:spcPts val="0"/>
              </a:spcAft>
              <a:buNone/>
            </a:pPr>
            <a:r>
              <a:rPr lang="en" sz="1500" dirty="0">
                <a:solidFill>
                  <a:srgbClr val="0000FF"/>
                </a:solidFill>
              </a:rPr>
              <a:t># Plot the responses for different\</a:t>
            </a:r>
            <a:endParaRPr sz="1500" dirty="0">
              <a:solidFill>
                <a:srgbClr val="0000FF"/>
              </a:solidFill>
            </a:endParaRPr>
          </a:p>
          <a:p>
            <a:pPr marL="0" lvl="0" indent="0" algn="l" rtl="0">
              <a:spcBef>
                <a:spcPts val="0"/>
              </a:spcBef>
              <a:spcAft>
                <a:spcPts val="0"/>
              </a:spcAft>
              <a:buNone/>
            </a:pPr>
            <a:r>
              <a:rPr lang="en" sz="1500" dirty="0">
                <a:solidFill>
                  <a:srgbClr val="0000FF"/>
                </a:solidFill>
              </a:rPr>
              <a:t># events and regions</a:t>
            </a:r>
            <a:endParaRPr sz="1500" dirty="0">
              <a:solidFill>
                <a:srgbClr val="0000FF"/>
              </a:solidFill>
            </a:endParaRPr>
          </a:p>
          <a:p>
            <a:pPr marL="0" lvl="0" indent="0" algn="l" rtl="0">
              <a:spcBef>
                <a:spcPts val="0"/>
              </a:spcBef>
              <a:spcAft>
                <a:spcPts val="0"/>
              </a:spcAft>
              <a:buNone/>
            </a:pPr>
            <a:r>
              <a:rPr lang="en" sz="1500" dirty="0">
                <a:solidFill>
                  <a:srgbClr val="0000FF"/>
                </a:solidFill>
              </a:rPr>
              <a:t>sns.lineplot(x="timepoint",</a:t>
            </a:r>
            <a:endParaRPr sz="1500" dirty="0">
              <a:solidFill>
                <a:srgbClr val="0000FF"/>
              </a:solidFill>
            </a:endParaRPr>
          </a:p>
          <a:p>
            <a:pPr marL="0" lvl="0" indent="0" algn="l" rtl="0">
              <a:spcBef>
                <a:spcPts val="0"/>
              </a:spcBef>
              <a:spcAft>
                <a:spcPts val="0"/>
              </a:spcAft>
              <a:buNone/>
            </a:pPr>
            <a:r>
              <a:rPr lang="en" sz="1500" dirty="0">
                <a:solidFill>
                  <a:srgbClr val="0000FF"/>
                </a:solidFill>
              </a:rPr>
              <a:t>             y="signal",</a:t>
            </a:r>
            <a:endParaRPr sz="1500" dirty="0">
              <a:solidFill>
                <a:srgbClr val="0000FF"/>
              </a:solidFill>
            </a:endParaRPr>
          </a:p>
          <a:p>
            <a:pPr marL="0" lvl="0" indent="0" algn="l" rtl="0">
              <a:spcBef>
                <a:spcPts val="0"/>
              </a:spcBef>
              <a:spcAft>
                <a:spcPts val="0"/>
              </a:spcAft>
              <a:buNone/>
            </a:pPr>
            <a:r>
              <a:rPr lang="en" sz="1500" dirty="0">
                <a:solidFill>
                  <a:srgbClr val="0000FF"/>
                </a:solidFill>
              </a:rPr>
              <a:t>             hue="region",</a:t>
            </a:r>
            <a:endParaRPr sz="1500" dirty="0">
              <a:solidFill>
                <a:srgbClr val="0000FF"/>
              </a:solidFill>
            </a:endParaRPr>
          </a:p>
          <a:p>
            <a:pPr marL="0" lvl="0" indent="0" algn="l" rtl="0">
              <a:spcBef>
                <a:spcPts val="0"/>
              </a:spcBef>
              <a:spcAft>
                <a:spcPts val="0"/>
              </a:spcAft>
              <a:buNone/>
            </a:pPr>
            <a:r>
              <a:rPr lang="en" sz="1500" dirty="0">
                <a:solidFill>
                  <a:srgbClr val="0000FF"/>
                </a:solidFill>
              </a:rPr>
              <a:t>             style="event",</a:t>
            </a:r>
            <a:endParaRPr sz="1500" dirty="0">
              <a:solidFill>
                <a:srgbClr val="0000FF"/>
              </a:solidFill>
            </a:endParaRPr>
          </a:p>
          <a:p>
            <a:pPr marL="0" lvl="0" indent="0" algn="l" rtl="0">
              <a:spcBef>
                <a:spcPts val="0"/>
              </a:spcBef>
              <a:spcAft>
                <a:spcPts val="0"/>
              </a:spcAft>
              <a:buNone/>
            </a:pPr>
            <a:r>
              <a:rPr lang="en" sz="1500" dirty="0">
                <a:solidFill>
                  <a:srgbClr val="0000FF"/>
                </a:solidFill>
              </a:rPr>
              <a:t>             data=fmri)</a:t>
            </a:r>
            <a:endParaRPr sz="1500" dirty="0">
              <a:solidFill>
                <a:srgbClr val="0000FF"/>
              </a:solidFill>
            </a:endParaRPr>
          </a:p>
          <a:p>
            <a:pPr marL="0" lvl="0" indent="0" algn="l" rtl="0">
              <a:spcBef>
                <a:spcPts val="0"/>
              </a:spcBef>
              <a:spcAft>
                <a:spcPts val="0"/>
              </a:spcAft>
              <a:buNone/>
            </a:pPr>
            <a:r>
              <a:rPr lang="en" sz="1500" dirty="0">
                <a:solidFill>
                  <a:srgbClr val="0000FF"/>
                </a:solidFill>
              </a:rPr>
              <a:t>plt.show()</a:t>
            </a:r>
            <a:endParaRPr sz="1500" dirty="0">
              <a:solidFill>
                <a:srgbClr val="0000FF"/>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32" title="download-(3).jpg"/>
          <p:cNvPicPr preferRelativeResize="0"/>
          <p:nvPr/>
        </p:nvPicPr>
        <p:blipFill>
          <a:blip r:embed="rId3">
            <a:alphaModFix/>
          </a:blip>
          <a:stretch>
            <a:fillRect/>
          </a:stretch>
        </p:blipFill>
        <p:spPr>
          <a:xfrm>
            <a:off x="1010250" y="0"/>
            <a:ext cx="6970275" cy="51435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3"/>
          <p:cNvSpPr txBox="1"/>
          <p:nvPr/>
        </p:nvSpPr>
        <p:spPr>
          <a:xfrm>
            <a:off x="75450" y="0"/>
            <a:ext cx="9144000" cy="219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b="1">
                <a:solidFill>
                  <a:schemeClr val="dk1"/>
                </a:solidFill>
              </a:rPr>
              <a:t>Lmplot</a:t>
            </a:r>
            <a:endParaRPr sz="1800" b="1">
              <a:solidFill>
                <a:schemeClr val="dk1"/>
              </a:solidFill>
            </a:endParaRPr>
          </a:p>
          <a:p>
            <a:pPr marL="0" lvl="0" indent="0" algn="l" rtl="0">
              <a:lnSpc>
                <a:spcPct val="115000"/>
              </a:lnSpc>
              <a:spcBef>
                <a:spcPts val="1200"/>
              </a:spcBef>
              <a:spcAft>
                <a:spcPts val="0"/>
              </a:spcAft>
              <a:buNone/>
            </a:pPr>
            <a:r>
              <a:rPr lang="en" sz="1600">
                <a:solidFill>
                  <a:schemeClr val="dk1"/>
                </a:solidFill>
              </a:rPr>
              <a:t>Lmplot is a basic plot in Seaborn that is used to show the relationship between two variables. It displays the data points on a two-dimensional graph along with a line that represents a linear regression model.</a:t>
            </a:r>
            <a:endParaRPr sz="1600">
              <a:solidFill>
                <a:schemeClr val="dk1"/>
              </a:solidFill>
            </a:endParaRPr>
          </a:p>
          <a:p>
            <a:pPr marL="0" lvl="0" indent="0" algn="l" rtl="0">
              <a:lnSpc>
                <a:spcPct val="115000"/>
              </a:lnSpc>
              <a:spcBef>
                <a:spcPts val="1200"/>
              </a:spcBef>
              <a:spcAft>
                <a:spcPts val="1200"/>
              </a:spcAft>
              <a:buNone/>
            </a:pPr>
            <a:r>
              <a:rPr lang="en" sz="1600">
                <a:solidFill>
                  <a:schemeClr val="dk1"/>
                </a:solidFill>
              </a:rPr>
              <a:t>In this plot, the x value is shown on the horizontal axis and the y value is shown on the vertical axis. The regression line helps to clearly understand the trend between the two variables.</a:t>
            </a:r>
            <a:endParaRPr sz="1600">
              <a:solidFill>
                <a:schemeClr val="dk1"/>
              </a:solidFill>
            </a:endParaRPr>
          </a:p>
        </p:txBody>
      </p:sp>
      <p:sp>
        <p:nvSpPr>
          <p:cNvPr id="166" name="Google Shape;166;p33"/>
          <p:cNvSpPr txBox="1"/>
          <p:nvPr/>
        </p:nvSpPr>
        <p:spPr>
          <a:xfrm>
            <a:off x="125775" y="2297175"/>
            <a:ext cx="85809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rgbClr val="0000FF"/>
                </a:solidFill>
              </a:rPr>
              <a:t>import seaborn as sns</a:t>
            </a:r>
            <a:endParaRPr sz="1600" dirty="0">
              <a:solidFill>
                <a:srgbClr val="0000FF"/>
              </a:solidFill>
            </a:endParaRPr>
          </a:p>
          <a:p>
            <a:pPr marL="0" lvl="0" indent="0" algn="l" rtl="0">
              <a:spcBef>
                <a:spcPts val="0"/>
              </a:spcBef>
              <a:spcAft>
                <a:spcPts val="0"/>
              </a:spcAft>
              <a:buNone/>
            </a:pPr>
            <a:endParaRPr sz="1600" dirty="0">
              <a:solidFill>
                <a:srgbClr val="0000FF"/>
              </a:solidFill>
            </a:endParaRPr>
          </a:p>
          <a:p>
            <a:pPr marL="0" lvl="0" indent="0" algn="l" rtl="0">
              <a:spcBef>
                <a:spcPts val="0"/>
              </a:spcBef>
              <a:spcAft>
                <a:spcPts val="0"/>
              </a:spcAft>
              <a:buNone/>
            </a:pPr>
            <a:r>
              <a:rPr lang="en" sz="1600" dirty="0">
                <a:solidFill>
                  <a:srgbClr val="0000FF"/>
                </a:solidFill>
              </a:rPr>
              <a:t>sns.set(style="ticks")</a:t>
            </a:r>
            <a:endParaRPr sz="1600" dirty="0">
              <a:solidFill>
                <a:srgbClr val="0000FF"/>
              </a:solidFill>
            </a:endParaRPr>
          </a:p>
          <a:p>
            <a:pPr marL="0" lvl="0" indent="0" algn="l" rtl="0">
              <a:spcBef>
                <a:spcPts val="0"/>
              </a:spcBef>
              <a:spcAft>
                <a:spcPts val="0"/>
              </a:spcAft>
              <a:buNone/>
            </a:pPr>
            <a:endParaRPr sz="1600" dirty="0">
              <a:solidFill>
                <a:srgbClr val="0000FF"/>
              </a:solidFill>
            </a:endParaRPr>
          </a:p>
          <a:p>
            <a:pPr marL="0" lvl="0" indent="0" algn="l" rtl="0">
              <a:spcBef>
                <a:spcPts val="0"/>
              </a:spcBef>
              <a:spcAft>
                <a:spcPts val="0"/>
              </a:spcAft>
              <a:buNone/>
            </a:pPr>
            <a:r>
              <a:rPr lang="en" sz="1600" dirty="0">
                <a:solidFill>
                  <a:srgbClr val="0000FF"/>
                </a:solidFill>
              </a:rPr>
              <a:t># Loading the dataset</a:t>
            </a:r>
            <a:endParaRPr sz="1600" dirty="0">
              <a:solidFill>
                <a:srgbClr val="0000FF"/>
              </a:solidFill>
            </a:endParaRPr>
          </a:p>
          <a:p>
            <a:pPr marL="0" lvl="0" indent="0" algn="l" rtl="0">
              <a:spcBef>
                <a:spcPts val="0"/>
              </a:spcBef>
              <a:spcAft>
                <a:spcPts val="0"/>
              </a:spcAft>
              <a:buNone/>
            </a:pPr>
            <a:r>
              <a:rPr lang="en" sz="1600" dirty="0">
                <a:solidFill>
                  <a:srgbClr val="0000FF"/>
                </a:solidFill>
              </a:rPr>
              <a:t>df = sns.load_dataset("anscombe")</a:t>
            </a:r>
            <a:endParaRPr sz="1600" dirty="0">
              <a:solidFill>
                <a:srgbClr val="0000FF"/>
              </a:solidFill>
            </a:endParaRPr>
          </a:p>
          <a:p>
            <a:pPr marL="0" lvl="0" indent="0" algn="l" rtl="0">
              <a:spcBef>
                <a:spcPts val="0"/>
              </a:spcBef>
              <a:spcAft>
                <a:spcPts val="0"/>
              </a:spcAft>
              <a:buNone/>
            </a:pPr>
            <a:endParaRPr sz="1600" dirty="0">
              <a:solidFill>
                <a:srgbClr val="0000FF"/>
              </a:solidFill>
            </a:endParaRPr>
          </a:p>
          <a:p>
            <a:pPr marL="0" lvl="0" indent="0" algn="l" rtl="0">
              <a:spcBef>
                <a:spcPts val="0"/>
              </a:spcBef>
              <a:spcAft>
                <a:spcPts val="0"/>
              </a:spcAft>
              <a:buNone/>
            </a:pPr>
            <a:r>
              <a:rPr lang="en" sz="1600" dirty="0">
                <a:solidFill>
                  <a:srgbClr val="0000FF"/>
                </a:solidFill>
              </a:rPr>
              <a:t># Show the results of a linear regression</a:t>
            </a:r>
            <a:endParaRPr sz="1600" dirty="0">
              <a:solidFill>
                <a:srgbClr val="0000FF"/>
              </a:solidFill>
            </a:endParaRPr>
          </a:p>
          <a:p>
            <a:pPr marL="0" lvl="0" indent="0" algn="l" rtl="0">
              <a:spcBef>
                <a:spcPts val="0"/>
              </a:spcBef>
              <a:spcAft>
                <a:spcPts val="0"/>
              </a:spcAft>
              <a:buNone/>
            </a:pPr>
            <a:r>
              <a:rPr lang="en" sz="1600" dirty="0">
                <a:solidFill>
                  <a:srgbClr val="0000FF"/>
                </a:solidFill>
              </a:rPr>
              <a:t>sns.lmplot(x="x", y="y", data=df)</a:t>
            </a:r>
            <a:endParaRPr sz="1600" dirty="0">
              <a:solidFill>
                <a:srgbClr val="0000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34" title="lmplot-300x300.png"/>
          <p:cNvPicPr preferRelativeResize="0"/>
          <p:nvPr/>
        </p:nvPicPr>
        <p:blipFill>
          <a:blip r:embed="rId3">
            <a:alphaModFix/>
          </a:blip>
          <a:stretch>
            <a:fillRect/>
          </a:stretch>
        </p:blipFill>
        <p:spPr>
          <a:xfrm>
            <a:off x="2579525" y="716825"/>
            <a:ext cx="3410750" cy="323887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957</Words>
  <Application>Microsoft Office PowerPoint</Application>
  <PresentationFormat>On-screen Show (16:9)</PresentationFormat>
  <Paragraphs>97</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Roboto Mono</vt:lpstr>
      <vt:lpstr>Simple Light</vt:lpstr>
      <vt:lpstr>      Introduction to Seaborn - Python </vt:lpstr>
      <vt:lpstr>PowerPoint Presentation</vt:lpstr>
      <vt:lpstr>Some Popular Plots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Introduction to Seaborn - Python </dc:title>
  <cp:lastModifiedBy>user</cp:lastModifiedBy>
  <cp:revision>2</cp:revision>
  <dcterms:modified xsi:type="dcterms:W3CDTF">2026-06-25T10:01:05Z</dcterms:modified>
</cp:coreProperties>
</file>