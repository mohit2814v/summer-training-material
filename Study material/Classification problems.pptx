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1016"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3C3D03C-A0AF-4191-836F-5DAEBD59D3AA}"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1036259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3C3D03C-A0AF-4191-836F-5DAEBD59D3AA}"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3094477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C3D03C-A0AF-4191-836F-5DAEBD59D3AA}"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3740810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3C3D03C-A0AF-4191-836F-5DAEBD59D3AA}" type="datetimeFigureOut">
              <a:rPr lang="en-IN" smtClean="0"/>
              <a:t>30-06-2026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3536512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3C3D03C-A0AF-4191-836F-5DAEBD59D3AA}" type="datetimeFigureOut">
              <a:rPr lang="en-IN" smtClean="0"/>
              <a:t>30-06-2026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2174079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3C3D03C-A0AF-4191-836F-5DAEBD59D3AA}" type="datetimeFigureOut">
              <a:rPr lang="en-IN" smtClean="0"/>
              <a:t>30-06-2026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70893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C3D03C-A0AF-4191-836F-5DAEBD59D3AA}" type="datetimeFigureOut">
              <a:rPr lang="en-IN" smtClean="0"/>
              <a:t>30-06-2026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2136850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C3D03C-A0AF-4191-836F-5DAEBD59D3AA}" type="datetimeFigureOut">
              <a:rPr lang="en-IN" smtClean="0"/>
              <a:t>30-06-2026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179203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C3D03C-A0AF-4191-836F-5DAEBD59D3AA}" type="datetimeFigureOut">
              <a:rPr lang="en-IN" smtClean="0"/>
              <a:t>30-06-2026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1700909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3C3D03C-A0AF-4191-836F-5DAEBD59D3AA}"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97970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3C3D03C-A0AF-4191-836F-5DAEBD59D3AA}"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126E59-8B96-4ACC-8DBA-4C970488C655}" type="slidenum">
              <a:rPr lang="en-IN" smtClean="0"/>
              <a:t>‹#›</a:t>
            </a:fld>
            <a:endParaRPr lang="en-IN"/>
          </a:p>
        </p:txBody>
      </p:sp>
    </p:spTree>
    <p:extLst>
      <p:ext uri="{BB962C8B-B14F-4D97-AF65-F5344CB8AC3E}">
        <p14:creationId xmlns:p14="http://schemas.microsoft.com/office/powerpoint/2010/main" val="3845553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C3D03C-A0AF-4191-836F-5DAEBD59D3AA}" type="datetimeFigureOut">
              <a:rPr lang="en-IN" smtClean="0"/>
              <a:t>30-06-2026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126E59-8B96-4ACC-8DBA-4C970488C655}" type="slidenum">
              <a:rPr lang="en-IN" smtClean="0"/>
              <a:t>‹#›</a:t>
            </a:fld>
            <a:endParaRPr lang="en-IN"/>
          </a:p>
        </p:txBody>
      </p:sp>
    </p:spTree>
    <p:extLst>
      <p:ext uri="{BB962C8B-B14F-4D97-AF65-F5344CB8AC3E}">
        <p14:creationId xmlns:p14="http://schemas.microsoft.com/office/powerpoint/2010/main" val="341006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2564904"/>
            <a:ext cx="8083367" cy="769441"/>
          </a:xfrm>
          <a:prstGeom prst="rect">
            <a:avLst/>
          </a:prstGeom>
        </p:spPr>
        <p:txBody>
          <a:bodyPr wrap="none">
            <a:spAutoFit/>
          </a:bodyPr>
          <a:lstStyle/>
          <a:p>
            <a:r>
              <a:rPr lang="en-IN" sz="4400" b="1" dirty="0"/>
              <a:t>Getting started with Classification</a:t>
            </a:r>
          </a:p>
        </p:txBody>
      </p:sp>
    </p:spTree>
    <p:extLst>
      <p:ext uri="{BB962C8B-B14F-4D97-AF65-F5344CB8AC3E}">
        <p14:creationId xmlns:p14="http://schemas.microsoft.com/office/powerpoint/2010/main" val="2285491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504" y="188640"/>
            <a:ext cx="8856984" cy="2862322"/>
          </a:xfrm>
          <a:prstGeom prst="rect">
            <a:avLst/>
          </a:prstGeom>
        </p:spPr>
        <p:txBody>
          <a:bodyPr wrap="square">
            <a:spAutoFit/>
          </a:bodyPr>
          <a:lstStyle/>
          <a:p>
            <a:r>
              <a:rPr lang="en-US" dirty="0" smtClean="0"/>
              <a:t>Classification is a supervised machine learning method used to predict classes or categories from input data. It places each data point into a predefined class by learning patterns from the training data.</a:t>
            </a:r>
          </a:p>
          <a:p>
            <a:r>
              <a:rPr lang="en-US" dirty="0" smtClean="0"/>
              <a:t>Predicts categories: Identifies the class of new data points.</a:t>
            </a:r>
          </a:p>
          <a:p>
            <a:r>
              <a:rPr lang="en-US" dirty="0" smtClean="0"/>
              <a:t>Uses labeled data: It is trained on datasets where the correct class labels are already available.</a:t>
            </a:r>
          </a:p>
          <a:p>
            <a:r>
              <a:rPr lang="en-US" dirty="0" smtClean="0"/>
              <a:t>Common examples: Spam vs. non-spam emails, diseased vs. healthy patients.</a:t>
            </a:r>
          </a:p>
          <a:p>
            <a:r>
              <a:rPr lang="en-US" dirty="0" smtClean="0"/>
              <a:t>For example, a classification model can be trained using a dataset of images labeled as dogs or cats. It can then classify new, unseen images as either dogs or cats by analyzing features such as color, texture, or shape.</a:t>
            </a:r>
            <a:endParaRPr lang="en-US" dirty="0"/>
          </a:p>
        </p:txBody>
      </p:sp>
      <p:sp>
        <p:nvSpPr>
          <p:cNvPr id="6" name="AutoShape 4" descr="Classifica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descr="Classificatio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descr="Classification"/>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descr="Classification"/>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12" descr="Classification"/>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AutoShape 14" descr="Generated image: Machine learning pet classification workflow"/>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3050962"/>
            <a:ext cx="8062499" cy="3618398"/>
          </a:xfrm>
          <a:prstGeom prst="rect">
            <a:avLst/>
          </a:prstGeom>
        </p:spPr>
      </p:pic>
    </p:spTree>
    <p:extLst>
      <p:ext uri="{BB962C8B-B14F-4D97-AF65-F5344CB8AC3E}">
        <p14:creationId xmlns:p14="http://schemas.microsoft.com/office/powerpoint/2010/main" val="2614232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188640"/>
            <a:ext cx="8856984" cy="1200329"/>
          </a:xfrm>
          <a:prstGeom prst="rect">
            <a:avLst/>
          </a:prstGeom>
        </p:spPr>
        <p:txBody>
          <a:bodyPr wrap="square">
            <a:spAutoFit/>
          </a:bodyPr>
          <a:lstStyle/>
          <a:p>
            <a:r>
              <a:rPr lang="en-US" b="1" dirty="0" smtClean="0"/>
              <a:t>Types of Classification</a:t>
            </a:r>
          </a:p>
          <a:p>
            <a:r>
              <a:rPr lang="en-US" dirty="0" smtClean="0"/>
              <a:t>Classification in machine learning is the process of grouping data into different categories based on its features or characteristics. The type of classification problem is determined by the number of classes and the way the categories are organized.</a:t>
            </a:r>
            <a:endParaRPr lang="en-US" dirty="0"/>
          </a:p>
        </p:txBody>
      </p:sp>
      <p:sp>
        <p:nvSpPr>
          <p:cNvPr id="4" name="AutoShape 3" descr="Types-of-classifica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5" descr="Types-of-classificatio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7" descr="Generated image: Machine learning pet classification workflow"/>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708" y="1916832"/>
            <a:ext cx="8842780" cy="3484984"/>
          </a:xfrm>
          <a:prstGeom prst="rect">
            <a:avLst/>
          </a:prstGeom>
        </p:spPr>
      </p:pic>
    </p:spTree>
    <p:extLst>
      <p:ext uri="{BB962C8B-B14F-4D97-AF65-F5344CB8AC3E}">
        <p14:creationId xmlns:p14="http://schemas.microsoft.com/office/powerpoint/2010/main" val="2614232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97189"/>
            <a:ext cx="8964488" cy="6186309"/>
          </a:xfrm>
          <a:prstGeom prst="rect">
            <a:avLst/>
          </a:prstGeom>
        </p:spPr>
        <p:txBody>
          <a:bodyPr wrap="square">
            <a:spAutoFit/>
          </a:bodyPr>
          <a:lstStyle/>
          <a:p>
            <a:r>
              <a:rPr lang="en-US" b="1" u="sng" dirty="0" smtClean="0"/>
              <a:t>1. Binary Classification</a:t>
            </a:r>
          </a:p>
          <a:p>
            <a:r>
              <a:rPr lang="en-US" dirty="0" smtClean="0"/>
              <a:t>Binary classification is the most basic type of classification in which data is categorized into one of two possible classes. The model examines the input features and predicts which of the two categories the data belongs to. Some key aspects of binary classification are:</a:t>
            </a:r>
          </a:p>
          <a:p>
            <a:r>
              <a:rPr lang="en-US" dirty="0" smtClean="0"/>
              <a:t>Only two classes: Each data point belongs to one of two categories.</a:t>
            </a:r>
          </a:p>
          <a:p>
            <a:r>
              <a:rPr lang="en-US" dirty="0" smtClean="0"/>
              <a:t>Common examples: Spam vs. not spam emails, diseased vs. healthy patients.</a:t>
            </a:r>
          </a:p>
          <a:p>
            <a:r>
              <a:rPr lang="en-US" dirty="0" smtClean="0"/>
              <a:t>Feature-based decision: The model uses the input features to identify the correct class.</a:t>
            </a:r>
          </a:p>
          <a:p>
            <a:r>
              <a:rPr lang="en-US" b="1" u="sng" dirty="0" smtClean="0"/>
              <a:t>2. Multiclass Classification</a:t>
            </a:r>
          </a:p>
          <a:p>
            <a:r>
              <a:rPr lang="en-US" dirty="0" smtClean="0"/>
              <a:t>Multiclass classification is used when data must be classified into more than two categories. The model evaluates the input features and predicts the single class that best fits the data. Some key aspects of multiclass classification are:</a:t>
            </a:r>
          </a:p>
          <a:p>
            <a:r>
              <a:rPr lang="en-US" dirty="0" smtClean="0"/>
              <a:t>More than two classes: Each data point is assigned to one of several categories.</a:t>
            </a:r>
          </a:p>
          <a:p>
            <a:r>
              <a:rPr lang="en-US" dirty="0" smtClean="0"/>
              <a:t>One final prediction: The model chooses only one class for each input.</a:t>
            </a:r>
          </a:p>
          <a:p>
            <a:r>
              <a:rPr lang="en-US" dirty="0" smtClean="0"/>
              <a:t>Common examples: Image classification, such as identifying a cat, dog, or bird.</a:t>
            </a:r>
          </a:p>
          <a:p>
            <a:r>
              <a:rPr lang="en-US" b="1" u="sng" dirty="0" smtClean="0"/>
              <a:t>3. Multi-Label Classification</a:t>
            </a:r>
          </a:p>
          <a:p>
            <a:r>
              <a:rPr lang="en-US" dirty="0" smtClean="0"/>
              <a:t>Multi-label classification enables a single data point to be assigned to multiple categories at the same time. Unlike multiclass classification, where only one class is selected, this method allows the model to predict several labels for the same input. Key aspects include:</a:t>
            </a:r>
          </a:p>
          <a:p>
            <a:r>
              <a:rPr lang="en-US" dirty="0" smtClean="0"/>
              <a:t>Multiple labels for one data point: A single input can belong to more than one category.</a:t>
            </a:r>
          </a:p>
          <a:p>
            <a:r>
              <a:rPr lang="en-US" dirty="0" smtClean="0"/>
              <a:t>Overlapping labels: The categories are not mutually exclusive.</a:t>
            </a:r>
          </a:p>
          <a:p>
            <a:r>
              <a:rPr lang="en-US" dirty="0" smtClean="0"/>
              <a:t>Common example: A movie recommendation system may label a movie as both action and comedy based on features such as the plot, actors, or genre tags.</a:t>
            </a:r>
            <a:endParaRPr lang="en-US" dirty="0"/>
          </a:p>
        </p:txBody>
      </p:sp>
    </p:spTree>
    <p:extLst>
      <p:ext uri="{BB962C8B-B14F-4D97-AF65-F5344CB8AC3E}">
        <p14:creationId xmlns:p14="http://schemas.microsoft.com/office/powerpoint/2010/main" val="2614232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88640"/>
            <a:ext cx="8856984" cy="4524315"/>
          </a:xfrm>
          <a:prstGeom prst="rect">
            <a:avLst/>
          </a:prstGeom>
        </p:spPr>
        <p:txBody>
          <a:bodyPr wrap="square">
            <a:spAutoFit/>
          </a:bodyPr>
          <a:lstStyle/>
          <a:p>
            <a:r>
              <a:rPr lang="en-US" b="1" u="sng" dirty="0" smtClean="0"/>
              <a:t>Working</a:t>
            </a:r>
          </a:p>
          <a:p>
            <a:r>
              <a:rPr lang="en-US" dirty="0" smtClean="0"/>
              <a:t>Classification works by training a model using labeled data so that it can recognize patterns and predict the correct class for new inputs. The main steps are:</a:t>
            </a:r>
          </a:p>
          <a:p>
            <a:r>
              <a:rPr lang="en-US" b="1" u="sng" dirty="0" smtClean="0"/>
              <a:t>Data Collection:</a:t>
            </a:r>
            <a:r>
              <a:rPr lang="en-US" u="sng" dirty="0" smtClean="0"/>
              <a:t> </a:t>
            </a:r>
            <a:r>
              <a:rPr lang="en-US" dirty="0" smtClean="0"/>
              <a:t>Begin with a dataset in which every data point has a known label.</a:t>
            </a:r>
          </a:p>
          <a:p>
            <a:r>
              <a:rPr lang="en-US" b="1" u="sng" dirty="0" smtClean="0"/>
              <a:t>Feature Extraction:</a:t>
            </a:r>
            <a:r>
              <a:rPr lang="en-US" u="sng" dirty="0" smtClean="0"/>
              <a:t> </a:t>
            </a:r>
            <a:r>
              <a:rPr lang="en-US" dirty="0" smtClean="0"/>
              <a:t>Select important features such as color, shape, or texture that help separate different classes.</a:t>
            </a:r>
          </a:p>
          <a:p>
            <a:r>
              <a:rPr lang="en-US" b="1" u="sng" dirty="0" smtClean="0"/>
              <a:t>Model Training:</a:t>
            </a:r>
            <a:r>
              <a:rPr lang="en-US" u="sng" dirty="0" smtClean="0"/>
              <a:t> </a:t>
            </a:r>
            <a:r>
              <a:rPr lang="en-US" dirty="0" smtClean="0"/>
              <a:t>The algorithm learns the relationship between the features and the correct class labels.</a:t>
            </a:r>
          </a:p>
          <a:p>
            <a:r>
              <a:rPr lang="en-US" b="1" u="sng" dirty="0" smtClean="0"/>
              <a:t>Model Evaluation:</a:t>
            </a:r>
            <a:r>
              <a:rPr lang="en-US" u="sng" dirty="0" smtClean="0"/>
              <a:t> </a:t>
            </a:r>
            <a:r>
              <a:rPr lang="en-US" dirty="0" smtClean="0"/>
              <a:t>The trained model is tested on unseen data to evaluate its accuracy.</a:t>
            </a:r>
          </a:p>
          <a:p>
            <a:r>
              <a:rPr lang="en-US" b="1" u="sng" dirty="0" smtClean="0"/>
              <a:t>Prediction:</a:t>
            </a:r>
            <a:r>
              <a:rPr lang="en-US" u="sng" dirty="0" smtClean="0"/>
              <a:t> </a:t>
            </a:r>
            <a:r>
              <a:rPr lang="en-US" dirty="0" smtClean="0"/>
              <a:t>The model assigns a class to new data based on the patterns it has learned.</a:t>
            </a:r>
          </a:p>
          <a:p>
            <a:r>
              <a:rPr lang="en-US" b="1" u="sng" dirty="0" smtClean="0"/>
              <a:t>Model Improvement:</a:t>
            </a:r>
            <a:r>
              <a:rPr lang="en-US" u="sng" dirty="0" smtClean="0"/>
              <a:t> </a:t>
            </a:r>
            <a:r>
              <a:rPr lang="en-US" dirty="0" smtClean="0"/>
              <a:t>If the results are not satisfactory, the model or its parameters are modified and trained again.</a:t>
            </a:r>
          </a:p>
          <a:p>
            <a:r>
              <a:rPr lang="en-US" b="1" u="sng" dirty="0" smtClean="0"/>
              <a:t>Classification Algorithms</a:t>
            </a:r>
          </a:p>
          <a:p>
            <a:r>
              <a:rPr lang="en-US" dirty="0" smtClean="0"/>
              <a:t>To build a classification model, it is necessary to understand the algorithms used for classification. One of the most widely used algorithms is Logistic Regression. Classification algorithms can be divided into different categories, such as:</a:t>
            </a:r>
            <a:endParaRPr lang="en-US" dirty="0"/>
          </a:p>
        </p:txBody>
      </p:sp>
      <p:sp>
        <p:nvSpPr>
          <p:cNvPr id="3" name="Rectangle 2"/>
          <p:cNvSpPr/>
          <p:nvPr/>
        </p:nvSpPr>
        <p:spPr>
          <a:xfrm>
            <a:off x="179512" y="4727193"/>
            <a:ext cx="8784976" cy="1754326"/>
          </a:xfrm>
          <a:prstGeom prst="rect">
            <a:avLst/>
          </a:prstGeom>
        </p:spPr>
        <p:txBody>
          <a:bodyPr wrap="square">
            <a:spAutoFit/>
          </a:bodyPr>
          <a:lstStyle/>
          <a:p>
            <a:r>
              <a:rPr lang="en-US" b="1" u="sng" dirty="0" smtClean="0"/>
              <a:t>1. Linear Classifiers</a:t>
            </a:r>
          </a:p>
          <a:p>
            <a:r>
              <a:rPr lang="en-US" dirty="0" smtClean="0"/>
              <a:t>Linear classifiers are models that separate classes by creating a linear decision boundary. They are simple to use and computationally efficient. Some commonly used linear classification models are:</a:t>
            </a:r>
          </a:p>
          <a:p>
            <a:r>
              <a:rPr lang="en-US" i="1" dirty="0" smtClean="0"/>
              <a:t>Logistic Regression</a:t>
            </a:r>
          </a:p>
          <a:p>
            <a:r>
              <a:rPr lang="en-US" i="1" dirty="0" smtClean="0"/>
              <a:t>Support Vector Machines</a:t>
            </a:r>
            <a:endParaRPr lang="en-US" i="1" dirty="0"/>
          </a:p>
        </p:txBody>
      </p:sp>
    </p:spTree>
    <p:extLst>
      <p:ext uri="{BB962C8B-B14F-4D97-AF65-F5344CB8AC3E}">
        <p14:creationId xmlns:p14="http://schemas.microsoft.com/office/powerpoint/2010/main" val="2614232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16632"/>
            <a:ext cx="8928992" cy="2308324"/>
          </a:xfrm>
          <a:prstGeom prst="rect">
            <a:avLst/>
          </a:prstGeom>
        </p:spPr>
        <p:txBody>
          <a:bodyPr wrap="square">
            <a:spAutoFit/>
          </a:bodyPr>
          <a:lstStyle/>
          <a:p>
            <a:r>
              <a:rPr lang="en-US" b="1" u="sng" dirty="0" smtClean="0"/>
              <a:t>2. Non-Linear Classifiers</a:t>
            </a:r>
          </a:p>
          <a:p>
            <a:r>
              <a:rPr lang="en-US" dirty="0" smtClean="0"/>
              <a:t>Non-linear classifiers create non-linear decision boundaries to distinguish between different classes. They are capable of learning more complex relationships between input features and the target variable. Some commonly used non-linear classification models are:</a:t>
            </a:r>
          </a:p>
          <a:p>
            <a:r>
              <a:rPr lang="en-US" i="1" dirty="0" smtClean="0"/>
              <a:t>K-Nearest </a:t>
            </a:r>
            <a:r>
              <a:rPr lang="en-US" i="1" dirty="0" err="1" smtClean="0"/>
              <a:t>Neighbours</a:t>
            </a:r>
            <a:endParaRPr lang="en-US" i="1" dirty="0" smtClean="0"/>
          </a:p>
          <a:p>
            <a:r>
              <a:rPr lang="en-US" i="1" dirty="0" smtClean="0"/>
              <a:t>Kernel SVM</a:t>
            </a:r>
          </a:p>
          <a:p>
            <a:r>
              <a:rPr lang="en-US" i="1" dirty="0" smtClean="0"/>
              <a:t>Decision Tree Classification</a:t>
            </a:r>
          </a:p>
          <a:p>
            <a:r>
              <a:rPr lang="en-US" i="1" dirty="0" smtClean="0"/>
              <a:t>Random Forests</a:t>
            </a:r>
            <a:endParaRPr lang="en-US" i="1" dirty="0"/>
          </a:p>
        </p:txBody>
      </p:sp>
      <p:sp>
        <p:nvSpPr>
          <p:cNvPr id="3" name="Rectangle 2"/>
          <p:cNvSpPr/>
          <p:nvPr/>
        </p:nvSpPr>
        <p:spPr>
          <a:xfrm>
            <a:off x="136435" y="2449943"/>
            <a:ext cx="8856984" cy="3416320"/>
          </a:xfrm>
          <a:prstGeom prst="rect">
            <a:avLst/>
          </a:prstGeom>
        </p:spPr>
        <p:txBody>
          <a:bodyPr wrap="square">
            <a:spAutoFit/>
          </a:bodyPr>
          <a:lstStyle/>
          <a:p>
            <a:r>
              <a:rPr lang="en-US" b="1" u="sng" dirty="0" smtClean="0"/>
              <a:t>Applications</a:t>
            </a:r>
          </a:p>
          <a:p>
            <a:r>
              <a:rPr lang="en-US" b="1" u="sng" dirty="0" smtClean="0"/>
              <a:t>Email Spam Filtering</a:t>
            </a:r>
            <a:r>
              <a:rPr lang="en-US" b="1" dirty="0" smtClean="0"/>
              <a:t>:</a:t>
            </a:r>
            <a:r>
              <a:rPr lang="en-US" dirty="0" smtClean="0"/>
              <a:t> Identifies whether an email is spam or not spam based on its content.</a:t>
            </a:r>
          </a:p>
          <a:p>
            <a:r>
              <a:rPr lang="en-US" b="1" u="sng" dirty="0" smtClean="0"/>
              <a:t>Credit Risk Assessment:</a:t>
            </a:r>
            <a:r>
              <a:rPr lang="en-US" u="sng" dirty="0" smtClean="0"/>
              <a:t> </a:t>
            </a:r>
            <a:r>
              <a:rPr lang="en-US" dirty="0" smtClean="0"/>
              <a:t>Predicts if a loan applicant is likely to default using factors such as credit score and income.</a:t>
            </a:r>
          </a:p>
          <a:p>
            <a:r>
              <a:rPr lang="en-US" b="1" u="sng" dirty="0" smtClean="0"/>
              <a:t>Medical Diagnosis:</a:t>
            </a:r>
            <a:r>
              <a:rPr lang="en-US" dirty="0" smtClean="0"/>
              <a:t> Determines whether a patient has diseases like cancer or diabetes using medical information.</a:t>
            </a:r>
          </a:p>
          <a:p>
            <a:r>
              <a:rPr lang="en-US" b="1" u="sng" dirty="0" smtClean="0"/>
              <a:t>Image Classification</a:t>
            </a:r>
            <a:r>
              <a:rPr lang="en-US" b="1" dirty="0" smtClean="0"/>
              <a:t>:</a:t>
            </a:r>
            <a:r>
              <a:rPr lang="en-US" dirty="0" smtClean="0"/>
              <a:t> Applied in areas such as facial recognition, self-driving vehicles, and medical imaging.</a:t>
            </a:r>
          </a:p>
          <a:p>
            <a:r>
              <a:rPr lang="en-US" b="1" u="sng" dirty="0" smtClean="0"/>
              <a:t>Sentiment Analysis</a:t>
            </a:r>
            <a:r>
              <a:rPr lang="en-US" b="1" dirty="0" smtClean="0"/>
              <a:t>:</a:t>
            </a:r>
            <a:r>
              <a:rPr lang="en-US" dirty="0" smtClean="0"/>
              <a:t> Classifies text as positive, negative, or neutral based on its sentiment.</a:t>
            </a:r>
          </a:p>
          <a:p>
            <a:r>
              <a:rPr lang="en-US" b="1" u="sng" dirty="0" smtClean="0"/>
              <a:t>Fraud Detection</a:t>
            </a:r>
            <a:r>
              <a:rPr lang="en-US" b="1" dirty="0" smtClean="0"/>
              <a:t>:</a:t>
            </a:r>
            <a:r>
              <a:rPr lang="en-US" dirty="0" smtClean="0"/>
              <a:t> Detects suspicious transaction patterns to identify financial fraud.</a:t>
            </a:r>
          </a:p>
          <a:p>
            <a:r>
              <a:rPr lang="en-US" b="1" u="sng" dirty="0" smtClean="0"/>
              <a:t>Recommendation Systems</a:t>
            </a:r>
            <a:r>
              <a:rPr lang="en-US" b="1" dirty="0" smtClean="0"/>
              <a:t>:</a:t>
            </a:r>
            <a:r>
              <a:rPr lang="en-US" dirty="0" smtClean="0"/>
              <a:t> Although not purely a classification task, they often rely on ranking or similarity-based techniques.</a:t>
            </a:r>
            <a:endParaRPr lang="en-US" dirty="0"/>
          </a:p>
        </p:txBody>
      </p:sp>
    </p:spTree>
    <p:extLst>
      <p:ext uri="{BB962C8B-B14F-4D97-AF65-F5344CB8AC3E}">
        <p14:creationId xmlns:p14="http://schemas.microsoft.com/office/powerpoint/2010/main" val="2614232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860</Words>
  <Application>Microsoft Office PowerPoint</Application>
  <PresentationFormat>On-screen Show (4:3)</PresentationFormat>
  <Paragraphs>51</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2</cp:revision>
  <dcterms:created xsi:type="dcterms:W3CDTF">2026-06-30T08:35:48Z</dcterms:created>
  <dcterms:modified xsi:type="dcterms:W3CDTF">2026-06-30T08:49:38Z</dcterms:modified>
</cp:coreProperties>
</file>