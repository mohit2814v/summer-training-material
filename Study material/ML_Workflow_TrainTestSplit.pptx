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645920"/>
            <a:ext cx="4114800" cy="4114800"/>
          </a:xfrm>
          <a:prstGeom prst="ellipse">
            <a:avLst/>
          </a:prstGeom>
          <a:solidFill>
            <a:srgbClr val="134E4A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926080"/>
            <a:ext cx="2926080" cy="2926080"/>
          </a:xfrm>
          <a:prstGeom prst="ellipse">
            <a:avLst/>
          </a:prstGeom>
          <a:solidFill>
            <a:srgbClr val="134E4A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Workflow &amp; Train/Test Split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visual guide to splitting your data the right way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Machine Learning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 from raw data to a working model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88720" y="2606040"/>
            <a:ext cx="676656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920240"/>
            <a:ext cx="1371600" cy="13716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313432"/>
            <a:ext cx="585216" cy="585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3520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1920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1</a:t>
            </a:r>
            <a:endParaRPr lang="en-US" sz="100" dirty="0"/>
          </a:p>
        </p:txBody>
      </p:sp>
      <p:sp>
        <p:nvSpPr>
          <p:cNvPr id="9" name="Shape 6"/>
          <p:cNvSpPr/>
          <p:nvPr/>
        </p:nvSpPr>
        <p:spPr>
          <a:xfrm>
            <a:off x="2194560" y="1920240"/>
            <a:ext cx="1371600" cy="13716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752" y="2313432"/>
            <a:ext cx="585216" cy="5852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57400" y="3520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Data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194560" y="1920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2</a:t>
            </a:r>
            <a:endParaRPr lang="en-US" sz="100" dirty="0"/>
          </a:p>
        </p:txBody>
      </p:sp>
      <p:sp>
        <p:nvSpPr>
          <p:cNvPr id="13" name="Shape 9"/>
          <p:cNvSpPr/>
          <p:nvPr/>
        </p:nvSpPr>
        <p:spPr>
          <a:xfrm>
            <a:off x="3886200" y="1920240"/>
            <a:ext cx="1371600" cy="1371600"/>
          </a:xfrm>
          <a:prstGeom prst="ellipse">
            <a:avLst/>
          </a:prstGeom>
          <a:solidFill>
            <a:srgbClr val="D97706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2313432"/>
            <a:ext cx="585216" cy="58521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749040" y="3520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886200" y="1920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3</a:t>
            </a:r>
            <a:endParaRPr lang="en-US" sz="100" dirty="0"/>
          </a:p>
        </p:txBody>
      </p:sp>
      <p:sp>
        <p:nvSpPr>
          <p:cNvPr id="17" name="Shape 12"/>
          <p:cNvSpPr/>
          <p:nvPr/>
        </p:nvSpPr>
        <p:spPr>
          <a:xfrm>
            <a:off x="5577840" y="1920240"/>
            <a:ext cx="1371600" cy="13716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2313432"/>
            <a:ext cx="585216" cy="58521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40680" y="3520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577840" y="1920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4</a:t>
            </a:r>
            <a:endParaRPr lang="en-US" sz="100" dirty="0"/>
          </a:p>
        </p:txBody>
      </p:sp>
      <p:sp>
        <p:nvSpPr>
          <p:cNvPr id="21" name="Shape 15"/>
          <p:cNvSpPr/>
          <p:nvPr/>
        </p:nvSpPr>
        <p:spPr>
          <a:xfrm>
            <a:off x="7269480" y="1920240"/>
            <a:ext cx="1371600" cy="13716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672" y="2313432"/>
            <a:ext cx="585216" cy="58521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132320" y="3520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7269480" y="1920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5</a:t>
            </a:r>
            <a:endParaRPr lang="en-US" sz="100" dirty="0"/>
          </a:p>
        </p:txBody>
      </p:sp>
      <p:sp>
        <p:nvSpPr>
          <p:cNvPr id="25" name="Shape 18"/>
          <p:cNvSpPr/>
          <p:nvPr/>
        </p:nvSpPr>
        <p:spPr>
          <a:xfrm>
            <a:off x="914400" y="4160520"/>
            <a:ext cx="7315200" cy="685800"/>
          </a:xfrm>
          <a:prstGeom prst="roundRect">
            <a:avLst>
              <a:gd name="adj" fmla="val 10667"/>
            </a:avLst>
          </a:prstGeom>
          <a:solidFill>
            <a:srgbClr val="FEF3E2"/>
          </a:solidFill>
          <a:ln/>
        </p:spPr>
      </p:sp>
      <p:sp>
        <p:nvSpPr>
          <p:cNvPr id="26" name="Text 19"/>
          <p:cNvSpPr/>
          <p:nvPr/>
        </p:nvSpPr>
        <p:spPr>
          <a:xfrm>
            <a:off x="1143000" y="41605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focuses on Step 3 —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Data — the foundation of a trustworthy model.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Split the Data?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 model on data it already memorized hides the truth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794760" cy="3246120"/>
          </a:xfrm>
          <a:prstGeom prst="roundRect">
            <a:avLst>
              <a:gd name="adj" fmla="val 2817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7830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Everything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51560" y="2468880"/>
            <a:ext cx="30175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✗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memorizes the data instead of learning patterns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✗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great on training data (e.g. 99% accuracy)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✗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on new, real-world data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✗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detect the problem in advance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709160" y="1508760"/>
            <a:ext cx="3794760" cy="3246120"/>
          </a:xfrm>
          <a:prstGeom prst="roundRect">
            <a:avLst>
              <a:gd name="adj" fmla="val 2817"/>
            </a:avLst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7830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0" y="17830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Data First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120640" y="2468880"/>
            <a:ext cx="30175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evaluated on data it has never seen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 realistic, honest performance estimate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you compare models fairly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catch overfitting early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Train, Validation &amp; Test Sets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dataset is divided into three parts, each with one clear job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5376672" cy="502920"/>
          </a:xfrm>
          <a:prstGeom prst="rect">
            <a:avLst/>
          </a:prstGeom>
          <a:solidFill>
            <a:srgbClr val="0D948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5376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· 70%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108192" y="1508760"/>
            <a:ext cx="1152144" cy="502920"/>
          </a:xfrm>
          <a:prstGeom prst="rect">
            <a:avLst/>
          </a:prstGeom>
          <a:solidFill>
            <a:srgbClr val="D9770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08192" y="150876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· 15%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260336" y="1508760"/>
            <a:ext cx="1152144" cy="502920"/>
          </a:xfrm>
          <a:prstGeom prst="rect">
            <a:avLst/>
          </a:prstGeom>
          <a:solidFill>
            <a:srgbClr val="94A3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60336" y="150876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· 15%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2331720"/>
            <a:ext cx="2423160" cy="2423160"/>
          </a:xfrm>
          <a:prstGeom prst="roundRect">
            <a:avLst>
              <a:gd name="adj" fmla="val 3019"/>
            </a:avLst>
          </a:prstGeom>
          <a:solidFill>
            <a:srgbClr val="F0FDFA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2606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3063240"/>
            <a:ext cx="1965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learns from this data — adjusting its internal parameters to fit patterns.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360420" y="2331720"/>
            <a:ext cx="2423160" cy="2423160"/>
          </a:xfrm>
          <a:prstGeom prst="roundRect">
            <a:avLst>
              <a:gd name="adj" fmla="val 3019"/>
            </a:avLst>
          </a:prstGeom>
          <a:solidFill>
            <a:srgbClr val="FEF3E2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89020" y="2606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Set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89020" y="3063240"/>
            <a:ext cx="1965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tune settings and compare models, without ever touching the test set.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89320" y="2331720"/>
            <a:ext cx="2423160" cy="2423160"/>
          </a:xfrm>
          <a:prstGeom prst="roundRect">
            <a:avLst>
              <a:gd name="adj" fmla="val 30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2606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0" y="3063240"/>
            <a:ext cx="1965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back until the very end for one honest, final check of performance.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Split Ratios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ratio depends mostly on how much data you have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0" y="1600200"/>
            <a:ext cx="4462272" cy="502920"/>
          </a:xfrm>
          <a:prstGeom prst="rect">
            <a:avLst/>
          </a:prstGeom>
          <a:solidFill>
            <a:srgbClr val="0D948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48272" y="1600200"/>
            <a:ext cx="1115568" cy="502920"/>
          </a:xfrm>
          <a:prstGeom prst="rect">
            <a:avLst/>
          </a:prstGeom>
          <a:solidFill>
            <a:srgbClr val="94A3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39696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datasets, no validation set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/ 15 / 15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0" y="2606040"/>
            <a:ext cx="3904488" cy="502920"/>
          </a:xfrm>
          <a:prstGeom prst="rect">
            <a:avLst/>
          </a:prstGeom>
          <a:solidFill>
            <a:srgbClr val="0D948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0488" y="2606040"/>
            <a:ext cx="836676" cy="502920"/>
          </a:xfrm>
          <a:prstGeom prst="rect">
            <a:avLst/>
          </a:prstGeom>
          <a:solidFill>
            <a:srgbClr val="D9770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27164" y="2606040"/>
            <a:ext cx="836676" cy="502920"/>
          </a:xfrm>
          <a:prstGeom prst="rect">
            <a:avLst/>
          </a:prstGeom>
          <a:solidFill>
            <a:srgbClr val="94A3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145536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— adds a validation set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6118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/ 20 / 20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86000" y="3611880"/>
            <a:ext cx="3346704" cy="502920"/>
          </a:xfrm>
          <a:prstGeom prst="rect">
            <a:avLst/>
          </a:prstGeom>
          <a:solidFill>
            <a:srgbClr val="0D948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32704" y="3611880"/>
            <a:ext cx="1115568" cy="502920"/>
          </a:xfrm>
          <a:prstGeom prst="rect">
            <a:avLst/>
          </a:prstGeom>
          <a:solidFill>
            <a:srgbClr val="D9770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48272" y="3611880"/>
            <a:ext cx="1115568" cy="502920"/>
          </a:xfrm>
          <a:prstGeom prst="rect">
            <a:avLst/>
          </a:prstGeom>
          <a:solidFill>
            <a:srgbClr val="94A3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151376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reliable evaluation is critical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286000" y="4663440"/>
            <a:ext cx="201168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2560320" y="46177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0" y="4663440"/>
            <a:ext cx="201168" cy="2011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0" y="46177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94960" y="4663440"/>
            <a:ext cx="201168" cy="20116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0" y="46177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Practice: scikit-learn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function call handles the entire split for you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7680960" cy="1783080"/>
          </a:xfrm>
          <a:prstGeom prst="roundRect">
            <a:avLst>
              <a:gd name="adj" fmla="val 4103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train_test_split(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test_size=0.2,      # 20% held out for testing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random_state=42     # reproducible results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5661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349300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 fixes the shuffle so results are repeatable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356616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40480" y="349300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test_size=0.2 means 20% of rows go to the test set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566160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37960" y="349300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stratify=y to keep class balance for classification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548640" cy="548640"/>
          </a:xfrm>
          <a:prstGeom prst="ellipse">
            <a:avLst/>
          </a:prstGeom>
          <a:solidFill>
            <a:srgbClr val="134E4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36192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3716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split your data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508760" y="171907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train and evaluate on the same rows.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31520" y="2286000"/>
            <a:ext cx="548640" cy="548640"/>
          </a:xfrm>
          <a:prstGeom prst="ellipse">
            <a:avLst/>
          </a:prstGeom>
          <a:solidFill>
            <a:srgbClr val="134E4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404872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2402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test set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508760" y="258775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exactly once, at the very end.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31520" y="3154680"/>
            <a:ext cx="548640" cy="548640"/>
          </a:xfrm>
          <a:prstGeom prst="ellipse">
            <a:avLst/>
          </a:prstGeom>
          <a:solidFill>
            <a:srgbClr val="134E4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73552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1089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split to your data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508760" y="345643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Stratify for imbalance, use time order for time-series.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731520" y="4023360"/>
            <a:ext cx="548640" cy="548640"/>
          </a:xfrm>
          <a:prstGeom prst="ellipse">
            <a:avLst/>
          </a:prstGeom>
          <a:solidFill>
            <a:srgbClr val="134E4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142232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08760" y="39776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simple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508760" y="432511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80/20 or 70/15/15 split is enough for most projects.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Workflow &amp; Train/Test Split</dc:title>
  <dc:subject>PptxGenJS Presentation</dc:subject>
  <dc:creator>Claude</dc:creator>
  <cp:lastModifiedBy>Claude</cp:lastModifiedBy>
  <cp:revision>1</cp:revision>
  <dcterms:created xsi:type="dcterms:W3CDTF">2026-06-29T04:00:36Z</dcterms:created>
  <dcterms:modified xsi:type="dcterms:W3CDTF">2026-06-29T04:00:36Z</dcterms:modified>
</cp:coreProperties>
</file>