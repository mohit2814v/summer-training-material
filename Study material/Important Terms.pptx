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JUqJADpGGejjOOoKOJcalqU+/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8965D1-763F-4DC2-BAE0-548770607383}">
  <a:tblStyle styleId="{978965D1-763F-4DC2-BAE0-5487706073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859eab9bd_2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859eab9bd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b="1" lang="en-US" sz="7200"/>
              <a:t>Important Terms</a:t>
            </a:r>
            <a:endParaRPr b="1" sz="7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pd.cut()</a:t>
            </a:r>
            <a:r>
              <a:rPr lang="en-US"/>
              <a:t> → Converts continuous numerical values into categorical bins (groups) like low, medium, high.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pd.get_dummies()</a:t>
            </a:r>
            <a:r>
              <a:rPr lang="en-US"/>
              <a:t> → Converts categorical text data into numerical columns (0 and 1) using one-hot encoding.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idx="1" type="body"/>
          </p:nvPr>
        </p:nvSpPr>
        <p:spPr>
          <a:xfrm>
            <a:off x="228600" y="609600"/>
            <a:ext cx="86868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Skewed data</a:t>
            </a:r>
            <a:r>
              <a:rPr lang="en-US"/>
              <a:t> → Data in which values are not evenly distributed and the graph is tilted more to one side (not symmetric).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Types: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Positive skew (Right skewed)</a:t>
            </a:r>
            <a:r>
              <a:rPr lang="en-US"/>
              <a:t> → Long tail on right side (more small values, few very large values).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Negative skew (Left skewed)</a:t>
            </a:r>
            <a:r>
              <a:rPr lang="en-US"/>
              <a:t> → Long tail on left side (more large values, few very small values).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Skewed data means the data is not balanced around the center.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700"/>
              <a:t>Created two models &amp; how to compare like linear &amp; regression model</a:t>
            </a:r>
            <a:endParaRPr b="1" sz="3700"/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3048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Compare Using Evaluation Metrics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regression models, use: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R² Score</a:t>
            </a:r>
            <a:r>
              <a:rPr lang="en-US"/>
              <a:t> → Higher is better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MAE (Mean Absolute Error)</a:t>
            </a:r>
            <a:r>
              <a:rPr lang="en-US"/>
              <a:t> → Lower is better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MSE (Mean Squared Error)</a:t>
            </a:r>
            <a:r>
              <a:rPr lang="en-US"/>
              <a:t> → Lower is better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RMSE</a:t>
            </a:r>
            <a:r>
              <a:rPr lang="en-US"/>
              <a:t> → Lower is better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152400" y="-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Example:-</a:t>
            </a:r>
            <a:endParaRPr b="1"/>
          </a:p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609600" y="838200"/>
            <a:ext cx="8305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from sklearn.metrics import mean_absolute_error, mean_squared_error, r2_score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import numpy as np</a:t>
            </a:r>
            <a:endParaRPr b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# Predictions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y_pred1 = model1.predict(X_test)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y_pred2 = model2.predict(X_test)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def evaluate(y_test, y_pred):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print("MAE:", mean_absolute_error(y_test, y_pred))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print("MSE:", mean_squared_error(y_test, y_pred))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print("RMSE:", np.sqrt(mean_squared_error(y_test, y_pred)))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print("R2:", r2_score(y_test, y_pred))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    print("---------------------")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print("Model 1 Results")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evaluate(y_test, y_pred1)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print("Model 2 Results")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600"/>
              <a:t>evaluate(y_test, y_pred2)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</p:txBody>
      </p:sp>
      <p:sp>
        <p:nvSpPr>
          <p:cNvPr id="107" name="Google Shape;107;p5"/>
          <p:cNvSpPr/>
          <p:nvPr/>
        </p:nvSpPr>
        <p:spPr>
          <a:xfrm>
            <a:off x="3886200" y="6019800"/>
            <a:ext cx="4876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with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R² and lower error values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better.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idx="1" type="body"/>
          </p:nvPr>
        </p:nvSpPr>
        <p:spPr>
          <a:xfrm>
            <a:off x="304800" y="145325"/>
            <a:ext cx="8534400" cy="6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 sz="3000"/>
              <a:t>Compare Using Cross Validation (More Reliable)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from sklearn.model_selection import cross_val_score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score1 = cross_val_score(model1, X, y, cv=5, scoring='r2')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score2 = cross_val_score(model2, X, y, cv=5, scoring='r2')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print("Model1 Avg R2:", score1.mean()) print("Model2 Avg R2:", score2.mean())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746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b="1" lang="en-US" sz="2900"/>
              <a:t>Higher average score = better model.</a:t>
            </a:r>
            <a:endParaRPr b="1" sz="3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accuracy_score</a:t>
            </a:r>
            <a:endParaRPr/>
          </a:p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457200" y="1600200"/>
            <a:ext cx="8382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accuracy_score() → It calculates how many predictions are correct out of total predictions (for classification models).</a:t>
            </a:r>
            <a:endParaRPr/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3352800"/>
            <a:ext cx="4579626" cy="2577374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idx="1" type="body"/>
          </p:nvPr>
        </p:nvSpPr>
        <p:spPr>
          <a:xfrm>
            <a:off x="228600" y="884237"/>
            <a:ext cx="8686800" cy="5745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Mean Squared Error (MSE)</a:t>
            </a:r>
            <a:r>
              <a:rPr lang="en-US" sz="1800"/>
              <a:t> → Average of squared differences between actual and predicted values.</a:t>
            </a:r>
            <a:br>
              <a:rPr lang="en-US" sz="1800"/>
            </a:br>
            <a:r>
              <a:rPr b="1" lang="en-US" sz="1800"/>
              <a:t>Example:</a:t>
            </a:r>
            <a:r>
              <a:rPr lang="en-US" sz="1800"/>
              <a:t> Actual = [2, 4], Predicted = [3, 5] → MSE = ((2−3)² + (4−5)²)/2 = 1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Mean Absolute Error (MAE)</a:t>
            </a:r>
            <a:r>
              <a:rPr lang="en-US" sz="1800"/>
              <a:t> → Average of absolute differences between actual and predicted values.</a:t>
            </a:r>
            <a:br>
              <a:rPr lang="en-US" sz="1800"/>
            </a:br>
            <a:r>
              <a:rPr b="1" lang="en-US" sz="1800"/>
              <a:t>Example:</a:t>
            </a:r>
            <a:r>
              <a:rPr lang="en-US" sz="1800"/>
              <a:t> Actual = [2, 4], Predicted = [3, 5] → MAE = (|2−3| + |4−5|)/2 = 1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Root Mean Squared Error (RMSE)</a:t>
            </a:r>
            <a:r>
              <a:rPr lang="en-US" sz="1800"/>
              <a:t> → Square root of MSE; same unit as original data.</a:t>
            </a:r>
            <a:br>
              <a:rPr lang="en-US" sz="1800"/>
            </a:br>
            <a:r>
              <a:rPr b="1" lang="en-US" sz="1800"/>
              <a:t>Example:</a:t>
            </a:r>
            <a:r>
              <a:rPr lang="en-US" sz="1800"/>
              <a:t> MSE = 1 → RMSE = √1 = 1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Coefficient of Determination (R² score)</a:t>
            </a:r>
            <a:r>
              <a:rPr lang="en-US" sz="1800"/>
              <a:t> → How much variance in target is explained by model (closer to 1 = better).</a:t>
            </a:r>
            <a:br>
              <a:rPr lang="en-US" sz="1800"/>
            </a:br>
            <a:r>
              <a:rPr b="1" lang="en-US" sz="1800"/>
              <a:t>Example:</a:t>
            </a:r>
            <a:r>
              <a:rPr lang="en-US" sz="1800"/>
              <a:t> R² = 0.9 → 90% of variation in actual values is explained by predictions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Residual Sum of Squares (RSS)</a:t>
            </a:r>
            <a:r>
              <a:rPr lang="en-US" sz="1800"/>
              <a:t> → Sum of squared differences between actual and predicted values.</a:t>
            </a:r>
            <a:br>
              <a:rPr lang="en-US" sz="1800"/>
            </a:br>
            <a:r>
              <a:rPr b="1" lang="en-US" sz="1800"/>
              <a:t>Example:</a:t>
            </a:r>
            <a:r>
              <a:rPr lang="en-US" sz="1800"/>
              <a:t> Actual = [2, 4], Predicted = [3, 5] → RSS = (2−3)² + (4−5)² = 2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Total Sum of Squares (TSS)</a:t>
            </a:r>
            <a:r>
              <a:rPr lang="en-US" sz="1800"/>
              <a:t> → Sum of squared differences between actual values and mean of actual values.</a:t>
            </a:r>
            <a:br>
              <a:rPr lang="en-US" sz="1800"/>
            </a:br>
            <a:r>
              <a:rPr b="1" lang="en-US" sz="1800"/>
              <a:t>Example:</a:t>
            </a:r>
            <a:r>
              <a:rPr lang="en-US" sz="1800"/>
              <a:t> Actual = [2, 4], Mean = 3 → TSS = (2−3)² + (4−3)² = 2</a:t>
            </a:r>
            <a:endParaRPr/>
          </a:p>
          <a:p>
            <a:pPr indent="-237172" lvl="0" marL="34290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</p:txBody>
      </p:sp>
      <p:sp>
        <p:nvSpPr>
          <p:cNvPr id="125" name="Google Shape;125;p8"/>
          <p:cNvSpPr/>
          <p:nvPr/>
        </p:nvSpPr>
        <p:spPr>
          <a:xfrm>
            <a:off x="381000" y="76200"/>
            <a:ext cx="73914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Metrics for Linear Regression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271275" y="159300"/>
            <a:ext cx="8772000" cy="6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06194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7"/>
              <a:buChar char="•"/>
            </a:pPr>
            <a:r>
              <a:rPr b="1" lang="en-US" sz="3956"/>
              <a:t>Gradient Descent for Linear Regression</a:t>
            </a:r>
            <a:endParaRPr b="1" sz="3956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56"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It </a:t>
            </a:r>
            <a:r>
              <a:rPr lang="en-US"/>
              <a:t>is one of the optimization algorithms that optimize the cost function (objective function) to reach the optimal minimal solution.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To find the optimum solution, we need to reduce the cost function (MSE) for all data points. 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This is done by updating the values of the slope coefficient (B1) and the constant coefficient (B0) iteratively until we get an optimal solution for the linear function.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304800" y="685800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What is the Best Fit Line?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</a:t>
            </a:r>
            <a:r>
              <a:rPr b="1" lang="en-US"/>
              <a:t>Best Fit Line</a:t>
            </a:r>
            <a:r>
              <a:rPr lang="en-US"/>
              <a:t> is a straight line that goes through data points in a graph in such a way that it shows the overall trend of the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is the line that comes </a:t>
            </a:r>
            <a:r>
              <a:rPr b="1" lang="en-US"/>
              <a:t>closest to all the data points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shows the </a:t>
            </a:r>
            <a:r>
              <a:rPr b="1" lang="en-US"/>
              <a:t>general direction</a:t>
            </a:r>
            <a:r>
              <a:rPr lang="en-US"/>
              <a:t> (upward or downward) of the data.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11"/>
          <p:cNvGraphicFramePr/>
          <p:nvPr/>
        </p:nvGraphicFramePr>
        <p:xfrm>
          <a:off x="914400" y="2895600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FC3FF"/>
                    </a:gs>
                    <a:gs pos="35000">
                      <a:srgbClr val="BDD5FF"/>
                    </a:gs>
                    <a:gs pos="100000">
                      <a:srgbClr val="E4EEFF"/>
                    </a:gs>
                  </a:gsLst>
                  <a:lin ang="16200000" scaled="0"/>
                </a:gradFill>
                <a:tableStyleId>{978965D1-763F-4DC2-BAE0-548770607383}</a:tableStyleId>
              </a:tblPr>
              <a:tblGrid>
                <a:gridCol w="3314700"/>
                <a:gridCol w="33147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/>
                        <a:t>Hours Studied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Marks Scored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40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50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60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70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41" name="Google Shape;141;p11"/>
          <p:cNvSpPr/>
          <p:nvPr/>
        </p:nvSpPr>
        <p:spPr>
          <a:xfrm>
            <a:off x="304800" y="341786"/>
            <a:ext cx="8458200" cy="2285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1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plot these points on a graph,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will see they are increasing.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fit line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straight line that shows: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More study hours → More marks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859eab9bd_25_0"/>
          <p:cNvSpPr txBox="1"/>
          <p:nvPr/>
        </p:nvSpPr>
        <p:spPr>
          <a:xfrm>
            <a:off x="33600" y="201225"/>
            <a:ext cx="9076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R-Squared (R²)</a:t>
            </a:r>
            <a:r>
              <a:rPr lang="en-US" sz="2200">
                <a:solidFill>
                  <a:schemeClr val="dk1"/>
                </a:solidFill>
              </a:rPr>
              <a:t> is a metric used in </a:t>
            </a:r>
            <a:r>
              <a:rPr b="1" lang="en-US" sz="2200">
                <a:solidFill>
                  <a:schemeClr val="dk1"/>
                </a:solidFill>
              </a:rPr>
              <a:t>Regression models</a:t>
            </a:r>
            <a:r>
              <a:rPr lang="en-US" sz="2200">
                <a:solidFill>
                  <a:schemeClr val="dk1"/>
                </a:solidFill>
              </a:rPr>
              <a:t> to measure how well the model explains the data.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47" name="Google Shape;147;g3c859eab9bd_25_0"/>
          <p:cNvSpPr txBox="1"/>
          <p:nvPr/>
        </p:nvSpPr>
        <p:spPr>
          <a:xfrm>
            <a:off x="0" y="1643250"/>
            <a:ext cx="914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Simple Meaning: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R² tells us </a:t>
            </a:r>
            <a:r>
              <a:rPr b="1" lang="en-US" sz="1900">
                <a:solidFill>
                  <a:schemeClr val="dk1"/>
                </a:solidFill>
              </a:rPr>
              <a:t>how much of the variation in the target variable is explained by the model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48" name="Google Shape;148;g3c859eab9bd_25_0"/>
          <p:cNvSpPr txBox="1"/>
          <p:nvPr/>
        </p:nvSpPr>
        <p:spPr>
          <a:xfrm>
            <a:off x="0" y="3429000"/>
            <a:ext cx="9144000" cy="23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R² Value Range: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R² = 1</a:t>
            </a:r>
            <a:r>
              <a:rPr lang="en-US" sz="1900">
                <a:solidFill>
                  <a:schemeClr val="dk1"/>
                </a:solidFill>
              </a:rPr>
              <a:t> → Perfect model (100% data explained)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R² = 0</a:t>
            </a:r>
            <a:r>
              <a:rPr lang="en-US" sz="1900">
                <a:solidFill>
                  <a:schemeClr val="dk1"/>
                </a:solidFill>
              </a:rPr>
              <a:t> → Model explains nothing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R² &lt; 0</a:t>
            </a:r>
            <a:r>
              <a:rPr lang="en-US" sz="1900">
                <a:solidFill>
                  <a:schemeClr val="dk1"/>
                </a:solidFill>
              </a:rPr>
              <a:t> → Very bad model (worse than average prediction)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2026-02-14T10:01:52Z</dcterms:created>
  <dc:creator>Saurabh-ATR1080</dc:creator>
</cp:coreProperties>
</file>