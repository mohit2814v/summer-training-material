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</p:sldIdLst>
  <p:sldSz cx="12192000" cy="6858000"/>
  <p:notesSz cx="6858000" cy="12192000"/>
  <p:embeddedFontLst>
    <p:embeddedFont>
      <p:font typeface="Roboto Mono" charset="0"/>
      <p:regular r:id="rId139"/>
      <p:bold r:id="rId140"/>
      <p:italic r:id="rId141"/>
      <p:boldItalic r:id="rId142"/>
    </p:embeddedFont>
    <p:embeddedFont>
      <p:font typeface="Calibri" pitchFamily="34" charset="0"/>
      <p:regular r:id="rId143"/>
      <p:bold r:id="rId144"/>
      <p:italic r:id="rId145"/>
      <p:boldItalic r:id="rId146"/>
    </p:embeddedFont>
    <p:embeddedFont>
      <p:font typeface="Roboto" charset="0"/>
      <p:regular r:id="rId147"/>
      <p:bold r:id="rId148"/>
      <p:italic r:id="rId149"/>
      <p:boldItalic r:id="rId150"/>
    </p:embeddedFont>
    <p:embeddedFont>
      <p:font typeface="Poppins" charset="0"/>
      <p:regular r:id="rId151"/>
      <p:bold r:id="rId152"/>
      <p:italic r:id="rId153"/>
      <p:boldItalic r:id="rId1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5" roundtripDataSignature="AMtx7mhAuLCrm9to8dTIcn45YiZEjHV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D884A612-7BE0-4178-B2F7-9DC0DBD60275}">
  <a:tblStyle styleId="{D884A612-7BE0-4178-B2F7-9DC0DBD602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-296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notesMaster" Target="notesMasters/notesMaster1.xml"/><Relationship Id="rId154" Type="http://schemas.openxmlformats.org/officeDocument/2006/relationships/font" Target="fonts/font16.fntdata"/><Relationship Id="rId159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font" Target="fonts/font6.fntdata"/><Relationship Id="rId149" Type="http://schemas.openxmlformats.org/officeDocument/2006/relationships/font" Target="fonts/font11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font" Target="fonts/font1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font" Target="fonts/font12.fntdata"/><Relationship Id="rId155" Type="http://customschemas.google.com/relationships/presentationmetadata" Target="meta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font" Target="fonts/font2.fntdata"/><Relationship Id="rId145" Type="http://schemas.openxmlformats.org/officeDocument/2006/relationships/font" Target="fonts/font7.fntdata"/><Relationship Id="rId153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font" Target="fonts/font5.fntdata"/><Relationship Id="rId148" Type="http://schemas.openxmlformats.org/officeDocument/2006/relationships/font" Target="fonts/font10.fntdata"/><Relationship Id="rId151" Type="http://schemas.openxmlformats.org/officeDocument/2006/relationships/font" Target="fonts/font13.fntdata"/><Relationship Id="rId15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3.fntdata"/><Relationship Id="rId14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font" Target="fonts/font1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4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250465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1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p1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5" name="Google Shape;435;p1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1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1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1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8" name="Google Shape;538;p1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p2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8" name="Google Shape;588;p2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2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3" name="Google Shape;603;p2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p2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p2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p2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5" name="Google Shape;735;p2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2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6" name="Google Shape;786;p2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p2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2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4" name="Google Shape;824;p3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3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5" name="Google Shape;865;p3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0" name="Google Shape;900;p3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3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p3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3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3" name="Google Shape;983;p3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3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9" name="Google Shape;1009;p3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3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0" name="Google Shape;1040;p3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3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7" name="Google Shape;1067;p3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3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2" name="Google Shape;1092;p3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3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5" name="Google Shape;1125;p3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3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0" name="Google Shape;1140;p4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5" name="Google Shape;1165;p4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4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0" name="Google Shape;1190;p4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1" name="Google Shape;1191;p4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5" name="Google Shape;1215;p4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6" name="Google Shape;1216;p4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0" name="Google Shape;1240;p4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4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5" name="Google Shape;1265;p4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4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0" name="Google Shape;1290;p4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4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5" name="Google Shape;1315;p4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6" name="Google Shape;1316;p4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0" name="Google Shape;1340;p4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4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0" name="Google Shape;1370;p4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4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5" name="Google Shape;1385;p5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5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1" name="Google Shape;1451;p5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5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2" name="Google Shape;1472;p5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3" name="Google Shape;1473;p5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1" name="Google Shape;1511;p5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2" name="Google Shape;1512;p5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7" name="Google Shape;1537;p5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8" name="Google Shape;1538;p5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5" name="Google Shape;1585;p5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5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0" name="Google Shape;1610;p5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1" name="Google Shape;1611;p5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5" name="Google Shape;1625;p5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5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0" name="Google Shape;1650;p5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1" name="Google Shape;1651;p5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9" name="Google Shape;1699;p5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0" name="Google Shape;1700;p5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4" name="Google Shape;1724;p6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5" name="Google Shape;1725;p6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9" name="Google Shape;1749;p6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0" name="Google Shape;1750;p6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5" name="Google Shape;1775;p6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6" name="Google Shape;1776;p6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0" name="Google Shape;1800;p6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1" name="Google Shape;1801;p6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8" name="Google Shape;1828;p6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9" name="Google Shape;1829;p6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6" name="Google Shape;1856;p6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p6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1" name="Google Shape;1881;p6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6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4" name="Google Shape;1904;p6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6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5" name="Google Shape;1925;p6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p6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0" name="Google Shape;1940;p6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1" name="Google Shape;1941;p6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7" name="Google Shape;1967;p7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8" name="Google Shape;1968;p7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70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2" name="Google Shape;1992;p7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3" name="Google Shape;1993;p7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71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3" name="Google Shape;2023;p7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4" name="Google Shape;2024;p7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72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Google Shape;2056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7" name="Google Shape;2057;p7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8" name="Google Shape;2058;p7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73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2" name="Google Shape;2082;p7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3" name="Google Shape;2083;p7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74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7" name="Google Shape;2107;p7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8" name="Google Shape;2108;p7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75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2" name="Google Shape;2132;p7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7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76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7" name="Google Shape;2157;p7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8" name="Google Shape;2158;p7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77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2" name="Google Shape;2182;p7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3" name="Google Shape;2183;p7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78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7" name="Google Shape;2207;p7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8" name="Google Shape;2208;p7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79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1" name="Google Shape;2231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2" name="Google Shape;2232;p8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3" name="Google Shape;2233;p8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80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0" name="Google Shape;2260;p8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1" name="Google Shape;2261;p8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81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6" name="Google Shape;2286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7" name="Google Shape;2287;p8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8" name="Google Shape;2288;p8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82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2" name="Google Shape;2312;p8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8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83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7" name="Google Shape;2337;p8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8" name="Google Shape;2338;p8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84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8" name="Google Shape;2418;p8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9" name="Google Shape;2419;p8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85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3" name="Google Shape;2443;p8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4" name="Google Shape;2444;p8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86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9" name="Google Shape;2469;p8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0" name="Google Shape;2470;p8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87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4" name="Google Shape;2494;p8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5" name="Google Shape;2495;p8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88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0" name="Google Shape;2520;p8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1" name="Google Shape;2521;p8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89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5" name="Google Shape;2545;p9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6" name="Google Shape;2546;p9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90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1" name="Google Shape;2591;p9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2" name="Google Shape;2592;p9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91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7" name="Google Shape;2617;p9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8" name="Google Shape;2618;p9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92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7" name="Google Shape;2637;p9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8" name="Google Shape;2638;p9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93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7" name="Google Shape;266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8" name="Google Shape;2668;p9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9" name="Google Shape;2669;p9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94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3" name="Google Shape;2693;p9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4" name="Google Shape;2694;p9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95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1" name="Google Shape;2721;p9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p9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96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6" name="Google Shape;2746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7" name="Google Shape;2747;p9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9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97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Google Shape;2774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5" name="Google Shape;2775;p9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9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98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9" name="Google Shape;2799;p9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0" name="Google Shape;2800;p9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99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1" name="Google Shape;2821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2" name="Google Shape;2822;p10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3" name="Google Shape;2823;p10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100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6" name="Google Shape;2846;p10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7" name="Google Shape;2847;p10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101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5" name="Google Shape;2875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6" name="Google Shape;2876;p10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7" name="Google Shape;2877;p10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102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7" name="Google Shape;2937;p10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8" name="Google Shape;2938;p10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103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4" name="Google Shape;2974;p10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5" name="Google Shape;2975;p10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104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8" name="Google Shape;2998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9" name="Google Shape;2999;p10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0" name="Google Shape;3000;p10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105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9" name="Google Shape;3039;p10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0" name="Google Shape;3040;p10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106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6" name="Google Shape;3096;p10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7" name="Google Shape;3097;p10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107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1" name="Google Shape;3121;p10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2" name="Google Shape;3122;p10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108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Google Shape;3153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4" name="Google Shape;3154;p10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5" name="Google Shape;3155;p10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109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9" name="Google Shape;3179;p11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0" name="Google Shape;3180;p11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110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1" name="Google Shape;3231;p11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2" name="Google Shape;3232;p11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111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5" name="Google Shape;3255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6" name="Google Shape;3256;p11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7" name="Google Shape;3257;p11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112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0" name="Google Shape;3280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1" name="Google Shape;3281;p11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2" name="Google Shape;3282;p11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113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6" name="Google Shape;3306;p11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7" name="Google Shape;3307;p11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114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1" name="Google Shape;3331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2" name="Google Shape;3332;p11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3" name="Google Shape;3333;p11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115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7" name="Google Shape;3357;p11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8" name="Google Shape;3358;p11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116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" name="Google Shape;3384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5" name="Google Shape;3385;p11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6" name="Google Shape;3386;p11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117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9" name="Google Shape;3419;p11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0" name="Google Shape;3420;p11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118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4" name="Google Shape;3444;p11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5" name="Google Shape;3445;p11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119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9" name="Google Shape;3479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0" name="Google Shape;3480;p12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1" name="Google Shape;3481;p12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120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4" name="Google Shape;3514;p12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5" name="Google Shape;3515;p12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121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9" name="Google Shape;3539;p12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0" name="Google Shape;3540;p12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122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4" name="Google Shape;3564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5" name="Google Shape;3565;p12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6" name="Google Shape;3566;p12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123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" name="Google Shape;3589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0" name="Google Shape;3590;p12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1" name="Google Shape;3591;p12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124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" name="Google Shape;3635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6" name="Google Shape;3636;p12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7" name="Google Shape;3637;p12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125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Google Shape;3657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8" name="Google Shape;3658;p12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9" name="Google Shape;3659;p12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126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0" name="Google Shape;3680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81" name="Google Shape;3681;p12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2" name="Google Shape;3682;p127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127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5" name="Google Shape;3695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6" name="Google Shape;3696;p12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7" name="Google Shape;3697;p128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128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2" name="Google Shape;3722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23" name="Google Shape;3723;p12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4" name="Google Shape;3724;p129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129</a:t>
            </a:fld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9" name="Google Shape;3749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50" name="Google Shape;3750;p13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1" name="Google Shape;3751;p130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130</a:t>
            </a:fld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" name="Google Shape;3778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9" name="Google Shape;3779;p13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0" name="Google Shape;3780;p131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131</a:t>
            </a:fld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2" name="Google Shape;3832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3" name="Google Shape;3833;p13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4" name="Google Shape;3834;p132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132</a:t>
            </a:fld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3" name="Google Shape;3863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4" name="Google Shape;3864;p13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5" name="Google Shape;3865;p133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133</a:t>
            </a:fld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" name="Google Shape;3891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2" name="Google Shape;3892;p134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3" name="Google Shape;3893;p134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134</a:t>
            </a:fld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8" name="Google Shape;3928;p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29" name="Google Shape;3929;p13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0" name="Google Shape;3930;p135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135</a:t>
            </a:fld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" name="Google Shape;3952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3" name="Google Shape;3953;p136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4" name="Google Shape;3954;p136:notes"/>
          <p:cNvSpPr txBox="1">
            <a:spLocks noGrp="1"/>
          </p:cNvSpPr>
          <p:nvPr>
            <p:ph type="sldNum" idx="12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3" Type="http://schemas.openxmlformats.org/officeDocument/2006/relationships/image" Target="../media/image8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0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9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5" Type="http://schemas.openxmlformats.org/officeDocument/2006/relationships/image" Target="../media/image48.png"/><Relationship Id="rId10" Type="http://schemas.openxmlformats.org/officeDocument/2006/relationships/image" Target="../media/image44.png"/><Relationship Id="rId4" Type="http://schemas.openxmlformats.org/officeDocument/2006/relationships/image" Target="../media/image9.png"/><Relationship Id="rId9" Type="http://schemas.openxmlformats.org/officeDocument/2006/relationships/image" Target="../media/image43.png"/><Relationship Id="rId1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8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5.png"/><Relationship Id="rId5" Type="http://schemas.openxmlformats.org/officeDocument/2006/relationships/image" Target="../media/image10.png"/><Relationship Id="rId10" Type="http://schemas.openxmlformats.org/officeDocument/2006/relationships/image" Target="../media/image54.png"/><Relationship Id="rId4" Type="http://schemas.openxmlformats.org/officeDocument/2006/relationships/image" Target="../media/image9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11.png"/><Relationship Id="rId4" Type="http://schemas.openxmlformats.org/officeDocument/2006/relationships/image" Target="../media/image7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8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Relationship Id="rId9" Type="http://schemas.openxmlformats.org/officeDocument/2006/relationships/image" Target="../media/image7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8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1.png"/><Relationship Id="rId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11.png"/><Relationship Id="rId4" Type="http://schemas.openxmlformats.org/officeDocument/2006/relationships/image" Target="../media/image9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8.png"/><Relationship Id="rId7" Type="http://schemas.openxmlformats.org/officeDocument/2006/relationships/image" Target="../media/image10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5" Type="http://schemas.openxmlformats.org/officeDocument/2006/relationships/image" Target="../media/image11.png"/><Relationship Id="rId4" Type="http://schemas.openxmlformats.org/officeDocument/2006/relationships/image" Target="../media/image10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5" Type="http://schemas.openxmlformats.org/officeDocument/2006/relationships/image" Target="../media/image11.png"/><Relationship Id="rId4" Type="http://schemas.openxmlformats.org/officeDocument/2006/relationships/image" Target="../media/image10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.png"/><Relationship Id="rId4" Type="http://schemas.openxmlformats.org/officeDocument/2006/relationships/image" Target="../media/image1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3" Type="http://schemas.openxmlformats.org/officeDocument/2006/relationships/image" Target="../media/image8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20.png"/><Relationship Id="rId5" Type="http://schemas.openxmlformats.org/officeDocument/2006/relationships/image" Target="../media/image10.png"/><Relationship Id="rId10" Type="http://schemas.openxmlformats.org/officeDocument/2006/relationships/image" Target="../media/image119.png"/><Relationship Id="rId4" Type="http://schemas.openxmlformats.org/officeDocument/2006/relationships/image" Target="../media/image9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9.png"/><Relationship Id="rId3" Type="http://schemas.openxmlformats.org/officeDocument/2006/relationships/image" Target="../media/image8.png"/><Relationship Id="rId7" Type="http://schemas.openxmlformats.org/officeDocument/2006/relationships/image" Target="../media/image124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28.png"/><Relationship Id="rId5" Type="http://schemas.openxmlformats.org/officeDocument/2006/relationships/image" Target="../media/image59.png"/><Relationship Id="rId15" Type="http://schemas.openxmlformats.org/officeDocument/2006/relationships/image" Target="../media/image131.png"/><Relationship Id="rId10" Type="http://schemas.openxmlformats.org/officeDocument/2006/relationships/image" Target="../media/image127.png"/><Relationship Id="rId4" Type="http://schemas.openxmlformats.org/officeDocument/2006/relationships/image" Target="../media/image58.png"/><Relationship Id="rId9" Type="http://schemas.openxmlformats.org/officeDocument/2006/relationships/image" Target="../media/image126.png"/><Relationship Id="rId14" Type="http://schemas.openxmlformats.org/officeDocument/2006/relationships/image" Target="../media/image1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3" Type="http://schemas.openxmlformats.org/officeDocument/2006/relationships/image" Target="../media/image8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37.png"/><Relationship Id="rId5" Type="http://schemas.openxmlformats.org/officeDocument/2006/relationships/image" Target="../media/image10.png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4" Type="http://schemas.openxmlformats.org/officeDocument/2006/relationships/image" Target="../media/image9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8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7.png"/><Relationship Id="rId5" Type="http://schemas.openxmlformats.org/officeDocument/2006/relationships/image" Target="../media/image59.png"/><Relationship Id="rId15" Type="http://schemas.openxmlformats.org/officeDocument/2006/relationships/image" Target="../media/image151.png"/><Relationship Id="rId10" Type="http://schemas.openxmlformats.org/officeDocument/2006/relationships/image" Target="../media/image146.png"/><Relationship Id="rId4" Type="http://schemas.openxmlformats.org/officeDocument/2006/relationships/image" Target="../media/image58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8.png"/><Relationship Id="rId7" Type="http://schemas.openxmlformats.org/officeDocument/2006/relationships/image" Target="../media/image15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15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8.png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5" Type="http://schemas.openxmlformats.org/officeDocument/2006/relationships/image" Target="../media/image11.png"/><Relationship Id="rId4" Type="http://schemas.openxmlformats.org/officeDocument/2006/relationships/image" Target="../media/image15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63.png"/><Relationship Id="rId3" Type="http://schemas.openxmlformats.org/officeDocument/2006/relationships/image" Target="../media/image8.png"/><Relationship Id="rId7" Type="http://schemas.openxmlformats.org/officeDocument/2006/relationships/image" Target="../media/image158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1.png"/><Relationship Id="rId5" Type="http://schemas.openxmlformats.org/officeDocument/2006/relationships/image" Target="../media/image10.png"/><Relationship Id="rId10" Type="http://schemas.openxmlformats.org/officeDocument/2006/relationships/image" Target="../media/image160.png"/><Relationship Id="rId4" Type="http://schemas.openxmlformats.org/officeDocument/2006/relationships/image" Target="../media/image9.png"/><Relationship Id="rId9" Type="http://schemas.openxmlformats.org/officeDocument/2006/relationships/image" Target="../media/image15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8.png"/><Relationship Id="rId7" Type="http://schemas.openxmlformats.org/officeDocument/2006/relationships/image" Target="../media/image1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png"/><Relationship Id="rId5" Type="http://schemas.openxmlformats.org/officeDocument/2006/relationships/image" Target="../media/image11.png"/><Relationship Id="rId4" Type="http://schemas.openxmlformats.org/officeDocument/2006/relationships/image" Target="../media/image164.png"/><Relationship Id="rId9" Type="http://schemas.openxmlformats.org/officeDocument/2006/relationships/image" Target="../media/image16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16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8.png"/><Relationship Id="rId7" Type="http://schemas.openxmlformats.org/officeDocument/2006/relationships/image" Target="../media/image17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5" Type="http://schemas.openxmlformats.org/officeDocument/2006/relationships/image" Target="../media/image11.png"/><Relationship Id="rId4" Type="http://schemas.openxmlformats.org/officeDocument/2006/relationships/image" Target="../media/image17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Relationship Id="rId9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8.png"/><Relationship Id="rId7" Type="http://schemas.openxmlformats.org/officeDocument/2006/relationships/image" Target="../media/image17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.png"/><Relationship Id="rId4" Type="http://schemas.openxmlformats.org/officeDocument/2006/relationships/image" Target="../media/image17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17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8.png"/><Relationship Id="rId7" Type="http://schemas.openxmlformats.org/officeDocument/2006/relationships/image" Target="../media/image18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5" Type="http://schemas.openxmlformats.org/officeDocument/2006/relationships/image" Target="../media/image11.png"/><Relationship Id="rId4" Type="http://schemas.openxmlformats.org/officeDocument/2006/relationships/image" Target="../media/image18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.png"/><Relationship Id="rId4" Type="http://schemas.openxmlformats.org/officeDocument/2006/relationships/image" Target="../media/image18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8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5" Type="http://schemas.openxmlformats.org/officeDocument/2006/relationships/image" Target="../media/image11.png"/><Relationship Id="rId4" Type="http://schemas.openxmlformats.org/officeDocument/2006/relationships/image" Target="../media/image18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185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8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19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8.png"/><Relationship Id="rId7" Type="http://schemas.openxmlformats.org/officeDocument/2006/relationships/image" Target="../media/image19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5" Type="http://schemas.openxmlformats.org/officeDocument/2006/relationships/image" Target="../media/image11.png"/><Relationship Id="rId4" Type="http://schemas.openxmlformats.org/officeDocument/2006/relationships/image" Target="../media/image111.png"/><Relationship Id="rId9" Type="http://schemas.openxmlformats.org/officeDocument/2006/relationships/image" Target="../media/image16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8.png"/><Relationship Id="rId7" Type="http://schemas.openxmlformats.org/officeDocument/2006/relationships/image" Target="../media/image19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3.png"/><Relationship Id="rId3" Type="http://schemas.openxmlformats.org/officeDocument/2006/relationships/image" Target="../media/image8.png"/><Relationship Id="rId7" Type="http://schemas.openxmlformats.org/officeDocument/2006/relationships/image" Target="../media/image199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02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20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3" Type="http://schemas.openxmlformats.org/officeDocument/2006/relationships/image" Target="../media/image8.png"/><Relationship Id="rId7" Type="http://schemas.openxmlformats.org/officeDocument/2006/relationships/image" Target="../media/image20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10" Type="http://schemas.openxmlformats.org/officeDocument/2006/relationships/image" Target="../media/image207.png"/><Relationship Id="rId4" Type="http://schemas.openxmlformats.org/officeDocument/2006/relationships/image" Target="../media/image58.png"/><Relationship Id="rId9" Type="http://schemas.openxmlformats.org/officeDocument/2006/relationships/image" Target="../media/image20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8.png"/><Relationship Id="rId7" Type="http://schemas.openxmlformats.org/officeDocument/2006/relationships/image" Target="../media/image20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8.png"/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10.png"/><Relationship Id="rId4" Type="http://schemas.openxmlformats.org/officeDocument/2006/relationships/image" Target="../media/image58.png"/><Relationship Id="rId9" Type="http://schemas.openxmlformats.org/officeDocument/2006/relationships/image" Target="../media/image21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8.png"/><Relationship Id="rId7" Type="http://schemas.openxmlformats.org/officeDocument/2006/relationships/image" Target="../media/image21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17.png"/><Relationship Id="rId4" Type="http://schemas.openxmlformats.org/officeDocument/2006/relationships/image" Target="../media/image216.png"/><Relationship Id="rId9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8.png"/><Relationship Id="rId5" Type="http://schemas.openxmlformats.org/officeDocument/2006/relationships/image" Target="../media/image11.png"/><Relationship Id="rId4" Type="http://schemas.openxmlformats.org/officeDocument/2006/relationships/image" Target="../media/image18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224.png"/><Relationship Id="rId18" Type="http://schemas.openxmlformats.org/officeDocument/2006/relationships/image" Target="../media/image229.png"/><Relationship Id="rId3" Type="http://schemas.openxmlformats.org/officeDocument/2006/relationships/image" Target="../media/image8.png"/><Relationship Id="rId7" Type="http://schemas.openxmlformats.org/officeDocument/2006/relationships/image" Target="../media/image219.png"/><Relationship Id="rId12" Type="http://schemas.openxmlformats.org/officeDocument/2006/relationships/image" Target="../media/image223.png"/><Relationship Id="rId17" Type="http://schemas.openxmlformats.org/officeDocument/2006/relationships/image" Target="../media/image228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2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22.png"/><Relationship Id="rId5" Type="http://schemas.openxmlformats.org/officeDocument/2006/relationships/image" Target="../media/image10.png"/><Relationship Id="rId15" Type="http://schemas.openxmlformats.org/officeDocument/2006/relationships/image" Target="../media/image226.png"/><Relationship Id="rId10" Type="http://schemas.openxmlformats.org/officeDocument/2006/relationships/image" Target="../media/image221.png"/><Relationship Id="rId4" Type="http://schemas.openxmlformats.org/officeDocument/2006/relationships/image" Target="../media/image9.png"/><Relationship Id="rId9" Type="http://schemas.openxmlformats.org/officeDocument/2006/relationships/image" Target="../media/image52.png"/><Relationship Id="rId14" Type="http://schemas.openxmlformats.org/officeDocument/2006/relationships/image" Target="../media/image22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11.png"/><Relationship Id="rId4" Type="http://schemas.openxmlformats.org/officeDocument/2006/relationships/image" Target="../media/image18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8.png"/><Relationship Id="rId7" Type="http://schemas.openxmlformats.org/officeDocument/2006/relationships/image" Target="../media/image2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2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8.png"/><Relationship Id="rId7" Type="http://schemas.openxmlformats.org/officeDocument/2006/relationships/image" Target="../media/image23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4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23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3" Type="http://schemas.openxmlformats.org/officeDocument/2006/relationships/image" Target="../media/image8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42.png"/><Relationship Id="rId5" Type="http://schemas.openxmlformats.org/officeDocument/2006/relationships/image" Target="../media/image10.png"/><Relationship Id="rId10" Type="http://schemas.openxmlformats.org/officeDocument/2006/relationships/image" Target="../media/image241.png"/><Relationship Id="rId4" Type="http://schemas.openxmlformats.org/officeDocument/2006/relationships/image" Target="../media/image9.png"/><Relationship Id="rId9" Type="http://schemas.openxmlformats.org/officeDocument/2006/relationships/image" Target="../media/image24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5.png"/><Relationship Id="rId5" Type="http://schemas.openxmlformats.org/officeDocument/2006/relationships/image" Target="../media/image11.png"/><Relationship Id="rId4" Type="http://schemas.openxmlformats.org/officeDocument/2006/relationships/image" Target="../media/image18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png"/><Relationship Id="rId3" Type="http://schemas.openxmlformats.org/officeDocument/2006/relationships/image" Target="../media/image8.png"/><Relationship Id="rId7" Type="http://schemas.openxmlformats.org/officeDocument/2006/relationships/image" Target="../media/image24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3.png"/><Relationship Id="rId3" Type="http://schemas.openxmlformats.org/officeDocument/2006/relationships/image" Target="../media/image8.png"/><Relationship Id="rId7" Type="http://schemas.openxmlformats.org/officeDocument/2006/relationships/image" Target="../media/image248.png"/><Relationship Id="rId12" Type="http://schemas.openxmlformats.org/officeDocument/2006/relationships/image" Target="../media/image25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51.png"/><Relationship Id="rId5" Type="http://schemas.openxmlformats.org/officeDocument/2006/relationships/image" Target="../media/image10.png"/><Relationship Id="rId10" Type="http://schemas.openxmlformats.org/officeDocument/2006/relationships/image" Target="../media/image25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8.png"/><Relationship Id="rId7" Type="http://schemas.openxmlformats.org/officeDocument/2006/relationships/image" Target="../media/image254.png"/><Relationship Id="rId12" Type="http://schemas.openxmlformats.org/officeDocument/2006/relationships/image" Target="../media/image25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9.png"/><Relationship Id="rId5" Type="http://schemas.openxmlformats.org/officeDocument/2006/relationships/image" Target="../media/image10.png"/><Relationship Id="rId10" Type="http://schemas.openxmlformats.org/officeDocument/2006/relationships/image" Target="../media/image257.png"/><Relationship Id="rId4" Type="http://schemas.openxmlformats.org/officeDocument/2006/relationships/image" Target="../media/image9.png"/><Relationship Id="rId9" Type="http://schemas.openxmlformats.org/officeDocument/2006/relationships/image" Target="../media/image256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1.png"/><Relationship Id="rId7" Type="http://schemas.openxmlformats.org/officeDocument/2006/relationships/image" Target="../media/image11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60.png"/><Relationship Id="rId4" Type="http://schemas.openxmlformats.org/officeDocument/2006/relationships/image" Target="../media/image259.png"/><Relationship Id="rId9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png"/><Relationship Id="rId13" Type="http://schemas.openxmlformats.org/officeDocument/2006/relationships/image" Target="../media/image264.png"/><Relationship Id="rId3" Type="http://schemas.openxmlformats.org/officeDocument/2006/relationships/image" Target="../media/image8.png"/><Relationship Id="rId7" Type="http://schemas.openxmlformats.org/officeDocument/2006/relationships/image" Target="../media/image262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9.png"/><Relationship Id="rId5" Type="http://schemas.openxmlformats.org/officeDocument/2006/relationships/image" Target="../media/image10.png"/><Relationship Id="rId15" Type="http://schemas.openxmlformats.org/officeDocument/2006/relationships/image" Target="../media/image26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58.png"/><Relationship Id="rId14" Type="http://schemas.openxmlformats.org/officeDocument/2006/relationships/image" Target="../media/image49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26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268.png"/><Relationship Id="rId4" Type="http://schemas.openxmlformats.org/officeDocument/2006/relationships/image" Target="../media/image9.png"/><Relationship Id="rId9" Type="http://schemas.openxmlformats.org/officeDocument/2006/relationships/image" Target="../media/image26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71.png"/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12" Type="http://schemas.openxmlformats.org/officeDocument/2006/relationships/image" Target="../media/image270.png"/><Relationship Id="rId17" Type="http://schemas.openxmlformats.org/officeDocument/2006/relationships/image" Target="../media/image275.png"/><Relationship Id="rId2" Type="http://schemas.openxmlformats.org/officeDocument/2006/relationships/notesSlide" Target="../notesSlides/notesSlide71.xml"/><Relationship Id="rId16" Type="http://schemas.openxmlformats.org/officeDocument/2006/relationships/image" Target="../media/image2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64.png"/><Relationship Id="rId5" Type="http://schemas.openxmlformats.org/officeDocument/2006/relationships/image" Target="../media/image10.png"/><Relationship Id="rId15" Type="http://schemas.openxmlformats.org/officeDocument/2006/relationships/image" Target="../media/image273.png"/><Relationship Id="rId10" Type="http://schemas.openxmlformats.org/officeDocument/2006/relationships/image" Target="../media/image269.png"/><Relationship Id="rId4" Type="http://schemas.openxmlformats.org/officeDocument/2006/relationships/image" Target="../media/image9.png"/><Relationship Id="rId9" Type="http://schemas.openxmlformats.org/officeDocument/2006/relationships/image" Target="../media/image268.png"/><Relationship Id="rId14" Type="http://schemas.openxmlformats.org/officeDocument/2006/relationships/image" Target="../media/image27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13" Type="http://schemas.openxmlformats.org/officeDocument/2006/relationships/image" Target="../media/image118.png"/><Relationship Id="rId18" Type="http://schemas.openxmlformats.org/officeDocument/2006/relationships/image" Target="../media/image284.png"/><Relationship Id="rId3" Type="http://schemas.openxmlformats.org/officeDocument/2006/relationships/image" Target="../media/image8.png"/><Relationship Id="rId7" Type="http://schemas.openxmlformats.org/officeDocument/2006/relationships/image" Target="../media/image276.png"/><Relationship Id="rId12" Type="http://schemas.openxmlformats.org/officeDocument/2006/relationships/image" Target="../media/image44.png"/><Relationship Id="rId17" Type="http://schemas.openxmlformats.org/officeDocument/2006/relationships/image" Target="../media/image283.png"/><Relationship Id="rId2" Type="http://schemas.openxmlformats.org/officeDocument/2006/relationships/notesSlide" Target="../notesSlides/notesSlide72.xml"/><Relationship Id="rId16" Type="http://schemas.openxmlformats.org/officeDocument/2006/relationships/image" Target="../media/image2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80.png"/><Relationship Id="rId5" Type="http://schemas.openxmlformats.org/officeDocument/2006/relationships/image" Target="../media/image10.png"/><Relationship Id="rId15" Type="http://schemas.openxmlformats.org/officeDocument/2006/relationships/image" Target="../media/image281.png"/><Relationship Id="rId10" Type="http://schemas.openxmlformats.org/officeDocument/2006/relationships/image" Target="../media/image279.png"/><Relationship Id="rId4" Type="http://schemas.openxmlformats.org/officeDocument/2006/relationships/image" Target="../media/image9.png"/><Relationship Id="rId9" Type="http://schemas.openxmlformats.org/officeDocument/2006/relationships/image" Target="../media/image278.png"/><Relationship Id="rId14" Type="http://schemas.openxmlformats.org/officeDocument/2006/relationships/image" Target="../media/image11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6.png"/><Relationship Id="rId3" Type="http://schemas.openxmlformats.org/officeDocument/2006/relationships/image" Target="../media/image8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18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287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9.png"/><Relationship Id="rId5" Type="http://schemas.openxmlformats.org/officeDocument/2006/relationships/image" Target="../media/image288.png"/><Relationship Id="rId4" Type="http://schemas.openxmlformats.org/officeDocument/2006/relationships/image" Target="../media/image18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8.png"/><Relationship Id="rId7" Type="http://schemas.openxmlformats.org/officeDocument/2006/relationships/image" Target="../media/image29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291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3.png"/><Relationship Id="rId5" Type="http://schemas.openxmlformats.org/officeDocument/2006/relationships/image" Target="../media/image11.png"/><Relationship Id="rId4" Type="http://schemas.openxmlformats.org/officeDocument/2006/relationships/image" Target="../media/image155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.png"/><Relationship Id="rId7" Type="http://schemas.openxmlformats.org/officeDocument/2006/relationships/image" Target="../media/image29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4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.png"/><Relationship Id="rId7" Type="http://schemas.openxmlformats.org/officeDocument/2006/relationships/image" Target="../media/image29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7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Relationship Id="rId9" Type="http://schemas.openxmlformats.org/officeDocument/2006/relationships/image" Target="../media/image299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8.png"/><Relationship Id="rId7" Type="http://schemas.openxmlformats.org/officeDocument/2006/relationships/image" Target="../media/image301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0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Relationship Id="rId9" Type="http://schemas.openxmlformats.org/officeDocument/2006/relationships/image" Target="../media/image299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3.png"/><Relationship Id="rId5" Type="http://schemas.openxmlformats.org/officeDocument/2006/relationships/image" Target="../media/image11.png"/><Relationship Id="rId4" Type="http://schemas.openxmlformats.org/officeDocument/2006/relationships/image" Target="../media/image302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5.png"/><Relationship Id="rId13" Type="http://schemas.openxmlformats.org/officeDocument/2006/relationships/image" Target="../media/image308.png"/><Relationship Id="rId3" Type="http://schemas.openxmlformats.org/officeDocument/2006/relationships/image" Target="../media/image8.png"/><Relationship Id="rId7" Type="http://schemas.openxmlformats.org/officeDocument/2006/relationships/image" Target="../media/image304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307.png"/><Relationship Id="rId4" Type="http://schemas.openxmlformats.org/officeDocument/2006/relationships/image" Target="../media/image9.png"/><Relationship Id="rId9" Type="http://schemas.openxmlformats.org/officeDocument/2006/relationships/image" Target="../media/image306.png"/><Relationship Id="rId14" Type="http://schemas.openxmlformats.org/officeDocument/2006/relationships/image" Target="../media/image309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.png"/><Relationship Id="rId7" Type="http://schemas.openxmlformats.org/officeDocument/2006/relationships/image" Target="../media/image31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80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8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2.png"/><Relationship Id="rId5" Type="http://schemas.openxmlformats.org/officeDocument/2006/relationships/image" Target="../media/image11.png"/><Relationship Id="rId4" Type="http://schemas.openxmlformats.org/officeDocument/2006/relationships/image" Target="../media/image311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8.png"/><Relationship Id="rId7" Type="http://schemas.openxmlformats.org/officeDocument/2006/relationships/image" Target="../media/image29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8.png"/><Relationship Id="rId7" Type="http://schemas.openxmlformats.org/officeDocument/2006/relationships/image" Target="../media/image31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8.png"/><Relationship Id="rId5" Type="http://schemas.openxmlformats.org/officeDocument/2006/relationships/image" Target="../media/image11.png"/><Relationship Id="rId4" Type="http://schemas.openxmlformats.org/officeDocument/2006/relationships/image" Target="../media/image31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7.png"/><Relationship Id="rId13" Type="http://schemas.openxmlformats.org/officeDocument/2006/relationships/image" Target="../media/image319.png"/><Relationship Id="rId3" Type="http://schemas.openxmlformats.org/officeDocument/2006/relationships/image" Target="../media/image8.png"/><Relationship Id="rId7" Type="http://schemas.openxmlformats.org/officeDocument/2006/relationships/image" Target="../media/image316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18.png"/><Relationship Id="rId5" Type="http://schemas.openxmlformats.org/officeDocument/2006/relationships/image" Target="../media/image10.png"/><Relationship Id="rId15" Type="http://schemas.openxmlformats.org/officeDocument/2006/relationships/image" Target="../media/image321.png"/><Relationship Id="rId10" Type="http://schemas.openxmlformats.org/officeDocument/2006/relationships/image" Target="../media/image268.png"/><Relationship Id="rId4" Type="http://schemas.openxmlformats.org/officeDocument/2006/relationships/image" Target="../media/image9.png"/><Relationship Id="rId9" Type="http://schemas.openxmlformats.org/officeDocument/2006/relationships/image" Target="../media/image52.png"/><Relationship Id="rId14" Type="http://schemas.openxmlformats.org/officeDocument/2006/relationships/image" Target="../media/image320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2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3" Type="http://schemas.openxmlformats.org/officeDocument/2006/relationships/image" Target="../media/image8.png"/><Relationship Id="rId7" Type="http://schemas.openxmlformats.org/officeDocument/2006/relationships/image" Target="../media/image323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png"/><Relationship Id="rId13" Type="http://schemas.openxmlformats.org/officeDocument/2006/relationships/image" Target="../media/image329.png"/><Relationship Id="rId18" Type="http://schemas.openxmlformats.org/officeDocument/2006/relationships/image" Target="../media/image334.png"/><Relationship Id="rId3" Type="http://schemas.openxmlformats.org/officeDocument/2006/relationships/image" Target="../media/image8.png"/><Relationship Id="rId7" Type="http://schemas.openxmlformats.org/officeDocument/2006/relationships/image" Target="../media/image325.png"/><Relationship Id="rId12" Type="http://schemas.openxmlformats.org/officeDocument/2006/relationships/image" Target="../media/image328.png"/><Relationship Id="rId17" Type="http://schemas.openxmlformats.org/officeDocument/2006/relationships/image" Target="../media/image333.png"/><Relationship Id="rId2" Type="http://schemas.openxmlformats.org/officeDocument/2006/relationships/notesSlide" Target="../notesSlides/notesSlide93.xml"/><Relationship Id="rId16" Type="http://schemas.openxmlformats.org/officeDocument/2006/relationships/image" Target="../media/image3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08.png"/><Relationship Id="rId5" Type="http://schemas.openxmlformats.org/officeDocument/2006/relationships/image" Target="../media/image10.png"/><Relationship Id="rId15" Type="http://schemas.openxmlformats.org/officeDocument/2006/relationships/image" Target="../media/image331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327.png"/><Relationship Id="rId14" Type="http://schemas.openxmlformats.org/officeDocument/2006/relationships/image" Target="../media/image33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.png"/><Relationship Id="rId7" Type="http://schemas.openxmlformats.org/officeDocument/2006/relationships/image" Target="../media/image33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png"/><Relationship Id="rId3" Type="http://schemas.openxmlformats.org/officeDocument/2006/relationships/image" Target="../media/image8.png"/><Relationship Id="rId7" Type="http://schemas.openxmlformats.org/officeDocument/2006/relationships/image" Target="../media/image336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338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8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9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3.png"/><Relationship Id="rId3" Type="http://schemas.openxmlformats.org/officeDocument/2006/relationships/image" Target="../media/image8.png"/><Relationship Id="rId7" Type="http://schemas.openxmlformats.org/officeDocument/2006/relationships/image" Target="../media/image34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1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Relationship Id="rId9" Type="http://schemas.openxmlformats.org/officeDocument/2006/relationships/image" Target="../media/image84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6.png"/><Relationship Id="rId3" Type="http://schemas.openxmlformats.org/officeDocument/2006/relationships/image" Target="../media/image58.png"/><Relationship Id="rId7" Type="http://schemas.openxmlformats.org/officeDocument/2006/relationships/image" Target="../media/image345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4.png"/><Relationship Id="rId5" Type="http://schemas.openxmlformats.org/officeDocument/2006/relationships/image" Target="../media/image11.png"/><Relationship Id="rId10" Type="http://schemas.openxmlformats.org/officeDocument/2006/relationships/image" Target="../media/image348.png"/><Relationship Id="rId4" Type="http://schemas.openxmlformats.org/officeDocument/2006/relationships/image" Target="../media/image59.png"/><Relationship Id="rId9" Type="http://schemas.openxmlformats.org/officeDocument/2006/relationships/image" Target="../media/image347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png"/><Relationship Id="rId3" Type="http://schemas.openxmlformats.org/officeDocument/2006/relationships/image" Target="../media/image8.png"/><Relationship Id="rId7" Type="http://schemas.openxmlformats.org/officeDocument/2006/relationships/image" Target="../media/image34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png"/><Relationship Id="rId3" Type="http://schemas.openxmlformats.org/officeDocument/2006/relationships/image" Target="../media/image8.png"/><Relationship Id="rId7" Type="http://schemas.openxmlformats.org/officeDocument/2006/relationships/image" Target="../media/image350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53.png"/><Relationship Id="rId5" Type="http://schemas.openxmlformats.org/officeDocument/2006/relationships/image" Target="../media/image59.png"/><Relationship Id="rId10" Type="http://schemas.openxmlformats.org/officeDocument/2006/relationships/image" Target="../media/image352.png"/><Relationship Id="rId4" Type="http://schemas.openxmlformats.org/officeDocument/2006/relationships/image" Target="../media/image58.png"/><Relationship Id="rId9" Type="http://schemas.openxmlformats.org/officeDocument/2006/relationships/image" Target="../media/image351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3" Type="http://schemas.openxmlformats.org/officeDocument/2006/relationships/image" Target="../media/image8.png"/><Relationship Id="rId7" Type="http://schemas.openxmlformats.org/officeDocument/2006/relationships/image" Target="../media/image35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4.png"/><Relationship Id="rId5" Type="http://schemas.openxmlformats.org/officeDocument/2006/relationships/image" Target="../media/image11.png"/><Relationship Id="rId10" Type="http://schemas.openxmlformats.org/officeDocument/2006/relationships/image" Target="../media/image357.png"/><Relationship Id="rId4" Type="http://schemas.openxmlformats.org/officeDocument/2006/relationships/image" Target="../media/image285.png"/><Relationship Id="rId9" Type="http://schemas.openxmlformats.org/officeDocument/2006/relationships/image" Target="../media/image96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9.png"/><Relationship Id="rId13" Type="http://schemas.openxmlformats.org/officeDocument/2006/relationships/image" Target="../media/image364.png"/><Relationship Id="rId18" Type="http://schemas.openxmlformats.org/officeDocument/2006/relationships/image" Target="../media/image369.png"/><Relationship Id="rId3" Type="http://schemas.openxmlformats.org/officeDocument/2006/relationships/image" Target="../media/image8.png"/><Relationship Id="rId21" Type="http://schemas.openxmlformats.org/officeDocument/2006/relationships/image" Target="../media/image372.png"/><Relationship Id="rId7" Type="http://schemas.openxmlformats.org/officeDocument/2006/relationships/image" Target="../media/image358.png"/><Relationship Id="rId12" Type="http://schemas.openxmlformats.org/officeDocument/2006/relationships/image" Target="../media/image363.png"/><Relationship Id="rId17" Type="http://schemas.openxmlformats.org/officeDocument/2006/relationships/image" Target="../media/image368.png"/><Relationship Id="rId2" Type="http://schemas.openxmlformats.org/officeDocument/2006/relationships/notesSlide" Target="../notesSlides/notesSlide102.xml"/><Relationship Id="rId16" Type="http://schemas.openxmlformats.org/officeDocument/2006/relationships/image" Target="../media/image367.png"/><Relationship Id="rId20" Type="http://schemas.openxmlformats.org/officeDocument/2006/relationships/image" Target="../media/image3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62.png"/><Relationship Id="rId24" Type="http://schemas.openxmlformats.org/officeDocument/2006/relationships/image" Target="../media/image375.png"/><Relationship Id="rId5" Type="http://schemas.openxmlformats.org/officeDocument/2006/relationships/image" Target="../media/image59.png"/><Relationship Id="rId15" Type="http://schemas.openxmlformats.org/officeDocument/2006/relationships/image" Target="../media/image366.png"/><Relationship Id="rId23" Type="http://schemas.openxmlformats.org/officeDocument/2006/relationships/image" Target="../media/image374.png"/><Relationship Id="rId10" Type="http://schemas.openxmlformats.org/officeDocument/2006/relationships/image" Target="../media/image361.png"/><Relationship Id="rId19" Type="http://schemas.openxmlformats.org/officeDocument/2006/relationships/image" Target="../media/image370.png"/><Relationship Id="rId4" Type="http://schemas.openxmlformats.org/officeDocument/2006/relationships/image" Target="../media/image58.png"/><Relationship Id="rId9" Type="http://schemas.openxmlformats.org/officeDocument/2006/relationships/image" Target="../media/image360.png"/><Relationship Id="rId14" Type="http://schemas.openxmlformats.org/officeDocument/2006/relationships/image" Target="../media/image365.png"/><Relationship Id="rId22" Type="http://schemas.openxmlformats.org/officeDocument/2006/relationships/image" Target="../media/image373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png"/><Relationship Id="rId3" Type="http://schemas.openxmlformats.org/officeDocument/2006/relationships/image" Target="../media/image8.png"/><Relationship Id="rId7" Type="http://schemas.openxmlformats.org/officeDocument/2006/relationships/image" Target="../media/image376.png"/><Relationship Id="rId12" Type="http://schemas.openxmlformats.org/officeDocument/2006/relationships/image" Target="../media/image38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11.png"/><Relationship Id="rId5" Type="http://schemas.openxmlformats.org/officeDocument/2006/relationships/image" Target="../media/image59.png"/><Relationship Id="rId10" Type="http://schemas.openxmlformats.org/officeDocument/2006/relationships/image" Target="../media/image379.png"/><Relationship Id="rId4" Type="http://schemas.openxmlformats.org/officeDocument/2006/relationships/image" Target="../media/image58.png"/><Relationship Id="rId9" Type="http://schemas.openxmlformats.org/officeDocument/2006/relationships/image" Target="../media/image378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.png"/><Relationship Id="rId4" Type="http://schemas.openxmlformats.org/officeDocument/2006/relationships/image" Target="../media/image63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13" Type="http://schemas.openxmlformats.org/officeDocument/2006/relationships/image" Target="../media/image387.png"/><Relationship Id="rId18" Type="http://schemas.openxmlformats.org/officeDocument/2006/relationships/image" Target="../media/image392.png"/><Relationship Id="rId3" Type="http://schemas.openxmlformats.org/officeDocument/2006/relationships/image" Target="../media/image8.png"/><Relationship Id="rId7" Type="http://schemas.openxmlformats.org/officeDocument/2006/relationships/image" Target="../media/image382.png"/><Relationship Id="rId12" Type="http://schemas.openxmlformats.org/officeDocument/2006/relationships/image" Target="../media/image386.png"/><Relationship Id="rId17" Type="http://schemas.openxmlformats.org/officeDocument/2006/relationships/image" Target="../media/image391.png"/><Relationship Id="rId2" Type="http://schemas.openxmlformats.org/officeDocument/2006/relationships/notesSlide" Target="../notesSlides/notesSlide105.xml"/><Relationship Id="rId16" Type="http://schemas.openxmlformats.org/officeDocument/2006/relationships/image" Target="../media/image3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85.png"/><Relationship Id="rId5" Type="http://schemas.openxmlformats.org/officeDocument/2006/relationships/image" Target="../media/image10.png"/><Relationship Id="rId15" Type="http://schemas.openxmlformats.org/officeDocument/2006/relationships/image" Target="../media/image389.png"/><Relationship Id="rId10" Type="http://schemas.openxmlformats.org/officeDocument/2006/relationships/image" Target="../media/image384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14" Type="http://schemas.openxmlformats.org/officeDocument/2006/relationships/image" Target="../media/image388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png"/><Relationship Id="rId3" Type="http://schemas.openxmlformats.org/officeDocument/2006/relationships/image" Target="../media/image8.png"/><Relationship Id="rId7" Type="http://schemas.openxmlformats.org/officeDocument/2006/relationships/image" Target="../media/image393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96.png"/><Relationship Id="rId5" Type="http://schemas.openxmlformats.org/officeDocument/2006/relationships/image" Target="../media/image59.png"/><Relationship Id="rId10" Type="http://schemas.openxmlformats.org/officeDocument/2006/relationships/image" Target="../media/image395.png"/><Relationship Id="rId4" Type="http://schemas.openxmlformats.org/officeDocument/2006/relationships/image" Target="../media/image58.png"/><Relationship Id="rId9" Type="http://schemas.openxmlformats.org/officeDocument/2006/relationships/image" Target="../media/image394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9.png"/><Relationship Id="rId3" Type="http://schemas.openxmlformats.org/officeDocument/2006/relationships/image" Target="../media/image58.png"/><Relationship Id="rId7" Type="http://schemas.openxmlformats.org/officeDocument/2006/relationships/image" Target="../media/image398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7.png"/><Relationship Id="rId5" Type="http://schemas.openxmlformats.org/officeDocument/2006/relationships/image" Target="../media/image11.png"/><Relationship Id="rId10" Type="http://schemas.openxmlformats.org/officeDocument/2006/relationships/image" Target="../media/image401.png"/><Relationship Id="rId4" Type="http://schemas.openxmlformats.org/officeDocument/2006/relationships/image" Target="../media/image59.png"/><Relationship Id="rId9" Type="http://schemas.openxmlformats.org/officeDocument/2006/relationships/image" Target="../media/image400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3.png"/><Relationship Id="rId3" Type="http://schemas.openxmlformats.org/officeDocument/2006/relationships/image" Target="../media/image8.png"/><Relationship Id="rId7" Type="http://schemas.openxmlformats.org/officeDocument/2006/relationships/image" Target="../media/image40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9" Type="http://schemas.openxmlformats.org/officeDocument/2006/relationships/image" Target="../media/image404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314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6.png"/><Relationship Id="rId13" Type="http://schemas.openxmlformats.org/officeDocument/2006/relationships/image" Target="../media/image411.png"/><Relationship Id="rId18" Type="http://schemas.openxmlformats.org/officeDocument/2006/relationships/image" Target="../media/image416.png"/><Relationship Id="rId3" Type="http://schemas.openxmlformats.org/officeDocument/2006/relationships/image" Target="../media/image8.png"/><Relationship Id="rId21" Type="http://schemas.openxmlformats.org/officeDocument/2006/relationships/image" Target="../media/image419.png"/><Relationship Id="rId7" Type="http://schemas.openxmlformats.org/officeDocument/2006/relationships/image" Target="../media/image405.png"/><Relationship Id="rId12" Type="http://schemas.openxmlformats.org/officeDocument/2006/relationships/image" Target="../media/image410.png"/><Relationship Id="rId17" Type="http://schemas.openxmlformats.org/officeDocument/2006/relationships/image" Target="../media/image415.png"/><Relationship Id="rId2" Type="http://schemas.openxmlformats.org/officeDocument/2006/relationships/notesSlide" Target="../notesSlides/notesSlide110.xml"/><Relationship Id="rId16" Type="http://schemas.openxmlformats.org/officeDocument/2006/relationships/image" Target="../media/image414.png"/><Relationship Id="rId20" Type="http://schemas.openxmlformats.org/officeDocument/2006/relationships/image" Target="../media/image4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09.png"/><Relationship Id="rId5" Type="http://schemas.openxmlformats.org/officeDocument/2006/relationships/image" Target="../media/image10.png"/><Relationship Id="rId15" Type="http://schemas.openxmlformats.org/officeDocument/2006/relationships/image" Target="../media/image413.png"/><Relationship Id="rId23" Type="http://schemas.openxmlformats.org/officeDocument/2006/relationships/image" Target="../media/image421.png"/><Relationship Id="rId10" Type="http://schemas.openxmlformats.org/officeDocument/2006/relationships/image" Target="../media/image408.png"/><Relationship Id="rId19" Type="http://schemas.openxmlformats.org/officeDocument/2006/relationships/image" Target="../media/image417.png"/><Relationship Id="rId4" Type="http://schemas.openxmlformats.org/officeDocument/2006/relationships/image" Target="../media/image9.png"/><Relationship Id="rId9" Type="http://schemas.openxmlformats.org/officeDocument/2006/relationships/image" Target="../media/image407.png"/><Relationship Id="rId14" Type="http://schemas.openxmlformats.org/officeDocument/2006/relationships/image" Target="../media/image412.png"/><Relationship Id="rId22" Type="http://schemas.openxmlformats.org/officeDocument/2006/relationships/image" Target="../media/image420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8.png"/><Relationship Id="rId7" Type="http://schemas.openxmlformats.org/officeDocument/2006/relationships/image" Target="../media/image423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8.png"/><Relationship Id="rId5" Type="http://schemas.openxmlformats.org/officeDocument/2006/relationships/image" Target="../media/image11.png"/><Relationship Id="rId4" Type="http://schemas.openxmlformats.org/officeDocument/2006/relationships/image" Target="../media/image422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424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.png"/><Relationship Id="rId7" Type="http://schemas.openxmlformats.org/officeDocument/2006/relationships/image" Target="../media/image426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425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png"/><Relationship Id="rId3" Type="http://schemas.openxmlformats.org/officeDocument/2006/relationships/image" Target="../media/image8.png"/><Relationship Id="rId7" Type="http://schemas.openxmlformats.org/officeDocument/2006/relationships/image" Target="../media/image426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11.png"/><Relationship Id="rId4" Type="http://schemas.openxmlformats.org/officeDocument/2006/relationships/image" Target="../media/image427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1.png"/><Relationship Id="rId3" Type="http://schemas.openxmlformats.org/officeDocument/2006/relationships/image" Target="../media/image8.png"/><Relationship Id="rId7" Type="http://schemas.openxmlformats.org/officeDocument/2006/relationships/image" Target="../media/image430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429.png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3.png"/><Relationship Id="rId3" Type="http://schemas.openxmlformats.org/officeDocument/2006/relationships/image" Target="../media/image8.png"/><Relationship Id="rId7" Type="http://schemas.openxmlformats.org/officeDocument/2006/relationships/image" Target="../media/image343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2.png"/><Relationship Id="rId5" Type="http://schemas.openxmlformats.org/officeDocument/2006/relationships/image" Target="../media/image11.png"/><Relationship Id="rId4" Type="http://schemas.openxmlformats.org/officeDocument/2006/relationships/image" Target="../media/image425.png"/><Relationship Id="rId9" Type="http://schemas.openxmlformats.org/officeDocument/2006/relationships/image" Target="../media/image84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4.png"/><Relationship Id="rId13" Type="http://schemas.openxmlformats.org/officeDocument/2006/relationships/image" Target="../media/image437.png"/><Relationship Id="rId18" Type="http://schemas.openxmlformats.org/officeDocument/2006/relationships/image" Target="../media/image442.png"/><Relationship Id="rId3" Type="http://schemas.openxmlformats.org/officeDocument/2006/relationships/image" Target="../media/image8.png"/><Relationship Id="rId7" Type="http://schemas.openxmlformats.org/officeDocument/2006/relationships/image" Target="../media/image262.png"/><Relationship Id="rId12" Type="http://schemas.openxmlformats.org/officeDocument/2006/relationships/image" Target="../media/image436.png"/><Relationship Id="rId17" Type="http://schemas.openxmlformats.org/officeDocument/2006/relationships/image" Target="../media/image441.png"/><Relationship Id="rId2" Type="http://schemas.openxmlformats.org/officeDocument/2006/relationships/notesSlide" Target="../notesSlides/notesSlide117.xml"/><Relationship Id="rId16" Type="http://schemas.openxmlformats.org/officeDocument/2006/relationships/image" Target="../media/image4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35.png"/><Relationship Id="rId5" Type="http://schemas.openxmlformats.org/officeDocument/2006/relationships/image" Target="../media/image10.png"/><Relationship Id="rId15" Type="http://schemas.openxmlformats.org/officeDocument/2006/relationships/image" Target="../media/image439.png"/><Relationship Id="rId10" Type="http://schemas.openxmlformats.org/officeDocument/2006/relationships/image" Target="../media/image118.png"/><Relationship Id="rId19" Type="http://schemas.openxmlformats.org/officeDocument/2006/relationships/image" Target="../media/image443.png"/><Relationship Id="rId4" Type="http://schemas.openxmlformats.org/officeDocument/2006/relationships/image" Target="../media/image9.png"/><Relationship Id="rId9" Type="http://schemas.openxmlformats.org/officeDocument/2006/relationships/image" Target="../media/image413.png"/><Relationship Id="rId14" Type="http://schemas.openxmlformats.org/officeDocument/2006/relationships/image" Target="../media/image438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5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4.png"/><Relationship Id="rId5" Type="http://schemas.openxmlformats.org/officeDocument/2006/relationships/image" Target="../media/image11.png"/><Relationship Id="rId4" Type="http://schemas.openxmlformats.org/officeDocument/2006/relationships/image" Target="../media/image427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13" Type="http://schemas.openxmlformats.org/officeDocument/2006/relationships/image" Target="../media/image449.png"/><Relationship Id="rId3" Type="http://schemas.openxmlformats.org/officeDocument/2006/relationships/image" Target="../media/image8.png"/><Relationship Id="rId7" Type="http://schemas.openxmlformats.org/officeDocument/2006/relationships/image" Target="../media/image446.png"/><Relationship Id="rId12" Type="http://schemas.openxmlformats.org/officeDocument/2006/relationships/image" Target="../media/image419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51.png"/><Relationship Id="rId4" Type="http://schemas.openxmlformats.org/officeDocument/2006/relationships/image" Target="../media/image9.png"/><Relationship Id="rId9" Type="http://schemas.openxmlformats.org/officeDocument/2006/relationships/image" Target="../media/image448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0.png"/><Relationship Id="rId13" Type="http://schemas.openxmlformats.org/officeDocument/2006/relationships/image" Target="../media/image453.png"/><Relationship Id="rId3" Type="http://schemas.openxmlformats.org/officeDocument/2006/relationships/image" Target="../media/image8.png"/><Relationship Id="rId7" Type="http://schemas.openxmlformats.org/officeDocument/2006/relationships/image" Target="../media/image434.png"/><Relationship Id="rId12" Type="http://schemas.openxmlformats.org/officeDocument/2006/relationships/image" Target="../media/image452.png"/><Relationship Id="rId2" Type="http://schemas.openxmlformats.org/officeDocument/2006/relationships/notesSlide" Target="../notesSlides/notesSlide120.xml"/><Relationship Id="rId16" Type="http://schemas.openxmlformats.org/officeDocument/2006/relationships/image" Target="../media/image4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51.png"/><Relationship Id="rId5" Type="http://schemas.openxmlformats.org/officeDocument/2006/relationships/image" Target="../media/image10.png"/><Relationship Id="rId15" Type="http://schemas.openxmlformats.org/officeDocument/2006/relationships/image" Target="../media/image455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44.png"/><Relationship Id="rId14" Type="http://schemas.openxmlformats.org/officeDocument/2006/relationships/image" Target="../media/image454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8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png"/><Relationship Id="rId3" Type="http://schemas.openxmlformats.org/officeDocument/2006/relationships/image" Target="../media/image8.png"/><Relationship Id="rId7" Type="http://schemas.openxmlformats.org/officeDocument/2006/relationships/image" Target="../media/image295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7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8.png"/><Relationship Id="rId5" Type="http://schemas.openxmlformats.org/officeDocument/2006/relationships/image" Target="../media/image11.png"/><Relationship Id="rId4" Type="http://schemas.openxmlformats.org/officeDocument/2006/relationships/image" Target="../media/image285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9.png"/><Relationship Id="rId13" Type="http://schemas.openxmlformats.org/officeDocument/2006/relationships/image" Target="../media/image462.png"/><Relationship Id="rId18" Type="http://schemas.openxmlformats.org/officeDocument/2006/relationships/image" Target="../media/image467.png"/><Relationship Id="rId3" Type="http://schemas.openxmlformats.org/officeDocument/2006/relationships/image" Target="../media/image8.png"/><Relationship Id="rId21" Type="http://schemas.openxmlformats.org/officeDocument/2006/relationships/image" Target="../media/image470.png"/><Relationship Id="rId7" Type="http://schemas.openxmlformats.org/officeDocument/2006/relationships/image" Target="../media/image52.png"/><Relationship Id="rId12" Type="http://schemas.openxmlformats.org/officeDocument/2006/relationships/image" Target="../media/image461.png"/><Relationship Id="rId17" Type="http://schemas.openxmlformats.org/officeDocument/2006/relationships/image" Target="../media/image466.png"/><Relationship Id="rId2" Type="http://schemas.openxmlformats.org/officeDocument/2006/relationships/notesSlide" Target="../notesSlides/notesSlide124.xml"/><Relationship Id="rId16" Type="http://schemas.openxmlformats.org/officeDocument/2006/relationships/image" Target="../media/image465.png"/><Relationship Id="rId20" Type="http://schemas.openxmlformats.org/officeDocument/2006/relationships/image" Target="../media/image4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25.png"/><Relationship Id="rId5" Type="http://schemas.openxmlformats.org/officeDocument/2006/relationships/image" Target="../media/image10.png"/><Relationship Id="rId15" Type="http://schemas.openxmlformats.org/officeDocument/2006/relationships/image" Target="../media/image464.png"/><Relationship Id="rId10" Type="http://schemas.openxmlformats.org/officeDocument/2006/relationships/image" Target="../media/image460.png"/><Relationship Id="rId19" Type="http://schemas.openxmlformats.org/officeDocument/2006/relationships/image" Target="../media/image468.png"/><Relationship Id="rId4" Type="http://schemas.openxmlformats.org/officeDocument/2006/relationships/image" Target="../media/image9.png"/><Relationship Id="rId9" Type="http://schemas.openxmlformats.org/officeDocument/2006/relationships/image" Target="../media/image127.png"/><Relationship Id="rId14" Type="http://schemas.openxmlformats.org/officeDocument/2006/relationships/image" Target="../media/image463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1.png"/><Relationship Id="rId13" Type="http://schemas.openxmlformats.org/officeDocument/2006/relationships/image" Target="../media/image475.png"/><Relationship Id="rId3" Type="http://schemas.openxmlformats.org/officeDocument/2006/relationships/image" Target="../media/image8.png"/><Relationship Id="rId7" Type="http://schemas.openxmlformats.org/officeDocument/2006/relationships/image" Target="../media/image248.png"/><Relationship Id="rId12" Type="http://schemas.openxmlformats.org/officeDocument/2006/relationships/image" Target="../media/image474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73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472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7.png"/><Relationship Id="rId13" Type="http://schemas.openxmlformats.org/officeDocument/2006/relationships/image" Target="../media/image49.png"/><Relationship Id="rId3" Type="http://schemas.openxmlformats.org/officeDocument/2006/relationships/image" Target="../media/image8.png"/><Relationship Id="rId7" Type="http://schemas.openxmlformats.org/officeDocument/2006/relationships/image" Target="../media/image476.png"/><Relationship Id="rId12" Type="http://schemas.openxmlformats.org/officeDocument/2006/relationships/image" Target="../media/image479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78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58.png"/><Relationship Id="rId14" Type="http://schemas.openxmlformats.org/officeDocument/2006/relationships/image" Target="../media/image258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2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81.png"/><Relationship Id="rId4" Type="http://schemas.openxmlformats.org/officeDocument/2006/relationships/image" Target="../media/image480.png"/><Relationship Id="rId9" Type="http://schemas.openxmlformats.org/officeDocument/2006/relationships/image" Target="../media/image7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png"/><Relationship Id="rId13" Type="http://schemas.openxmlformats.org/officeDocument/2006/relationships/image" Target="../media/image486.png"/><Relationship Id="rId3" Type="http://schemas.openxmlformats.org/officeDocument/2006/relationships/image" Target="../media/image8.png"/><Relationship Id="rId7" Type="http://schemas.openxmlformats.org/officeDocument/2006/relationships/image" Target="../media/image43.png"/><Relationship Id="rId12" Type="http://schemas.openxmlformats.org/officeDocument/2006/relationships/image" Target="../media/image485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84.png"/><Relationship Id="rId5" Type="http://schemas.openxmlformats.org/officeDocument/2006/relationships/image" Target="../media/image10.png"/><Relationship Id="rId15" Type="http://schemas.openxmlformats.org/officeDocument/2006/relationships/image" Target="../media/image487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49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png"/><Relationship Id="rId13" Type="http://schemas.openxmlformats.org/officeDocument/2006/relationships/image" Target="../media/image489.png"/><Relationship Id="rId3" Type="http://schemas.openxmlformats.org/officeDocument/2006/relationships/image" Target="../media/image8.png"/><Relationship Id="rId7" Type="http://schemas.openxmlformats.org/officeDocument/2006/relationships/image" Target="../media/image43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88.png"/><Relationship Id="rId5" Type="http://schemas.openxmlformats.org/officeDocument/2006/relationships/image" Target="../media/image10.png"/><Relationship Id="rId15" Type="http://schemas.openxmlformats.org/officeDocument/2006/relationships/image" Target="../media/image487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49.png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4.png"/><Relationship Id="rId13" Type="http://schemas.openxmlformats.org/officeDocument/2006/relationships/image" Target="../media/image499.png"/><Relationship Id="rId3" Type="http://schemas.openxmlformats.org/officeDocument/2006/relationships/image" Target="../media/image490.png"/><Relationship Id="rId7" Type="http://schemas.openxmlformats.org/officeDocument/2006/relationships/image" Target="../media/image493.png"/><Relationship Id="rId12" Type="http://schemas.openxmlformats.org/officeDocument/2006/relationships/image" Target="../media/image498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2.png"/><Relationship Id="rId11" Type="http://schemas.openxmlformats.org/officeDocument/2006/relationships/image" Target="../media/image497.png"/><Relationship Id="rId5" Type="http://schemas.openxmlformats.org/officeDocument/2006/relationships/image" Target="../media/image10.png"/><Relationship Id="rId10" Type="http://schemas.openxmlformats.org/officeDocument/2006/relationships/image" Target="../media/image496.png"/><Relationship Id="rId4" Type="http://schemas.openxmlformats.org/officeDocument/2006/relationships/image" Target="../media/image491.png"/><Relationship Id="rId9" Type="http://schemas.openxmlformats.org/officeDocument/2006/relationships/image" Target="../media/image495.png"/><Relationship Id="rId14" Type="http://schemas.openxmlformats.org/officeDocument/2006/relationships/image" Target="../media/image500.png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2.png"/><Relationship Id="rId13" Type="http://schemas.openxmlformats.org/officeDocument/2006/relationships/image" Target="../media/image505.png"/><Relationship Id="rId3" Type="http://schemas.openxmlformats.org/officeDocument/2006/relationships/image" Target="../media/image8.png"/><Relationship Id="rId7" Type="http://schemas.openxmlformats.org/officeDocument/2006/relationships/image" Target="../media/image501.png"/><Relationship Id="rId12" Type="http://schemas.openxmlformats.org/officeDocument/2006/relationships/image" Target="../media/image504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03.png"/><Relationship Id="rId5" Type="http://schemas.openxmlformats.org/officeDocument/2006/relationships/image" Target="../media/image10.png"/><Relationship Id="rId10" Type="http://schemas.openxmlformats.org/officeDocument/2006/relationships/image" Target="../media/image52.png"/><Relationship Id="rId4" Type="http://schemas.openxmlformats.org/officeDocument/2006/relationships/image" Target="../media/image9.png"/><Relationship Id="rId9" Type="http://schemas.openxmlformats.org/officeDocument/2006/relationships/image" Target="../media/image317.png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7.png"/><Relationship Id="rId13" Type="http://schemas.openxmlformats.org/officeDocument/2006/relationships/image" Target="../media/image511.png"/><Relationship Id="rId3" Type="http://schemas.openxmlformats.org/officeDocument/2006/relationships/image" Target="../media/image8.png"/><Relationship Id="rId7" Type="http://schemas.openxmlformats.org/officeDocument/2006/relationships/image" Target="../media/image506.png"/><Relationship Id="rId12" Type="http://schemas.openxmlformats.org/officeDocument/2006/relationships/image" Target="../media/image510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2.png"/><Relationship Id="rId5" Type="http://schemas.openxmlformats.org/officeDocument/2006/relationships/image" Target="../media/image10.png"/><Relationship Id="rId10" Type="http://schemas.openxmlformats.org/officeDocument/2006/relationships/image" Target="../media/image509.png"/><Relationship Id="rId4" Type="http://schemas.openxmlformats.org/officeDocument/2006/relationships/image" Target="../media/image9.png"/><Relationship Id="rId9" Type="http://schemas.openxmlformats.org/officeDocument/2006/relationships/image" Target="../media/image508.png"/><Relationship Id="rId14" Type="http://schemas.openxmlformats.org/officeDocument/2006/relationships/image" Target="../media/image512.pn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4.png"/><Relationship Id="rId3" Type="http://schemas.openxmlformats.org/officeDocument/2006/relationships/image" Target="../media/image8.png"/><Relationship Id="rId7" Type="http://schemas.openxmlformats.org/officeDocument/2006/relationships/image" Target="../media/image513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17.png"/><Relationship Id="rId5" Type="http://schemas.openxmlformats.org/officeDocument/2006/relationships/image" Target="../media/image10.png"/><Relationship Id="rId10" Type="http://schemas.openxmlformats.org/officeDocument/2006/relationships/image" Target="../media/image516.png"/><Relationship Id="rId4" Type="http://schemas.openxmlformats.org/officeDocument/2006/relationships/image" Target="../media/image9.png"/><Relationship Id="rId9" Type="http://schemas.openxmlformats.org/officeDocument/2006/relationships/image" Target="../media/image515.png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9.png"/><Relationship Id="rId13" Type="http://schemas.openxmlformats.org/officeDocument/2006/relationships/image" Target="../media/image522.png"/><Relationship Id="rId3" Type="http://schemas.openxmlformats.org/officeDocument/2006/relationships/image" Target="../media/image8.png"/><Relationship Id="rId7" Type="http://schemas.openxmlformats.org/officeDocument/2006/relationships/image" Target="../media/image518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5" Type="http://schemas.openxmlformats.org/officeDocument/2006/relationships/image" Target="../media/image524.png"/><Relationship Id="rId10" Type="http://schemas.openxmlformats.org/officeDocument/2006/relationships/image" Target="../media/image521.png"/><Relationship Id="rId4" Type="http://schemas.openxmlformats.org/officeDocument/2006/relationships/image" Target="../media/image9.png"/><Relationship Id="rId9" Type="http://schemas.openxmlformats.org/officeDocument/2006/relationships/image" Target="../media/image520.png"/><Relationship Id="rId14" Type="http://schemas.openxmlformats.org/officeDocument/2006/relationships/image" Target="../media/image523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5.png"/><Relationship Id="rId13" Type="http://schemas.openxmlformats.org/officeDocument/2006/relationships/image" Target="../media/image252.png"/><Relationship Id="rId3" Type="http://schemas.openxmlformats.org/officeDocument/2006/relationships/image" Target="../media/image8.png"/><Relationship Id="rId7" Type="http://schemas.openxmlformats.org/officeDocument/2006/relationships/image" Target="../media/image471.png"/><Relationship Id="rId12" Type="http://schemas.openxmlformats.org/officeDocument/2006/relationships/image" Target="../media/image526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473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53.pn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13" Type="http://schemas.openxmlformats.org/officeDocument/2006/relationships/image" Target="../media/image258.png"/><Relationship Id="rId3" Type="http://schemas.openxmlformats.org/officeDocument/2006/relationships/image" Target="../media/image8.png"/><Relationship Id="rId7" Type="http://schemas.openxmlformats.org/officeDocument/2006/relationships/image" Target="../media/image527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29.png"/><Relationship Id="rId5" Type="http://schemas.openxmlformats.org/officeDocument/2006/relationships/image" Target="../media/image10.png"/><Relationship Id="rId10" Type="http://schemas.openxmlformats.org/officeDocument/2006/relationships/image" Target="../media/image528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1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0211105" y="761695"/>
            <a:ext cx="1218895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10287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descr="preencoded.png"/>
          <p:cNvPicPr preferRelativeResize="0"/>
          <p:nvPr/>
        </p:nvPicPr>
        <p:blipFill rotWithShape="1">
          <a:blip r:embed="rId7">
            <a:alphaModFix/>
          </a:blip>
          <a:srcRect t="-17" b="-16"/>
          <a:stretch/>
        </p:blipFill>
        <p:spPr>
          <a:xfrm>
            <a:off x="5352898" y="1657807"/>
            <a:ext cx="1485900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" descr="preencoded.png"/>
          <p:cNvPicPr preferRelativeResize="0"/>
          <p:nvPr/>
        </p:nvPicPr>
        <p:blipFill rotWithShape="1">
          <a:blip r:embed="rId8">
            <a:alphaModFix/>
          </a:blip>
          <a:srcRect l="-27" r="-27"/>
          <a:stretch/>
        </p:blipFill>
        <p:spPr>
          <a:xfrm>
            <a:off x="5667451" y="1971446"/>
            <a:ext cx="85770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 txBox="1"/>
          <p:nvPr/>
        </p:nvSpPr>
        <p:spPr>
          <a:xfrm>
            <a:off x="3869741" y="3200400"/>
            <a:ext cx="4457700" cy="142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0"/>
              <a:buFont typeface="Poppins"/>
              <a:buNone/>
            </a:pPr>
            <a:r>
              <a:rPr lang="en-US" sz="9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Numpy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1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781398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2;p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What is NumPy 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 descr="preencoded.png"/>
          <p:cNvPicPr preferRelativeResize="0"/>
          <p:nvPr/>
        </p:nvPicPr>
        <p:blipFill rotWithShape="1">
          <a:blip r:embed="rId7">
            <a:alphaModFix amt="88000"/>
          </a:blip>
          <a:srcRect l="-743" r="-742"/>
          <a:stretch/>
        </p:blipFill>
        <p:spPr>
          <a:xfrm>
            <a:off x="10896905" y="3143707"/>
            <a:ext cx="30449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preencoded.png"/>
          <p:cNvPicPr preferRelativeResize="0"/>
          <p:nvPr/>
        </p:nvPicPr>
        <p:blipFill rotWithShape="1">
          <a:blip r:embed="rId8">
            <a:alphaModFix/>
          </a:blip>
          <a:srcRect l="-743" r="-742"/>
          <a:stretch/>
        </p:blipFill>
        <p:spPr>
          <a:xfrm>
            <a:off x="7391095" y="4529023"/>
            <a:ext cx="30449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2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609905" y="2407615"/>
            <a:ext cx="7587269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/>
          <p:nvPr/>
        </p:nvSpPr>
        <p:spPr>
          <a:xfrm>
            <a:off x="914400" y="2636215"/>
            <a:ext cx="7075251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Stands for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"Numeric Python"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"Numerical Python"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0315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2" descr="preencoded.png"/>
          <p:cNvPicPr preferRelativeResize="0"/>
          <p:nvPr/>
        </p:nvPicPr>
        <p:blipFill rotWithShape="1">
          <a:blip r:embed="rId11">
            <a:alphaModFix/>
          </a:blip>
          <a:srcRect l="-1648" r="-1647"/>
          <a:stretch/>
        </p:blipFill>
        <p:spPr>
          <a:xfrm>
            <a:off x="752551" y="416509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 txBox="1"/>
          <p:nvPr/>
        </p:nvSpPr>
        <p:spPr>
          <a:xfrm>
            <a:off x="1295705" y="4107485"/>
            <a:ext cx="1553566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Open Source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79328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 descr="preencoded.png"/>
          <p:cNvPicPr preferRelativeResize="0"/>
          <p:nvPr/>
        </p:nvPicPr>
        <p:blipFill rotWithShape="1">
          <a:blip r:embed="rId12">
            <a:alphaModFix/>
          </a:blip>
          <a:srcRect l="-1648" r="-1647"/>
          <a:stretch/>
        </p:blipFill>
        <p:spPr>
          <a:xfrm>
            <a:off x="752551" y="4926787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1295705" y="4870094"/>
            <a:ext cx="2142439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Module of Python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5558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2" descr="preencoded.png"/>
          <p:cNvPicPr preferRelativeResize="0"/>
          <p:nvPr/>
        </p:nvPicPr>
        <p:blipFill rotWithShape="1">
          <a:blip r:embed="rId13">
            <a:alphaModFix/>
          </a:blip>
          <a:srcRect l="-1648" r="-1647"/>
          <a:stretch/>
        </p:blipFill>
        <p:spPr>
          <a:xfrm>
            <a:off x="752551" y="568848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 txBox="1"/>
          <p:nvPr/>
        </p:nvSpPr>
        <p:spPr>
          <a:xfrm>
            <a:off x="1295705" y="5631790"/>
            <a:ext cx="4496105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Provides fast mathematical functions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2" descr="preencoded.png"/>
          <p:cNvPicPr preferRelativeResize="0"/>
          <p:nvPr/>
        </p:nvPicPr>
        <p:blipFill rotWithShape="1">
          <a:blip r:embed="rId14">
            <a:alphaModFix amt="10000"/>
          </a:blip>
          <a:srcRect l="-6" r="-5"/>
          <a:stretch/>
        </p:blipFill>
        <p:spPr>
          <a:xfrm>
            <a:off x="8096098" y="3143707"/>
            <a:ext cx="3600907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2" descr="preencoded.png"/>
          <p:cNvPicPr preferRelativeResize="0"/>
          <p:nvPr/>
        </p:nvPicPr>
        <p:blipFill rotWithShape="1">
          <a:blip r:embed="rId15">
            <a:alphaModFix amt="90000"/>
          </a:blip>
          <a:srcRect l="-7" r="-6"/>
          <a:stretch/>
        </p:blipFill>
        <p:spPr>
          <a:xfrm>
            <a:off x="8553755" y="3422599"/>
            <a:ext cx="2400300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What is NumPy 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3" descr="preencoded.png"/>
          <p:cNvPicPr preferRelativeResize="0"/>
          <p:nvPr/>
        </p:nvPicPr>
        <p:blipFill rotWithShape="1">
          <a:blip r:embed="rId7">
            <a:alphaModFix/>
          </a:blip>
          <a:srcRect t="-12" b="-12"/>
          <a:stretch/>
        </p:blipFill>
        <p:spPr>
          <a:xfrm>
            <a:off x="7060997" y="2974543"/>
            <a:ext cx="1740103" cy="724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17206" y="308884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7137806" y="3393338"/>
            <a:ext cx="15910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TensorFlow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 descr="preencoded.png"/>
          <p:cNvPicPr preferRelativeResize="0"/>
          <p:nvPr/>
        </p:nvPicPr>
        <p:blipFill rotWithShape="1">
          <a:blip r:embed="rId9">
            <a:alphaModFix/>
          </a:blip>
          <a:srcRect l="-80" r="-80"/>
          <a:stretch/>
        </p:blipFill>
        <p:spPr>
          <a:xfrm>
            <a:off x="9603943" y="3088843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 txBox="1"/>
          <p:nvPr/>
        </p:nvSpPr>
        <p:spPr>
          <a:xfrm>
            <a:off x="8953805" y="3393338"/>
            <a:ext cx="15910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Scikit-learn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3" descr="preencoded.png"/>
          <p:cNvPicPr preferRelativeResize="0"/>
          <p:nvPr/>
        </p:nvPicPr>
        <p:blipFill rotWithShape="1">
          <a:blip r:embed="rId10">
            <a:alphaModFix/>
          </a:blip>
          <a:srcRect t="-25" b="-24"/>
          <a:stretch/>
        </p:blipFill>
        <p:spPr>
          <a:xfrm>
            <a:off x="6883603" y="3774643"/>
            <a:ext cx="1917497" cy="724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27594" y="388894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6959498" y="4193438"/>
            <a:ext cx="1772107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 descr="preencoded.png"/>
          <p:cNvPicPr preferRelativeResize="0"/>
          <p:nvPr/>
        </p:nvPicPr>
        <p:blipFill rotWithShape="1">
          <a:blip r:embed="rId12">
            <a:alphaModFix/>
          </a:blip>
          <a:srcRect t="-25" b="-24"/>
          <a:stretch/>
        </p:blipFill>
        <p:spPr>
          <a:xfrm>
            <a:off x="8876995" y="3774643"/>
            <a:ext cx="1917497" cy="724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3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21901" y="388894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 txBox="1"/>
          <p:nvPr/>
        </p:nvSpPr>
        <p:spPr>
          <a:xfrm>
            <a:off x="8953805" y="4193438"/>
            <a:ext cx="1772107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3" descr="preencoded.png"/>
          <p:cNvPicPr preferRelativeResize="0"/>
          <p:nvPr/>
        </p:nvPicPr>
        <p:blipFill rotWithShape="1">
          <a:blip r:embed="rId14">
            <a:alphaModFix/>
          </a:blip>
          <a:srcRect l="-5" r="-4"/>
          <a:stretch/>
        </p:blipFill>
        <p:spPr>
          <a:xfrm>
            <a:off x="6705295" y="4574743"/>
            <a:ext cx="4267505" cy="926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3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695944" y="4726534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6801307" y="5081321"/>
            <a:ext cx="40773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p3" descr="preencoded.png"/>
          <p:cNvPicPr preferRelativeResize="0"/>
          <p:nvPr/>
        </p:nvPicPr>
        <p:blipFill rotWithShape="1">
          <a:blip r:embed="rId16">
            <a:alphaModFix/>
          </a:blip>
          <a:srcRect t="-9" b="-10"/>
          <a:stretch/>
        </p:blipFill>
        <p:spPr>
          <a:xfrm>
            <a:off x="6705295" y="5576926"/>
            <a:ext cx="4267505" cy="976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 descr="preencoded.png"/>
          <p:cNvPicPr preferRelativeResize="0"/>
          <p:nvPr/>
        </p:nvPicPr>
        <p:blipFill rotWithShape="1">
          <a:blip r:embed="rId17">
            <a:alphaModFix/>
          </a:blip>
          <a:srcRect l="-743" r="-742"/>
          <a:stretch/>
        </p:blipFill>
        <p:spPr>
          <a:xfrm>
            <a:off x="8686800" y="5729630"/>
            <a:ext cx="30449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 txBox="1"/>
          <p:nvPr/>
        </p:nvSpPr>
        <p:spPr>
          <a:xfrm>
            <a:off x="6801307" y="6133795"/>
            <a:ext cx="40773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3" descr="preencoded.png"/>
          <p:cNvPicPr preferRelativeResize="0"/>
          <p:nvPr/>
        </p:nvPicPr>
        <p:blipFill rotWithShape="1">
          <a:blip r:embed="rId18">
            <a:alphaModFix amt="50000"/>
          </a:blip>
          <a:srcRect t="-5" b="-4"/>
          <a:stretch/>
        </p:blipFill>
        <p:spPr>
          <a:xfrm>
            <a:off x="6096305" y="1943100"/>
            <a:ext cx="4937760" cy="476676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3" descr="preencoded.png"/>
          <p:cNvPicPr preferRelativeResize="0"/>
          <p:nvPr/>
        </p:nvPicPr>
        <p:blipFill rotWithShape="1">
          <a:blip r:embed="rId19">
            <a:alphaModFix/>
          </a:blip>
          <a:srcRect t="-12" b="-12"/>
          <a:stretch/>
        </p:blipFill>
        <p:spPr>
          <a:xfrm>
            <a:off x="609905" y="2576779"/>
            <a:ext cx="5181905" cy="77175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914400" y="2805379"/>
            <a:ext cx="5334610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The complete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Machine Learning eco-system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3" descr="preencoded.png"/>
          <p:cNvPicPr preferRelativeResize="0"/>
          <p:nvPr/>
        </p:nvPicPr>
        <p:blipFill rotWithShape="1">
          <a:blip r:embed="rId20">
            <a:alphaModFix/>
          </a:blip>
          <a:srcRect t="-36" b="-36"/>
          <a:stretch/>
        </p:blipFill>
        <p:spPr>
          <a:xfrm>
            <a:off x="609905" y="3653028"/>
            <a:ext cx="2514600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733349" y="3776472"/>
            <a:ext cx="381305" cy="381305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3" descr="preencoded.png"/>
          <p:cNvPicPr preferRelativeResize="0"/>
          <p:nvPr/>
        </p:nvPicPr>
        <p:blipFill rotWithShape="1">
          <a:blip r:embed="rId21">
            <a:alphaModFix/>
          </a:blip>
          <a:srcRect l="-760" r="-759"/>
          <a:stretch/>
        </p:blipFill>
        <p:spPr>
          <a:xfrm>
            <a:off x="847649" y="3881628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 txBox="1"/>
          <p:nvPr/>
        </p:nvSpPr>
        <p:spPr>
          <a:xfrm>
            <a:off x="1228954" y="3834079"/>
            <a:ext cx="63916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3" descr="preencoded.png"/>
          <p:cNvPicPr preferRelativeResize="0"/>
          <p:nvPr/>
        </p:nvPicPr>
        <p:blipFill rotWithShape="1">
          <a:blip r:embed="rId20">
            <a:alphaModFix/>
          </a:blip>
          <a:srcRect t="-36" b="-36"/>
          <a:stretch/>
        </p:blipFill>
        <p:spPr>
          <a:xfrm>
            <a:off x="3276295" y="3653028"/>
            <a:ext cx="2514600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3400654" y="3776472"/>
            <a:ext cx="381305" cy="381305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3" descr="preencoded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504895" y="388162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3"/>
          <p:cNvSpPr txBox="1"/>
          <p:nvPr/>
        </p:nvSpPr>
        <p:spPr>
          <a:xfrm>
            <a:off x="3895344" y="3834079"/>
            <a:ext cx="63825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20">
            <a:alphaModFix/>
          </a:blip>
          <a:srcRect t="-36" b="-36"/>
          <a:stretch/>
        </p:blipFill>
        <p:spPr>
          <a:xfrm>
            <a:off x="609905" y="4433926"/>
            <a:ext cx="2514600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733349" y="4557370"/>
            <a:ext cx="381305" cy="381305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3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838505" y="466252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1228954" y="4614977"/>
            <a:ext cx="6574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3" descr="preencoded.png"/>
          <p:cNvPicPr preferRelativeResize="0"/>
          <p:nvPr/>
        </p:nvPicPr>
        <p:blipFill rotWithShape="1">
          <a:blip r:embed="rId20">
            <a:alphaModFix/>
          </a:blip>
          <a:srcRect t="-36" b="-36"/>
          <a:stretch/>
        </p:blipFill>
        <p:spPr>
          <a:xfrm>
            <a:off x="3276295" y="4433926"/>
            <a:ext cx="2514600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3400654" y="4557370"/>
            <a:ext cx="381305" cy="381305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" name="Google Shape;99;p3" descr="preencoded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3504895" y="466252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3895344" y="4614977"/>
            <a:ext cx="92994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3" descr="preencoded.png"/>
          <p:cNvPicPr preferRelativeResize="0"/>
          <p:nvPr/>
        </p:nvPicPr>
        <p:blipFill rotWithShape="1">
          <a:blip r:embed="rId20">
            <a:alphaModFix/>
          </a:blip>
          <a:srcRect t="-36" b="-36"/>
          <a:stretch/>
        </p:blipFill>
        <p:spPr>
          <a:xfrm>
            <a:off x="609905" y="5214823"/>
            <a:ext cx="2514600" cy="62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 descr="preencoded.png"/>
          <p:cNvPicPr preferRelativeResize="0"/>
          <p:nvPr/>
        </p:nvPicPr>
        <p:blipFill rotWithShape="1">
          <a:blip r:embed="rId25">
            <a:alphaModFix/>
          </a:blip>
          <a:srcRect l="-1064" r="-1064"/>
          <a:stretch/>
        </p:blipFill>
        <p:spPr>
          <a:xfrm>
            <a:off x="814730" y="5443423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228954" y="5395874"/>
            <a:ext cx="104333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Scikit-learn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3" descr="preencoded.png"/>
          <p:cNvPicPr preferRelativeResize="0"/>
          <p:nvPr/>
        </p:nvPicPr>
        <p:blipFill rotWithShape="1">
          <a:blip r:embed="rId20">
            <a:alphaModFix/>
          </a:blip>
          <a:srcRect t="-36" b="-36"/>
          <a:stretch/>
        </p:blipFill>
        <p:spPr>
          <a:xfrm>
            <a:off x="3276295" y="5214823"/>
            <a:ext cx="2514600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3400654" y="5339182"/>
            <a:ext cx="381305" cy="381305"/>
          </a:xfrm>
          <a:prstGeom prst="ellipse">
            <a:avLst/>
          </a:prstGeom>
          <a:solidFill>
            <a:srgbClr val="EDE9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3" descr="preencoded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504895" y="5443423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3895344" y="5395874"/>
            <a:ext cx="106527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TensorFlow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" name="Google Shape;114;p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Why use NumPy 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4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 descr="preencoded.png"/>
          <p:cNvPicPr preferRelativeResize="0"/>
          <p:nvPr/>
        </p:nvPicPr>
        <p:blipFill rotWithShape="1">
          <a:blip r:embed="rId7">
            <a:alphaModFix amt="64000"/>
          </a:blip>
          <a:srcRect/>
          <a:stretch/>
        </p:blipFill>
        <p:spPr>
          <a:xfrm>
            <a:off x="11125505" y="35240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0705" y="4809744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420989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 descr="preencoded.png"/>
          <p:cNvPicPr preferRelativeResize="0"/>
          <p:nvPr/>
        </p:nvPicPr>
        <p:blipFill rotWithShape="1">
          <a:blip r:embed="rId10">
            <a:alphaModFix/>
          </a:blip>
          <a:srcRect l="-9" r="-10"/>
          <a:stretch/>
        </p:blipFill>
        <p:spPr>
          <a:xfrm>
            <a:off x="609905" y="2295144"/>
            <a:ext cx="6686550" cy="100949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875995" y="2486254"/>
            <a:ext cx="6303018" cy="6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Key advantages for data science and numerical computing: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361005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 descr="preencoded.png"/>
          <p:cNvPicPr preferRelativeResize="0"/>
          <p:nvPr/>
        </p:nvPicPr>
        <p:blipFill rotWithShape="1">
          <a:blip r:embed="rId12">
            <a:alphaModFix/>
          </a:blip>
          <a:srcRect l="-1282" r="-1282"/>
          <a:stretch/>
        </p:blipFill>
        <p:spPr>
          <a:xfrm>
            <a:off x="728777" y="3743554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1295705" y="3685946"/>
            <a:ext cx="3072384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Array-oriented computing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429585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3407" y="442935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1295705" y="4371746"/>
            <a:ext cx="561990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Efficiently implemented multi-dimensional arrays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498165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 descr="preencoded.png"/>
          <p:cNvPicPr preferRelativeResize="0"/>
          <p:nvPr/>
        </p:nvPicPr>
        <p:blipFill rotWithShape="1">
          <a:blip r:embed="rId14">
            <a:alphaModFix/>
          </a:blip>
          <a:srcRect l="-1648" r="-1647"/>
          <a:stretch/>
        </p:blipFill>
        <p:spPr>
          <a:xfrm>
            <a:off x="752551" y="5115154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1295705" y="5057546"/>
            <a:ext cx="4277563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Designed for scientific computation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566745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 descr="preencoded.png"/>
          <p:cNvPicPr preferRelativeResize="0"/>
          <p:nvPr/>
        </p:nvPicPr>
        <p:blipFill rotWithShape="1">
          <a:blip r:embed="rId15">
            <a:alphaModFix/>
          </a:blip>
          <a:srcRect l="-1282" r="-1282"/>
          <a:stretch/>
        </p:blipFill>
        <p:spPr>
          <a:xfrm>
            <a:off x="728777" y="5800954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295705" y="5743346"/>
            <a:ext cx="5134356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Library of high-level mathematical functions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4" descr="preencoded.png"/>
          <p:cNvPicPr preferRelativeResize="0"/>
          <p:nvPr/>
        </p:nvPicPr>
        <p:blipFill rotWithShape="1">
          <a:blip r:embed="rId16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 descr="preencoded.png"/>
          <p:cNvPicPr preferRelativeResize="0"/>
          <p:nvPr/>
        </p:nvPicPr>
        <p:blipFill rotWithShape="1">
          <a:blip r:embed="rId17">
            <a:alphaModFix amt="90000"/>
          </a:blip>
          <a:srcRect/>
          <a:stretch/>
        </p:blipFill>
        <p:spPr>
          <a:xfrm>
            <a:off x="8612221" y="3686403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" name="Google Shape;145;p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Numpy - Introduction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5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5" descr="preencoded.png"/>
          <p:cNvPicPr preferRelativeResize="0"/>
          <p:nvPr/>
        </p:nvPicPr>
        <p:blipFill rotWithShape="1">
          <a:blip r:embed="rId7">
            <a:alphaModFix/>
          </a:blip>
          <a:srcRect t="-19" b="-19"/>
          <a:stretch/>
        </p:blipFill>
        <p:spPr>
          <a:xfrm>
            <a:off x="609905" y="2428646"/>
            <a:ext cx="7191678" cy="108630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 txBox="1"/>
          <p:nvPr/>
        </p:nvSpPr>
        <p:spPr>
          <a:xfrm>
            <a:off x="745790" y="2657246"/>
            <a:ext cx="7055793" cy="6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NumPy’s main object is the homogeneous multidimensional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array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3857854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146" y="396209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1181405" y="3819449"/>
            <a:ext cx="54580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Structure &amp; Type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181405" y="4123944"/>
            <a:ext cx="60295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It is a table of elements (usually numbers), all of the same type.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4657954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4146" y="476219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1181405" y="4619549"/>
            <a:ext cx="336316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Indexing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1181405" y="4924044"/>
            <a:ext cx="384962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Indexed by a tuple of positive integers.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5458054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4146" y="556229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 txBox="1"/>
          <p:nvPr/>
        </p:nvSpPr>
        <p:spPr>
          <a:xfrm>
            <a:off x="1181405" y="5419649"/>
            <a:ext cx="486735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Terminology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1181405" y="5724144"/>
            <a:ext cx="543885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Dimensions are called </a:t>
            </a:r>
            <a:r>
              <a:rPr lang="en-US" sz="1500" b="0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axes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The number of axes is </a:t>
            </a:r>
            <a:r>
              <a:rPr lang="en-US" sz="1500" b="0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rank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43646" y="2809951"/>
            <a:ext cx="2305202" cy="230520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8305495" y="29718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3B82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8277149" y="29718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8991295" y="29718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60A5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8962949" y="29718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9677095" y="29718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93C5FD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 txBox="1"/>
          <p:nvPr/>
        </p:nvSpPr>
        <p:spPr>
          <a:xfrm>
            <a:off x="9648749" y="29718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305495" y="36576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60A5FA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8277149" y="36576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991295" y="36576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93C5FD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8962949" y="36576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9677095" y="36576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BFDB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9648749" y="36576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305495" y="43434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93C5FD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8277149" y="43434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991295" y="43434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BFDB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8962949" y="43434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677095" y="4343400"/>
            <a:ext cx="609905" cy="609905"/>
          </a:xfrm>
          <a:prstGeom prst="roundRect">
            <a:avLst>
              <a:gd name="adj" fmla="val 9370"/>
            </a:avLst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9648749" y="4343400"/>
            <a:ext cx="667512" cy="6099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8863279" y="5343754"/>
            <a:ext cx="94366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ndarray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5" descr="preencoded.png"/>
          <p:cNvPicPr preferRelativeResize="0"/>
          <p:nvPr/>
        </p:nvPicPr>
        <p:blipFill rotWithShape="1">
          <a:blip r:embed="rId13">
            <a:alphaModFix amt="10000"/>
          </a:blip>
          <a:srcRect l="-1" r="-1"/>
          <a:stretch/>
        </p:blipFill>
        <p:spPr>
          <a:xfrm>
            <a:off x="7856068" y="2075474"/>
            <a:ext cx="2881274" cy="350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-6485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6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Numpy - Introduction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6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4657954" y="1352398"/>
            <a:ext cx="342259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First Dimension / Axis, Len = 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095598" y="1695298"/>
            <a:ext cx="4000500" cy="152705"/>
          </a:xfrm>
          <a:prstGeom prst="roundRect">
            <a:avLst>
              <a:gd name="adj" fmla="val 299401"/>
            </a:avLst>
          </a:prstGeom>
          <a:noFill/>
          <a:ln w="254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747181" y="3372307"/>
            <a:ext cx="34006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Second Dimension / Axis, Len = 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344107" y="1962302"/>
            <a:ext cx="152705" cy="3086100"/>
          </a:xfrm>
          <a:prstGeom prst="roundRect">
            <a:avLst>
              <a:gd name="adj" fmla="val 299401"/>
            </a:avLst>
          </a:prstGeom>
          <a:noFill/>
          <a:ln w="254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95598" y="1962302"/>
            <a:ext cx="40005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 txBox="1"/>
          <p:nvPr/>
        </p:nvSpPr>
        <p:spPr>
          <a:xfrm>
            <a:off x="4315054" y="22101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5229454" y="22101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6143854" y="22101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058254" y="22101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4315054" y="31245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5229454" y="31245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6143854" y="31245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7058254" y="31245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4315054" y="40389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5229454" y="40389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6143854" y="40389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7058254" y="4038905"/>
            <a:ext cx="819302" cy="76261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6" descr="preencoded.png"/>
          <p:cNvPicPr preferRelativeResize="0"/>
          <p:nvPr/>
        </p:nvPicPr>
        <p:blipFill rotWithShape="1">
          <a:blip r:embed="rId8">
            <a:alphaModFix/>
          </a:blip>
          <a:srcRect l="-7" r="-6"/>
          <a:stretch/>
        </p:blipFill>
        <p:spPr>
          <a:xfrm>
            <a:off x="8401507" y="2952598"/>
            <a:ext cx="2133295" cy="110459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 txBox="1"/>
          <p:nvPr/>
        </p:nvSpPr>
        <p:spPr>
          <a:xfrm>
            <a:off x="8591702" y="3105302"/>
            <a:ext cx="1867205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Python Syntax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591702" y="3333902"/>
            <a:ext cx="1867205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[[ 0., 0., 0., 0.],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8591702" y="3524098"/>
            <a:ext cx="1867205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[ 0., 0., 0., 0.],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8591702" y="3715207"/>
            <a:ext cx="1867205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[ 0., 0., 0., 0.]]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6" descr="preencoded.png"/>
          <p:cNvPicPr preferRelativeResize="0"/>
          <p:nvPr/>
        </p:nvPicPr>
        <p:blipFill rotWithShape="1">
          <a:blip r:embed="rId9">
            <a:alphaModFix/>
          </a:blip>
          <a:srcRect t="-25" b="-24"/>
          <a:stretch/>
        </p:blipFill>
        <p:spPr>
          <a:xfrm>
            <a:off x="2879446" y="5658307"/>
            <a:ext cx="6433718" cy="60990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2916936" y="5810098"/>
            <a:ext cx="6439205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above array has a rank of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18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since it is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2 dimensional</a:t>
            </a:r>
            <a:r>
              <a:rPr lang="en-US" sz="18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0" name="Google Shape;230;p7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7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387921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7"/>
          <p:cNvSpPr txBox="1"/>
          <p:nvPr/>
        </p:nvSpPr>
        <p:spPr>
          <a:xfrm>
            <a:off x="886053" y="2383452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np.array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775110" y="2929620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Creating NumPy array from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Python Lists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Tuples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322" y="455987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764740" y="4407169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NumPy arrays are the core data structure for scientific computing in Python.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7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2199132"/>
            <a:ext cx="6133795" cy="3831336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/>
          <p:nvPr/>
        </p:nvSpPr>
        <p:spPr>
          <a:xfrm>
            <a:off x="5458054" y="220827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5458054" y="262798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5609844" y="23609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5800954" y="23609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991149" y="23609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6258154" y="232257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5686654" y="2865730"/>
            <a:ext cx="5744261" cy="293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-US" sz="18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(a)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&lt;type 'numpy.ndarray'&gt;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np.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(b)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&lt;type 'numpy.ndarray'&gt;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8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8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np.zeros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Create an array initialized with all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Zeroes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0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 txBox="1"/>
          <p:nvPr/>
        </p:nvSpPr>
        <p:spPr>
          <a:xfrm>
            <a:off x="952805" y="4848149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To create an array with all zeroes, the function np.zeros is used.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8" descr="preencoded.png"/>
          <p:cNvPicPr preferRelativeResize="0"/>
          <p:nvPr/>
        </p:nvPicPr>
        <p:blipFill rotWithShape="1">
          <a:blip r:embed="rId8">
            <a:alphaModFix/>
          </a:blip>
          <a:srcRect t="-4" b="-4"/>
          <a:stretch/>
        </p:blipFill>
        <p:spPr>
          <a:xfrm>
            <a:off x="5447995" y="2747772"/>
            <a:ext cx="6133795" cy="273405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/>
          <p:nvPr/>
        </p:nvSpPr>
        <p:spPr>
          <a:xfrm>
            <a:off x="5458054" y="275691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458054" y="31766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5609844" y="290962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800954" y="290962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5991149" y="290962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6258154" y="287121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5686654" y="3414370"/>
            <a:ext cx="5744261" cy="183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x = np.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zeros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(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array([[ 0., 0., 0., 0.],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[ 0., 0., 0., 0.],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[ 0., 0., 0., 0.]])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" name="Google Shape;280;p9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9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9" descr="preencoded.png"/>
          <p:cNvPicPr preferRelativeResize="0"/>
          <p:nvPr/>
        </p:nvPicPr>
        <p:blipFill rotWithShape="1">
          <a:blip r:embed="rId6">
            <a:alphaModFix/>
          </a:blip>
          <a:srcRect l="-1" r="-1"/>
          <a:stretch/>
        </p:blipFill>
        <p:spPr>
          <a:xfrm>
            <a:off x="609905" y="3029407"/>
            <a:ext cx="4381805" cy="132405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 txBox="1"/>
          <p:nvPr/>
        </p:nvSpPr>
        <p:spPr>
          <a:xfrm>
            <a:off x="914400" y="3258007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np.ones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914400" y="3752698"/>
            <a:ext cx="3963010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An array with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all Ones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69544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 txBox="1"/>
          <p:nvPr/>
        </p:nvSpPr>
        <p:spPr>
          <a:xfrm>
            <a:off x="952805" y="4657954"/>
            <a:ext cx="4114800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To create an array with all ones, the function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np.ones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is used. This is common for initialization.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9" descr="preencoded.png"/>
          <p:cNvPicPr preferRelativeResize="0"/>
          <p:nvPr/>
        </p:nvPicPr>
        <p:blipFill rotWithShape="1">
          <a:blip r:embed="rId8">
            <a:alphaModFix/>
          </a:blip>
          <a:srcRect t="-6" b="-5"/>
          <a:stretch/>
        </p:blipFill>
        <p:spPr>
          <a:xfrm>
            <a:off x="5447995" y="2930652"/>
            <a:ext cx="6133795" cy="236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/>
          <p:nvPr/>
        </p:nvSpPr>
        <p:spPr>
          <a:xfrm>
            <a:off x="5458054" y="293979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5458054" y="335950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5609844" y="309250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800954" y="309250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5991149" y="309250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6258154" y="305409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5686654" y="3597250"/>
            <a:ext cx="5744261" cy="1467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ones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(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), dtype=np.int16 )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array([[ 1, 1, 1, 1],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[ 1, 1, 1, 1],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[ 1, 1, 1, 1]])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11801246" y="6400800"/>
            <a:ext cx="1627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3" name="Google Shape;303;p1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0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p10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10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0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0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np.full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Create an array with a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given shape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and a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given value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0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 txBox="1"/>
          <p:nvPr/>
        </p:nvSpPr>
        <p:spPr>
          <a:xfrm>
            <a:off x="952805" y="4848149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Useful for initializing arrays with a constant value other than 0 or 1.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10" descr="preencoded.png"/>
          <p:cNvPicPr preferRelativeResize="0"/>
          <p:nvPr/>
        </p:nvPicPr>
        <p:blipFill rotWithShape="1">
          <a:blip r:embed="rId8">
            <a:alphaModFix/>
          </a:blip>
          <a:srcRect t="-7" b="-6"/>
          <a:stretch/>
        </p:blipFill>
        <p:spPr>
          <a:xfrm>
            <a:off x="5447995" y="2747772"/>
            <a:ext cx="6133795" cy="273405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0"/>
          <p:cNvSpPr/>
          <p:nvPr/>
        </p:nvSpPr>
        <p:spPr>
          <a:xfrm>
            <a:off x="5458054" y="275691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5458054" y="31766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5609844" y="290962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800954" y="290962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5991149" y="290962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"/>
          <p:cNvSpPr txBox="1"/>
          <p:nvPr/>
        </p:nvSpPr>
        <p:spPr>
          <a:xfrm>
            <a:off x="6258154" y="287121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5686654" y="3414370"/>
            <a:ext cx="5744261" cy="183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(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0.11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array([[ 0.11, 0.11, 0.11, 0.11],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[ 0.11, 0.11, 0.11, 0.11],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[ 0.11, 0.11, 0.11, 0.11]])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8" name="Google Shape;328;p1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11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1" descr="preencoded.png"/>
          <p:cNvPicPr preferRelativeResize="0"/>
          <p:nvPr/>
        </p:nvPicPr>
        <p:blipFill rotWithShape="1">
          <a:blip r:embed="rId6">
            <a:alphaModFix/>
          </a:blip>
          <a:srcRect l="-1" r="-1"/>
          <a:stretch/>
        </p:blipFill>
        <p:spPr>
          <a:xfrm>
            <a:off x="609905" y="2900477"/>
            <a:ext cx="4381805" cy="132405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1"/>
          <p:cNvSpPr txBox="1"/>
          <p:nvPr/>
        </p:nvSpPr>
        <p:spPr>
          <a:xfrm>
            <a:off x="914400" y="3129077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np.arange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914400" y="3624682"/>
            <a:ext cx="4091940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Creating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sequence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Numbers.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1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56742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 txBox="1"/>
          <p:nvPr/>
        </p:nvSpPr>
        <p:spPr>
          <a:xfrm>
            <a:off x="952805" y="4529023"/>
            <a:ext cx="4114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Similar to Python's built-in range() function, but returns an ndarray. It can also accept float arguments as steps.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11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638044"/>
            <a:ext cx="6133795" cy="295351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5458054" y="2648102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5458054" y="3067812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5609844" y="2799893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5800954" y="2799893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5991149" y="2799893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1"/>
          <p:cNvSpPr txBox="1"/>
          <p:nvPr/>
        </p:nvSpPr>
        <p:spPr>
          <a:xfrm>
            <a:off x="6258154" y="2762402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5686654" y="3304642"/>
            <a:ext cx="57378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array([10, 15, 20, 25])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)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it accepts float arguments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array([ 0. , 0.3, 0.6, 0.9, 1.2, 1.5, 1.8])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3" name="Google Shape;353;p1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2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5" name="Google Shape;355;p12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2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12" descr="preencoded.png"/>
          <p:cNvPicPr preferRelativeResize="0"/>
          <p:nvPr/>
        </p:nvPicPr>
        <p:blipFill rotWithShape="1">
          <a:blip r:embed="rId6">
            <a:alphaModFix/>
          </a:blip>
          <a:srcRect l="-16" r="-15"/>
          <a:stretch/>
        </p:blipFill>
        <p:spPr>
          <a:xfrm>
            <a:off x="609905" y="1676095"/>
            <a:ext cx="4381805" cy="1495044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2"/>
          <p:cNvSpPr txBox="1"/>
          <p:nvPr/>
        </p:nvSpPr>
        <p:spPr>
          <a:xfrm>
            <a:off x="914400" y="1904695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np.linspace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914400" y="2324405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Creating an array with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evenly distributed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numbers.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343814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 txBox="1"/>
          <p:nvPr/>
        </p:nvSpPr>
        <p:spPr>
          <a:xfrm>
            <a:off x="914400" y="3400654"/>
            <a:ext cx="459120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Returns an array having a specific number of points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385785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 txBox="1"/>
          <p:nvPr/>
        </p:nvSpPr>
        <p:spPr>
          <a:xfrm>
            <a:off x="914400" y="3819449"/>
            <a:ext cx="344454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Evenly distributed between two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12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4276649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2"/>
          <p:cNvSpPr txBox="1"/>
          <p:nvPr/>
        </p:nvSpPr>
        <p:spPr>
          <a:xfrm>
            <a:off x="914400" y="4238244"/>
            <a:ext cx="4648810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maximum value is included, contrary to </a:t>
            </a:r>
            <a:r>
              <a:rPr lang="en-US" sz="13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arange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2" descr="preencoded.png"/>
          <p:cNvPicPr preferRelativeResize="0"/>
          <p:nvPr/>
        </p:nvPicPr>
        <p:blipFill rotWithShape="1">
          <a:blip r:embed="rId9">
            <a:alphaModFix/>
          </a:blip>
          <a:srcRect t="-11" b="-11"/>
          <a:stretch/>
        </p:blipFill>
        <p:spPr>
          <a:xfrm>
            <a:off x="5447995" y="1524305"/>
            <a:ext cx="6133795" cy="2583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2"/>
          <p:cNvSpPr/>
          <p:nvPr/>
        </p:nvSpPr>
        <p:spPr>
          <a:xfrm>
            <a:off x="5458054" y="1533449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5458054" y="1953158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5609844" y="1686154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5800954" y="1686154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5991149" y="1686154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2"/>
          <p:cNvSpPr txBox="1"/>
          <p:nvPr/>
        </p:nvSpPr>
        <p:spPr>
          <a:xfrm>
            <a:off x="6258154" y="1647749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5686654" y="2190902"/>
            <a:ext cx="57726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linspace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5/3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6687922" y="2608783"/>
            <a:ext cx="1719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500"/>
              <a:buFont typeface="Poppins"/>
              <a:buNone/>
            </a:pPr>
            <a:r>
              <a:rPr lang="en-US" sz="1500" b="0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↑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 txBox="1"/>
          <p:nvPr/>
        </p:nvSpPr>
        <p:spPr>
          <a:xfrm>
            <a:off x="6601054" y="2874874"/>
            <a:ext cx="352958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Start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 txBox="1"/>
          <p:nvPr/>
        </p:nvSpPr>
        <p:spPr>
          <a:xfrm>
            <a:off x="7733081" y="2608783"/>
            <a:ext cx="1719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500"/>
              <a:buFont typeface="Poppins"/>
              <a:buNone/>
            </a:pPr>
            <a:r>
              <a:rPr lang="en-US" sz="1500" b="0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↑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 txBox="1"/>
          <p:nvPr/>
        </p:nvSpPr>
        <p:spPr>
          <a:xfrm>
            <a:off x="7675474" y="2874874"/>
            <a:ext cx="286207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End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8816645" y="2608783"/>
            <a:ext cx="1719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500"/>
              <a:buFont typeface="Poppins"/>
              <a:buNone/>
            </a:pPr>
            <a:r>
              <a:rPr lang="en-US" sz="1500" b="0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↑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8689543" y="2874874"/>
            <a:ext cx="428854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Poppins"/>
              <a:buNone/>
            </a:pPr>
            <a:r>
              <a:rPr lang="en-US" sz="900" b="0" i="0" u="none" strike="noStrike" cap="none">
                <a:solidFill>
                  <a:srgbClr val="93C5FD"/>
                </a:solidFill>
                <a:latin typeface="Poppins"/>
                <a:ea typeface="Poppins"/>
                <a:cs typeface="Poppins"/>
                <a:sym typeface="Poppins"/>
              </a:rPr>
              <a:t>Count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5686654" y="3332074"/>
            <a:ext cx="5737860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array([0. , 0.33333333 , 0.66666667 , 1. , 1.33333333 1.66666667])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1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1" name="Google Shape;391;p13" descr="preencoded.png"/>
          <p:cNvPicPr preferRelativeResize="0"/>
          <p:nvPr/>
        </p:nvPicPr>
        <p:blipFill rotWithShape="1">
          <a:blip r:embed="rId4">
            <a:alphaModFix amt="50000"/>
          </a:blip>
          <a:srcRect l="-22" r="-22"/>
          <a:stretch/>
        </p:blipFill>
        <p:spPr>
          <a:xfrm>
            <a:off x="381305" y="5257800"/>
            <a:ext cx="15243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1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3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36469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3"/>
          <p:cNvSpPr txBox="1"/>
          <p:nvPr/>
        </p:nvSpPr>
        <p:spPr>
          <a:xfrm>
            <a:off x="914400" y="3065069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np.random.rand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 txBox="1"/>
          <p:nvPr/>
        </p:nvSpPr>
        <p:spPr>
          <a:xfrm>
            <a:off x="914400" y="3559759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Creating an array with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random numbers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87466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3"/>
          <p:cNvSpPr txBox="1"/>
          <p:nvPr/>
        </p:nvSpPr>
        <p:spPr>
          <a:xfrm>
            <a:off x="952805" y="4836262"/>
            <a:ext cx="411480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Generates random floats between 0 and 1. Useful for initializing weights in neural networks or simulations.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p13" descr="preencoded.png"/>
          <p:cNvPicPr preferRelativeResize="0"/>
          <p:nvPr/>
        </p:nvPicPr>
        <p:blipFill rotWithShape="1">
          <a:blip r:embed="rId8">
            <a:alphaModFix/>
          </a:blip>
          <a:srcRect t="-4" b="-4"/>
          <a:stretch/>
        </p:blipFill>
        <p:spPr>
          <a:xfrm>
            <a:off x="5447995" y="2747772"/>
            <a:ext cx="6133795" cy="2734056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3"/>
          <p:cNvSpPr/>
          <p:nvPr/>
        </p:nvSpPr>
        <p:spPr>
          <a:xfrm>
            <a:off x="5458054" y="275691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3"/>
          <p:cNvSpPr/>
          <p:nvPr/>
        </p:nvSpPr>
        <p:spPr>
          <a:xfrm>
            <a:off x="5458054" y="31766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5609844" y="290962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5800954" y="290962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5991149" y="290962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3"/>
          <p:cNvSpPr txBox="1"/>
          <p:nvPr/>
        </p:nvSpPr>
        <p:spPr>
          <a:xfrm>
            <a:off x="6258154" y="287121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 txBox="1"/>
          <p:nvPr/>
        </p:nvSpPr>
        <p:spPr>
          <a:xfrm>
            <a:off x="5686654" y="3414370"/>
            <a:ext cx="5744261" cy="183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Make a 2x3 matrix with random floats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np.random.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rand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array([[ 0.55365951, 0.60150511, 0.36113117],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[ 0.5388662 , 0.06929014, 0.07908068]])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4" name="Google Shape;414;p1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1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6" name="Google Shape;416;p14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Creating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1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14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4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np.empty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Creating an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uninitialised array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with a given shape.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0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4"/>
          <p:cNvSpPr txBox="1"/>
          <p:nvPr/>
        </p:nvSpPr>
        <p:spPr>
          <a:xfrm>
            <a:off x="952805" y="4848149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Its content is not predictable; it contains whatever values happen to be in memory.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4" name="Google Shape;424;p14" descr="preencoded.png"/>
          <p:cNvPicPr preferRelativeResize="0"/>
          <p:nvPr/>
        </p:nvPicPr>
        <p:blipFill rotWithShape="1">
          <a:blip r:embed="rId8">
            <a:alphaModFix/>
          </a:blip>
          <a:srcRect t="-1" b="-1"/>
          <a:stretch/>
        </p:blipFill>
        <p:spPr>
          <a:xfrm>
            <a:off x="5447995" y="2979115"/>
            <a:ext cx="6133795" cy="227045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4"/>
          <p:cNvSpPr/>
          <p:nvPr/>
        </p:nvSpPr>
        <p:spPr>
          <a:xfrm>
            <a:off x="5458054" y="298917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5458054" y="3408883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5609844" y="3141878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5800954" y="3141878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5991149" y="3141878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4"/>
          <p:cNvSpPr txBox="1"/>
          <p:nvPr/>
        </p:nvSpPr>
        <p:spPr>
          <a:xfrm>
            <a:off x="6258154" y="310347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 txBox="1"/>
          <p:nvPr/>
        </p:nvSpPr>
        <p:spPr>
          <a:xfrm>
            <a:off x="5686654" y="3646627"/>
            <a:ext cx="57378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empty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array([[ 0.21288689, 0.20662218, 0.78018623],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[ 0.35294004, 0.07347101, 0.54552084]])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9" name="Google Shape;439;p1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1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1" name="Google Shape;441;p15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5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Important attributes of a NumPy object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3" name="Google Shape;443;p1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5" descr="preencoded.png"/>
          <p:cNvPicPr preferRelativeResize="0"/>
          <p:nvPr/>
        </p:nvPicPr>
        <p:blipFill rotWithShape="1">
          <a:blip r:embed="rId6">
            <a:alphaModFix/>
          </a:blip>
          <a:srcRect l="-6" r="-5"/>
          <a:stretch/>
        </p:blipFill>
        <p:spPr>
          <a:xfrm>
            <a:off x="609905" y="2562149"/>
            <a:ext cx="4381805" cy="153344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5"/>
          <p:cNvSpPr txBox="1"/>
          <p:nvPr/>
        </p:nvSpPr>
        <p:spPr>
          <a:xfrm>
            <a:off x="914400" y="2790749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ndarray.ndim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 txBox="1"/>
          <p:nvPr/>
        </p:nvSpPr>
        <p:spPr>
          <a:xfrm>
            <a:off x="914400" y="3247949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This attribute returns the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number of axes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(dimensions) of the array.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36260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5"/>
          <p:cNvSpPr txBox="1"/>
          <p:nvPr/>
        </p:nvSpPr>
        <p:spPr>
          <a:xfrm>
            <a:off x="952805" y="4324198"/>
            <a:ext cx="411480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NumPy's array class is technically called </a:t>
            </a:r>
            <a:r>
              <a:rPr lang="en-US" sz="1300" b="0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ndarray</a:t>
            </a: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507217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5"/>
          <p:cNvSpPr txBox="1"/>
          <p:nvPr/>
        </p:nvSpPr>
        <p:spPr>
          <a:xfrm>
            <a:off x="952805" y="5033772"/>
            <a:ext cx="411480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number of dimensions is also referred to as the </a:t>
            </a:r>
            <a:r>
              <a:rPr lang="en-US" sz="13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rank</a:t>
            </a: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array.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15" descr="preencoded.png"/>
          <p:cNvPicPr preferRelativeResize="0"/>
          <p:nvPr/>
        </p:nvPicPr>
        <p:blipFill rotWithShape="1">
          <a:blip r:embed="rId9">
            <a:alphaModFix/>
          </a:blip>
          <a:srcRect t="-2" b="-2"/>
          <a:stretch/>
        </p:blipFill>
        <p:spPr>
          <a:xfrm>
            <a:off x="5447995" y="2076602"/>
            <a:ext cx="613379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5"/>
          <p:cNvSpPr/>
          <p:nvPr/>
        </p:nvSpPr>
        <p:spPr>
          <a:xfrm>
            <a:off x="5458054" y="208574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5458054" y="250545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5609844" y="223845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5800954" y="223845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5991149" y="223845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5"/>
          <p:cNvSpPr txBox="1"/>
          <p:nvPr/>
        </p:nvSpPr>
        <p:spPr>
          <a:xfrm>
            <a:off x="6258154" y="220004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 txBox="1"/>
          <p:nvPr/>
        </p:nvSpPr>
        <p:spPr>
          <a:xfrm>
            <a:off x="5686654" y="2743200"/>
            <a:ext cx="5737860" cy="288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Creating a 2-dimensional array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Check the number of dimensions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a.ndim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1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Google Shape;468;p1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Important attributes of a NumPy object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0" name="Google Shape;470;p1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6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795321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6"/>
          <p:cNvSpPr txBox="1"/>
          <p:nvPr/>
        </p:nvSpPr>
        <p:spPr>
          <a:xfrm>
            <a:off x="914400" y="3023921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ndarray.shape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 txBox="1"/>
          <p:nvPr/>
        </p:nvSpPr>
        <p:spPr>
          <a:xfrm>
            <a:off x="914400" y="3519526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dimensions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array. This is a tuple of integers indicating the size of the array in each dimension.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 txBox="1"/>
          <p:nvPr/>
        </p:nvSpPr>
        <p:spPr>
          <a:xfrm>
            <a:off x="952805" y="5167274"/>
            <a:ext cx="384962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Essential for understanding data structure.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6" name="Google Shape;476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47995" y="2467051"/>
            <a:ext cx="6133795" cy="329458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6"/>
          <p:cNvSpPr/>
          <p:nvPr/>
        </p:nvSpPr>
        <p:spPr>
          <a:xfrm>
            <a:off x="5458054" y="247711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5458054" y="2896819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5609844" y="2628900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5800954" y="2628900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5991149" y="2628900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6"/>
          <p:cNvSpPr txBox="1"/>
          <p:nvPr/>
        </p:nvSpPr>
        <p:spPr>
          <a:xfrm>
            <a:off x="6258154" y="259141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 txBox="1"/>
          <p:nvPr/>
        </p:nvSpPr>
        <p:spPr>
          <a:xfrm>
            <a:off x="5686654" y="3134563"/>
            <a:ext cx="5737860" cy="239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([[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Check the shape of array 'a'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a.</a:t>
            </a:r>
            <a:r>
              <a:rPr lang="en-US" sz="16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(2, 3)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1" name="Google Shape;491;p1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3" name="Google Shape;493;p17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7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Important attributes of a NumPy object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5" name="Google Shape;495;p1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17" descr="preencoded.png"/>
          <p:cNvPicPr preferRelativeResize="0"/>
          <p:nvPr/>
        </p:nvPicPr>
        <p:blipFill rotWithShape="1">
          <a:blip r:embed="rId6">
            <a:alphaModFix/>
          </a:blip>
          <a:srcRect l="-3" r="-3"/>
          <a:stretch/>
        </p:blipFill>
        <p:spPr>
          <a:xfrm>
            <a:off x="609905" y="2640787"/>
            <a:ext cx="4381805" cy="203362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17"/>
          <p:cNvSpPr txBox="1"/>
          <p:nvPr/>
        </p:nvSpPr>
        <p:spPr>
          <a:xfrm>
            <a:off x="914400" y="2869387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Courier New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ndarray.size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 txBox="1"/>
          <p:nvPr/>
        </p:nvSpPr>
        <p:spPr>
          <a:xfrm>
            <a:off x="914400" y="3364992"/>
            <a:ext cx="4534510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total number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elements of the array.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 txBox="1"/>
          <p:nvPr/>
        </p:nvSpPr>
        <p:spPr>
          <a:xfrm>
            <a:off x="914400" y="3826764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This is equal to the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product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elements of shape.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17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131613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7"/>
          <p:cNvSpPr txBox="1"/>
          <p:nvPr/>
        </p:nvSpPr>
        <p:spPr>
          <a:xfrm>
            <a:off x="895198" y="4978908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Counts every individual element regardless of dimensions.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2" name="Google Shape;502;p17" descr="preencoded.png"/>
          <p:cNvPicPr preferRelativeResize="0"/>
          <p:nvPr/>
        </p:nvPicPr>
        <p:blipFill rotWithShape="1">
          <a:blip r:embed="rId8">
            <a:alphaModFix/>
          </a:blip>
          <a:srcRect l="-1" r="-1"/>
          <a:stretch/>
        </p:blipFill>
        <p:spPr>
          <a:xfrm>
            <a:off x="5447995" y="1917497"/>
            <a:ext cx="6133795" cy="431871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7"/>
          <p:cNvSpPr/>
          <p:nvPr/>
        </p:nvSpPr>
        <p:spPr>
          <a:xfrm>
            <a:off x="5458054" y="1926641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5458054" y="2346350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5609844" y="207934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5800954" y="207934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5991149" y="207934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7"/>
          <p:cNvSpPr txBox="1"/>
          <p:nvPr/>
        </p:nvSpPr>
        <p:spPr>
          <a:xfrm>
            <a:off x="6258154" y="2040941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5686654" y="2584094"/>
            <a:ext cx="5737860" cy="3419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2x3 array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([[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a.shape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(2, 3)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a.size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7" name="Google Shape;517;p1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8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9" name="Google Shape;519;p18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8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Important attributes of a NumPy object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1" name="Google Shape;521;p1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18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8"/>
          <p:cNvSpPr txBox="1"/>
          <p:nvPr/>
        </p:nvSpPr>
        <p:spPr>
          <a:xfrm>
            <a:off x="914400" y="28904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ndarray.dtype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Tells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datatype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elements in the numpy array. All the elements in a numpy array have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same type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8"/>
          <p:cNvSpPr txBox="1"/>
          <p:nvPr/>
        </p:nvSpPr>
        <p:spPr>
          <a:xfrm>
            <a:off x="952805" y="503377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Uniform data types allow for optimized memory usage and performance.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7" name="Google Shape;527;p18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447995" y="3113532"/>
            <a:ext cx="6133795" cy="2002536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8"/>
          <p:cNvSpPr/>
          <p:nvPr/>
        </p:nvSpPr>
        <p:spPr>
          <a:xfrm>
            <a:off x="5458054" y="312359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5458054" y="3543300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8"/>
          <p:cNvSpPr/>
          <p:nvPr/>
        </p:nvSpPr>
        <p:spPr>
          <a:xfrm>
            <a:off x="5609844" y="32753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5800954" y="32753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8"/>
          <p:cNvSpPr/>
          <p:nvPr/>
        </p:nvSpPr>
        <p:spPr>
          <a:xfrm>
            <a:off x="5991149" y="32753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8"/>
          <p:cNvSpPr txBox="1"/>
          <p:nvPr/>
        </p:nvSpPr>
        <p:spPr>
          <a:xfrm>
            <a:off x="6258154" y="323789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8"/>
          <p:cNvSpPr txBox="1"/>
          <p:nvPr/>
        </p:nvSpPr>
        <p:spPr>
          <a:xfrm>
            <a:off x="5686654" y="3780130"/>
            <a:ext cx="5744261" cy="1105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np.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c.dtype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dtype('int64')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2" name="Google Shape;542;p1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9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4" name="Google Shape;544;p19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9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Important attributes of a NumPy object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6" name="Google Shape;546;p19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9" descr="preencoded.png"/>
          <p:cNvPicPr preferRelativeResize="0"/>
          <p:nvPr/>
        </p:nvPicPr>
        <p:blipFill rotWithShape="1">
          <a:blip r:embed="rId6">
            <a:alphaModFix/>
          </a:blip>
          <a:srcRect t="-8" b="-8"/>
          <a:stretch/>
        </p:blipFill>
        <p:spPr>
          <a:xfrm>
            <a:off x="609905" y="2842870"/>
            <a:ext cx="4381805" cy="1705356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9"/>
          <p:cNvSpPr txBox="1"/>
          <p:nvPr/>
        </p:nvSpPr>
        <p:spPr>
          <a:xfrm>
            <a:off x="914400" y="3071470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ndarray.itemsize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 txBox="1"/>
          <p:nvPr/>
        </p:nvSpPr>
        <p:spPr>
          <a:xfrm>
            <a:off x="914400" y="3567074"/>
            <a:ext cx="3934663" cy="7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itemsize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attribute returns the size (in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bytes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) of each item.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0" name="Google Shape;550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542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9"/>
          <p:cNvSpPr txBox="1"/>
          <p:nvPr/>
        </p:nvSpPr>
        <p:spPr>
          <a:xfrm>
            <a:off x="952805" y="4852721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For a 64-bit integer, this value is 8 bytes (64 bits / 8 bits per byte).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2" name="Google Shape;552;p19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447995" y="3113532"/>
            <a:ext cx="6133795" cy="2002536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9"/>
          <p:cNvSpPr/>
          <p:nvPr/>
        </p:nvSpPr>
        <p:spPr>
          <a:xfrm>
            <a:off x="5458054" y="312359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9"/>
          <p:cNvSpPr/>
          <p:nvPr/>
        </p:nvSpPr>
        <p:spPr>
          <a:xfrm>
            <a:off x="5458054" y="3543300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9"/>
          <p:cNvSpPr/>
          <p:nvPr/>
        </p:nvSpPr>
        <p:spPr>
          <a:xfrm>
            <a:off x="5609844" y="32753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9"/>
          <p:cNvSpPr/>
          <p:nvPr/>
        </p:nvSpPr>
        <p:spPr>
          <a:xfrm>
            <a:off x="5800954" y="32753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9"/>
          <p:cNvSpPr/>
          <p:nvPr/>
        </p:nvSpPr>
        <p:spPr>
          <a:xfrm>
            <a:off x="5991149" y="32753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9"/>
          <p:cNvSpPr txBox="1"/>
          <p:nvPr/>
        </p:nvSpPr>
        <p:spPr>
          <a:xfrm>
            <a:off x="6258154" y="323789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9"/>
          <p:cNvSpPr txBox="1"/>
          <p:nvPr/>
        </p:nvSpPr>
        <p:spPr>
          <a:xfrm>
            <a:off x="5686654" y="3780130"/>
            <a:ext cx="5744261" cy="1105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np.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c.itemsize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9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7" name="Google Shape;567;p2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20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9" name="Google Shape;569;p20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Reshaping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1" name="Google Shape;571;p20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0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529230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0"/>
          <p:cNvSpPr txBox="1"/>
          <p:nvPr/>
        </p:nvSpPr>
        <p:spPr>
          <a:xfrm>
            <a:off x="914400" y="2757830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reshape() function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 txBox="1"/>
          <p:nvPr/>
        </p:nvSpPr>
        <p:spPr>
          <a:xfrm>
            <a:off x="914400" y="3252521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This function is used to change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shape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(dimensions) of a NumPy array without changing its data.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5" name="Google Shape;575;p20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4938674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0"/>
          <p:cNvSpPr txBox="1"/>
          <p:nvPr/>
        </p:nvSpPr>
        <p:spPr>
          <a:xfrm>
            <a:off x="895198" y="4900270"/>
            <a:ext cx="417240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total number of elements must remain the same when reshaping (e.g., 6 elements can become 2x3 or 3x2).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7" name="Google Shape;577;p20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20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0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0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20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0"/>
          <p:cNvSpPr txBox="1"/>
          <p:nvPr/>
        </p:nvSpPr>
        <p:spPr>
          <a:xfrm>
            <a:off x="5686654" y="3048610"/>
            <a:ext cx="5737860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(a)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[0 1 2 3 4 5]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a.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(b)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[[0 1 2],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[3 4 5]]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3" name="Google Shape;593;p21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21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0211105" y="761695"/>
            <a:ext cx="1218895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10287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21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8851" y="1657807"/>
            <a:ext cx="1314907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2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53405" y="1971446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1"/>
          <p:cNvSpPr txBox="1"/>
          <p:nvPr/>
        </p:nvSpPr>
        <p:spPr>
          <a:xfrm>
            <a:off x="2619756" y="3200400"/>
            <a:ext cx="6954012" cy="142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Indexing and Accessing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NumPy arrays 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0" name="Google Shape;600;p21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781398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7" name="Google Shape;607;p2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2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Indexing one dimensional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p2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22" descr="preencoded.png"/>
          <p:cNvPicPr preferRelativeResize="0"/>
          <p:nvPr/>
        </p:nvPicPr>
        <p:blipFill rotWithShape="1">
          <a:blip r:embed="rId7">
            <a:alphaModFix/>
          </a:blip>
          <a:srcRect l="-34" r="-33"/>
          <a:stretch/>
        </p:blipFill>
        <p:spPr>
          <a:xfrm>
            <a:off x="3758184" y="1524305"/>
            <a:ext cx="4675327" cy="4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2"/>
          <p:cNvSpPr txBox="1"/>
          <p:nvPr/>
        </p:nvSpPr>
        <p:spPr>
          <a:xfrm>
            <a:off x="3986784" y="1600200"/>
            <a:ext cx="433425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a = np.array([1, 5, 3, 19, 13, 7, 3])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 txBox="1"/>
          <p:nvPr/>
        </p:nvSpPr>
        <p:spPr>
          <a:xfrm>
            <a:off x="3535985" y="2171700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2"/>
          <p:cNvSpPr txBox="1"/>
          <p:nvPr/>
        </p:nvSpPr>
        <p:spPr>
          <a:xfrm>
            <a:off x="3172054" y="2476195"/>
            <a:ext cx="819302" cy="76261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 txBox="1"/>
          <p:nvPr/>
        </p:nvSpPr>
        <p:spPr>
          <a:xfrm>
            <a:off x="4373575" y="2171700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 txBox="1"/>
          <p:nvPr/>
        </p:nvSpPr>
        <p:spPr>
          <a:xfrm>
            <a:off x="4009644" y="2476195"/>
            <a:ext cx="819302" cy="76261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 txBox="1"/>
          <p:nvPr/>
        </p:nvSpPr>
        <p:spPr>
          <a:xfrm>
            <a:off x="5212080" y="2171700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2"/>
          <p:cNvSpPr txBox="1"/>
          <p:nvPr/>
        </p:nvSpPr>
        <p:spPr>
          <a:xfrm>
            <a:off x="4848149" y="2476195"/>
            <a:ext cx="819302" cy="76261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 txBox="1"/>
          <p:nvPr/>
        </p:nvSpPr>
        <p:spPr>
          <a:xfrm>
            <a:off x="6050585" y="2171700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 txBox="1"/>
          <p:nvPr/>
        </p:nvSpPr>
        <p:spPr>
          <a:xfrm>
            <a:off x="5686654" y="2438705"/>
            <a:ext cx="819302" cy="762610"/>
          </a:xfrm>
          <a:prstGeom prst="rect">
            <a:avLst/>
          </a:prstGeom>
          <a:solidFill>
            <a:srgbClr val="DBEAFE"/>
          </a:solidFill>
          <a:ln w="254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6888175" y="2171700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6524244" y="2476195"/>
            <a:ext cx="819302" cy="76261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 txBox="1"/>
          <p:nvPr/>
        </p:nvSpPr>
        <p:spPr>
          <a:xfrm>
            <a:off x="7726680" y="2171700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 txBox="1"/>
          <p:nvPr/>
        </p:nvSpPr>
        <p:spPr>
          <a:xfrm>
            <a:off x="7362749" y="2476195"/>
            <a:ext cx="819302" cy="76261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8565185" y="2171700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8201254" y="2476195"/>
            <a:ext cx="819302" cy="76261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Courier New"/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857707" y="3696005"/>
            <a:ext cx="5124298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>
            <a:noFill/>
          </a:ln>
          <a:effectLst>
            <a:outerShdw blurRad="63500" dist="38100" dir="162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22"/>
          <p:cNvSpPr/>
          <p:nvPr/>
        </p:nvSpPr>
        <p:spPr>
          <a:xfrm>
            <a:off x="857707" y="3696005"/>
            <a:ext cx="47549" cy="1257300"/>
          </a:xfrm>
          <a:prstGeom prst="roundRect">
            <a:avLst>
              <a:gd name="adj" fmla="val 116550"/>
            </a:avLst>
          </a:prstGeom>
          <a:solidFill>
            <a:srgbClr val="3B82F6"/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22"/>
          <p:cNvSpPr txBox="1"/>
          <p:nvPr/>
        </p:nvSpPr>
        <p:spPr>
          <a:xfrm>
            <a:off x="1095451" y="3886200"/>
            <a:ext cx="4810658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a[3]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1095451" y="4236415"/>
            <a:ext cx="481065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1095451" y="4564685"/>
            <a:ext cx="481065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Access single element at index 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6210605" y="3696005"/>
            <a:ext cx="5124298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>
            <a:noFill/>
          </a:ln>
          <a:effectLst>
            <a:outerShdw blurRad="63500" dist="38100" dir="162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2"/>
          <p:cNvSpPr/>
          <p:nvPr/>
        </p:nvSpPr>
        <p:spPr>
          <a:xfrm>
            <a:off x="6210605" y="3696005"/>
            <a:ext cx="47549" cy="1257300"/>
          </a:xfrm>
          <a:prstGeom prst="roundRect">
            <a:avLst>
              <a:gd name="adj" fmla="val 116550"/>
            </a:avLst>
          </a:prstGeom>
          <a:solidFill>
            <a:srgbClr val="3B82F6"/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2"/>
          <p:cNvSpPr txBox="1"/>
          <p:nvPr/>
        </p:nvSpPr>
        <p:spPr>
          <a:xfrm>
            <a:off x="6448349" y="3886200"/>
            <a:ext cx="4810658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a[2:5] </a:t>
            </a:r>
            <a:r>
              <a:rPr lang="en-US" sz="12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range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6448349" y="4236415"/>
            <a:ext cx="481065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array([ 3, 19, 13])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 txBox="1"/>
          <p:nvPr/>
        </p:nvSpPr>
        <p:spPr>
          <a:xfrm>
            <a:off x="6448349" y="4564685"/>
            <a:ext cx="481065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Slice from index 2 up to (excl) 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857707" y="5173675"/>
            <a:ext cx="5124298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>
            <a:noFill/>
          </a:ln>
          <a:effectLst>
            <a:outerShdw blurRad="63500" dist="38100" dir="162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857707" y="5173675"/>
            <a:ext cx="47549" cy="1257300"/>
          </a:xfrm>
          <a:prstGeom prst="roundRect">
            <a:avLst>
              <a:gd name="adj" fmla="val 116550"/>
            </a:avLst>
          </a:prstGeom>
          <a:solidFill>
            <a:srgbClr val="3B82F6"/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22"/>
          <p:cNvSpPr txBox="1"/>
          <p:nvPr/>
        </p:nvSpPr>
        <p:spPr>
          <a:xfrm>
            <a:off x="1095451" y="5364785"/>
            <a:ext cx="4810658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a[2::2] </a:t>
            </a:r>
            <a:r>
              <a:rPr lang="en-US" sz="12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step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2"/>
          <p:cNvSpPr txBox="1"/>
          <p:nvPr/>
        </p:nvSpPr>
        <p:spPr>
          <a:xfrm>
            <a:off x="1095451" y="5715000"/>
            <a:ext cx="481065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array([ 3, 13, 3])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 txBox="1"/>
          <p:nvPr/>
        </p:nvSpPr>
        <p:spPr>
          <a:xfrm>
            <a:off x="1095451" y="6042355"/>
            <a:ext cx="481065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Start at 2, jump by 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6210605" y="5173675"/>
            <a:ext cx="5124298" cy="1257300"/>
          </a:xfrm>
          <a:prstGeom prst="roundRect">
            <a:avLst>
              <a:gd name="adj" fmla="val 4408"/>
            </a:avLst>
          </a:prstGeom>
          <a:solidFill>
            <a:srgbClr val="F8FAFC"/>
          </a:solidFill>
          <a:ln>
            <a:noFill/>
          </a:ln>
          <a:effectLst>
            <a:outerShdw blurRad="63500" dist="38100" dir="16200000" algn="b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22"/>
          <p:cNvSpPr/>
          <p:nvPr/>
        </p:nvSpPr>
        <p:spPr>
          <a:xfrm>
            <a:off x="6210605" y="5173675"/>
            <a:ext cx="47549" cy="1257300"/>
          </a:xfrm>
          <a:prstGeom prst="roundRect">
            <a:avLst>
              <a:gd name="adj" fmla="val 116550"/>
            </a:avLst>
          </a:prstGeom>
          <a:solidFill>
            <a:srgbClr val="3B82F6"/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2"/>
          <p:cNvSpPr txBox="1"/>
          <p:nvPr/>
        </p:nvSpPr>
        <p:spPr>
          <a:xfrm>
            <a:off x="6448349" y="5364785"/>
            <a:ext cx="4810658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a[::-1] </a:t>
            </a:r>
            <a:r>
              <a:rPr lang="en-US" sz="12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reverse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 txBox="1"/>
          <p:nvPr/>
        </p:nvSpPr>
        <p:spPr>
          <a:xfrm>
            <a:off x="6448349" y="5715000"/>
            <a:ext cx="481065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array([ 3, 7, 13, 19, 3, 5, 1])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2"/>
          <p:cNvSpPr txBox="1"/>
          <p:nvPr/>
        </p:nvSpPr>
        <p:spPr>
          <a:xfrm>
            <a:off x="6448349" y="6042355"/>
            <a:ext cx="481065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Reverse the entire array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5" name="Google Shape;655;p2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2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7" name="Google Shape;657;p23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23"/>
          <p:cNvSpPr txBox="1"/>
          <p:nvPr/>
        </p:nvSpPr>
        <p:spPr>
          <a:xfrm>
            <a:off x="609905" y="457200"/>
            <a:ext cx="11163910" cy="42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Difference with regular Python arrays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9" name="Google Shape;659;p2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37844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3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609905" y="1890979"/>
            <a:ext cx="4381805" cy="2600554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3"/>
          <p:cNvSpPr txBox="1"/>
          <p:nvPr/>
        </p:nvSpPr>
        <p:spPr>
          <a:xfrm>
            <a:off x="990295" y="2195474"/>
            <a:ext cx="38103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Slice Broadcasting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3"/>
          <p:cNvSpPr txBox="1"/>
          <p:nvPr/>
        </p:nvSpPr>
        <p:spPr>
          <a:xfrm>
            <a:off x="990295" y="2691079"/>
            <a:ext cx="3781958" cy="149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If you assign a single value to an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ndarray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slice, it is automatically copied (broadcasted) across the whole slice.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3"/>
          <p:cNvSpPr/>
          <p:nvPr/>
        </p:nvSpPr>
        <p:spPr>
          <a:xfrm>
            <a:off x="609905" y="4796028"/>
            <a:ext cx="4381805" cy="1438351"/>
          </a:xfrm>
          <a:prstGeom prst="roundRect">
            <a:avLst>
              <a:gd name="adj" fmla="val 3368"/>
            </a:avLst>
          </a:prstGeom>
          <a:solidFill>
            <a:srgbClr val="F9FAFB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4" name="Google Shape;664;p2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754" y="499628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3"/>
          <p:cNvSpPr txBox="1"/>
          <p:nvPr/>
        </p:nvSpPr>
        <p:spPr>
          <a:xfrm>
            <a:off x="1152144" y="4957877"/>
            <a:ext cx="379110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Contrast with Python Lists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 txBox="1"/>
          <p:nvPr/>
        </p:nvSpPr>
        <p:spPr>
          <a:xfrm>
            <a:off x="1152144" y="5262372"/>
            <a:ext cx="3753612" cy="8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Regular Python lists do not support this behavior and will raise a </a:t>
            </a:r>
            <a:r>
              <a:rPr lang="en-US" sz="1300" b="0" i="0" u="none" strike="noStrike" cap="non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TypeError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if you try to assign a scalar to a slice.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7" name="Google Shape;667;p23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1419149"/>
            <a:ext cx="6133795" cy="498165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23"/>
          <p:cNvSpPr/>
          <p:nvPr/>
        </p:nvSpPr>
        <p:spPr>
          <a:xfrm>
            <a:off x="5458054" y="1429207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23"/>
          <p:cNvSpPr/>
          <p:nvPr/>
        </p:nvSpPr>
        <p:spPr>
          <a:xfrm>
            <a:off x="5458054" y="1848917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5609844" y="1580998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3"/>
          <p:cNvSpPr/>
          <p:nvPr/>
        </p:nvSpPr>
        <p:spPr>
          <a:xfrm>
            <a:off x="5800954" y="1580998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3"/>
          <p:cNvSpPr/>
          <p:nvPr/>
        </p:nvSpPr>
        <p:spPr>
          <a:xfrm>
            <a:off x="5991149" y="1580998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3"/>
          <p:cNvSpPr txBox="1"/>
          <p:nvPr/>
        </p:nvSpPr>
        <p:spPr>
          <a:xfrm>
            <a:off x="6258154" y="1543507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 txBox="1"/>
          <p:nvPr/>
        </p:nvSpPr>
        <p:spPr>
          <a:xfrm>
            <a:off x="5648249" y="2048256"/>
            <a:ext cx="5848502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1. NumPy Array Behavior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 txBox="1"/>
          <p:nvPr/>
        </p:nvSpPr>
        <p:spPr>
          <a:xfrm>
            <a:off x="5648249" y="2356409"/>
            <a:ext cx="5811926" cy="1276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= -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array([ 1, -1, -1, 7, 8])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5648249" y="3781958"/>
            <a:ext cx="5734202" cy="9144"/>
          </a:xfrm>
          <a:prstGeom prst="rect">
            <a:avLst/>
          </a:prstGeom>
          <a:solidFill>
            <a:srgbClr val="475569"/>
          </a:solidFill>
          <a:ln w="12700" cap="flat" cmpd="sng">
            <a:solidFill>
              <a:srgbClr val="475569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3"/>
          <p:cNvSpPr/>
          <p:nvPr/>
        </p:nvSpPr>
        <p:spPr>
          <a:xfrm>
            <a:off x="8515807" y="3667658"/>
            <a:ext cx="1176833" cy="182880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3"/>
          <p:cNvSpPr txBox="1"/>
          <p:nvPr/>
        </p:nvSpPr>
        <p:spPr>
          <a:xfrm>
            <a:off x="5648249" y="3943807"/>
            <a:ext cx="5848502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2. Regular Python List Behavior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 txBox="1"/>
          <p:nvPr/>
        </p:nvSpPr>
        <p:spPr>
          <a:xfrm>
            <a:off x="5648249" y="4251960"/>
            <a:ext cx="5811926" cy="97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= -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TypeError: can only assign an iterable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7" name="Google Shape;687;p2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2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9" name="Google Shape;689;p24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4"/>
          <p:cNvSpPr txBox="1"/>
          <p:nvPr/>
        </p:nvSpPr>
        <p:spPr>
          <a:xfrm>
            <a:off x="609905" y="457200"/>
            <a:ext cx="11163910" cy="42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Difference with regular Python arrays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1" name="Google Shape;691;p2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37844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Google Shape;692;p2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905" y="2529230"/>
            <a:ext cx="4381805" cy="2305202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24"/>
          <p:cNvSpPr txBox="1"/>
          <p:nvPr/>
        </p:nvSpPr>
        <p:spPr>
          <a:xfrm>
            <a:off x="914400" y="2757830"/>
            <a:ext cx="39630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Slices are Views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4"/>
          <p:cNvSpPr txBox="1"/>
          <p:nvPr/>
        </p:nvSpPr>
        <p:spPr>
          <a:xfrm>
            <a:off x="914400" y="3215030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ndarray slices are actually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views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on the same data buffer.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4"/>
          <p:cNvSpPr txBox="1"/>
          <p:nvPr/>
        </p:nvSpPr>
        <p:spPr>
          <a:xfrm>
            <a:off x="914400" y="3985870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If you modify the slice, it is going to </a:t>
            </a:r>
            <a:r>
              <a:rPr lang="en-US" sz="15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modify the original ndarray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as well.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6" name="Google Shape;696;p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29071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24"/>
          <p:cNvSpPr txBox="1"/>
          <p:nvPr/>
        </p:nvSpPr>
        <p:spPr>
          <a:xfrm>
            <a:off x="952805" y="5138928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behavior differs from standard Python lists where slicing creates a copy.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24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623414"/>
            <a:ext cx="6133795" cy="2953512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24"/>
          <p:cNvSpPr/>
          <p:nvPr/>
        </p:nvSpPr>
        <p:spPr>
          <a:xfrm>
            <a:off x="5458054" y="2633472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4"/>
          <p:cNvSpPr/>
          <p:nvPr/>
        </p:nvSpPr>
        <p:spPr>
          <a:xfrm>
            <a:off x="5458054" y="3053182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4"/>
          <p:cNvSpPr/>
          <p:nvPr/>
        </p:nvSpPr>
        <p:spPr>
          <a:xfrm>
            <a:off x="5609844" y="2786177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4"/>
          <p:cNvSpPr/>
          <p:nvPr/>
        </p:nvSpPr>
        <p:spPr>
          <a:xfrm>
            <a:off x="5800954" y="2786177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4"/>
          <p:cNvSpPr/>
          <p:nvPr/>
        </p:nvSpPr>
        <p:spPr>
          <a:xfrm>
            <a:off x="5991149" y="2786177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4"/>
          <p:cNvSpPr txBox="1"/>
          <p:nvPr/>
        </p:nvSpPr>
        <p:spPr>
          <a:xfrm>
            <a:off x="6258154" y="2747772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4"/>
          <p:cNvSpPr txBox="1"/>
          <p:nvPr/>
        </p:nvSpPr>
        <p:spPr>
          <a:xfrm>
            <a:off x="5686654" y="3290926"/>
            <a:ext cx="57378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a_slice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a[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a_slice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array([ 1, 2, 1000, 7, 8])</a:t>
            </a: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Original array was modified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3" name="Google Shape;713;p2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2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5" name="Google Shape;715;p25" descr="preencoded.png"/>
          <p:cNvPicPr preferRelativeResize="0"/>
          <p:nvPr/>
        </p:nvPicPr>
        <p:blipFill rotWithShape="1">
          <a:blip r:embed="rId4">
            <a:alphaModFix amt="50000"/>
          </a:blip>
          <a:srcRect l="-7142" r="-7142"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25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Important attributes of a NumPy object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" name="Google Shape;717;p2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25" descr="preencoded.png"/>
          <p:cNvPicPr preferRelativeResize="0"/>
          <p:nvPr/>
        </p:nvPicPr>
        <p:blipFill rotWithShape="1">
          <a:blip r:embed="rId6">
            <a:alphaModFix/>
          </a:blip>
          <a:srcRect l="-3" r="-3"/>
          <a:stretch/>
        </p:blipFill>
        <p:spPr>
          <a:xfrm>
            <a:off x="609905" y="1938528"/>
            <a:ext cx="438180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25"/>
          <p:cNvSpPr txBox="1"/>
          <p:nvPr/>
        </p:nvSpPr>
        <p:spPr>
          <a:xfrm>
            <a:off x="914400" y="2167128"/>
            <a:ext cx="3934663" cy="6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Poppins"/>
              <a:buNone/>
            </a:pPr>
            <a:r>
              <a:rPr lang="en-US" sz="13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 Creating Independent Copies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5"/>
          <p:cNvSpPr txBox="1"/>
          <p:nvPr/>
        </p:nvSpPr>
        <p:spPr>
          <a:xfrm>
            <a:off x="914400" y="2928823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If you want an explicit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copy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data (not just a view), you must use the </a:t>
            </a:r>
            <a:r>
              <a:rPr lang="en-US" sz="1200" b="0" i="0" u="none" strike="noStrike" cap="non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copy()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method.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5"/>
          <p:cNvSpPr txBox="1"/>
          <p:nvPr/>
        </p:nvSpPr>
        <p:spPr>
          <a:xfrm>
            <a:off x="914400" y="4009644"/>
            <a:ext cx="3924605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This ensures that modifying the new slice </a:t>
            </a:r>
            <a:r>
              <a:rPr lang="en-US" sz="13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does not affect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the original array.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25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138928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25"/>
          <p:cNvSpPr txBox="1"/>
          <p:nvPr/>
        </p:nvSpPr>
        <p:spPr>
          <a:xfrm>
            <a:off x="933602" y="5100523"/>
            <a:ext cx="4134002" cy="8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Without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.copy()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, slicing usually returns a view, meaning both variables point to the same memory buffer.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4" name="Google Shape;724;p25" descr="preencoded.png"/>
          <p:cNvPicPr preferRelativeResize="0"/>
          <p:nvPr/>
        </p:nvPicPr>
        <p:blipFill rotWithShape="1">
          <a:blip r:embed="rId8">
            <a:alphaModFix/>
          </a:blip>
          <a:srcRect l="-1" r="-1"/>
          <a:stretch/>
        </p:blipFill>
        <p:spPr>
          <a:xfrm>
            <a:off x="5447995" y="1764792"/>
            <a:ext cx="6133795" cy="4318711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5"/>
          <p:cNvSpPr/>
          <p:nvPr/>
        </p:nvSpPr>
        <p:spPr>
          <a:xfrm>
            <a:off x="5458054" y="177393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5458054" y="219364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5"/>
          <p:cNvSpPr/>
          <p:nvPr/>
        </p:nvSpPr>
        <p:spPr>
          <a:xfrm>
            <a:off x="5609844" y="192664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5800954" y="192664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5"/>
          <p:cNvSpPr/>
          <p:nvPr/>
        </p:nvSpPr>
        <p:spPr>
          <a:xfrm>
            <a:off x="5991149" y="192664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25"/>
          <p:cNvSpPr txBox="1"/>
          <p:nvPr/>
        </p:nvSpPr>
        <p:spPr>
          <a:xfrm>
            <a:off x="6258154" y="188823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5"/>
          <p:cNvSpPr txBox="1"/>
          <p:nvPr/>
        </p:nvSpPr>
        <p:spPr>
          <a:xfrm>
            <a:off x="5686654" y="2431390"/>
            <a:ext cx="5737860" cy="3419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separate copy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another_slice = a[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copy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Modify the copy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another_slice[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99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Original remains same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array([ 1, 2, 5, 7, 8])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9" name="Google Shape;739;p2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2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1" name="Google Shape;741;p2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26"/>
          <p:cNvSpPr txBox="1"/>
          <p:nvPr/>
        </p:nvSpPr>
        <p:spPr>
          <a:xfrm>
            <a:off x="609905" y="457200"/>
            <a:ext cx="11163910" cy="428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Indexing multi dimensional NumPy arrays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3" name="Google Shape;743;p2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37844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26" descr="preencoded.png"/>
          <p:cNvPicPr preferRelativeResize="0"/>
          <p:nvPr/>
        </p:nvPicPr>
        <p:blipFill rotWithShape="1">
          <a:blip r:embed="rId6">
            <a:alphaModFix/>
          </a:blip>
          <a:srcRect l="-2" r="-2"/>
          <a:stretch/>
        </p:blipFill>
        <p:spPr>
          <a:xfrm>
            <a:off x="609905" y="2360066"/>
            <a:ext cx="4381805" cy="1805026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26"/>
          <p:cNvSpPr txBox="1"/>
          <p:nvPr/>
        </p:nvSpPr>
        <p:spPr>
          <a:xfrm>
            <a:off x="914400" y="2588666"/>
            <a:ext cx="39630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Access Patterns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6"/>
          <p:cNvSpPr txBox="1"/>
          <p:nvPr/>
        </p:nvSpPr>
        <p:spPr>
          <a:xfrm>
            <a:off x="914400" y="3007462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Multi-dimensional arrays can be accessed using comma-separated indices for each dimension.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609905" y="4393692"/>
            <a:ext cx="4381805" cy="1447495"/>
          </a:xfrm>
          <a:prstGeom prst="roundRect">
            <a:avLst>
              <a:gd name="adj" fmla="val 3325"/>
            </a:avLst>
          </a:prstGeom>
          <a:solidFill>
            <a:srgbClr val="F9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6"/>
          <p:cNvSpPr txBox="1"/>
          <p:nvPr/>
        </p:nvSpPr>
        <p:spPr>
          <a:xfrm>
            <a:off x="809244" y="4593031"/>
            <a:ext cx="40965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General Slicing Format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6"/>
          <p:cNvSpPr txBox="1"/>
          <p:nvPr/>
        </p:nvSpPr>
        <p:spPr>
          <a:xfrm>
            <a:off x="809244" y="4935931"/>
            <a:ext cx="4058107" cy="705002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Array[row_start:row_end,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 column_start:column_end]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0" name="Google Shape;750;p26" descr="preencoded.png"/>
          <p:cNvPicPr preferRelativeResize="0"/>
          <p:nvPr/>
        </p:nvPicPr>
        <p:blipFill rotWithShape="1">
          <a:blip r:embed="rId7">
            <a:alphaModFix/>
          </a:blip>
          <a:srcRect t="-8" b="-8"/>
          <a:stretch/>
        </p:blipFill>
        <p:spPr>
          <a:xfrm>
            <a:off x="5447995" y="2282342"/>
            <a:ext cx="6133795" cy="3636569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26"/>
          <p:cNvSpPr/>
          <p:nvPr/>
        </p:nvSpPr>
        <p:spPr>
          <a:xfrm>
            <a:off x="5458054" y="2292401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6"/>
          <p:cNvSpPr/>
          <p:nvPr/>
        </p:nvSpPr>
        <p:spPr>
          <a:xfrm>
            <a:off x="5458054" y="2712110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6"/>
          <p:cNvSpPr/>
          <p:nvPr/>
        </p:nvSpPr>
        <p:spPr>
          <a:xfrm>
            <a:off x="5609844" y="244419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6"/>
          <p:cNvSpPr/>
          <p:nvPr/>
        </p:nvSpPr>
        <p:spPr>
          <a:xfrm>
            <a:off x="5800954" y="244419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6"/>
          <p:cNvSpPr/>
          <p:nvPr/>
        </p:nvSpPr>
        <p:spPr>
          <a:xfrm>
            <a:off x="5991149" y="244419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26"/>
          <p:cNvSpPr txBox="1"/>
          <p:nvPr/>
        </p:nvSpPr>
        <p:spPr>
          <a:xfrm>
            <a:off x="6258154" y="2406701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6"/>
          <p:cNvSpPr txBox="1"/>
          <p:nvPr/>
        </p:nvSpPr>
        <p:spPr>
          <a:xfrm>
            <a:off x="5686654" y="2948940"/>
            <a:ext cx="5737860" cy="273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specific elements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row 1, col 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whole rows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:]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row 1, all columns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whole columns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b[:,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all rows, column 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5" name="Google Shape;765;p2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2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7" name="Google Shape;767;p27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2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Boolean Indexing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9" name="Google Shape;769;p2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27" descr="preencoded.png"/>
          <p:cNvPicPr preferRelativeResize="0"/>
          <p:nvPr/>
        </p:nvPicPr>
        <p:blipFill rotWithShape="1">
          <a:blip r:embed="rId6">
            <a:alphaModFix/>
          </a:blip>
          <a:srcRect t="-3" b="-3"/>
          <a:stretch/>
        </p:blipFill>
        <p:spPr>
          <a:xfrm>
            <a:off x="609905" y="2476195"/>
            <a:ext cx="4381805" cy="24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27"/>
          <p:cNvSpPr txBox="1"/>
          <p:nvPr/>
        </p:nvSpPr>
        <p:spPr>
          <a:xfrm>
            <a:off x="914400" y="2704795"/>
            <a:ext cx="418978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Filtering with Booleans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7"/>
          <p:cNvSpPr txBox="1"/>
          <p:nvPr/>
        </p:nvSpPr>
        <p:spPr>
          <a:xfrm>
            <a:off x="914400" y="3200400"/>
            <a:ext cx="39346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We can index arrays using an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ndarray of boolean values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on one axis to specify exactly which indices to access.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3" name="Google Shape;773;p27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257800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27"/>
          <p:cNvSpPr txBox="1"/>
          <p:nvPr/>
        </p:nvSpPr>
        <p:spPr>
          <a:xfrm>
            <a:off x="933602" y="5219395"/>
            <a:ext cx="4134002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technique is powerful for selecting data that satisfies certain conditions without writing loops.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5" name="Google Shape;775;p27" descr="preencoded.png"/>
          <p:cNvPicPr preferRelativeResize="0"/>
          <p:nvPr/>
        </p:nvPicPr>
        <p:blipFill rotWithShape="1">
          <a:blip r:embed="rId8">
            <a:alphaModFix/>
          </a:blip>
          <a:srcRect t="-2" b="-2"/>
          <a:stretch/>
        </p:blipFill>
        <p:spPr>
          <a:xfrm>
            <a:off x="5447995" y="2115007"/>
            <a:ext cx="613379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27"/>
          <p:cNvSpPr/>
          <p:nvPr/>
        </p:nvSpPr>
        <p:spPr>
          <a:xfrm>
            <a:off x="5458054" y="2124151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7"/>
          <p:cNvSpPr/>
          <p:nvPr/>
        </p:nvSpPr>
        <p:spPr>
          <a:xfrm>
            <a:off x="5458054" y="2543861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7"/>
          <p:cNvSpPr/>
          <p:nvPr/>
        </p:nvSpPr>
        <p:spPr>
          <a:xfrm>
            <a:off x="5609844" y="227685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27"/>
          <p:cNvSpPr/>
          <p:nvPr/>
        </p:nvSpPr>
        <p:spPr>
          <a:xfrm>
            <a:off x="5800954" y="227685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27"/>
          <p:cNvSpPr/>
          <p:nvPr/>
        </p:nvSpPr>
        <p:spPr>
          <a:xfrm>
            <a:off x="5991149" y="227685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27"/>
          <p:cNvSpPr txBox="1"/>
          <p:nvPr/>
        </p:nvSpPr>
        <p:spPr>
          <a:xfrm>
            <a:off x="6258154" y="2238451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7"/>
          <p:cNvSpPr txBox="1"/>
          <p:nvPr/>
        </p:nvSpPr>
        <p:spPr>
          <a:xfrm>
            <a:off x="5686654" y="2781605"/>
            <a:ext cx="5734202" cy="2000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5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5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rows_on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5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500" b="1" i="0" u="none" strike="noStrike" cap="none" dirty="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1" i="0" u="none" strike="noStrike" cap="none" dirty="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1" i="0" u="none" strike="noStrike" cap="none" dirty="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ourier New"/>
              <a:buNone/>
            </a:pPr>
            <a:r>
              <a:rPr lang="en-US" sz="15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Select Rows 0 and 2, all columns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a[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rows_on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:] 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array([[ 0, 1, 2, 3],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[ 8, 9, 10, 11]])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28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1" name="Google Shape;791;p28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28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0211105" y="761695"/>
            <a:ext cx="1218895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10287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28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28" descr="preencoded.png"/>
          <p:cNvPicPr preferRelativeResize="0"/>
          <p:nvPr/>
        </p:nvPicPr>
        <p:blipFill rotWithShape="1">
          <a:blip r:embed="rId7">
            <a:alphaModFix/>
          </a:blip>
          <a:srcRect t="-17" b="-16"/>
          <a:stretch/>
        </p:blipFill>
        <p:spPr>
          <a:xfrm>
            <a:off x="5524805" y="1538021"/>
            <a:ext cx="1143000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28" descr="preencoded.png"/>
          <p:cNvPicPr preferRelativeResize="0"/>
          <p:nvPr/>
        </p:nvPicPr>
        <p:blipFill rotWithShape="1">
          <a:blip r:embed="rId8">
            <a:alphaModFix/>
          </a:blip>
          <a:srcRect l="-44" r="-44"/>
          <a:stretch/>
        </p:blipFill>
        <p:spPr>
          <a:xfrm>
            <a:off x="5838444" y="1852574"/>
            <a:ext cx="51480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28"/>
          <p:cNvSpPr txBox="1"/>
          <p:nvPr/>
        </p:nvSpPr>
        <p:spPr>
          <a:xfrm>
            <a:off x="3253435" y="3081528"/>
            <a:ext cx="5686654" cy="166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0"/>
              <a:buFont typeface="Poppins"/>
              <a:buNone/>
            </a:pPr>
            <a:r>
              <a:rPr lang="en-US" sz="6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Linear Algebra </a:t>
            </a:r>
            <a:r>
              <a:rPr lang="en-US" sz="45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with NumPy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8" name="Google Shape;798;p28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900270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5" name="Google Shape;805;p2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29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Vectors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9" name="Google Shape;809;p29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29" descr="preencoded.png"/>
          <p:cNvPicPr preferRelativeResize="0"/>
          <p:nvPr/>
        </p:nvPicPr>
        <p:blipFill rotWithShape="1">
          <a:blip r:embed="rId7">
            <a:alphaModFix amt="68000"/>
          </a:blip>
          <a:srcRect t="-27" b="-27"/>
          <a:stretch/>
        </p:blipFill>
        <p:spPr>
          <a:xfrm>
            <a:off x="9620402" y="3376879"/>
            <a:ext cx="1580998" cy="590702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9"/>
          <p:cNvSpPr txBox="1"/>
          <p:nvPr/>
        </p:nvSpPr>
        <p:spPr>
          <a:xfrm>
            <a:off x="9782251" y="3538728"/>
            <a:ext cx="13432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[ x, y, z ]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9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29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2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2776118"/>
            <a:ext cx="6096305" cy="1552651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29"/>
          <p:cNvSpPr txBox="1"/>
          <p:nvPr/>
        </p:nvSpPr>
        <p:spPr>
          <a:xfrm>
            <a:off x="990295" y="3081528"/>
            <a:ext cx="5539435" cy="943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700"/>
              <a:buFont typeface="Roboto"/>
              <a:buNone/>
            </a:pPr>
            <a:r>
              <a:rPr lang="en-US" sz="27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A quantity defined by a </a:t>
            </a:r>
            <a:r>
              <a:rPr lang="en-US" sz="27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magnitude</a:t>
            </a:r>
            <a:r>
              <a:rPr lang="en-US" sz="27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and a </a:t>
            </a:r>
            <a:r>
              <a:rPr lang="en-US" sz="27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direction</a:t>
            </a:r>
            <a:r>
              <a:rPr lang="en-US" sz="27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5" name="Google Shape;815;p2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4824374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2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1695" y="497707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29"/>
          <p:cNvSpPr txBox="1"/>
          <p:nvPr/>
        </p:nvSpPr>
        <p:spPr>
          <a:xfrm>
            <a:off x="1371600" y="4785970"/>
            <a:ext cx="5441594" cy="85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 vector can be represented by an </a:t>
            </a:r>
            <a:r>
              <a:rPr lang="en-US" sz="22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array of numbers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called scalars.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8" name="Google Shape;818;p29" descr="preencoded.png"/>
          <p:cNvPicPr preferRelativeResize="0"/>
          <p:nvPr/>
        </p:nvPicPr>
        <p:blipFill rotWithShape="1">
          <a:blip r:embed="rId11">
            <a:alphaModFix amt="40000"/>
          </a:blip>
          <a:srcRect/>
          <a:stretch/>
        </p:blipFill>
        <p:spPr>
          <a:xfrm>
            <a:off x="8082382" y="2995574"/>
            <a:ext cx="3035808" cy="3035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29" descr="preencoded.png"/>
          <p:cNvPicPr preferRelativeResize="0"/>
          <p:nvPr/>
        </p:nvPicPr>
        <p:blipFill rotWithShape="1">
          <a:blip r:embed="rId12">
            <a:alphaModFix/>
          </a:blip>
          <a:srcRect t="-393" b="-393"/>
          <a:stretch/>
        </p:blipFill>
        <p:spPr>
          <a:xfrm>
            <a:off x="8082382" y="5386730"/>
            <a:ext cx="2438705" cy="38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29" descr="preencoded.png"/>
          <p:cNvPicPr preferRelativeResize="0"/>
          <p:nvPr/>
        </p:nvPicPr>
        <p:blipFill rotWithShape="1">
          <a:blip r:embed="rId13">
            <a:alphaModFix/>
          </a:blip>
          <a:srcRect l="-393" r="-393"/>
          <a:stretch/>
        </p:blipFill>
        <p:spPr>
          <a:xfrm>
            <a:off x="8082382" y="2986430"/>
            <a:ext cx="384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29" descr="preencoded.png"/>
          <p:cNvPicPr preferRelativeResize="0"/>
          <p:nvPr/>
        </p:nvPicPr>
        <p:blipFill rotWithShape="1">
          <a:blip r:embed="rId14">
            <a:alphaModFix amt="90000"/>
          </a:blip>
          <a:srcRect l="-7142" r="-7142"/>
          <a:stretch/>
        </p:blipFill>
        <p:spPr>
          <a:xfrm>
            <a:off x="8082382" y="2995574"/>
            <a:ext cx="2428646" cy="2428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8" name="Google Shape;828;p3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30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30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3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Vectors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2" name="Google Shape;832;p3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30" descr="preencoded.png"/>
          <p:cNvPicPr preferRelativeResize="0"/>
          <p:nvPr/>
        </p:nvPicPr>
        <p:blipFill rotWithShape="1">
          <a:blip r:embed="rId7">
            <a:alphaModFix/>
          </a:blip>
          <a:srcRect t="-4" b="-4"/>
          <a:stretch/>
        </p:blipFill>
        <p:spPr>
          <a:xfrm>
            <a:off x="609905" y="1597457"/>
            <a:ext cx="5943600" cy="424373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30"/>
          <p:cNvSpPr txBox="1"/>
          <p:nvPr/>
        </p:nvSpPr>
        <p:spPr>
          <a:xfrm>
            <a:off x="990295" y="1902866"/>
            <a:ext cx="5334610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Example: A rocket is moving upwards at a slight angle. We can represent its velocity state using a vector composed of three components: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0"/>
          <p:cNvSpPr/>
          <p:nvPr/>
        </p:nvSpPr>
        <p:spPr>
          <a:xfrm>
            <a:off x="990295" y="3059582"/>
            <a:ext cx="5257800" cy="724205"/>
          </a:xfrm>
          <a:prstGeom prst="roundRect">
            <a:avLst>
              <a:gd name="adj" fmla="val 13291"/>
            </a:avLst>
          </a:prstGeom>
          <a:solidFill>
            <a:srgbClr val="F5F3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6" name="Google Shape;836;p3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4595" y="3231490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3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18895" y="3345790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0"/>
          <p:cNvSpPr txBox="1"/>
          <p:nvPr/>
        </p:nvSpPr>
        <p:spPr>
          <a:xfrm>
            <a:off x="1638605" y="3173882"/>
            <a:ext cx="17236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Speed towards North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0"/>
          <p:cNvSpPr txBox="1"/>
          <p:nvPr/>
        </p:nvSpPr>
        <p:spPr>
          <a:xfrm>
            <a:off x="1638605" y="3402482"/>
            <a:ext cx="152430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50 m/s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0"/>
          <p:cNvSpPr/>
          <p:nvPr/>
        </p:nvSpPr>
        <p:spPr>
          <a:xfrm>
            <a:off x="990295" y="3936492"/>
            <a:ext cx="5257800" cy="724205"/>
          </a:xfrm>
          <a:prstGeom prst="roundRect">
            <a:avLst>
              <a:gd name="adj" fmla="val 13291"/>
            </a:avLst>
          </a:prstGeom>
          <a:solidFill>
            <a:srgbClr val="ECFD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1" name="Google Shape;841;p3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4595" y="4107485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30" descr="preencoded.png"/>
          <p:cNvPicPr preferRelativeResize="0"/>
          <p:nvPr/>
        </p:nvPicPr>
        <p:blipFill rotWithShape="1">
          <a:blip r:embed="rId11">
            <a:alphaModFix/>
          </a:blip>
          <a:srcRect t="-43" b="-42"/>
          <a:stretch/>
        </p:blipFill>
        <p:spPr>
          <a:xfrm>
            <a:off x="1228954" y="4221785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30"/>
          <p:cNvSpPr txBox="1"/>
          <p:nvPr/>
        </p:nvSpPr>
        <p:spPr>
          <a:xfrm>
            <a:off x="1638605" y="4050792"/>
            <a:ext cx="16102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Speed towards East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0"/>
          <p:cNvSpPr txBox="1"/>
          <p:nvPr/>
        </p:nvSpPr>
        <p:spPr>
          <a:xfrm>
            <a:off x="1638605" y="4279392"/>
            <a:ext cx="14292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047857"/>
                </a:solidFill>
                <a:latin typeface="Courier New"/>
                <a:ea typeface="Courier New"/>
                <a:cs typeface="Courier New"/>
                <a:sym typeface="Courier New"/>
              </a:rPr>
              <a:t>10 m/s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0"/>
          <p:cNvSpPr/>
          <p:nvPr/>
        </p:nvSpPr>
        <p:spPr>
          <a:xfrm>
            <a:off x="990295" y="4812487"/>
            <a:ext cx="5257800" cy="724205"/>
          </a:xfrm>
          <a:prstGeom prst="roundRect">
            <a:avLst>
              <a:gd name="adj" fmla="val 13291"/>
            </a:avLst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6" name="Google Shape;846;p30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4595" y="4984394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30" descr="preencoded.png"/>
          <p:cNvPicPr preferRelativeResize="0"/>
          <p:nvPr/>
        </p:nvPicPr>
        <p:blipFill rotWithShape="1">
          <a:blip r:embed="rId13">
            <a:alphaModFix/>
          </a:blip>
          <a:srcRect t="-100" b="-100"/>
          <a:stretch/>
        </p:blipFill>
        <p:spPr>
          <a:xfrm>
            <a:off x="1238098" y="5098694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30"/>
          <p:cNvSpPr txBox="1"/>
          <p:nvPr/>
        </p:nvSpPr>
        <p:spPr>
          <a:xfrm>
            <a:off x="1638605" y="4926787"/>
            <a:ext cx="119054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Vertical Speed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0"/>
          <p:cNvSpPr txBox="1"/>
          <p:nvPr/>
        </p:nvSpPr>
        <p:spPr>
          <a:xfrm>
            <a:off x="1638605" y="5155387"/>
            <a:ext cx="107716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5,000 m/s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0" name="Google Shape;850;p30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5800" y="6145682"/>
            <a:ext cx="485546" cy="485546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30"/>
          <p:cNvSpPr txBox="1"/>
          <p:nvPr/>
        </p:nvSpPr>
        <p:spPr>
          <a:xfrm>
            <a:off x="1324051" y="6145682"/>
            <a:ext cx="4286707" cy="486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1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rocket's velocity is a vector in 3-dimensional space.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2" name="Google Shape;852;p30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010705" y="1371600"/>
            <a:ext cx="4572000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30"/>
          <p:cNvSpPr txBox="1"/>
          <p:nvPr/>
        </p:nvSpPr>
        <p:spPr>
          <a:xfrm>
            <a:off x="8167421" y="1904695"/>
            <a:ext cx="237744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Velocity Vector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0"/>
          <p:cNvSpPr/>
          <p:nvPr/>
        </p:nvSpPr>
        <p:spPr>
          <a:xfrm>
            <a:off x="8395106" y="2478024"/>
            <a:ext cx="209398" cy="2476195"/>
          </a:xfrm>
          <a:prstGeom prst="roundRect">
            <a:avLst>
              <a:gd name="adj" fmla="val 238189"/>
            </a:avLst>
          </a:prstGeom>
          <a:noFill/>
          <a:ln w="508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30"/>
          <p:cNvSpPr/>
          <p:nvPr/>
        </p:nvSpPr>
        <p:spPr>
          <a:xfrm>
            <a:off x="9987991" y="2478024"/>
            <a:ext cx="209398" cy="2476195"/>
          </a:xfrm>
          <a:prstGeom prst="roundRect">
            <a:avLst>
              <a:gd name="adj" fmla="val 238189"/>
            </a:avLst>
          </a:prstGeom>
          <a:noFill/>
          <a:ln w="508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0"/>
          <p:cNvSpPr txBox="1"/>
          <p:nvPr/>
        </p:nvSpPr>
        <p:spPr>
          <a:xfrm>
            <a:off x="9069934" y="2897734"/>
            <a:ext cx="722376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50 </a:t>
            </a:r>
            <a:r>
              <a:rPr lang="en-US" sz="1000" b="1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North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0"/>
          <p:cNvSpPr txBox="1"/>
          <p:nvPr/>
        </p:nvSpPr>
        <p:spPr>
          <a:xfrm>
            <a:off x="9069934" y="3525926"/>
            <a:ext cx="722376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10 </a:t>
            </a:r>
            <a:r>
              <a:rPr lang="en-US" sz="1000" b="1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East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0"/>
          <p:cNvSpPr txBox="1"/>
          <p:nvPr/>
        </p:nvSpPr>
        <p:spPr>
          <a:xfrm>
            <a:off x="8730691" y="4155034"/>
            <a:ext cx="17913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700"/>
              <a:buFont typeface="Courier New"/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 5,000 </a:t>
            </a:r>
            <a:r>
              <a:rPr lang="en-US" sz="1000" b="1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Vertical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9" name="Google Shape;859;p30" descr="preencoded.png"/>
          <p:cNvPicPr preferRelativeResize="0"/>
          <p:nvPr/>
        </p:nvPicPr>
        <p:blipFill rotWithShape="1">
          <a:blip r:embed="rId16">
            <a:alphaModFix/>
          </a:blip>
          <a:srcRect l="-6" r="-5"/>
          <a:stretch/>
        </p:blipFill>
        <p:spPr>
          <a:xfrm>
            <a:off x="7324344" y="5296205"/>
            <a:ext cx="3943807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30"/>
          <p:cNvSpPr txBox="1"/>
          <p:nvPr/>
        </p:nvSpPr>
        <p:spPr>
          <a:xfrm>
            <a:off x="7515454" y="5447995"/>
            <a:ext cx="3715207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NumPy Representation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0"/>
          <p:cNvSpPr txBox="1"/>
          <p:nvPr/>
        </p:nvSpPr>
        <p:spPr>
          <a:xfrm>
            <a:off x="7477049" y="5639105"/>
            <a:ext cx="3676802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velocity = np.array([50, 10, 5000])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9" name="Google Shape;869;p3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31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Use of Vectors in Machine Learning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3" name="Google Shape;873;p31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31" descr="preencoded.png"/>
          <p:cNvPicPr preferRelativeResize="0"/>
          <p:nvPr/>
        </p:nvPicPr>
        <p:blipFill rotWithShape="1">
          <a:blip r:embed="rId7">
            <a:alphaModFix/>
          </a:blip>
          <a:srcRect l="-393" r="-393"/>
          <a:stretch/>
        </p:blipFill>
        <p:spPr>
          <a:xfrm>
            <a:off x="8973007" y="3066898"/>
            <a:ext cx="384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31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6553505" y="2686507"/>
            <a:ext cx="487649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31"/>
          <p:cNvSpPr/>
          <p:nvPr/>
        </p:nvSpPr>
        <p:spPr>
          <a:xfrm>
            <a:off x="6819595" y="2876702"/>
            <a:ext cx="533095" cy="533095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7" name="Google Shape;877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72300" y="30294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1"/>
          <p:cNvSpPr txBox="1"/>
          <p:nvPr/>
        </p:nvSpPr>
        <p:spPr>
          <a:xfrm>
            <a:off x="7582205" y="2876702"/>
            <a:ext cx="11055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Good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1"/>
          <p:cNvSpPr txBox="1"/>
          <p:nvPr/>
        </p:nvSpPr>
        <p:spPr>
          <a:xfrm>
            <a:off x="7582205" y="3181198"/>
            <a:ext cx="122438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Quality content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0" name="Google Shape;880;p31" descr="preencoded.png"/>
          <p:cNvPicPr preferRelativeResize="0"/>
          <p:nvPr/>
        </p:nvPicPr>
        <p:blipFill rotWithShape="1">
          <a:blip r:embed="rId10">
            <a:alphaModFix/>
          </a:blip>
          <a:srcRect t="-3" b="-3"/>
          <a:stretch/>
        </p:blipFill>
        <p:spPr>
          <a:xfrm>
            <a:off x="6553505" y="3829507"/>
            <a:ext cx="487649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31"/>
          <p:cNvSpPr/>
          <p:nvPr/>
        </p:nvSpPr>
        <p:spPr>
          <a:xfrm>
            <a:off x="6819595" y="4019702"/>
            <a:ext cx="533095" cy="533095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2" name="Google Shape;882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72300" y="417240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31"/>
          <p:cNvSpPr txBox="1"/>
          <p:nvPr/>
        </p:nvSpPr>
        <p:spPr>
          <a:xfrm>
            <a:off x="7582205" y="4019702"/>
            <a:ext cx="1314907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1"/>
          <p:cNvSpPr txBox="1"/>
          <p:nvPr/>
        </p:nvSpPr>
        <p:spPr>
          <a:xfrm>
            <a:off x="7582205" y="4324198"/>
            <a:ext cx="147401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Unwanted content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5" name="Google Shape;885;p31" descr="preencoded.png"/>
          <p:cNvPicPr preferRelativeResize="0"/>
          <p:nvPr/>
        </p:nvPicPr>
        <p:blipFill rotWithShape="1">
          <a:blip r:embed="rId12">
            <a:alphaModFix/>
          </a:blip>
          <a:srcRect t="-3" b="-3"/>
          <a:stretch/>
        </p:blipFill>
        <p:spPr>
          <a:xfrm>
            <a:off x="6553505" y="4972507"/>
            <a:ext cx="487649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31"/>
          <p:cNvSpPr/>
          <p:nvPr/>
        </p:nvSpPr>
        <p:spPr>
          <a:xfrm>
            <a:off x="6819595" y="5162702"/>
            <a:ext cx="533095" cy="533095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7" name="Google Shape;887;p31" descr="preencoded.png"/>
          <p:cNvPicPr preferRelativeResize="0"/>
          <p:nvPr/>
        </p:nvPicPr>
        <p:blipFill rotWithShape="1">
          <a:blip r:embed="rId13">
            <a:alphaModFix/>
          </a:blip>
          <a:srcRect t="-80" b="-80"/>
          <a:stretch/>
        </p:blipFill>
        <p:spPr>
          <a:xfrm>
            <a:off x="7015277" y="5315407"/>
            <a:ext cx="1426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31"/>
          <p:cNvSpPr txBox="1"/>
          <p:nvPr/>
        </p:nvSpPr>
        <p:spPr>
          <a:xfrm>
            <a:off x="7582205" y="5162702"/>
            <a:ext cx="1320394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Clickbait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1"/>
          <p:cNvSpPr txBox="1"/>
          <p:nvPr/>
        </p:nvSpPr>
        <p:spPr>
          <a:xfrm>
            <a:off x="7582205" y="5467198"/>
            <a:ext cx="132679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Misleading titles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1"/>
          <p:cNvSpPr txBox="1"/>
          <p:nvPr/>
        </p:nvSpPr>
        <p:spPr>
          <a:xfrm>
            <a:off x="11714378" y="6400800"/>
            <a:ext cx="2578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1" name="Google Shape;891;p31" descr="preencoded.png"/>
          <p:cNvPicPr preferRelativeResize="0"/>
          <p:nvPr/>
        </p:nvPicPr>
        <p:blipFill rotWithShape="1">
          <a:blip r:embed="rId14">
            <a:alphaModFix/>
          </a:blip>
          <a:srcRect l="-5" r="-4"/>
          <a:stretch/>
        </p:blipFill>
        <p:spPr>
          <a:xfrm>
            <a:off x="609905" y="2292401"/>
            <a:ext cx="5181905" cy="1635862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31"/>
          <p:cNvSpPr txBox="1"/>
          <p:nvPr/>
        </p:nvSpPr>
        <p:spPr>
          <a:xfrm>
            <a:off x="914400" y="2521001"/>
            <a:ext cx="4755794" cy="118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Vectors are essential for representing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observations</a:t>
            </a:r>
            <a:r>
              <a:rPr lang="en-US" sz="22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predictions</a:t>
            </a:r>
            <a:r>
              <a:rPr lang="en-US" sz="22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1"/>
          <p:cNvSpPr txBox="1"/>
          <p:nvPr/>
        </p:nvSpPr>
        <p:spPr>
          <a:xfrm>
            <a:off x="609905" y="4232758"/>
            <a:ext cx="5267858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For example, consider building a Machine Learning system to classify videos into specific categories based on their attributes.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4" name="Google Shape;894;p31" descr="preencoded.png"/>
          <p:cNvPicPr preferRelativeResize="0"/>
          <p:nvPr/>
        </p:nvPicPr>
        <p:blipFill rotWithShape="1">
          <a:blip r:embed="rId15">
            <a:alphaModFix/>
          </a:blip>
          <a:srcRect t="-8" b="-8"/>
          <a:stretch/>
        </p:blipFill>
        <p:spPr>
          <a:xfrm>
            <a:off x="609905" y="5576011"/>
            <a:ext cx="5181905" cy="705002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31"/>
          <p:cNvSpPr/>
          <p:nvPr/>
        </p:nvSpPr>
        <p:spPr>
          <a:xfrm>
            <a:off x="771754" y="5737860"/>
            <a:ext cx="381305" cy="381305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96" name="Google Shape;896;p31" descr="preencoded.png"/>
          <p:cNvPicPr preferRelativeResize="0"/>
          <p:nvPr/>
        </p:nvPicPr>
        <p:blipFill rotWithShape="1">
          <a:blip r:embed="rId16">
            <a:alphaModFix/>
          </a:blip>
          <a:srcRect l="-1282" r="-1282"/>
          <a:stretch/>
        </p:blipFill>
        <p:spPr>
          <a:xfrm>
            <a:off x="852221" y="5832958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31"/>
          <p:cNvSpPr txBox="1"/>
          <p:nvPr/>
        </p:nvSpPr>
        <p:spPr>
          <a:xfrm>
            <a:off x="1304849" y="5794553"/>
            <a:ext cx="284561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Video Classification System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4" name="Google Shape;904;p3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3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3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3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Use of Vectors in Machine Learning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8" name="Google Shape;908;p3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32"/>
          <p:cNvSpPr txBox="1"/>
          <p:nvPr/>
        </p:nvSpPr>
        <p:spPr>
          <a:xfrm>
            <a:off x="609905" y="1371600"/>
            <a:ext cx="8610905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For each video, we would have a vector representing what we know about it. Each axis has a specific meaning.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2"/>
          <p:cNvSpPr txBox="1"/>
          <p:nvPr/>
        </p:nvSpPr>
        <p:spPr>
          <a:xfrm>
            <a:off x="3524098" y="2343607"/>
            <a:ext cx="1762049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Video Vector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2"/>
          <p:cNvSpPr/>
          <p:nvPr/>
        </p:nvSpPr>
        <p:spPr>
          <a:xfrm>
            <a:off x="3514954" y="2876702"/>
            <a:ext cx="1524305" cy="3619195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2"/>
          <p:cNvSpPr/>
          <p:nvPr/>
        </p:nvSpPr>
        <p:spPr>
          <a:xfrm>
            <a:off x="3706063" y="3019349"/>
            <a:ext cx="11430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32" descr="preencoded.png"/>
          <p:cNvPicPr preferRelativeResize="0"/>
          <p:nvPr/>
        </p:nvPicPr>
        <p:blipFill rotWithShape="1">
          <a:blip r:embed="rId7">
            <a:alphaModFix/>
          </a:blip>
          <a:srcRect t="-400" b="-399"/>
          <a:stretch/>
        </p:blipFill>
        <p:spPr>
          <a:xfrm>
            <a:off x="4849063" y="3390595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32"/>
          <p:cNvSpPr/>
          <p:nvPr/>
        </p:nvSpPr>
        <p:spPr>
          <a:xfrm>
            <a:off x="5372100" y="3353105"/>
            <a:ext cx="95098" cy="95098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>
            <a:off x="3706063" y="3877056"/>
            <a:ext cx="11430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6" name="Google Shape;916;p32" descr="preencoded.png"/>
          <p:cNvPicPr preferRelativeResize="0"/>
          <p:nvPr/>
        </p:nvPicPr>
        <p:blipFill rotWithShape="1">
          <a:blip r:embed="rId7">
            <a:alphaModFix/>
          </a:blip>
          <a:srcRect t="-400" b="-399"/>
          <a:stretch/>
        </p:blipFill>
        <p:spPr>
          <a:xfrm>
            <a:off x="4849063" y="4248302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32"/>
          <p:cNvSpPr/>
          <p:nvPr/>
        </p:nvSpPr>
        <p:spPr>
          <a:xfrm>
            <a:off x="5372100" y="4209898"/>
            <a:ext cx="95098" cy="95098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32"/>
          <p:cNvSpPr/>
          <p:nvPr/>
        </p:nvSpPr>
        <p:spPr>
          <a:xfrm>
            <a:off x="3706063" y="4733849"/>
            <a:ext cx="11430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9" name="Google Shape;919;p32" descr="preencoded.png"/>
          <p:cNvPicPr preferRelativeResize="0"/>
          <p:nvPr/>
        </p:nvPicPr>
        <p:blipFill rotWithShape="1">
          <a:blip r:embed="rId7">
            <a:alphaModFix/>
          </a:blip>
          <a:srcRect t="-400" b="-399"/>
          <a:stretch/>
        </p:blipFill>
        <p:spPr>
          <a:xfrm>
            <a:off x="4849063" y="5105095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32"/>
          <p:cNvSpPr/>
          <p:nvPr/>
        </p:nvSpPr>
        <p:spPr>
          <a:xfrm>
            <a:off x="5372100" y="5067605"/>
            <a:ext cx="95098" cy="95098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32"/>
          <p:cNvSpPr/>
          <p:nvPr/>
        </p:nvSpPr>
        <p:spPr>
          <a:xfrm>
            <a:off x="3706063" y="5591556"/>
            <a:ext cx="1143000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2" name="Google Shape;922;p32" descr="preencoded.png"/>
          <p:cNvPicPr preferRelativeResize="0"/>
          <p:nvPr/>
        </p:nvPicPr>
        <p:blipFill rotWithShape="1">
          <a:blip r:embed="rId7">
            <a:alphaModFix/>
          </a:blip>
          <a:srcRect t="-400" b="-399"/>
          <a:stretch/>
        </p:blipFill>
        <p:spPr>
          <a:xfrm>
            <a:off x="4849063" y="5962802"/>
            <a:ext cx="571500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32"/>
          <p:cNvSpPr/>
          <p:nvPr/>
        </p:nvSpPr>
        <p:spPr>
          <a:xfrm>
            <a:off x="5372100" y="5924398"/>
            <a:ext cx="95098" cy="95098"/>
          </a:xfrm>
          <a:prstGeom prst="ellipse">
            <a:avLst/>
          </a:prstGeom>
          <a:solidFill>
            <a:srgbClr val="3B82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4" name="Google Shape;924;p32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649163" y="2533802"/>
            <a:ext cx="3027578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32"/>
          <p:cNvSpPr/>
          <p:nvPr/>
        </p:nvSpPr>
        <p:spPr>
          <a:xfrm>
            <a:off x="5839358" y="2704795"/>
            <a:ext cx="457200" cy="457200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26" name="Google Shape;926;p3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72861" y="283829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32"/>
          <p:cNvSpPr txBox="1"/>
          <p:nvPr/>
        </p:nvSpPr>
        <p:spPr>
          <a:xfrm>
            <a:off x="6449263" y="2686507"/>
            <a:ext cx="198059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Duration (Minutes)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2"/>
          <p:cNvSpPr txBox="1"/>
          <p:nvPr/>
        </p:nvSpPr>
        <p:spPr>
          <a:xfrm>
            <a:off x="6449263" y="2952598"/>
            <a:ext cx="19952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Video lasts 10.5 minutes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9" name="Google Shape;929;p32" descr="preencoded.png"/>
          <p:cNvPicPr preferRelativeResize="0"/>
          <p:nvPr/>
        </p:nvPicPr>
        <p:blipFill rotWithShape="1">
          <a:blip r:embed="rId10">
            <a:alphaModFix/>
          </a:blip>
          <a:srcRect t="-5" b="-4"/>
          <a:stretch/>
        </p:blipFill>
        <p:spPr>
          <a:xfrm>
            <a:off x="5649163" y="3524098"/>
            <a:ext cx="3027578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32"/>
          <p:cNvSpPr/>
          <p:nvPr/>
        </p:nvSpPr>
        <p:spPr>
          <a:xfrm>
            <a:off x="5839358" y="3696005"/>
            <a:ext cx="457200" cy="457200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1" name="Google Shape;931;p32" descr="preencoded.png"/>
          <p:cNvPicPr preferRelativeResize="0"/>
          <p:nvPr/>
        </p:nvPicPr>
        <p:blipFill rotWithShape="1">
          <a:blip r:embed="rId11">
            <a:alphaModFix/>
          </a:blip>
          <a:srcRect l="-1282" r="-1282"/>
          <a:stretch/>
        </p:blipFill>
        <p:spPr>
          <a:xfrm>
            <a:off x="5958230" y="3829507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32"/>
          <p:cNvSpPr txBox="1"/>
          <p:nvPr/>
        </p:nvSpPr>
        <p:spPr>
          <a:xfrm>
            <a:off x="6449263" y="3676802"/>
            <a:ext cx="215981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Watch Rate (%)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2"/>
          <p:cNvSpPr txBox="1"/>
          <p:nvPr/>
        </p:nvSpPr>
        <p:spPr>
          <a:xfrm>
            <a:off x="6449263" y="3943807"/>
            <a:ext cx="247162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5.2% viewers watch &gt; 1 minute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4" name="Google Shape;934;p32" descr="preencoded.png"/>
          <p:cNvPicPr preferRelativeResize="0"/>
          <p:nvPr/>
        </p:nvPicPr>
        <p:blipFill rotWithShape="1">
          <a:blip r:embed="rId12">
            <a:alphaModFix/>
          </a:blip>
          <a:srcRect t="-5" b="-4"/>
          <a:stretch/>
        </p:blipFill>
        <p:spPr>
          <a:xfrm>
            <a:off x="5649163" y="4515307"/>
            <a:ext cx="3027578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32"/>
          <p:cNvSpPr/>
          <p:nvPr/>
        </p:nvSpPr>
        <p:spPr>
          <a:xfrm>
            <a:off x="5839358" y="4686300"/>
            <a:ext cx="457200" cy="457200"/>
          </a:xfrm>
          <a:prstGeom prst="ellipse">
            <a:avLst/>
          </a:prstGeom>
          <a:solidFill>
            <a:srgbClr val="EDE9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6" name="Google Shape;936;p3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972861" y="481980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32"/>
          <p:cNvSpPr txBox="1"/>
          <p:nvPr/>
        </p:nvSpPr>
        <p:spPr>
          <a:xfrm>
            <a:off x="6449263" y="4667098"/>
            <a:ext cx="176570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Avg. Views / Day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2"/>
          <p:cNvSpPr txBox="1"/>
          <p:nvPr/>
        </p:nvSpPr>
        <p:spPr>
          <a:xfrm>
            <a:off x="6449263" y="4934102"/>
            <a:ext cx="19156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Gets 3.25 views per day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9" name="Google Shape;939;p32" descr="preencoded.png"/>
          <p:cNvPicPr preferRelativeResize="0"/>
          <p:nvPr/>
        </p:nvPicPr>
        <p:blipFill rotWithShape="1">
          <a:blip r:embed="rId14">
            <a:alphaModFix/>
          </a:blip>
          <a:srcRect t="-5" b="-4"/>
          <a:stretch/>
        </p:blipFill>
        <p:spPr>
          <a:xfrm>
            <a:off x="5649163" y="5505602"/>
            <a:ext cx="3027578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32"/>
          <p:cNvSpPr/>
          <p:nvPr/>
        </p:nvSpPr>
        <p:spPr>
          <a:xfrm>
            <a:off x="5839358" y="5676595"/>
            <a:ext cx="457200" cy="457200"/>
          </a:xfrm>
          <a:prstGeom prst="ellipse">
            <a:avLst/>
          </a:prstGeom>
          <a:solidFill>
            <a:srgbClr val="FEE2E2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41" name="Google Shape;941;p32" descr="preencoded.png"/>
          <p:cNvPicPr preferRelativeResize="0"/>
          <p:nvPr/>
        </p:nvPicPr>
        <p:blipFill rotWithShape="1">
          <a:blip r:embed="rId15">
            <a:alphaModFix/>
          </a:blip>
          <a:srcRect l="-1648" r="-1647"/>
          <a:stretch/>
        </p:blipFill>
        <p:spPr>
          <a:xfrm>
            <a:off x="5982005" y="5810098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32"/>
          <p:cNvSpPr txBox="1"/>
          <p:nvPr/>
        </p:nvSpPr>
        <p:spPr>
          <a:xfrm>
            <a:off x="6449263" y="5658307"/>
            <a:ext cx="178125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Spam Flags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 txBox="1"/>
          <p:nvPr/>
        </p:nvSpPr>
        <p:spPr>
          <a:xfrm>
            <a:off x="6449263" y="5924398"/>
            <a:ext cx="202905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Flagged 7 times as spam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1" name="Google Shape;951;p3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33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33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3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Use of Vectors in Machine Learning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5" name="Google Shape;955;p33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33" descr="preencoded.png"/>
          <p:cNvPicPr preferRelativeResize="0"/>
          <p:nvPr/>
        </p:nvPicPr>
        <p:blipFill rotWithShape="1">
          <a:blip r:embed="rId7">
            <a:alphaModFix/>
          </a:blip>
          <a:srcRect t="-6" b="-5"/>
          <a:stretch/>
        </p:blipFill>
        <p:spPr>
          <a:xfrm>
            <a:off x="609905" y="2414930"/>
            <a:ext cx="4819802" cy="1571854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33"/>
          <p:cNvSpPr txBox="1"/>
          <p:nvPr/>
        </p:nvSpPr>
        <p:spPr>
          <a:xfrm>
            <a:off x="990295" y="2643530"/>
            <a:ext cx="4219956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Based on this vector, our Machine Learning system may predict probabilities: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3"/>
          <p:cNvSpPr txBox="1"/>
          <p:nvPr/>
        </p:nvSpPr>
        <p:spPr>
          <a:xfrm>
            <a:off x="1218895" y="4291279"/>
            <a:ext cx="2822753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80%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probability: </a:t>
            </a:r>
            <a:r>
              <a:rPr lang="en-US" sz="1800" b="1" i="0" u="none" strike="noStrike" cap="none">
                <a:solidFill>
                  <a:srgbClr val="DC2626"/>
                </a:solidFill>
                <a:latin typeface="Roboto"/>
                <a:ea typeface="Roboto"/>
                <a:cs typeface="Roboto"/>
                <a:sym typeface="Roboto"/>
              </a:rPr>
              <a:t>Spam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3"/>
          <p:cNvSpPr txBox="1"/>
          <p:nvPr/>
        </p:nvSpPr>
        <p:spPr>
          <a:xfrm>
            <a:off x="1218895" y="4824374"/>
            <a:ext cx="319674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18%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probability: </a:t>
            </a:r>
            <a:r>
              <a:rPr lang="en-US" sz="1800" b="1" i="0" u="none" strike="noStrike" cap="none">
                <a:solidFill>
                  <a:srgbClr val="D97706"/>
                </a:solidFill>
                <a:latin typeface="Roboto"/>
                <a:ea typeface="Roboto"/>
                <a:cs typeface="Roboto"/>
                <a:sym typeface="Roboto"/>
              </a:rPr>
              <a:t>Clickbait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3"/>
          <p:cNvSpPr txBox="1"/>
          <p:nvPr/>
        </p:nvSpPr>
        <p:spPr>
          <a:xfrm>
            <a:off x="1218895" y="5357470"/>
            <a:ext cx="2607869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2%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probability: </a:t>
            </a:r>
            <a:r>
              <a:rPr lang="en-US" sz="1800" b="1" i="0" u="none" strike="noStrike" cap="none">
                <a:solidFill>
                  <a:srgbClr val="059669"/>
                </a:solidFill>
                <a:latin typeface="Roboto"/>
                <a:ea typeface="Roboto"/>
                <a:cs typeface="Roboto"/>
                <a:sym typeface="Roboto"/>
              </a:rPr>
              <a:t>Good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1" name="Google Shape;961;p33" descr="preencoded.png"/>
          <p:cNvPicPr preferRelativeResize="0"/>
          <p:nvPr/>
        </p:nvPicPr>
        <p:blipFill rotWithShape="1">
          <a:blip r:embed="rId8">
            <a:alphaModFix/>
          </a:blip>
          <a:srcRect l="-1" r="-1"/>
          <a:stretch/>
        </p:blipFill>
        <p:spPr>
          <a:xfrm>
            <a:off x="5886907" y="2333549"/>
            <a:ext cx="5695798" cy="3409798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33"/>
          <p:cNvSpPr/>
          <p:nvPr/>
        </p:nvSpPr>
        <p:spPr>
          <a:xfrm>
            <a:off x="6048756" y="2495398"/>
            <a:ext cx="304495" cy="3086100"/>
          </a:xfrm>
          <a:prstGeom prst="roundRect">
            <a:avLst>
              <a:gd name="adj" fmla="val 112613"/>
            </a:avLst>
          </a:prstGeom>
          <a:noFill/>
          <a:ln w="508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3"/>
          <p:cNvSpPr/>
          <p:nvPr/>
        </p:nvSpPr>
        <p:spPr>
          <a:xfrm>
            <a:off x="11115446" y="2495398"/>
            <a:ext cx="304495" cy="3086100"/>
          </a:xfrm>
          <a:prstGeom prst="roundRect">
            <a:avLst>
              <a:gd name="adj" fmla="val 112613"/>
            </a:avLst>
          </a:prstGeom>
          <a:noFill/>
          <a:ln w="50800" cap="flat" cmpd="sng">
            <a:solidFill>
              <a:srgbClr val="1F29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3"/>
          <p:cNvSpPr txBox="1"/>
          <p:nvPr/>
        </p:nvSpPr>
        <p:spPr>
          <a:xfrm>
            <a:off x="6505956" y="3029407"/>
            <a:ext cx="114300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Spam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5" name="Google Shape;965;p33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7877556" y="2876702"/>
            <a:ext cx="95280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33"/>
          <p:cNvSpPr txBox="1"/>
          <p:nvPr/>
        </p:nvSpPr>
        <p:spPr>
          <a:xfrm>
            <a:off x="8078724" y="2991002"/>
            <a:ext cx="6291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0.80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3"/>
          <p:cNvSpPr/>
          <p:nvPr/>
        </p:nvSpPr>
        <p:spPr>
          <a:xfrm>
            <a:off x="9058046" y="3086100"/>
            <a:ext cx="1828800" cy="152705"/>
          </a:xfrm>
          <a:prstGeom prst="roundRect">
            <a:avLst>
              <a:gd name="adj" fmla="val 598802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3"/>
          <p:cNvSpPr/>
          <p:nvPr/>
        </p:nvSpPr>
        <p:spPr>
          <a:xfrm>
            <a:off x="9058046" y="3086100"/>
            <a:ext cx="1466698" cy="152705"/>
          </a:xfrm>
          <a:prstGeom prst="roundRect">
            <a:avLst>
              <a:gd name="adj" fmla="val 598802"/>
            </a:avLst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33"/>
          <p:cNvSpPr txBox="1"/>
          <p:nvPr/>
        </p:nvSpPr>
        <p:spPr>
          <a:xfrm>
            <a:off x="6505956" y="3905402"/>
            <a:ext cx="114300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Clickbait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0" name="Google Shape;970;p33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7877556" y="3752698"/>
            <a:ext cx="95280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33"/>
          <p:cNvSpPr txBox="1"/>
          <p:nvPr/>
        </p:nvSpPr>
        <p:spPr>
          <a:xfrm>
            <a:off x="8078724" y="3866998"/>
            <a:ext cx="6291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92400E"/>
                </a:solidFill>
                <a:latin typeface="Courier New"/>
                <a:ea typeface="Courier New"/>
                <a:cs typeface="Courier New"/>
                <a:sym typeface="Courier New"/>
              </a:rPr>
              <a:t>0.18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3"/>
          <p:cNvSpPr/>
          <p:nvPr/>
        </p:nvSpPr>
        <p:spPr>
          <a:xfrm>
            <a:off x="9058046" y="3962095"/>
            <a:ext cx="1828800" cy="152705"/>
          </a:xfrm>
          <a:prstGeom prst="roundRect">
            <a:avLst>
              <a:gd name="adj" fmla="val 598802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3"/>
          <p:cNvSpPr/>
          <p:nvPr/>
        </p:nvSpPr>
        <p:spPr>
          <a:xfrm>
            <a:off x="9058046" y="3962095"/>
            <a:ext cx="333756" cy="152705"/>
          </a:xfrm>
          <a:prstGeom prst="roundRect">
            <a:avLst>
              <a:gd name="adj" fmla="val 598802"/>
            </a:avLst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3"/>
          <p:cNvSpPr txBox="1"/>
          <p:nvPr/>
        </p:nvSpPr>
        <p:spPr>
          <a:xfrm>
            <a:off x="6505956" y="4781398"/>
            <a:ext cx="114300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Good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5" name="Google Shape;975;p33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7877556" y="4629607"/>
            <a:ext cx="95280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33"/>
          <p:cNvSpPr txBox="1"/>
          <p:nvPr/>
        </p:nvSpPr>
        <p:spPr>
          <a:xfrm>
            <a:off x="8078724" y="4743907"/>
            <a:ext cx="6291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065F46"/>
                </a:solidFill>
                <a:latin typeface="Courier New"/>
                <a:ea typeface="Courier New"/>
                <a:cs typeface="Courier New"/>
                <a:sym typeface="Courier New"/>
              </a:rPr>
              <a:t>0.02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3"/>
          <p:cNvSpPr/>
          <p:nvPr/>
        </p:nvSpPr>
        <p:spPr>
          <a:xfrm>
            <a:off x="9058046" y="4839005"/>
            <a:ext cx="1828800" cy="152705"/>
          </a:xfrm>
          <a:prstGeom prst="roundRect">
            <a:avLst>
              <a:gd name="adj" fmla="val 598802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3"/>
          <p:cNvSpPr/>
          <p:nvPr/>
        </p:nvSpPr>
        <p:spPr>
          <a:xfrm>
            <a:off x="9058046" y="4839005"/>
            <a:ext cx="38405" cy="152705"/>
          </a:xfrm>
          <a:prstGeom prst="roundRect">
            <a:avLst>
              <a:gd name="adj" fmla="val 2380940"/>
            </a:avLst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3"/>
          <p:cNvSpPr txBox="1"/>
          <p:nvPr/>
        </p:nvSpPr>
        <p:spPr>
          <a:xfrm>
            <a:off x="5838444" y="5848502"/>
            <a:ext cx="57918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Prediction Vector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4"/>
          <p:cNvSpPr/>
          <p:nvPr/>
        </p:nvSpPr>
        <p:spPr>
          <a:xfrm>
            <a:off x="0" y="8792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7" name="Google Shape;987;p3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3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9" name="Google Shape;989;p34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3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Representing Vectors in Python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1" name="Google Shape;991;p3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34" descr="preencoded.png"/>
          <p:cNvPicPr preferRelativeResize="0"/>
          <p:nvPr/>
        </p:nvPicPr>
        <p:blipFill rotWithShape="1">
          <a:blip r:embed="rId6">
            <a:alphaModFix/>
          </a:blip>
          <a:srcRect l="-11" r="-11"/>
          <a:stretch/>
        </p:blipFill>
        <p:spPr>
          <a:xfrm>
            <a:off x="609905" y="2233879"/>
            <a:ext cx="4381805" cy="1766621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34"/>
          <p:cNvSpPr txBox="1"/>
          <p:nvPr/>
        </p:nvSpPr>
        <p:spPr>
          <a:xfrm>
            <a:off x="914400" y="2462479"/>
            <a:ext cx="39630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1. Regular Python List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4"/>
          <p:cNvSpPr txBox="1"/>
          <p:nvPr/>
        </p:nvSpPr>
        <p:spPr>
          <a:xfrm>
            <a:off x="914400" y="2842870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The simplest representation is a list of numbers. Good for general purpose, but lacks scientific optimization.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5" name="Google Shape;995;p34" descr="preencoded.png"/>
          <p:cNvPicPr preferRelativeResize="0"/>
          <p:nvPr/>
        </p:nvPicPr>
        <p:blipFill rotWithShape="1">
          <a:blip r:embed="rId7">
            <a:alphaModFix/>
          </a:blip>
          <a:srcRect l="-11" r="-11"/>
          <a:stretch/>
        </p:blipFill>
        <p:spPr>
          <a:xfrm>
            <a:off x="609905" y="4229100"/>
            <a:ext cx="4381805" cy="1766621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34"/>
          <p:cNvSpPr txBox="1"/>
          <p:nvPr/>
        </p:nvSpPr>
        <p:spPr>
          <a:xfrm>
            <a:off x="914400" y="4457700"/>
            <a:ext cx="39630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2. NumPy ndarray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4"/>
          <p:cNvSpPr txBox="1"/>
          <p:nvPr/>
        </p:nvSpPr>
        <p:spPr>
          <a:xfrm>
            <a:off x="914400" y="4839005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Preferred for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Machine Learning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Provides convenient and optimized implementations of essential mathematical operations.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8" name="Google Shape;998;p34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447995" y="2296973"/>
            <a:ext cx="6133795" cy="3636569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34"/>
          <p:cNvSpPr/>
          <p:nvPr/>
        </p:nvSpPr>
        <p:spPr>
          <a:xfrm>
            <a:off x="5458054" y="2306117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34"/>
          <p:cNvSpPr/>
          <p:nvPr/>
        </p:nvSpPr>
        <p:spPr>
          <a:xfrm>
            <a:off x="5458054" y="27258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34"/>
          <p:cNvSpPr/>
          <p:nvPr/>
        </p:nvSpPr>
        <p:spPr>
          <a:xfrm>
            <a:off x="5609844" y="2458822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34"/>
          <p:cNvSpPr/>
          <p:nvPr/>
        </p:nvSpPr>
        <p:spPr>
          <a:xfrm>
            <a:off x="5800954" y="2458822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34"/>
          <p:cNvSpPr/>
          <p:nvPr/>
        </p:nvSpPr>
        <p:spPr>
          <a:xfrm>
            <a:off x="5991149" y="2458822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34"/>
          <p:cNvSpPr txBox="1"/>
          <p:nvPr/>
        </p:nvSpPr>
        <p:spPr>
          <a:xfrm>
            <a:off x="6258154" y="2420417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4"/>
          <p:cNvSpPr txBox="1"/>
          <p:nvPr/>
        </p:nvSpPr>
        <p:spPr>
          <a:xfrm>
            <a:off x="5686654" y="2963570"/>
            <a:ext cx="5737860" cy="273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Option 1: Standard Python List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 err="1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simple_vector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Option 2: </a:t>
            </a:r>
            <a:r>
              <a:rPr lang="en-US" sz="1600" b="0" i="1" u="none" strike="noStrike" cap="none" dirty="0" err="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Array (Optimized)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600"/>
              <a:buFont typeface="Courier New"/>
              <a:buNone/>
            </a:pPr>
            <a:r>
              <a:rPr lang="en-US" sz="1600" b="1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Scientific calculations require </a:t>
            </a:r>
            <a:r>
              <a:rPr lang="en-US" sz="1600" b="0" i="1" u="none" strike="noStrike" cap="none" dirty="0" err="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ndarray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 err="1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ml_vector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3" name="Google Shape;1013;p3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3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3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35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Vectorized Operations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7" name="Google Shape;1017;p35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3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9" name="Google Shape;1019;p35" descr="preencoded.png"/>
          <p:cNvPicPr preferRelativeResize="0"/>
          <p:nvPr/>
        </p:nvPicPr>
        <p:blipFill rotWithShape="1">
          <a:blip r:embed="rId7">
            <a:alphaModFix/>
          </a:blip>
          <a:srcRect l="-4" r="-4"/>
          <a:stretch/>
        </p:blipFill>
        <p:spPr>
          <a:xfrm>
            <a:off x="609905" y="2211019"/>
            <a:ext cx="6096305" cy="1635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35"/>
          <p:cNvSpPr txBox="1"/>
          <p:nvPr/>
        </p:nvSpPr>
        <p:spPr>
          <a:xfrm>
            <a:off x="914400" y="2439619"/>
            <a:ext cx="5670194" cy="118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NumPy operations allow for processing entire arrays at once, significantly outperforming traditional loops.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1" name="Google Shape;1021;p3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422818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3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3407" y="436168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35"/>
          <p:cNvSpPr txBox="1"/>
          <p:nvPr/>
        </p:nvSpPr>
        <p:spPr>
          <a:xfrm>
            <a:off x="1295705" y="4304081"/>
            <a:ext cx="5077663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Vectorized operations are far more efficient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4" name="Google Shape;1024;p3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49898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3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3407" y="5123383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35"/>
          <p:cNvSpPr txBox="1"/>
          <p:nvPr/>
        </p:nvSpPr>
        <p:spPr>
          <a:xfrm>
            <a:off x="1295705" y="5065776"/>
            <a:ext cx="4810658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Much faster than loops written in Python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7" name="Google Shape;1027;p3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575157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3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3407" y="588507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35"/>
          <p:cNvSpPr txBox="1"/>
          <p:nvPr/>
        </p:nvSpPr>
        <p:spPr>
          <a:xfrm>
            <a:off x="1295705" y="5828386"/>
            <a:ext cx="3849624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Let’s test it to see the difference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5"/>
          <p:cNvSpPr txBox="1"/>
          <p:nvPr/>
        </p:nvSpPr>
        <p:spPr>
          <a:xfrm>
            <a:off x="8092440" y="4000500"/>
            <a:ext cx="98663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Vectorized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5"/>
          <p:cNvSpPr txBox="1"/>
          <p:nvPr/>
        </p:nvSpPr>
        <p:spPr>
          <a:xfrm>
            <a:off x="9302191" y="3562502"/>
            <a:ext cx="439826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2700"/>
              <a:buFont typeface="Roboto"/>
              <a:buNone/>
            </a:pPr>
            <a:r>
              <a:rPr lang="en-US" sz="27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vs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5"/>
          <p:cNvSpPr/>
          <p:nvPr/>
        </p:nvSpPr>
        <p:spPr>
          <a:xfrm>
            <a:off x="8076895" y="4724705"/>
            <a:ext cx="2438705" cy="152705"/>
          </a:xfrm>
          <a:prstGeom prst="roundRect">
            <a:avLst>
              <a:gd name="adj" fmla="val 598802"/>
            </a:avLst>
          </a:prstGeom>
          <a:solidFill>
            <a:srgbClr val="E5E7E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35"/>
          <p:cNvSpPr/>
          <p:nvPr/>
        </p:nvSpPr>
        <p:spPr>
          <a:xfrm>
            <a:off x="8076895" y="4724705"/>
            <a:ext cx="2324405" cy="152705"/>
          </a:xfrm>
          <a:prstGeom prst="roundRect">
            <a:avLst>
              <a:gd name="adj" fmla="val 598802"/>
            </a:avLst>
          </a:prstGeom>
          <a:solidFill>
            <a:srgbClr val="2563E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35"/>
          <p:cNvSpPr txBox="1"/>
          <p:nvPr/>
        </p:nvSpPr>
        <p:spPr>
          <a:xfrm>
            <a:off x="8814816" y="4953305"/>
            <a:ext cx="96377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100x Faster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5" name="Google Shape;1035;p3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41487" y="323880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35" descr="preencoded.png"/>
          <p:cNvPicPr preferRelativeResize="0"/>
          <p:nvPr/>
        </p:nvPicPr>
        <p:blipFill rotWithShape="1">
          <a:blip r:embed="rId13">
            <a:alphaModFix amt="10000"/>
          </a:blip>
          <a:srcRect t="-8" b="-8"/>
          <a:stretch/>
        </p:blipFill>
        <p:spPr>
          <a:xfrm>
            <a:off x="8076895" y="3238805"/>
            <a:ext cx="3657600" cy="29151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35"/>
          <p:cNvSpPr txBox="1"/>
          <p:nvPr/>
        </p:nvSpPr>
        <p:spPr>
          <a:xfrm>
            <a:off x="9912096" y="3743554"/>
            <a:ext cx="5532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Loops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4" name="Google Shape;1044;p3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3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6" name="Google Shape;1046;p3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-1570587" y="3744468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3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Vectorized Operations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8" name="Google Shape;1048;p3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36" descr="preencoded.png"/>
          <p:cNvPicPr preferRelativeResize="0"/>
          <p:nvPr/>
        </p:nvPicPr>
        <p:blipFill rotWithShape="1">
          <a:blip r:embed="rId6">
            <a:alphaModFix/>
          </a:blip>
          <a:srcRect l="-1" r="-1"/>
          <a:stretch/>
        </p:blipFill>
        <p:spPr>
          <a:xfrm>
            <a:off x="609905" y="1676095"/>
            <a:ext cx="4381805" cy="28767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36"/>
          <p:cNvSpPr txBox="1"/>
          <p:nvPr/>
        </p:nvSpPr>
        <p:spPr>
          <a:xfrm>
            <a:off x="914400" y="1904695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Matrix Multiplication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6"/>
          <p:cNvSpPr txBox="1"/>
          <p:nvPr/>
        </p:nvSpPr>
        <p:spPr>
          <a:xfrm>
            <a:off x="914400" y="2400300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Comparing two approaches for the same operation: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6"/>
          <p:cNvSpPr/>
          <p:nvPr/>
        </p:nvSpPr>
        <p:spPr>
          <a:xfrm>
            <a:off x="914400" y="3209544"/>
            <a:ext cx="256946" cy="381305"/>
          </a:xfrm>
          <a:prstGeom prst="roundRect">
            <a:avLst>
              <a:gd name="adj" fmla="val 355872"/>
            </a:avLst>
          </a:prstGeom>
          <a:solidFill>
            <a:srgbClr val="FEE2E2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3" name="Google Shape;1053;p36" descr="preencoded.png"/>
          <p:cNvPicPr preferRelativeResize="0"/>
          <p:nvPr/>
        </p:nvPicPr>
        <p:blipFill rotWithShape="1">
          <a:blip r:embed="rId7">
            <a:alphaModFix/>
          </a:blip>
          <a:srcRect l="-2512" r="-2512"/>
          <a:stretch/>
        </p:blipFill>
        <p:spPr>
          <a:xfrm>
            <a:off x="990295" y="3331159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36"/>
          <p:cNvSpPr/>
          <p:nvPr/>
        </p:nvSpPr>
        <p:spPr>
          <a:xfrm>
            <a:off x="914400" y="3857854"/>
            <a:ext cx="267005" cy="381305"/>
          </a:xfrm>
          <a:prstGeom prst="roundRect">
            <a:avLst>
              <a:gd name="adj" fmla="val 342465"/>
            </a:avLst>
          </a:prstGeom>
          <a:solidFill>
            <a:srgbClr val="D1FAE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5" name="Google Shape;1055;p36" descr="preencoded.png"/>
          <p:cNvPicPr preferRelativeResize="0"/>
          <p:nvPr/>
        </p:nvPicPr>
        <p:blipFill rotWithShape="1">
          <a:blip r:embed="rId8">
            <a:alphaModFix/>
          </a:blip>
          <a:srcRect t="-1100" b="-1100"/>
          <a:stretch/>
        </p:blipFill>
        <p:spPr>
          <a:xfrm>
            <a:off x="990295" y="3979469"/>
            <a:ext cx="114300" cy="13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36" descr="preencoded.png"/>
          <p:cNvPicPr preferRelativeResize="0"/>
          <p:nvPr/>
        </p:nvPicPr>
        <p:blipFill rotWithShape="1">
          <a:blip r:embed="rId9">
            <a:alphaModFix/>
          </a:blip>
          <a:srcRect t="-2" b="-2"/>
          <a:stretch/>
        </p:blipFill>
        <p:spPr>
          <a:xfrm>
            <a:off x="5447995" y="1524305"/>
            <a:ext cx="613379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36"/>
          <p:cNvSpPr/>
          <p:nvPr/>
        </p:nvSpPr>
        <p:spPr>
          <a:xfrm>
            <a:off x="5458054" y="1533449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36"/>
          <p:cNvSpPr/>
          <p:nvPr/>
        </p:nvSpPr>
        <p:spPr>
          <a:xfrm>
            <a:off x="5458054" y="1953158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36"/>
          <p:cNvSpPr/>
          <p:nvPr/>
        </p:nvSpPr>
        <p:spPr>
          <a:xfrm>
            <a:off x="5609844" y="1686154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36"/>
          <p:cNvSpPr/>
          <p:nvPr/>
        </p:nvSpPr>
        <p:spPr>
          <a:xfrm>
            <a:off x="5800954" y="1686154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36"/>
          <p:cNvSpPr/>
          <p:nvPr/>
        </p:nvSpPr>
        <p:spPr>
          <a:xfrm>
            <a:off x="5991149" y="1686154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36"/>
          <p:cNvSpPr txBox="1"/>
          <p:nvPr/>
        </p:nvSpPr>
        <p:spPr>
          <a:xfrm>
            <a:off x="6258154" y="1647749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36"/>
          <p:cNvSpPr txBox="1"/>
          <p:nvPr/>
        </p:nvSpPr>
        <p:spPr>
          <a:xfrm>
            <a:off x="5686654" y="2190902"/>
            <a:ext cx="5734202" cy="2772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lang="en-US" sz="13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1. Using for loop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3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multiply_loops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(A, B):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 = </a:t>
            </a:r>
            <a:r>
              <a:rPr lang="en-US" sz="13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3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zeros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3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A.shape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lang="en-US" sz="13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B.shape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en-US" sz="1300" b="1" i="0" u="none" strike="noStrike" cap="none" dirty="0" err="1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3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A.shape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]):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j </a:t>
            </a:r>
            <a:r>
              <a:rPr lang="en-US" sz="1300" b="1" i="0" u="none" strike="noStrike" cap="none" dirty="0" err="1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3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B.shape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3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]):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C[i, j] = A[i, j] </a:t>
            </a:r>
            <a:r>
              <a:rPr lang="en-US" sz="1300" b="0" i="0" u="none" strike="noStrike" cap="none" dirty="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B[j, i]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lang="en-US" sz="13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2. Using </a:t>
            </a:r>
            <a:r>
              <a:rPr lang="en-US" sz="1300" b="0" i="1" u="none" strike="noStrike" cap="none" dirty="0" err="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NumPy's</a:t>
            </a:r>
            <a:r>
              <a:rPr lang="en-US" sz="13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matrix-matrix multiplication operator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 err="1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3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multiply_vector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(A, B):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 dirty="0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US" sz="1300" b="0" i="0" u="none" strike="noStrike" cap="none" dirty="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13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3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3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1" name="Google Shape;1071;p3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3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3" name="Google Shape;1073;p37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3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Vectorized Operations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5" name="Google Shape;1075;p3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37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714854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37"/>
          <p:cNvSpPr txBox="1"/>
          <p:nvPr/>
        </p:nvSpPr>
        <p:spPr>
          <a:xfrm>
            <a:off x="914400" y="2943454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Matrix Multiplication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7"/>
          <p:cNvSpPr txBox="1"/>
          <p:nvPr/>
        </p:nvSpPr>
        <p:spPr>
          <a:xfrm>
            <a:off x="914400" y="3438144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Generating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Sample Data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for performance testing.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9" name="Google Shape;1079;p37" descr="preencoded.png"/>
          <p:cNvPicPr preferRelativeResize="0"/>
          <p:nvPr/>
        </p:nvPicPr>
        <p:blipFill rotWithShape="1">
          <a:blip r:embed="rId7">
            <a:alphaModFix/>
          </a:blip>
          <a:srcRect t="-44" b="-45"/>
          <a:stretch/>
        </p:blipFill>
        <p:spPr>
          <a:xfrm>
            <a:off x="609905" y="4753051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37"/>
          <p:cNvSpPr txBox="1"/>
          <p:nvPr/>
        </p:nvSpPr>
        <p:spPr>
          <a:xfrm>
            <a:off x="981151" y="4714646"/>
            <a:ext cx="408645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We create two large (100x100) matrices filled with random numbers to benchmark the speed difference between loops and vectorized operations.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1" name="Google Shape;1081;p37" descr="preencoded.png"/>
          <p:cNvPicPr preferRelativeResize="0"/>
          <p:nvPr/>
        </p:nvPicPr>
        <p:blipFill rotWithShape="1">
          <a:blip r:embed="rId8">
            <a:alphaModFix/>
          </a:blip>
          <a:srcRect t="-1" b="-1"/>
          <a:stretch/>
        </p:blipFill>
        <p:spPr>
          <a:xfrm>
            <a:off x="5447995" y="2979115"/>
            <a:ext cx="6133795" cy="2270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37"/>
          <p:cNvSpPr/>
          <p:nvPr/>
        </p:nvSpPr>
        <p:spPr>
          <a:xfrm>
            <a:off x="5458054" y="298917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37"/>
          <p:cNvSpPr/>
          <p:nvPr/>
        </p:nvSpPr>
        <p:spPr>
          <a:xfrm>
            <a:off x="5458054" y="3408883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37"/>
          <p:cNvSpPr/>
          <p:nvPr/>
        </p:nvSpPr>
        <p:spPr>
          <a:xfrm>
            <a:off x="5609844" y="3141878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37"/>
          <p:cNvSpPr/>
          <p:nvPr/>
        </p:nvSpPr>
        <p:spPr>
          <a:xfrm>
            <a:off x="5800954" y="3141878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37"/>
          <p:cNvSpPr/>
          <p:nvPr/>
        </p:nvSpPr>
        <p:spPr>
          <a:xfrm>
            <a:off x="5991149" y="3141878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37"/>
          <p:cNvSpPr txBox="1"/>
          <p:nvPr/>
        </p:nvSpPr>
        <p:spPr>
          <a:xfrm>
            <a:off x="6258154" y="310347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7"/>
          <p:cNvSpPr txBox="1"/>
          <p:nvPr/>
        </p:nvSpPr>
        <p:spPr>
          <a:xfrm>
            <a:off x="5686654" y="3646627"/>
            <a:ext cx="57378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 smtClean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Two randomly-generated, 100x100 matrices</a:t>
            </a:r>
            <a:endParaRPr sz="1600" b="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 smtClean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X = </a:t>
            </a:r>
            <a:r>
              <a:rPr lang="en-US" sz="1600" b="0" i="0" u="none" strike="noStrike" cap="none" dirty="0" err="1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np.random.</a:t>
            </a:r>
            <a:r>
              <a:rPr lang="en-US" sz="1600" b="0" i="0" u="none" strike="noStrike" cap="none" dirty="0" err="1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600" b="0" i="0" u="none" strike="noStrike" cap="none" dirty="0" smtClean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 smtClean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 b="0" i="0" u="none" strike="noStrike" cap="none" dirty="0" smtClean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 smtClean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Y = </a:t>
            </a:r>
            <a:r>
              <a:rPr lang="en-US" sz="1600" b="0" i="0" u="none" strike="noStrike" cap="none" dirty="0" err="1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np.random.</a:t>
            </a:r>
            <a:r>
              <a:rPr lang="en-US" sz="1600" b="0" i="0" u="none" strike="noStrike" cap="none" dirty="0" err="1" smtClean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random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-US" sz="1600" b="0" i="0" u="none" strike="noStrike" cap="none" dirty="0" smtClean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 smtClean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600" b="0" i="0" u="none" strike="noStrike" cap="none" dirty="0" smtClean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6" name="Google Shape;1096;p3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38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8" name="Google Shape;1098;p38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38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Vectorized Operations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0" name="Google Shape;1100;p3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38" descr="preencoded.png"/>
          <p:cNvPicPr preferRelativeResize="0"/>
          <p:nvPr/>
        </p:nvPicPr>
        <p:blipFill rotWithShape="1">
          <a:blip r:embed="rId6">
            <a:alphaModFix/>
          </a:blip>
          <a:srcRect l="-7" r="-6"/>
          <a:stretch/>
        </p:blipFill>
        <p:spPr>
          <a:xfrm>
            <a:off x="609905" y="2200046"/>
            <a:ext cx="4381805" cy="2152498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38"/>
          <p:cNvSpPr txBox="1"/>
          <p:nvPr/>
        </p:nvSpPr>
        <p:spPr>
          <a:xfrm>
            <a:off x="914400" y="242864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Matrix Multiplication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8"/>
          <p:cNvSpPr txBox="1"/>
          <p:nvPr/>
        </p:nvSpPr>
        <p:spPr>
          <a:xfrm>
            <a:off x="914400" y="2848356"/>
            <a:ext cx="39630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Performance Comparison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8"/>
          <p:cNvSpPr/>
          <p:nvPr/>
        </p:nvSpPr>
        <p:spPr>
          <a:xfrm>
            <a:off x="914400" y="3610051"/>
            <a:ext cx="3847795" cy="914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38"/>
          <p:cNvSpPr txBox="1"/>
          <p:nvPr/>
        </p:nvSpPr>
        <p:spPr>
          <a:xfrm>
            <a:off x="914400" y="3267151"/>
            <a:ext cx="141732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Explicit Loops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8"/>
          <p:cNvSpPr txBox="1"/>
          <p:nvPr/>
        </p:nvSpPr>
        <p:spPr>
          <a:xfrm>
            <a:off x="3847795" y="3267151"/>
            <a:ext cx="10003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~4.23 ms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8"/>
          <p:cNvSpPr/>
          <p:nvPr/>
        </p:nvSpPr>
        <p:spPr>
          <a:xfrm>
            <a:off x="914400" y="4114800"/>
            <a:ext cx="3847795" cy="914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8"/>
          <p:cNvSpPr txBox="1"/>
          <p:nvPr/>
        </p:nvSpPr>
        <p:spPr>
          <a:xfrm>
            <a:off x="914400" y="3771900"/>
            <a:ext cx="142097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NumPy Vector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8"/>
          <p:cNvSpPr txBox="1"/>
          <p:nvPr/>
        </p:nvSpPr>
        <p:spPr>
          <a:xfrm>
            <a:off x="3847795" y="3771900"/>
            <a:ext cx="10003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~46.6 µs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8"/>
          <p:cNvSpPr/>
          <p:nvPr/>
        </p:nvSpPr>
        <p:spPr>
          <a:xfrm>
            <a:off x="609905" y="4581144"/>
            <a:ext cx="4381805" cy="11430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1" name="Google Shape;1111;p38" descr="preencoded.png"/>
          <p:cNvPicPr preferRelativeResize="0"/>
          <p:nvPr/>
        </p:nvPicPr>
        <p:blipFill rotWithShape="1">
          <a:blip r:embed="rId7">
            <a:alphaModFix/>
          </a:blip>
          <a:srcRect t="-530" b="-530"/>
          <a:stretch/>
        </p:blipFill>
        <p:spPr>
          <a:xfrm>
            <a:off x="761695" y="4772254"/>
            <a:ext cx="247802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38"/>
          <p:cNvSpPr txBox="1"/>
          <p:nvPr/>
        </p:nvSpPr>
        <p:spPr>
          <a:xfrm>
            <a:off x="1162202" y="4733849"/>
            <a:ext cx="379110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8"/>
          <p:cNvSpPr txBox="1"/>
          <p:nvPr/>
        </p:nvSpPr>
        <p:spPr>
          <a:xfrm>
            <a:off x="1162202" y="5038344"/>
            <a:ext cx="3753612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Vectorized operations are </a:t>
            </a:r>
            <a:r>
              <a:rPr lang="en-US" sz="13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two orders of magnitude faster</a:t>
            </a: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than standard python loops.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4" name="Google Shape;1114;p38" descr="preencoded.png"/>
          <p:cNvPicPr preferRelativeResize="0"/>
          <p:nvPr/>
        </p:nvPicPr>
        <p:blipFill rotWithShape="1">
          <a:blip r:embed="rId8">
            <a:alphaModFix/>
          </a:blip>
          <a:srcRect t="-1" b="-1"/>
          <a:stretch/>
        </p:blipFill>
        <p:spPr>
          <a:xfrm>
            <a:off x="5447995" y="1803197"/>
            <a:ext cx="6133795" cy="4317797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38"/>
          <p:cNvSpPr/>
          <p:nvPr/>
        </p:nvSpPr>
        <p:spPr>
          <a:xfrm>
            <a:off x="5458054" y="1813255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38"/>
          <p:cNvSpPr/>
          <p:nvPr/>
        </p:nvSpPr>
        <p:spPr>
          <a:xfrm>
            <a:off x="5458054" y="2232965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8"/>
          <p:cNvSpPr/>
          <p:nvPr/>
        </p:nvSpPr>
        <p:spPr>
          <a:xfrm>
            <a:off x="5609844" y="196504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38"/>
          <p:cNvSpPr/>
          <p:nvPr/>
        </p:nvSpPr>
        <p:spPr>
          <a:xfrm>
            <a:off x="5800954" y="196504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38"/>
          <p:cNvSpPr/>
          <p:nvPr/>
        </p:nvSpPr>
        <p:spPr>
          <a:xfrm>
            <a:off x="5991149" y="196504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38"/>
          <p:cNvSpPr txBox="1"/>
          <p:nvPr/>
        </p:nvSpPr>
        <p:spPr>
          <a:xfrm>
            <a:off x="6258154" y="1927555"/>
            <a:ext cx="13624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 (IPython)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8"/>
          <p:cNvSpPr txBox="1"/>
          <p:nvPr/>
        </p:nvSpPr>
        <p:spPr>
          <a:xfrm>
            <a:off x="5686654" y="2469794"/>
            <a:ext cx="5734202" cy="341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ourier New"/>
              <a:buNone/>
            </a:pPr>
            <a:r>
              <a:rPr lang="en-US" sz="15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1. Using explicit loops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 dirty="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timeit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multiply_loops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(X, Y)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4.23 </a:t>
            </a:r>
            <a:r>
              <a:rPr lang="en-US" sz="1300" b="0" i="1" u="none" strike="noStrike" cap="none" dirty="0" err="1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ms</a:t>
            </a:r>
            <a:r>
              <a:rPr lang="en-US" sz="13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± 107 µs per loop (mean ± std. dev. of 7 runs, 100 loops each)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ourier New"/>
              <a:buNone/>
            </a:pPr>
            <a:r>
              <a:rPr lang="en-US" sz="15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2. Using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NumPy's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vectorized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multiplication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 dirty="0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timeit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multiply_vector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(X, Y)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46.6 µs ± 346 ns per loop (mean ± std. dev. of 7 runs, 10000 loops each)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ourier New"/>
              <a:buNone/>
            </a:pPr>
            <a:r>
              <a:rPr lang="en-US" sz="15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Result: 46.6 microseconds </a:t>
            </a:r>
            <a:r>
              <a:rPr lang="en-US" sz="1500" b="0" i="1" u="none" strike="noStrike" cap="none" dirty="0" err="1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r>
              <a:rPr lang="en-US" sz="15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 4.23 milliseconds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8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38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3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39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0" name="Google Shape;1130;p39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39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10515600" y="761695"/>
            <a:ext cx="914400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3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39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39" descr="preencoded.png"/>
          <p:cNvPicPr preferRelativeResize="0"/>
          <p:nvPr/>
        </p:nvPicPr>
        <p:blipFill rotWithShape="1">
          <a:blip r:embed="rId7">
            <a:alphaModFix/>
          </a:blip>
          <a:srcRect t="-17" b="-16"/>
          <a:stretch/>
        </p:blipFill>
        <p:spPr>
          <a:xfrm>
            <a:off x="5524805" y="1657807"/>
            <a:ext cx="1143000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39" descr="preencoded.png"/>
          <p:cNvPicPr preferRelativeResize="0"/>
          <p:nvPr/>
        </p:nvPicPr>
        <p:blipFill rotWithShape="1">
          <a:blip r:embed="rId8">
            <a:alphaModFix/>
          </a:blip>
          <a:srcRect l="-44" r="-44"/>
          <a:stretch/>
        </p:blipFill>
        <p:spPr>
          <a:xfrm>
            <a:off x="5838444" y="1971446"/>
            <a:ext cx="51480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39"/>
          <p:cNvSpPr txBox="1"/>
          <p:nvPr/>
        </p:nvSpPr>
        <p:spPr>
          <a:xfrm>
            <a:off x="1742846" y="3200400"/>
            <a:ext cx="8706002" cy="142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Basic Operations on NumPy arrays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7" name="Google Shape;1137;p39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781398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4" name="Google Shape;1144;p4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40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46" name="Google Shape;1146;p40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4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Addition in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8" name="Google Shape;1148;p40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40" descr="preencoded.png"/>
          <p:cNvPicPr preferRelativeResize="0"/>
          <p:nvPr/>
        </p:nvPicPr>
        <p:blipFill rotWithShape="1">
          <a:blip r:embed="rId6">
            <a:alphaModFix/>
          </a:blip>
          <a:srcRect t="-3" b="-3"/>
          <a:stretch/>
        </p:blipFill>
        <p:spPr>
          <a:xfrm>
            <a:off x="609905" y="2476195"/>
            <a:ext cx="4381805" cy="24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40"/>
          <p:cNvSpPr txBox="1"/>
          <p:nvPr/>
        </p:nvSpPr>
        <p:spPr>
          <a:xfrm>
            <a:off x="914400" y="2704795"/>
            <a:ext cx="418978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Element-wise Operations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40"/>
          <p:cNvSpPr txBox="1"/>
          <p:nvPr/>
        </p:nvSpPr>
        <p:spPr>
          <a:xfrm>
            <a:off x="914400" y="3200400"/>
            <a:ext cx="39346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Addition can be performed on NumPy arrays easily. The operation applies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element wise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to corresponding items in the arrays.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2" name="Google Shape;1152;p40" descr="preencoded.png"/>
          <p:cNvPicPr preferRelativeResize="0"/>
          <p:nvPr/>
        </p:nvPicPr>
        <p:blipFill rotWithShape="1">
          <a:blip r:embed="rId7">
            <a:alphaModFix/>
          </a:blip>
          <a:srcRect l="-56" r="-57"/>
          <a:stretch/>
        </p:blipFill>
        <p:spPr>
          <a:xfrm>
            <a:off x="609905" y="5372100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40"/>
          <p:cNvSpPr txBox="1"/>
          <p:nvPr/>
        </p:nvSpPr>
        <p:spPr>
          <a:xfrm>
            <a:off x="923544" y="5219395"/>
            <a:ext cx="4144061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eliminates the need for explicit loops, making calculations much faster.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4" name="Google Shape;1154;p40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447995" y="2296973"/>
            <a:ext cx="6133795" cy="3636569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40"/>
          <p:cNvSpPr/>
          <p:nvPr/>
        </p:nvSpPr>
        <p:spPr>
          <a:xfrm>
            <a:off x="5458054" y="2306117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40"/>
          <p:cNvSpPr/>
          <p:nvPr/>
        </p:nvSpPr>
        <p:spPr>
          <a:xfrm>
            <a:off x="5458054" y="27258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40"/>
          <p:cNvSpPr/>
          <p:nvPr/>
        </p:nvSpPr>
        <p:spPr>
          <a:xfrm>
            <a:off x="5609844" y="2458822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40"/>
          <p:cNvSpPr/>
          <p:nvPr/>
        </p:nvSpPr>
        <p:spPr>
          <a:xfrm>
            <a:off x="5800954" y="2458822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40"/>
          <p:cNvSpPr/>
          <p:nvPr/>
        </p:nvSpPr>
        <p:spPr>
          <a:xfrm>
            <a:off x="5991149" y="2458822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40"/>
          <p:cNvSpPr txBox="1"/>
          <p:nvPr/>
        </p:nvSpPr>
        <p:spPr>
          <a:xfrm>
            <a:off x="6258154" y="2420417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40"/>
          <p:cNvSpPr txBox="1"/>
          <p:nvPr/>
        </p:nvSpPr>
        <p:spPr>
          <a:xfrm>
            <a:off x="5686654" y="2963570"/>
            <a:ext cx="5737860" cy="273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array([0, 1, 2, 3])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a +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array([20, 31, 42, 53])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4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9" name="Google Shape;1169;p4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4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1" name="Google Shape;1171;p41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2" name="Google Shape;1172;p41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Subtraction in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3" name="Google Shape;1173;p4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41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41"/>
          <p:cNvSpPr txBox="1"/>
          <p:nvPr/>
        </p:nvSpPr>
        <p:spPr>
          <a:xfrm>
            <a:off x="914400" y="2890418"/>
            <a:ext cx="43662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Element-wise Subtraction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41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Calculates the difference between elements at corresponding positions in two arrays.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7" name="Google Shape;1177;p4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41"/>
          <p:cNvSpPr txBox="1"/>
          <p:nvPr/>
        </p:nvSpPr>
        <p:spPr>
          <a:xfrm>
            <a:off x="952805" y="503377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Like addition, subtraction is applied element-wise across the NumPy arrays.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9" name="Google Shape;1179;p41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41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1" name="Google Shape;1181;p41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41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3" name="Google Shape;1183;p41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41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41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41"/>
          <p:cNvSpPr txBox="1"/>
          <p:nvPr/>
        </p:nvSpPr>
        <p:spPr>
          <a:xfrm>
            <a:off x="5686654" y="3048610"/>
            <a:ext cx="5737860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array([0, 1, 2, 3])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a -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array([20, 29, 38, 47])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41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4" name="Google Shape;1194;p4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42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6" name="Google Shape;1196;p42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4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Element wise product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8" name="Google Shape;1198;p42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4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905" y="2523744"/>
            <a:ext cx="4381805" cy="2076602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42"/>
          <p:cNvSpPr txBox="1"/>
          <p:nvPr/>
        </p:nvSpPr>
        <p:spPr>
          <a:xfrm>
            <a:off x="914400" y="2752344"/>
            <a:ext cx="3963010" cy="352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 Operator </a:t>
            </a:r>
            <a:r>
              <a:rPr lang="en-US" sz="22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2"/>
          <p:cNvSpPr txBox="1"/>
          <p:nvPr/>
        </p:nvSpPr>
        <p:spPr>
          <a:xfrm>
            <a:off x="914400" y="3258007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Element wise product can be performed on NumPy arrays using the standard multiplication symbol.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2" name="Google Shape;1202;p4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94324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42"/>
          <p:cNvSpPr txBox="1"/>
          <p:nvPr/>
        </p:nvSpPr>
        <p:spPr>
          <a:xfrm>
            <a:off x="952805" y="4905756"/>
            <a:ext cx="4114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is different from matrix multiplication (dot product). It simply multiplies values at the same index.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4" name="Google Shape;1204;p42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2427732"/>
            <a:ext cx="6133795" cy="3374136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42"/>
          <p:cNvSpPr/>
          <p:nvPr/>
        </p:nvSpPr>
        <p:spPr>
          <a:xfrm>
            <a:off x="5458054" y="243687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2"/>
          <p:cNvSpPr/>
          <p:nvPr/>
        </p:nvSpPr>
        <p:spPr>
          <a:xfrm>
            <a:off x="5458054" y="285658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42"/>
          <p:cNvSpPr/>
          <p:nvPr/>
        </p:nvSpPr>
        <p:spPr>
          <a:xfrm>
            <a:off x="5609844" y="25895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42"/>
          <p:cNvSpPr/>
          <p:nvPr/>
        </p:nvSpPr>
        <p:spPr>
          <a:xfrm>
            <a:off x="5800954" y="25895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42"/>
          <p:cNvSpPr/>
          <p:nvPr/>
        </p:nvSpPr>
        <p:spPr>
          <a:xfrm>
            <a:off x="5991149" y="25895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42"/>
          <p:cNvSpPr txBox="1"/>
          <p:nvPr/>
        </p:nvSpPr>
        <p:spPr>
          <a:xfrm>
            <a:off x="6258154" y="255117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42"/>
          <p:cNvSpPr txBox="1"/>
          <p:nvPr/>
        </p:nvSpPr>
        <p:spPr>
          <a:xfrm>
            <a:off x="5686654" y="3094330"/>
            <a:ext cx="5735117" cy="2477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np.array( [[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 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np.array( [[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 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</a:t>
            </a:r>
            <a:r>
              <a:rPr lang="en-US" sz="16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element wise product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array([[2, 0],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[0, 4]])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9" name="Google Shape;1219;p4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4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1" name="Google Shape;1221;p43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4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Matrix Product in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3" name="Google Shape;1223;p4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43" descr="preencoded.png"/>
          <p:cNvPicPr preferRelativeResize="0"/>
          <p:nvPr/>
        </p:nvPicPr>
        <p:blipFill rotWithShape="1">
          <a:blip r:embed="rId6">
            <a:alphaModFix/>
          </a:blip>
          <a:srcRect t="-3" b="-3"/>
          <a:stretch/>
        </p:blipFill>
        <p:spPr>
          <a:xfrm>
            <a:off x="609905" y="2467051"/>
            <a:ext cx="4381805" cy="24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43"/>
          <p:cNvSpPr txBox="1"/>
          <p:nvPr/>
        </p:nvSpPr>
        <p:spPr>
          <a:xfrm>
            <a:off x="914400" y="2695651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np.dot()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43"/>
          <p:cNvSpPr txBox="1"/>
          <p:nvPr/>
        </p:nvSpPr>
        <p:spPr>
          <a:xfrm>
            <a:off x="914400" y="3191256"/>
            <a:ext cx="39346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Calculates the standard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matrix product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(dot product) of two arrays, distinguishing it from element-wise multiplication.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7" name="Google Shape;1227;p43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372100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8" name="Google Shape;1228;p43"/>
          <p:cNvSpPr txBox="1"/>
          <p:nvPr/>
        </p:nvSpPr>
        <p:spPr>
          <a:xfrm>
            <a:off x="895198" y="5210251"/>
            <a:ext cx="417240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Unlike the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operator which performs element-wise multiplication,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np.dot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follows linear algebra rules.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9" name="Google Shape;1229;p43" descr="preencoded.png"/>
          <p:cNvPicPr preferRelativeResize="0"/>
          <p:nvPr/>
        </p:nvPicPr>
        <p:blipFill rotWithShape="1">
          <a:blip r:embed="rId8">
            <a:alphaModFix/>
          </a:blip>
          <a:srcRect l="-1" r="-1"/>
          <a:stretch/>
        </p:blipFill>
        <p:spPr>
          <a:xfrm>
            <a:off x="5447995" y="2542032"/>
            <a:ext cx="6133795" cy="3145536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43"/>
          <p:cNvSpPr/>
          <p:nvPr/>
        </p:nvSpPr>
        <p:spPr>
          <a:xfrm>
            <a:off x="5458054" y="255117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43"/>
          <p:cNvSpPr/>
          <p:nvPr/>
        </p:nvSpPr>
        <p:spPr>
          <a:xfrm>
            <a:off x="5458054" y="297088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43"/>
          <p:cNvSpPr/>
          <p:nvPr/>
        </p:nvSpPr>
        <p:spPr>
          <a:xfrm>
            <a:off x="5609844" y="27038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43"/>
          <p:cNvSpPr/>
          <p:nvPr/>
        </p:nvSpPr>
        <p:spPr>
          <a:xfrm>
            <a:off x="5800954" y="27038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43"/>
          <p:cNvSpPr/>
          <p:nvPr/>
        </p:nvSpPr>
        <p:spPr>
          <a:xfrm>
            <a:off x="5991149" y="27038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43"/>
          <p:cNvSpPr txBox="1"/>
          <p:nvPr/>
        </p:nvSpPr>
        <p:spPr>
          <a:xfrm>
            <a:off x="6258154" y="266547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43"/>
          <p:cNvSpPr txBox="1"/>
          <p:nvPr/>
        </p:nvSpPr>
        <p:spPr>
          <a:xfrm>
            <a:off x="5686654" y="3208630"/>
            <a:ext cx="5737860" cy="224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[[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 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[[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 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6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dot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(A, B) </a:t>
            </a: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matrix product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array([[5, 4],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[3, 4]])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4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4" name="Google Shape;1244;p4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4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6" name="Google Shape;1246;p44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4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Division in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8" name="Google Shape;1248;p4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4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905" y="2657246"/>
            <a:ext cx="4381805" cy="20766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44"/>
          <p:cNvSpPr txBox="1"/>
          <p:nvPr/>
        </p:nvSpPr>
        <p:spPr>
          <a:xfrm>
            <a:off x="914400" y="288584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Element-wise Division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44"/>
          <p:cNvSpPr txBox="1"/>
          <p:nvPr/>
        </p:nvSpPr>
        <p:spPr>
          <a:xfrm>
            <a:off x="914400" y="3381451"/>
            <a:ext cx="3934663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Division using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operator applies element-wise and returns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float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results.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2" name="Google Shape;1252;p44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191049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44"/>
          <p:cNvSpPr txBox="1"/>
          <p:nvPr/>
        </p:nvSpPr>
        <p:spPr>
          <a:xfrm>
            <a:off x="895198" y="5038344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Even if inputs are integers, standard division results in floating-point numbers.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4" name="Google Shape;1254;p44" descr="preencoded.png"/>
          <p:cNvPicPr preferRelativeResize="0"/>
          <p:nvPr/>
        </p:nvPicPr>
        <p:blipFill rotWithShape="1">
          <a:blip r:embed="rId8">
            <a:alphaModFix/>
          </a:blip>
          <a:srcRect l="-1" r="-1"/>
          <a:stretch/>
        </p:blipFill>
        <p:spPr>
          <a:xfrm>
            <a:off x="5447995" y="2542032"/>
            <a:ext cx="6133795" cy="3145536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44"/>
          <p:cNvSpPr/>
          <p:nvPr/>
        </p:nvSpPr>
        <p:spPr>
          <a:xfrm>
            <a:off x="5458054" y="255117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44"/>
          <p:cNvSpPr/>
          <p:nvPr/>
        </p:nvSpPr>
        <p:spPr>
          <a:xfrm>
            <a:off x="5458054" y="297088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44"/>
          <p:cNvSpPr/>
          <p:nvPr/>
        </p:nvSpPr>
        <p:spPr>
          <a:xfrm>
            <a:off x="5609844" y="27038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44"/>
          <p:cNvSpPr/>
          <p:nvPr/>
        </p:nvSpPr>
        <p:spPr>
          <a:xfrm>
            <a:off x="5800954" y="27038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44"/>
          <p:cNvSpPr/>
          <p:nvPr/>
        </p:nvSpPr>
        <p:spPr>
          <a:xfrm>
            <a:off x="5991149" y="27038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44"/>
          <p:cNvSpPr txBox="1"/>
          <p:nvPr/>
        </p:nvSpPr>
        <p:spPr>
          <a:xfrm>
            <a:off x="6258154" y="266547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44"/>
          <p:cNvSpPr txBox="1"/>
          <p:nvPr/>
        </p:nvSpPr>
        <p:spPr>
          <a:xfrm>
            <a:off x="5686654" y="3208630"/>
            <a:ext cx="5737860" cy="2248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b is array([1, 2, 3, 4])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a /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array([ 20. , 15. 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13.33333333, 12.5 ])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4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9" name="Google Shape;1269;p4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4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1" name="Google Shape;1271;p45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45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Integer Division in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3" name="Google Shape;1273;p4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45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795321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45"/>
          <p:cNvSpPr txBox="1"/>
          <p:nvPr/>
        </p:nvSpPr>
        <p:spPr>
          <a:xfrm>
            <a:off x="914400" y="3023921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Floor Division (//)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5"/>
          <p:cNvSpPr txBox="1"/>
          <p:nvPr/>
        </p:nvSpPr>
        <p:spPr>
          <a:xfrm>
            <a:off x="914400" y="3519526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Division can be performed on NumPy arrays.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// operator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performs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element-wise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integer (floor) division.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7" name="Google Shape;1277;p45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186477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45"/>
          <p:cNvSpPr txBox="1"/>
          <p:nvPr/>
        </p:nvSpPr>
        <p:spPr>
          <a:xfrm>
            <a:off x="895198" y="5167274"/>
            <a:ext cx="380573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Result rounds down to the nearest integer.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9" name="Google Shape;1279;p45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638044"/>
            <a:ext cx="6133795" cy="2953512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45"/>
          <p:cNvSpPr/>
          <p:nvPr/>
        </p:nvSpPr>
        <p:spPr>
          <a:xfrm>
            <a:off x="5458054" y="2648102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45"/>
          <p:cNvSpPr/>
          <p:nvPr/>
        </p:nvSpPr>
        <p:spPr>
          <a:xfrm>
            <a:off x="5458054" y="3067812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45"/>
          <p:cNvSpPr/>
          <p:nvPr/>
        </p:nvSpPr>
        <p:spPr>
          <a:xfrm>
            <a:off x="5609844" y="2799893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45"/>
          <p:cNvSpPr/>
          <p:nvPr/>
        </p:nvSpPr>
        <p:spPr>
          <a:xfrm>
            <a:off x="5800954" y="2799893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45"/>
          <p:cNvSpPr/>
          <p:nvPr/>
        </p:nvSpPr>
        <p:spPr>
          <a:xfrm>
            <a:off x="5991149" y="2799893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5" name="Google Shape;1285;p45"/>
          <p:cNvSpPr txBox="1"/>
          <p:nvPr/>
        </p:nvSpPr>
        <p:spPr>
          <a:xfrm>
            <a:off x="6258154" y="2762402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5"/>
          <p:cNvSpPr txBox="1"/>
          <p:nvPr/>
        </p:nvSpPr>
        <p:spPr>
          <a:xfrm>
            <a:off x="5686654" y="3304642"/>
            <a:ext cx="57378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b is [1, 2, 3, 4]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a //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array([20, 15, 13, 12])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4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4" name="Google Shape;1294;p4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4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F5F3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96" name="Google Shape;1296;p46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4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Modulus in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8" name="Google Shape;1298;p4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4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905" y="2657246"/>
            <a:ext cx="4381805" cy="2076602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6"/>
          <p:cNvSpPr txBox="1"/>
          <p:nvPr/>
        </p:nvSpPr>
        <p:spPr>
          <a:xfrm>
            <a:off x="914400" y="288584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Element-wise Modulus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46"/>
          <p:cNvSpPr txBox="1"/>
          <p:nvPr/>
        </p:nvSpPr>
        <p:spPr>
          <a:xfrm>
            <a:off x="914400" y="3381451"/>
            <a:ext cx="3934663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modulus operator </a:t>
            </a:r>
            <a:r>
              <a:rPr lang="en-US" sz="1800" b="1" i="0" u="none" strike="noStrike" cap="non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can be applied on NumPy arrays element-wise to find the remainder.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2" name="Google Shape;1302;p46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191049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46"/>
          <p:cNvSpPr txBox="1"/>
          <p:nvPr/>
        </p:nvSpPr>
        <p:spPr>
          <a:xfrm>
            <a:off x="895198" y="5038344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Calculates the remainder of division for each corresponding element.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4" name="Google Shape;1304;p46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638044"/>
            <a:ext cx="6133795" cy="29535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46"/>
          <p:cNvSpPr/>
          <p:nvPr/>
        </p:nvSpPr>
        <p:spPr>
          <a:xfrm>
            <a:off x="5458054" y="2648102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46"/>
          <p:cNvSpPr/>
          <p:nvPr/>
        </p:nvSpPr>
        <p:spPr>
          <a:xfrm>
            <a:off x="5458054" y="3067812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46"/>
          <p:cNvSpPr/>
          <p:nvPr/>
        </p:nvSpPr>
        <p:spPr>
          <a:xfrm>
            <a:off x="5609844" y="2799893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8" name="Google Shape;1308;p46"/>
          <p:cNvSpPr/>
          <p:nvPr/>
        </p:nvSpPr>
        <p:spPr>
          <a:xfrm>
            <a:off x="5800954" y="2799893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46"/>
          <p:cNvSpPr/>
          <p:nvPr/>
        </p:nvSpPr>
        <p:spPr>
          <a:xfrm>
            <a:off x="5991149" y="2799893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0" name="Google Shape;1310;p46"/>
          <p:cNvSpPr txBox="1"/>
          <p:nvPr/>
        </p:nvSpPr>
        <p:spPr>
          <a:xfrm>
            <a:off x="6258154" y="2762402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46"/>
          <p:cNvSpPr txBox="1"/>
          <p:nvPr/>
        </p:nvSpPr>
        <p:spPr>
          <a:xfrm>
            <a:off x="5686654" y="3304642"/>
            <a:ext cx="57378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[1, 2, 3, 4]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600" b="0" i="0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% </a:t>
            </a:r>
            <a:r>
              <a:rPr lang="en-US" sz="1600" b="0" i="0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array([0, 0, 1, 2])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4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4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9" name="Google Shape;1319;p4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4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1" name="Google Shape;1321;p47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4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Exponents in NumPy arrays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3" name="Google Shape;1323;p4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7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7"/>
          <p:cNvSpPr txBox="1"/>
          <p:nvPr/>
        </p:nvSpPr>
        <p:spPr>
          <a:xfrm>
            <a:off x="914400" y="28904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Power Operator (**)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47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We can find the exponent of each element in a NumPy array. The operation is applied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element-wise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7" name="Google Shape;1327;p47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186477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47"/>
          <p:cNvSpPr txBox="1"/>
          <p:nvPr/>
        </p:nvSpPr>
        <p:spPr>
          <a:xfrm>
            <a:off x="895198" y="5033772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Raises elements of the first array to powers from the second array.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9" name="Google Shape;1329;p47" descr="preencoded.png"/>
          <p:cNvPicPr preferRelativeResize="0"/>
          <p:nvPr/>
        </p:nvPicPr>
        <p:blipFill rotWithShape="1">
          <a:blip r:embed="rId8">
            <a:alphaModFix/>
          </a:blip>
          <a:srcRect l="-5" r="-4"/>
          <a:stretch/>
        </p:blipFill>
        <p:spPr>
          <a:xfrm>
            <a:off x="5447995" y="2809037"/>
            <a:ext cx="6133795" cy="2611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47"/>
          <p:cNvSpPr/>
          <p:nvPr/>
        </p:nvSpPr>
        <p:spPr>
          <a:xfrm>
            <a:off x="5458054" y="2818181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47"/>
          <p:cNvSpPr/>
          <p:nvPr/>
        </p:nvSpPr>
        <p:spPr>
          <a:xfrm>
            <a:off x="5458054" y="3237890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47"/>
          <p:cNvSpPr/>
          <p:nvPr/>
        </p:nvSpPr>
        <p:spPr>
          <a:xfrm>
            <a:off x="5609844" y="297088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3" name="Google Shape;1333;p47"/>
          <p:cNvSpPr/>
          <p:nvPr/>
        </p:nvSpPr>
        <p:spPr>
          <a:xfrm>
            <a:off x="5800954" y="297088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47"/>
          <p:cNvSpPr/>
          <p:nvPr/>
        </p:nvSpPr>
        <p:spPr>
          <a:xfrm>
            <a:off x="5991149" y="297088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47"/>
          <p:cNvSpPr txBox="1"/>
          <p:nvPr/>
        </p:nvSpPr>
        <p:spPr>
          <a:xfrm>
            <a:off x="6258154" y="2932481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47"/>
          <p:cNvSpPr txBox="1"/>
          <p:nvPr/>
        </p:nvSpPr>
        <p:spPr>
          <a:xfrm>
            <a:off x="5686654" y="3475634"/>
            <a:ext cx="573786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[1, 2, 3, 4]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a </a:t>
            </a:r>
            <a:r>
              <a:rPr lang="en-US" sz="16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array([ 20, 900, 64000, 6250000])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4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4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4" name="Google Shape;1344;p4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48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48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48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Conditional Operators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8" name="Google Shape;1348;p4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48" descr="preencoded.png"/>
          <p:cNvPicPr preferRelativeResize="0"/>
          <p:nvPr/>
        </p:nvPicPr>
        <p:blipFill rotWithShape="1">
          <a:blip r:embed="rId6">
            <a:alphaModFix/>
          </a:blip>
          <a:srcRect l="-7" r="-6"/>
          <a:stretch/>
        </p:blipFill>
        <p:spPr>
          <a:xfrm>
            <a:off x="609905" y="2409444"/>
            <a:ext cx="4381805" cy="22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48"/>
          <p:cNvSpPr txBox="1"/>
          <p:nvPr/>
        </p:nvSpPr>
        <p:spPr>
          <a:xfrm>
            <a:off x="914400" y="2638044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Element-wise Logic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8"/>
          <p:cNvSpPr txBox="1"/>
          <p:nvPr/>
        </p:nvSpPr>
        <p:spPr>
          <a:xfrm>
            <a:off x="914400" y="3133649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Conditional operators in NumPy are applied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element-wise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returning boolean arrays.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48"/>
          <p:cNvSpPr txBox="1"/>
          <p:nvPr/>
        </p:nvSpPr>
        <p:spPr>
          <a:xfrm>
            <a:off x="914400" y="3829507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This powerful feature allows for efficient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filtering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and mask-based indexing.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48"/>
          <p:cNvSpPr/>
          <p:nvPr/>
        </p:nvSpPr>
        <p:spPr>
          <a:xfrm>
            <a:off x="609905" y="4905756"/>
            <a:ext cx="381305" cy="381305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4" name="Google Shape;1354;p48" descr="preencoded.png"/>
          <p:cNvPicPr preferRelativeResize="0"/>
          <p:nvPr/>
        </p:nvPicPr>
        <p:blipFill rotWithShape="1">
          <a:blip r:embed="rId7">
            <a:alphaModFix/>
          </a:blip>
          <a:srcRect t="-43" b="-42"/>
          <a:stretch/>
        </p:blipFill>
        <p:spPr>
          <a:xfrm>
            <a:off x="733349" y="5020056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48"/>
          <p:cNvSpPr txBox="1"/>
          <p:nvPr/>
        </p:nvSpPr>
        <p:spPr>
          <a:xfrm>
            <a:off x="1143000" y="4962449"/>
            <a:ext cx="312907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Comparison returns Boolean array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48"/>
          <p:cNvSpPr/>
          <p:nvPr/>
        </p:nvSpPr>
        <p:spPr>
          <a:xfrm>
            <a:off x="609905" y="5438851"/>
            <a:ext cx="381305" cy="381305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7" name="Google Shape;1357;p4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4205" y="555315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48"/>
          <p:cNvSpPr txBox="1"/>
          <p:nvPr/>
        </p:nvSpPr>
        <p:spPr>
          <a:xfrm>
            <a:off x="1143000" y="5495544"/>
            <a:ext cx="260786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Use for conditional selection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9" name="Google Shape;1359;p48" descr="preencoded.png"/>
          <p:cNvPicPr preferRelativeResize="0"/>
          <p:nvPr/>
        </p:nvPicPr>
        <p:blipFill rotWithShape="1">
          <a:blip r:embed="rId9">
            <a:alphaModFix/>
          </a:blip>
          <a:srcRect t="-2" b="-2"/>
          <a:stretch/>
        </p:blipFill>
        <p:spPr>
          <a:xfrm>
            <a:off x="5447995" y="1828800"/>
            <a:ext cx="613379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48"/>
          <p:cNvSpPr/>
          <p:nvPr/>
        </p:nvSpPr>
        <p:spPr>
          <a:xfrm>
            <a:off x="5458054" y="183794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48"/>
          <p:cNvSpPr/>
          <p:nvPr/>
        </p:nvSpPr>
        <p:spPr>
          <a:xfrm>
            <a:off x="5458054" y="2257654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48"/>
          <p:cNvSpPr/>
          <p:nvPr/>
        </p:nvSpPr>
        <p:spPr>
          <a:xfrm>
            <a:off x="5609844" y="1990649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3" name="Google Shape;1363;p48"/>
          <p:cNvSpPr/>
          <p:nvPr/>
        </p:nvSpPr>
        <p:spPr>
          <a:xfrm>
            <a:off x="5800954" y="1990649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4" name="Google Shape;1364;p48"/>
          <p:cNvSpPr/>
          <p:nvPr/>
        </p:nvSpPr>
        <p:spPr>
          <a:xfrm>
            <a:off x="5991149" y="1990649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1365;p48"/>
          <p:cNvSpPr txBox="1"/>
          <p:nvPr/>
        </p:nvSpPr>
        <p:spPr>
          <a:xfrm>
            <a:off x="6258154" y="195224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48"/>
          <p:cNvSpPr txBox="1"/>
          <p:nvPr/>
        </p:nvSpPr>
        <p:spPr>
          <a:xfrm>
            <a:off x="5686654" y="2495398"/>
            <a:ext cx="5735117" cy="401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-5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Element-wise comparison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 &lt;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], dtype=bool)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Scalar comparison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 &lt;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1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], dtype=bool)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Filtering: Get elements below 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m[m &lt;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</a:t>
            </a:r>
            <a:r>
              <a:rPr lang="en-US" sz="1600" b="0" i="1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1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-5</a:t>
            </a: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48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48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49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5" name="Google Shape;1375;p49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49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0211105" y="761695"/>
            <a:ext cx="1218895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4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10287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49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4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8851" y="1609344"/>
            <a:ext cx="1314907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4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53405" y="1923898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49"/>
          <p:cNvSpPr txBox="1"/>
          <p:nvPr/>
        </p:nvSpPr>
        <p:spPr>
          <a:xfrm>
            <a:off x="2852928" y="3152851"/>
            <a:ext cx="6486754" cy="152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0"/>
              <a:buFont typeface="Poppins"/>
              <a:buNone/>
            </a:pPr>
            <a:r>
              <a:rPr lang="en-US" sz="6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Broadcasting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000"/>
              <a:buFont typeface="Poppins"/>
              <a:buNone/>
            </a:pPr>
            <a:r>
              <a:rPr lang="en-US" sz="6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 NumPy arrays 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2" name="Google Shape;1382;p49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828946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5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9" name="Google Shape;1389;p5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0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50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5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What is Broadcasting?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3" name="Google Shape;1393;p5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50"/>
          <p:cNvSpPr txBox="1"/>
          <p:nvPr/>
        </p:nvSpPr>
        <p:spPr>
          <a:xfrm>
            <a:off x="609905" y="1295705"/>
            <a:ext cx="1108710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NumPy's mechanism for performing operations on arrays of different shapes.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50"/>
          <p:cNvSpPr/>
          <p:nvPr/>
        </p:nvSpPr>
        <p:spPr>
          <a:xfrm>
            <a:off x="1105510" y="2147926"/>
            <a:ext cx="2210105" cy="2857500"/>
          </a:xfrm>
          <a:prstGeom prst="roundRect">
            <a:avLst>
              <a:gd name="adj" fmla="val 2853"/>
            </a:avLst>
          </a:prstGeom>
          <a:solidFill>
            <a:srgbClr val="F1F5F9"/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6" name="Google Shape;1396;p50"/>
          <p:cNvSpPr txBox="1"/>
          <p:nvPr/>
        </p:nvSpPr>
        <p:spPr>
          <a:xfrm>
            <a:off x="1249070" y="23189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50"/>
          <p:cNvSpPr txBox="1"/>
          <p:nvPr/>
        </p:nvSpPr>
        <p:spPr>
          <a:xfrm>
            <a:off x="1896466" y="23189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50"/>
          <p:cNvSpPr txBox="1"/>
          <p:nvPr/>
        </p:nvSpPr>
        <p:spPr>
          <a:xfrm>
            <a:off x="2543861" y="23189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50"/>
          <p:cNvSpPr txBox="1"/>
          <p:nvPr/>
        </p:nvSpPr>
        <p:spPr>
          <a:xfrm>
            <a:off x="1249070" y="296722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50"/>
          <p:cNvSpPr txBox="1"/>
          <p:nvPr/>
        </p:nvSpPr>
        <p:spPr>
          <a:xfrm>
            <a:off x="1896466" y="296722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50"/>
          <p:cNvSpPr txBox="1"/>
          <p:nvPr/>
        </p:nvSpPr>
        <p:spPr>
          <a:xfrm>
            <a:off x="2543861" y="296722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50"/>
          <p:cNvSpPr txBox="1"/>
          <p:nvPr/>
        </p:nvSpPr>
        <p:spPr>
          <a:xfrm>
            <a:off x="1249070" y="3614623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50"/>
          <p:cNvSpPr txBox="1"/>
          <p:nvPr/>
        </p:nvSpPr>
        <p:spPr>
          <a:xfrm>
            <a:off x="1896466" y="3614623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50"/>
          <p:cNvSpPr txBox="1"/>
          <p:nvPr/>
        </p:nvSpPr>
        <p:spPr>
          <a:xfrm>
            <a:off x="2543861" y="3614623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50"/>
          <p:cNvSpPr txBox="1"/>
          <p:nvPr/>
        </p:nvSpPr>
        <p:spPr>
          <a:xfrm>
            <a:off x="1249070" y="42620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50"/>
          <p:cNvSpPr txBox="1"/>
          <p:nvPr/>
        </p:nvSpPr>
        <p:spPr>
          <a:xfrm>
            <a:off x="1896466" y="42620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50"/>
          <p:cNvSpPr txBox="1"/>
          <p:nvPr/>
        </p:nvSpPr>
        <p:spPr>
          <a:xfrm>
            <a:off x="2543861" y="42620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50"/>
          <p:cNvSpPr txBox="1"/>
          <p:nvPr/>
        </p:nvSpPr>
        <p:spPr>
          <a:xfrm>
            <a:off x="1772107" y="5081321"/>
            <a:ext cx="884225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(4, 3) Array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50"/>
          <p:cNvSpPr txBox="1"/>
          <p:nvPr/>
        </p:nvSpPr>
        <p:spPr>
          <a:xfrm>
            <a:off x="3468319" y="3372307"/>
            <a:ext cx="33375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600"/>
              <a:buFont typeface="Roboto"/>
              <a:buNone/>
            </a:pPr>
            <a:r>
              <a:rPr lang="en-US" sz="3600" b="1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50"/>
          <p:cNvSpPr/>
          <p:nvPr/>
        </p:nvSpPr>
        <p:spPr>
          <a:xfrm>
            <a:off x="3869741" y="3119018"/>
            <a:ext cx="2210105" cy="9144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0"/>
          <p:cNvSpPr txBox="1"/>
          <p:nvPr/>
        </p:nvSpPr>
        <p:spPr>
          <a:xfrm>
            <a:off x="4012387" y="3290926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50"/>
          <p:cNvSpPr txBox="1"/>
          <p:nvPr/>
        </p:nvSpPr>
        <p:spPr>
          <a:xfrm>
            <a:off x="4660697" y="3290926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50"/>
          <p:cNvSpPr txBox="1"/>
          <p:nvPr/>
        </p:nvSpPr>
        <p:spPr>
          <a:xfrm>
            <a:off x="5308092" y="3290926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50"/>
          <p:cNvSpPr txBox="1"/>
          <p:nvPr/>
        </p:nvSpPr>
        <p:spPr>
          <a:xfrm>
            <a:off x="4607662" y="4110228"/>
            <a:ext cx="737006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(3,) Array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5" name="Google Shape;1415;p50" descr="preencoded.png"/>
          <p:cNvPicPr preferRelativeResize="0"/>
          <p:nvPr/>
        </p:nvPicPr>
        <p:blipFill rotWithShape="1">
          <a:blip r:embed="rId7">
            <a:alphaModFix/>
          </a:blip>
          <a:srcRect l="-743" r="-742"/>
          <a:stretch/>
        </p:blipFill>
        <p:spPr>
          <a:xfrm>
            <a:off x="6231636" y="3567074"/>
            <a:ext cx="30449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50"/>
          <p:cNvSpPr/>
          <p:nvPr/>
        </p:nvSpPr>
        <p:spPr>
          <a:xfrm>
            <a:off x="6890004" y="1690726"/>
            <a:ext cx="2018995" cy="267005"/>
          </a:xfrm>
          <a:prstGeom prst="roundRect">
            <a:avLst>
              <a:gd name="adj" fmla="val 342465"/>
            </a:avLst>
          </a:prstGeom>
          <a:solidFill>
            <a:srgbClr val="2563E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7" name="Google Shape;1417;p50"/>
          <p:cNvSpPr txBox="1"/>
          <p:nvPr/>
        </p:nvSpPr>
        <p:spPr>
          <a:xfrm>
            <a:off x="6890004" y="1690726"/>
            <a:ext cx="2095805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Broadcasting Happens Here!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50"/>
          <p:cNvSpPr/>
          <p:nvPr/>
        </p:nvSpPr>
        <p:spPr>
          <a:xfrm>
            <a:off x="6793992" y="2147926"/>
            <a:ext cx="2210105" cy="2857500"/>
          </a:xfrm>
          <a:prstGeom prst="roundRect">
            <a:avLst>
              <a:gd name="adj" fmla="val 2853"/>
            </a:avLst>
          </a:prstGeom>
          <a:solidFill>
            <a:srgbClr val="F1F5F9"/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9" name="Google Shape;1419;p50"/>
          <p:cNvSpPr txBox="1"/>
          <p:nvPr/>
        </p:nvSpPr>
        <p:spPr>
          <a:xfrm>
            <a:off x="6936638" y="23189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50"/>
          <p:cNvSpPr txBox="1"/>
          <p:nvPr/>
        </p:nvSpPr>
        <p:spPr>
          <a:xfrm>
            <a:off x="7584948" y="23189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0"/>
          <p:cNvSpPr txBox="1"/>
          <p:nvPr/>
        </p:nvSpPr>
        <p:spPr>
          <a:xfrm>
            <a:off x="8232343" y="2318918"/>
            <a:ext cx="629107" cy="57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50"/>
          <p:cNvSpPr txBox="1"/>
          <p:nvPr/>
        </p:nvSpPr>
        <p:spPr>
          <a:xfrm>
            <a:off x="6936638" y="2967228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0"/>
          <p:cNvSpPr txBox="1"/>
          <p:nvPr/>
        </p:nvSpPr>
        <p:spPr>
          <a:xfrm>
            <a:off x="7584948" y="2967228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50"/>
          <p:cNvSpPr txBox="1"/>
          <p:nvPr/>
        </p:nvSpPr>
        <p:spPr>
          <a:xfrm>
            <a:off x="8232343" y="2967228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50"/>
          <p:cNvSpPr txBox="1"/>
          <p:nvPr/>
        </p:nvSpPr>
        <p:spPr>
          <a:xfrm>
            <a:off x="6936638" y="3614623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50"/>
          <p:cNvSpPr txBox="1"/>
          <p:nvPr/>
        </p:nvSpPr>
        <p:spPr>
          <a:xfrm>
            <a:off x="7584948" y="3614623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50"/>
          <p:cNvSpPr txBox="1"/>
          <p:nvPr/>
        </p:nvSpPr>
        <p:spPr>
          <a:xfrm>
            <a:off x="8232343" y="3614623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50"/>
          <p:cNvSpPr txBox="1"/>
          <p:nvPr/>
        </p:nvSpPr>
        <p:spPr>
          <a:xfrm>
            <a:off x="6936638" y="4262018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50"/>
          <p:cNvSpPr txBox="1"/>
          <p:nvPr/>
        </p:nvSpPr>
        <p:spPr>
          <a:xfrm>
            <a:off x="7584948" y="4262018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50"/>
          <p:cNvSpPr txBox="1"/>
          <p:nvPr/>
        </p:nvSpPr>
        <p:spPr>
          <a:xfrm>
            <a:off x="8232343" y="4262018"/>
            <a:ext cx="629107" cy="571500"/>
          </a:xfrm>
          <a:prstGeom prst="rect">
            <a:avLst/>
          </a:prstGeom>
          <a:solidFill>
            <a:srgbClr val="EFF6FF">
              <a:alpha val="80000"/>
            </a:srgbClr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50"/>
          <p:cNvSpPr txBox="1"/>
          <p:nvPr/>
        </p:nvSpPr>
        <p:spPr>
          <a:xfrm>
            <a:off x="6458407" y="5081321"/>
            <a:ext cx="2890418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Smaller array is "stretched" vertically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50"/>
          <p:cNvSpPr txBox="1"/>
          <p:nvPr/>
        </p:nvSpPr>
        <p:spPr>
          <a:xfrm>
            <a:off x="9261043" y="3372307"/>
            <a:ext cx="342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3600"/>
              <a:buFont typeface="Roboto"/>
              <a:buNone/>
            </a:pPr>
            <a:r>
              <a:rPr lang="en-US" sz="3600" b="1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50"/>
          <p:cNvSpPr/>
          <p:nvPr/>
        </p:nvSpPr>
        <p:spPr>
          <a:xfrm>
            <a:off x="9676181" y="2800807"/>
            <a:ext cx="1410005" cy="1828800"/>
          </a:xfrm>
          <a:prstGeom prst="roundRect">
            <a:avLst>
              <a:gd name="adj" fmla="val 7011"/>
            </a:avLst>
          </a:prstGeom>
          <a:solidFill>
            <a:srgbClr val="F1F5F9">
              <a:alpha val="74901"/>
            </a:srgbClr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50"/>
          <p:cNvSpPr txBox="1"/>
          <p:nvPr/>
        </p:nvSpPr>
        <p:spPr>
          <a:xfrm>
            <a:off x="9742932" y="289590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50"/>
          <p:cNvSpPr txBox="1"/>
          <p:nvPr/>
        </p:nvSpPr>
        <p:spPr>
          <a:xfrm>
            <a:off x="10161727" y="289590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50"/>
          <p:cNvSpPr txBox="1"/>
          <p:nvPr/>
        </p:nvSpPr>
        <p:spPr>
          <a:xfrm>
            <a:off x="10581437" y="289590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50"/>
          <p:cNvSpPr txBox="1"/>
          <p:nvPr/>
        </p:nvSpPr>
        <p:spPr>
          <a:xfrm>
            <a:off x="9742932" y="3314700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50"/>
          <p:cNvSpPr txBox="1"/>
          <p:nvPr/>
        </p:nvSpPr>
        <p:spPr>
          <a:xfrm>
            <a:off x="10161727" y="3314700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50"/>
          <p:cNvSpPr txBox="1"/>
          <p:nvPr/>
        </p:nvSpPr>
        <p:spPr>
          <a:xfrm>
            <a:off x="10581437" y="3314700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50"/>
          <p:cNvSpPr txBox="1"/>
          <p:nvPr/>
        </p:nvSpPr>
        <p:spPr>
          <a:xfrm>
            <a:off x="9742932" y="373349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50"/>
          <p:cNvSpPr txBox="1"/>
          <p:nvPr/>
        </p:nvSpPr>
        <p:spPr>
          <a:xfrm>
            <a:off x="10161727" y="373349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50"/>
          <p:cNvSpPr txBox="1"/>
          <p:nvPr/>
        </p:nvSpPr>
        <p:spPr>
          <a:xfrm>
            <a:off x="10581437" y="373349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50"/>
          <p:cNvSpPr txBox="1"/>
          <p:nvPr/>
        </p:nvSpPr>
        <p:spPr>
          <a:xfrm>
            <a:off x="9742932" y="415320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50"/>
          <p:cNvSpPr txBox="1"/>
          <p:nvPr/>
        </p:nvSpPr>
        <p:spPr>
          <a:xfrm>
            <a:off x="10161727" y="415320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50"/>
          <p:cNvSpPr txBox="1"/>
          <p:nvPr/>
        </p:nvSpPr>
        <p:spPr>
          <a:xfrm>
            <a:off x="10581437" y="4153205"/>
            <a:ext cx="438912" cy="381305"/>
          </a:xfrm>
          <a:prstGeom prst="rect">
            <a:avLst/>
          </a:prstGeom>
          <a:solidFill>
            <a:srgbClr val="FFFFFF">
              <a:alpha val="74901"/>
            </a:srgbClr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6" name="Google Shape;1446;p50" descr="preencoded.png"/>
          <p:cNvPicPr preferRelativeResize="0"/>
          <p:nvPr/>
        </p:nvPicPr>
        <p:blipFill rotWithShape="1">
          <a:blip r:embed="rId8">
            <a:alphaModFix/>
          </a:blip>
          <a:srcRect l="-18" r="-18"/>
          <a:stretch/>
        </p:blipFill>
        <p:spPr>
          <a:xfrm>
            <a:off x="1828800" y="5586070"/>
            <a:ext cx="853409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50"/>
          <p:cNvSpPr txBox="1"/>
          <p:nvPr/>
        </p:nvSpPr>
        <p:spPr>
          <a:xfrm>
            <a:off x="2133295" y="5700370"/>
            <a:ext cx="807781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smaller array is mathematically </a:t>
            </a:r>
            <a:r>
              <a:rPr lang="en-US" sz="13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across the larger array so they have compatible shapes for the operation.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8" name="Google Shape;1448;p5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5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55" name="Google Shape;1455;p5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5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p5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51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What is Broadcasting?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9" name="Google Shape;1459;p51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" name="Google Shape;1460;p51" descr="preencoded.png"/>
          <p:cNvPicPr preferRelativeResize="0"/>
          <p:nvPr/>
        </p:nvPicPr>
        <p:blipFill rotWithShape="1">
          <a:blip r:embed="rId7">
            <a:alphaModFix/>
          </a:blip>
          <a:srcRect l="-44" r="-44"/>
          <a:stretch/>
        </p:blipFill>
        <p:spPr>
          <a:xfrm>
            <a:off x="10687507" y="3045866"/>
            <a:ext cx="51480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1" name="Google Shape;1461;p5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1095" y="44293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51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3" name="Google Shape;1463;p51" descr="preencoded.png"/>
          <p:cNvPicPr preferRelativeResize="0"/>
          <p:nvPr/>
        </p:nvPicPr>
        <p:blipFill rotWithShape="1">
          <a:blip r:embed="rId9">
            <a:alphaModFix/>
          </a:blip>
          <a:srcRect t="-4" b="-4"/>
          <a:stretch/>
        </p:blipFill>
        <p:spPr>
          <a:xfrm>
            <a:off x="609905" y="2505456"/>
            <a:ext cx="6096305" cy="2324405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51"/>
          <p:cNvSpPr txBox="1"/>
          <p:nvPr/>
        </p:nvSpPr>
        <p:spPr>
          <a:xfrm>
            <a:off x="990295" y="2809951"/>
            <a:ext cx="551749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In general, when NumPy expects arrays of the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same shape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but finds that this is not the case, it applies the so-called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broadcasting rules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5" name="Google Shape;1465;p5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24865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6" name="Google Shape;1466;p51" descr="preencoded.png"/>
          <p:cNvPicPr preferRelativeResize="0"/>
          <p:nvPr/>
        </p:nvPicPr>
        <p:blipFill rotWithShape="1">
          <a:blip r:embed="rId11">
            <a:alphaModFix/>
          </a:blip>
          <a:srcRect l="-9615" r="-9615"/>
          <a:stretch/>
        </p:blipFill>
        <p:spPr>
          <a:xfrm>
            <a:off x="823874" y="5381244"/>
            <a:ext cx="283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51"/>
          <p:cNvSpPr txBox="1"/>
          <p:nvPr/>
        </p:nvSpPr>
        <p:spPr>
          <a:xfrm>
            <a:off x="1295705" y="5210251"/>
            <a:ext cx="5496458" cy="70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Basically there are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2 rules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of Broadcasting to remember.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8" name="Google Shape;1468;p51" descr="preencoded.png"/>
          <p:cNvPicPr preferRelativeResize="0"/>
          <p:nvPr/>
        </p:nvPicPr>
        <p:blipFill rotWithShape="1">
          <a:blip r:embed="rId12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9" name="Google Shape;1469;p51" descr="preencoded.png"/>
          <p:cNvPicPr preferRelativeResize="0"/>
          <p:nvPr/>
        </p:nvPicPr>
        <p:blipFill rotWithShape="1">
          <a:blip r:embed="rId13">
            <a:alphaModFix amt="90000"/>
          </a:blip>
          <a:srcRect/>
          <a:stretch/>
        </p:blipFill>
        <p:spPr>
          <a:xfrm>
            <a:off x="8229600" y="3143707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5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6" name="Google Shape;1476;p5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5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5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5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First rule of Broadcasting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0" name="Google Shape;1480;p5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52"/>
          <p:cNvSpPr/>
          <p:nvPr/>
        </p:nvSpPr>
        <p:spPr>
          <a:xfrm>
            <a:off x="2562149" y="2302459"/>
            <a:ext cx="2095805" cy="1524305"/>
          </a:xfrm>
          <a:prstGeom prst="roundRect">
            <a:avLst>
              <a:gd name="adj" fmla="val 5999"/>
            </a:avLst>
          </a:prstGeom>
          <a:solidFill>
            <a:srgbClr val="F1F5F9"/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52"/>
          <p:cNvSpPr txBox="1"/>
          <p:nvPr/>
        </p:nvSpPr>
        <p:spPr>
          <a:xfrm>
            <a:off x="3142793" y="2473452"/>
            <a:ext cx="10195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[[[1, 3]]]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52"/>
          <p:cNvSpPr/>
          <p:nvPr/>
        </p:nvSpPr>
        <p:spPr>
          <a:xfrm>
            <a:off x="2809951" y="2777947"/>
            <a:ext cx="1600200" cy="875995"/>
          </a:xfrm>
          <a:prstGeom prst="roundRect">
            <a:avLst>
              <a:gd name="adj" fmla="val 9077"/>
            </a:avLst>
          </a:prstGeom>
          <a:solidFill>
            <a:srgbClr val="FFFFFF">
              <a:alpha val="49803"/>
            </a:srgbClr>
          </a:solidFill>
          <a:ln w="254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52"/>
          <p:cNvSpPr/>
          <p:nvPr/>
        </p:nvSpPr>
        <p:spPr>
          <a:xfrm>
            <a:off x="2885846" y="2854757"/>
            <a:ext cx="1447495" cy="724205"/>
          </a:xfrm>
          <a:prstGeom prst="roundRect">
            <a:avLst>
              <a:gd name="adj" fmla="val 13291"/>
            </a:avLst>
          </a:prstGeom>
          <a:solidFill>
            <a:srgbClr val="FFFFFF">
              <a:alpha val="49803"/>
            </a:srgbClr>
          </a:solidFill>
          <a:ln w="254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52"/>
          <p:cNvSpPr txBox="1"/>
          <p:nvPr/>
        </p:nvSpPr>
        <p:spPr>
          <a:xfrm>
            <a:off x="2971800" y="2930652"/>
            <a:ext cx="629107" cy="5715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52"/>
          <p:cNvSpPr txBox="1"/>
          <p:nvPr/>
        </p:nvSpPr>
        <p:spPr>
          <a:xfrm>
            <a:off x="3619195" y="2930652"/>
            <a:ext cx="629107" cy="5715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52"/>
          <p:cNvSpPr/>
          <p:nvPr/>
        </p:nvSpPr>
        <p:spPr>
          <a:xfrm>
            <a:off x="2878531" y="3978554"/>
            <a:ext cx="1466698" cy="286207"/>
          </a:xfrm>
          <a:prstGeom prst="roundRect">
            <a:avLst>
              <a:gd name="adj" fmla="val 42599"/>
            </a:avLst>
          </a:prstGeom>
          <a:solidFill>
            <a:srgbClr val="E2E8F0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8" name="Google Shape;1488;p52"/>
          <p:cNvSpPr txBox="1"/>
          <p:nvPr/>
        </p:nvSpPr>
        <p:spPr>
          <a:xfrm>
            <a:off x="2878531" y="3978554"/>
            <a:ext cx="1526134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Shape (1, 1, 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9" name="Google Shape;1489;p52" descr="preencoded.png"/>
          <p:cNvPicPr preferRelativeResize="0"/>
          <p:nvPr/>
        </p:nvPicPr>
        <p:blipFill rotWithShape="1">
          <a:blip r:embed="rId7">
            <a:alphaModFix/>
          </a:blip>
          <a:srcRect l="-17" r="-16"/>
          <a:stretch/>
        </p:blipFill>
        <p:spPr>
          <a:xfrm>
            <a:off x="4886554" y="3090672"/>
            <a:ext cx="333756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1490" name="Google Shape;1490;p52"/>
          <p:cNvSpPr/>
          <p:nvPr/>
        </p:nvSpPr>
        <p:spPr>
          <a:xfrm>
            <a:off x="5447995" y="2378354"/>
            <a:ext cx="1295705" cy="1371600"/>
          </a:xfrm>
          <a:prstGeom prst="roundRect">
            <a:avLst>
              <a:gd name="adj" fmla="val 8303"/>
            </a:avLst>
          </a:prstGeom>
          <a:solidFill>
            <a:srgbClr val="F1F5F9"/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52"/>
          <p:cNvSpPr txBox="1"/>
          <p:nvPr/>
        </p:nvSpPr>
        <p:spPr>
          <a:xfrm>
            <a:off x="5956402" y="2549347"/>
            <a:ext cx="362102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[5]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52"/>
          <p:cNvSpPr/>
          <p:nvPr/>
        </p:nvSpPr>
        <p:spPr>
          <a:xfrm>
            <a:off x="5695798" y="2854757"/>
            <a:ext cx="800100" cy="724205"/>
          </a:xfrm>
          <a:prstGeom prst="roundRect">
            <a:avLst>
              <a:gd name="adj" fmla="val 13291"/>
            </a:avLst>
          </a:prstGeom>
          <a:solidFill>
            <a:srgbClr val="FFFFFF">
              <a:alpha val="49803"/>
            </a:srgbClr>
          </a:solidFill>
          <a:ln w="254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3" name="Google Shape;1493;p52"/>
          <p:cNvSpPr txBox="1"/>
          <p:nvPr/>
        </p:nvSpPr>
        <p:spPr>
          <a:xfrm>
            <a:off x="5781751" y="2930652"/>
            <a:ext cx="629107" cy="5715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52"/>
          <p:cNvSpPr/>
          <p:nvPr/>
        </p:nvSpPr>
        <p:spPr>
          <a:xfrm>
            <a:off x="5529377" y="3902659"/>
            <a:ext cx="1133856" cy="286207"/>
          </a:xfrm>
          <a:prstGeom prst="roundRect">
            <a:avLst>
              <a:gd name="adj" fmla="val 42599"/>
            </a:avLst>
          </a:prstGeom>
          <a:solidFill>
            <a:srgbClr val="E2E8F0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5" name="Google Shape;1495;p52"/>
          <p:cNvSpPr txBox="1"/>
          <p:nvPr/>
        </p:nvSpPr>
        <p:spPr>
          <a:xfrm>
            <a:off x="5529377" y="3902659"/>
            <a:ext cx="1191463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Shape (1, 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6" name="Google Shape;1496;p52" descr="preencoded.png"/>
          <p:cNvPicPr preferRelativeResize="0"/>
          <p:nvPr/>
        </p:nvPicPr>
        <p:blipFill rotWithShape="1">
          <a:blip r:embed="rId8">
            <a:alphaModFix/>
          </a:blip>
          <a:srcRect l="-17" r="-16"/>
          <a:stretch/>
        </p:blipFill>
        <p:spPr>
          <a:xfrm>
            <a:off x="6972300" y="3090672"/>
            <a:ext cx="333756" cy="381305"/>
          </a:xfrm>
          <a:prstGeom prst="rect">
            <a:avLst/>
          </a:prstGeom>
          <a:noFill/>
          <a:ln>
            <a:noFill/>
          </a:ln>
        </p:spPr>
      </p:pic>
      <p:sp>
        <p:nvSpPr>
          <p:cNvPr id="1497" name="Google Shape;1497;p52"/>
          <p:cNvSpPr/>
          <p:nvPr/>
        </p:nvSpPr>
        <p:spPr>
          <a:xfrm>
            <a:off x="7534656" y="2302459"/>
            <a:ext cx="2095805" cy="1524305"/>
          </a:xfrm>
          <a:prstGeom prst="roundRect">
            <a:avLst>
              <a:gd name="adj" fmla="val 5999"/>
            </a:avLst>
          </a:prstGeom>
          <a:solidFill>
            <a:srgbClr val="F1F5F9"/>
          </a:solidFill>
          <a:ln w="254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8" name="Google Shape;1498;p52"/>
          <p:cNvSpPr txBox="1"/>
          <p:nvPr/>
        </p:nvSpPr>
        <p:spPr>
          <a:xfrm>
            <a:off x="8115300" y="2473452"/>
            <a:ext cx="10195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47857"/>
                </a:solidFill>
                <a:latin typeface="Courier New"/>
                <a:ea typeface="Courier New"/>
                <a:cs typeface="Courier New"/>
                <a:sym typeface="Courier New"/>
              </a:rPr>
              <a:t>[[[6, 8]]]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52"/>
          <p:cNvSpPr/>
          <p:nvPr/>
        </p:nvSpPr>
        <p:spPr>
          <a:xfrm>
            <a:off x="7781544" y="2777947"/>
            <a:ext cx="1600200" cy="875995"/>
          </a:xfrm>
          <a:prstGeom prst="roundRect">
            <a:avLst>
              <a:gd name="adj" fmla="val 9077"/>
            </a:avLst>
          </a:prstGeom>
          <a:solidFill>
            <a:srgbClr val="FFFFFF">
              <a:alpha val="49803"/>
            </a:srgbClr>
          </a:solidFill>
          <a:ln w="254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0" name="Google Shape;1500;p52"/>
          <p:cNvSpPr/>
          <p:nvPr/>
        </p:nvSpPr>
        <p:spPr>
          <a:xfrm>
            <a:off x="7858354" y="2854757"/>
            <a:ext cx="1447495" cy="724205"/>
          </a:xfrm>
          <a:prstGeom prst="roundRect">
            <a:avLst>
              <a:gd name="adj" fmla="val 13291"/>
            </a:avLst>
          </a:prstGeom>
          <a:solidFill>
            <a:srgbClr val="FFFFFF">
              <a:alpha val="49803"/>
            </a:srgbClr>
          </a:solidFill>
          <a:ln w="254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1" name="Google Shape;1501;p52"/>
          <p:cNvSpPr txBox="1"/>
          <p:nvPr/>
        </p:nvSpPr>
        <p:spPr>
          <a:xfrm>
            <a:off x="7944307" y="2930652"/>
            <a:ext cx="629107" cy="5715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52"/>
          <p:cNvSpPr txBox="1"/>
          <p:nvPr/>
        </p:nvSpPr>
        <p:spPr>
          <a:xfrm>
            <a:off x="8591702" y="2930652"/>
            <a:ext cx="629107" cy="57150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52"/>
          <p:cNvSpPr/>
          <p:nvPr/>
        </p:nvSpPr>
        <p:spPr>
          <a:xfrm>
            <a:off x="7851038" y="3978554"/>
            <a:ext cx="1466698" cy="286207"/>
          </a:xfrm>
          <a:prstGeom prst="roundRect">
            <a:avLst>
              <a:gd name="adj" fmla="val 42599"/>
            </a:avLst>
          </a:prstGeom>
          <a:solidFill>
            <a:srgbClr val="E2E8F0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4" name="Google Shape;1504;p52"/>
          <p:cNvSpPr txBox="1"/>
          <p:nvPr/>
        </p:nvSpPr>
        <p:spPr>
          <a:xfrm>
            <a:off x="7851038" y="3978554"/>
            <a:ext cx="1526134" cy="286207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Shape (1, 1, 2)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5" name="Google Shape;1505;p52" descr="preencoded.png"/>
          <p:cNvPicPr preferRelativeResize="0"/>
          <p:nvPr/>
        </p:nvPicPr>
        <p:blipFill rotWithShape="1">
          <a:blip r:embed="rId9">
            <a:alphaModFix/>
          </a:blip>
          <a:srcRect t="-2" b="-2"/>
          <a:stretch/>
        </p:blipFill>
        <p:spPr>
          <a:xfrm>
            <a:off x="1218895" y="4717390"/>
            <a:ext cx="9753905" cy="1209751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52"/>
          <p:cNvSpPr txBox="1"/>
          <p:nvPr/>
        </p:nvSpPr>
        <p:spPr>
          <a:xfrm>
            <a:off x="1557223" y="4945990"/>
            <a:ext cx="9154058" cy="7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If the arrays do not have the same rank, then a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will be prepended to the smaller ranking arrays until their ranks match.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7" name="Google Shape;1507;p52" descr="preencoded.png"/>
          <p:cNvPicPr preferRelativeResize="0"/>
          <p:nvPr/>
        </p:nvPicPr>
        <p:blipFill rotWithShape="1">
          <a:blip r:embed="rId10">
            <a:alphaModFix amt="5000"/>
          </a:blip>
          <a:srcRect l="-13" r="-13"/>
          <a:stretch/>
        </p:blipFill>
        <p:spPr>
          <a:xfrm>
            <a:off x="10439705" y="13716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5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5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5" name="Google Shape;1515;p5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6" name="Google Shape;1516;p5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7" name="Google Shape;1517;p53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18" name="Google Shape;1518;p5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First rule of Broadcasting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9" name="Google Shape;1519;p5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53" descr="preencoded.png"/>
          <p:cNvPicPr preferRelativeResize="0"/>
          <p:nvPr/>
        </p:nvPicPr>
        <p:blipFill rotWithShape="1">
          <a:blip r:embed="rId6">
            <a:alphaModFix/>
          </a:blip>
          <a:srcRect l="-4" r="-4"/>
          <a:stretch/>
        </p:blipFill>
        <p:spPr>
          <a:xfrm>
            <a:off x="609905" y="2769718"/>
            <a:ext cx="4381805" cy="265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53"/>
          <p:cNvSpPr txBox="1"/>
          <p:nvPr/>
        </p:nvSpPr>
        <p:spPr>
          <a:xfrm>
            <a:off x="914400" y="29983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Broadcasting Logic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53"/>
          <p:cNvSpPr txBox="1"/>
          <p:nvPr/>
        </p:nvSpPr>
        <p:spPr>
          <a:xfrm>
            <a:off x="914400" y="3493008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We add a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1D array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shape </a:t>
            </a:r>
            <a:r>
              <a:rPr lang="en-US" sz="1000" b="0" i="0" u="none" strike="noStrike" cap="none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(5,)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to a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3D array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shape </a:t>
            </a:r>
            <a:r>
              <a:rPr lang="en-US" sz="1000" b="0" i="0" u="none" strike="noStrike" cap="none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(1, 1, 5)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53"/>
          <p:cNvSpPr txBox="1"/>
          <p:nvPr/>
        </p:nvSpPr>
        <p:spPr>
          <a:xfrm>
            <a:off x="914400" y="4264762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Applying the first rule: NumPy implicitly prepends dimensions of size 1 to the smaller array to match the rank.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4" name="Google Shape;1524;p53" descr="preencoded.png"/>
          <p:cNvPicPr preferRelativeResize="0"/>
          <p:nvPr/>
        </p:nvPicPr>
        <p:blipFill rotWithShape="1">
          <a:blip r:embed="rId7">
            <a:alphaModFix/>
          </a:blip>
          <a:srcRect l="-56" r="-57"/>
          <a:stretch/>
        </p:blipFill>
        <p:spPr>
          <a:xfrm>
            <a:off x="609905" y="5670194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53"/>
          <p:cNvSpPr txBox="1"/>
          <p:nvPr/>
        </p:nvSpPr>
        <p:spPr>
          <a:xfrm>
            <a:off x="923544" y="5650992"/>
            <a:ext cx="329915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Result is a 3D array of shape (1, 1, 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6" name="Google Shape;1526;p53" descr="preencoded.png"/>
          <p:cNvPicPr preferRelativeResize="0"/>
          <p:nvPr/>
        </p:nvPicPr>
        <p:blipFill rotWithShape="1">
          <a:blip r:embed="rId8">
            <a:alphaModFix/>
          </a:blip>
          <a:srcRect t="-2" b="-2"/>
          <a:stretch/>
        </p:blipFill>
        <p:spPr>
          <a:xfrm>
            <a:off x="5447995" y="1524305"/>
            <a:ext cx="613379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53"/>
          <p:cNvSpPr/>
          <p:nvPr/>
        </p:nvSpPr>
        <p:spPr>
          <a:xfrm>
            <a:off x="5458054" y="1533449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8" name="Google Shape;1528;p53"/>
          <p:cNvSpPr/>
          <p:nvPr/>
        </p:nvSpPr>
        <p:spPr>
          <a:xfrm>
            <a:off x="5458054" y="1953158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53"/>
          <p:cNvSpPr/>
          <p:nvPr/>
        </p:nvSpPr>
        <p:spPr>
          <a:xfrm>
            <a:off x="5609844" y="1686154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53"/>
          <p:cNvSpPr/>
          <p:nvPr/>
        </p:nvSpPr>
        <p:spPr>
          <a:xfrm>
            <a:off x="5800954" y="1686154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1" name="Google Shape;1531;p53"/>
          <p:cNvSpPr/>
          <p:nvPr/>
        </p:nvSpPr>
        <p:spPr>
          <a:xfrm>
            <a:off x="5991149" y="1686154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2" name="Google Shape;1532;p53"/>
          <p:cNvSpPr txBox="1"/>
          <p:nvPr/>
        </p:nvSpPr>
        <p:spPr>
          <a:xfrm>
            <a:off x="6258154" y="1647749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53"/>
          <p:cNvSpPr txBox="1"/>
          <p:nvPr/>
        </p:nvSpPr>
        <p:spPr>
          <a:xfrm>
            <a:off x="5686654" y="2190902"/>
            <a:ext cx="5735117" cy="3477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3D array of shape (1, 1, 5)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h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6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h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array([[[0, 1, 2, 3, 4]]])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Add a 1D list (converted to array)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h + 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Equivalent to adding broadcasted array: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h + [[[10, 20, 30, 40, 50]]]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array([[[10, 21, 32, 43, 54]]])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5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5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1" name="Google Shape;1541;p5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2" name="Google Shape;1542;p54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54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5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Second rule of Broadcasting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5" name="Google Shape;1545;p54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6" name="Google Shape;1546;p54"/>
          <p:cNvSpPr txBox="1"/>
          <p:nvPr/>
        </p:nvSpPr>
        <p:spPr>
          <a:xfrm>
            <a:off x="1785823" y="2133295"/>
            <a:ext cx="86209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If the arrays do not match in a dimension, the array with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size 1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in that dimension is </a:t>
            </a:r>
            <a:r>
              <a:rPr lang="en-US" sz="1800" b="1" i="0" u="none" strike="noStrike" cap="none">
                <a:solidFill>
                  <a:srgbClr val="059669"/>
                </a:solidFill>
                <a:latin typeface="Roboto"/>
                <a:ea typeface="Roboto"/>
                <a:cs typeface="Roboto"/>
                <a:sym typeface="Roboto"/>
              </a:rPr>
              <a:t>stretched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to match the other.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54"/>
          <p:cNvSpPr txBox="1"/>
          <p:nvPr/>
        </p:nvSpPr>
        <p:spPr>
          <a:xfrm>
            <a:off x="1997964" y="3258007"/>
            <a:ext cx="862279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Shape (2, 3)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54"/>
          <p:cNvSpPr/>
          <p:nvPr/>
        </p:nvSpPr>
        <p:spPr>
          <a:xfrm>
            <a:off x="1280160" y="3524098"/>
            <a:ext cx="2152498" cy="1466698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54"/>
          <p:cNvSpPr txBox="1"/>
          <p:nvPr/>
        </p:nvSpPr>
        <p:spPr>
          <a:xfrm>
            <a:off x="1337767" y="3610051"/>
            <a:ext cx="667512" cy="609905"/>
          </a:xfrm>
          <a:prstGeom prst="rect">
            <a:avLst/>
          </a:prstGeom>
          <a:solidFill>
            <a:srgbClr val="EFF6FF"/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54"/>
          <p:cNvSpPr txBox="1"/>
          <p:nvPr/>
        </p:nvSpPr>
        <p:spPr>
          <a:xfrm>
            <a:off x="2023567" y="3610051"/>
            <a:ext cx="667512" cy="609905"/>
          </a:xfrm>
          <a:prstGeom prst="rect">
            <a:avLst/>
          </a:prstGeom>
          <a:solidFill>
            <a:srgbClr val="EFF6FF"/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54"/>
          <p:cNvSpPr txBox="1"/>
          <p:nvPr/>
        </p:nvSpPr>
        <p:spPr>
          <a:xfrm>
            <a:off x="2709367" y="3610051"/>
            <a:ext cx="667512" cy="609905"/>
          </a:xfrm>
          <a:prstGeom prst="rect">
            <a:avLst/>
          </a:prstGeom>
          <a:solidFill>
            <a:srgbClr val="EFF6FF"/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54"/>
          <p:cNvSpPr txBox="1"/>
          <p:nvPr/>
        </p:nvSpPr>
        <p:spPr>
          <a:xfrm>
            <a:off x="1337767" y="4295851"/>
            <a:ext cx="667512" cy="609905"/>
          </a:xfrm>
          <a:prstGeom prst="rect">
            <a:avLst/>
          </a:prstGeom>
          <a:solidFill>
            <a:srgbClr val="EFF6FF"/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54"/>
          <p:cNvSpPr txBox="1"/>
          <p:nvPr/>
        </p:nvSpPr>
        <p:spPr>
          <a:xfrm>
            <a:off x="2023567" y="4295851"/>
            <a:ext cx="667512" cy="609905"/>
          </a:xfrm>
          <a:prstGeom prst="rect">
            <a:avLst/>
          </a:prstGeom>
          <a:solidFill>
            <a:srgbClr val="EFF6FF"/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54"/>
          <p:cNvSpPr txBox="1"/>
          <p:nvPr/>
        </p:nvSpPr>
        <p:spPr>
          <a:xfrm>
            <a:off x="2709367" y="4295851"/>
            <a:ext cx="667512" cy="609905"/>
          </a:xfrm>
          <a:prstGeom prst="rect">
            <a:avLst/>
          </a:prstGeom>
          <a:solidFill>
            <a:srgbClr val="EFF6FF"/>
          </a:solidFill>
          <a:ln w="25400" cap="flat" cmpd="sng">
            <a:solidFill>
              <a:srgbClr val="93C5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54"/>
          <p:cNvSpPr txBox="1"/>
          <p:nvPr/>
        </p:nvSpPr>
        <p:spPr>
          <a:xfrm>
            <a:off x="3661258" y="3895344"/>
            <a:ext cx="24780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400"/>
              <a:buFont typeface="Roboto"/>
              <a:buNone/>
            </a:pPr>
            <a:r>
              <a:rPr lang="en-US" sz="2400" b="1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54"/>
          <p:cNvSpPr txBox="1"/>
          <p:nvPr/>
        </p:nvSpPr>
        <p:spPr>
          <a:xfrm>
            <a:off x="4088282" y="3258007"/>
            <a:ext cx="862279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Shape (2, 1)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54"/>
          <p:cNvSpPr/>
          <p:nvPr/>
        </p:nvSpPr>
        <p:spPr>
          <a:xfrm>
            <a:off x="4056278" y="3524098"/>
            <a:ext cx="780898" cy="1466698"/>
          </a:xfrm>
          <a:prstGeom prst="roundRect">
            <a:avLst>
              <a:gd name="adj" fmla="val 17136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54"/>
          <p:cNvSpPr txBox="1"/>
          <p:nvPr/>
        </p:nvSpPr>
        <p:spPr>
          <a:xfrm>
            <a:off x="4113886" y="3610051"/>
            <a:ext cx="667512" cy="609905"/>
          </a:xfrm>
          <a:prstGeom prst="rect">
            <a:avLst/>
          </a:prstGeom>
          <a:solidFill>
            <a:srgbClr val="F0FDF4"/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54"/>
          <p:cNvSpPr txBox="1"/>
          <p:nvPr/>
        </p:nvSpPr>
        <p:spPr>
          <a:xfrm>
            <a:off x="4113886" y="4295851"/>
            <a:ext cx="667512" cy="609905"/>
          </a:xfrm>
          <a:prstGeom prst="rect">
            <a:avLst/>
          </a:prstGeom>
          <a:solidFill>
            <a:srgbClr val="F0FDF4"/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54"/>
          <p:cNvSpPr txBox="1"/>
          <p:nvPr/>
        </p:nvSpPr>
        <p:spPr>
          <a:xfrm>
            <a:off x="5065776" y="3886200"/>
            <a:ext cx="762610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1" name="Google Shape;1561;p54" descr="preencoded.png"/>
          <p:cNvPicPr preferRelativeResize="0"/>
          <p:nvPr/>
        </p:nvPicPr>
        <p:blipFill rotWithShape="1">
          <a:blip r:embed="rId7">
            <a:alphaModFix/>
          </a:blip>
          <a:srcRect t="-530" b="-530"/>
          <a:stretch/>
        </p:blipFill>
        <p:spPr>
          <a:xfrm>
            <a:off x="5281574" y="4076395"/>
            <a:ext cx="247802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1562" name="Google Shape;1562;p54"/>
          <p:cNvSpPr txBox="1"/>
          <p:nvPr/>
        </p:nvSpPr>
        <p:spPr>
          <a:xfrm>
            <a:off x="6600139" y="3258007"/>
            <a:ext cx="1077163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Becomes (2, 3)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54"/>
          <p:cNvSpPr/>
          <p:nvPr/>
        </p:nvSpPr>
        <p:spPr>
          <a:xfrm>
            <a:off x="5973775" y="3524098"/>
            <a:ext cx="2152498" cy="1466698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54"/>
          <p:cNvSpPr txBox="1"/>
          <p:nvPr/>
        </p:nvSpPr>
        <p:spPr>
          <a:xfrm>
            <a:off x="6031382" y="3610051"/>
            <a:ext cx="667512" cy="609905"/>
          </a:xfrm>
          <a:prstGeom prst="rect">
            <a:avLst/>
          </a:prstGeom>
          <a:solidFill>
            <a:srgbClr val="F0FDF4"/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54"/>
          <p:cNvSpPr txBox="1"/>
          <p:nvPr/>
        </p:nvSpPr>
        <p:spPr>
          <a:xfrm>
            <a:off x="6717182" y="3610051"/>
            <a:ext cx="667512" cy="609905"/>
          </a:xfrm>
          <a:prstGeom prst="rect">
            <a:avLst/>
          </a:prstGeom>
          <a:solidFill>
            <a:srgbClr val="F0FDF4">
              <a:alpha val="60000"/>
            </a:srgbClr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54"/>
          <p:cNvSpPr txBox="1"/>
          <p:nvPr/>
        </p:nvSpPr>
        <p:spPr>
          <a:xfrm>
            <a:off x="7402982" y="3610051"/>
            <a:ext cx="667512" cy="609905"/>
          </a:xfrm>
          <a:prstGeom prst="rect">
            <a:avLst/>
          </a:prstGeom>
          <a:solidFill>
            <a:srgbClr val="F0FDF4">
              <a:alpha val="60000"/>
            </a:srgbClr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54"/>
          <p:cNvSpPr txBox="1"/>
          <p:nvPr/>
        </p:nvSpPr>
        <p:spPr>
          <a:xfrm>
            <a:off x="6031382" y="4295851"/>
            <a:ext cx="667512" cy="609905"/>
          </a:xfrm>
          <a:prstGeom prst="rect">
            <a:avLst/>
          </a:prstGeom>
          <a:solidFill>
            <a:srgbClr val="F0FDF4"/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54"/>
          <p:cNvSpPr txBox="1"/>
          <p:nvPr/>
        </p:nvSpPr>
        <p:spPr>
          <a:xfrm>
            <a:off x="6717182" y="4295851"/>
            <a:ext cx="667512" cy="609905"/>
          </a:xfrm>
          <a:prstGeom prst="rect">
            <a:avLst/>
          </a:prstGeom>
          <a:solidFill>
            <a:srgbClr val="F0FDF4">
              <a:alpha val="60000"/>
            </a:srgbClr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54"/>
          <p:cNvSpPr txBox="1"/>
          <p:nvPr/>
        </p:nvSpPr>
        <p:spPr>
          <a:xfrm>
            <a:off x="7402982" y="4295851"/>
            <a:ext cx="667512" cy="609905"/>
          </a:xfrm>
          <a:prstGeom prst="rect">
            <a:avLst/>
          </a:prstGeom>
          <a:solidFill>
            <a:srgbClr val="F0FDF4">
              <a:alpha val="60000"/>
            </a:srgbClr>
          </a:solidFill>
          <a:ln w="2540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54"/>
          <p:cNvSpPr txBox="1"/>
          <p:nvPr/>
        </p:nvSpPr>
        <p:spPr>
          <a:xfrm>
            <a:off x="8355787" y="3895344"/>
            <a:ext cx="25786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400"/>
              <a:buFont typeface="Roboto"/>
              <a:buNone/>
            </a:pPr>
            <a:r>
              <a:rPr lang="en-US" sz="2400" b="1" i="0" u="none" strike="noStrike" cap="non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54"/>
          <p:cNvSpPr txBox="1"/>
          <p:nvPr/>
        </p:nvSpPr>
        <p:spPr>
          <a:xfrm>
            <a:off x="9474098" y="3258007"/>
            <a:ext cx="862279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Result (2, 3)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54"/>
          <p:cNvSpPr/>
          <p:nvPr/>
        </p:nvSpPr>
        <p:spPr>
          <a:xfrm>
            <a:off x="8759038" y="3524098"/>
            <a:ext cx="2152498" cy="1466698"/>
          </a:xfrm>
          <a:prstGeom prst="roundRect">
            <a:avLst>
              <a:gd name="adj" fmla="val 4858"/>
            </a:avLst>
          </a:prstGeom>
          <a:solidFill>
            <a:srgbClr val="F8FAFC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54"/>
          <p:cNvSpPr txBox="1"/>
          <p:nvPr/>
        </p:nvSpPr>
        <p:spPr>
          <a:xfrm>
            <a:off x="8815730" y="3610051"/>
            <a:ext cx="667512" cy="60990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54"/>
          <p:cNvSpPr txBox="1"/>
          <p:nvPr/>
        </p:nvSpPr>
        <p:spPr>
          <a:xfrm>
            <a:off x="9501530" y="3610051"/>
            <a:ext cx="667512" cy="60990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4"/>
          <p:cNvSpPr txBox="1"/>
          <p:nvPr/>
        </p:nvSpPr>
        <p:spPr>
          <a:xfrm>
            <a:off x="10187330" y="3610051"/>
            <a:ext cx="667512" cy="60990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54"/>
          <p:cNvSpPr txBox="1"/>
          <p:nvPr/>
        </p:nvSpPr>
        <p:spPr>
          <a:xfrm>
            <a:off x="8815730" y="4295851"/>
            <a:ext cx="667512" cy="60990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4"/>
          <p:cNvSpPr txBox="1"/>
          <p:nvPr/>
        </p:nvSpPr>
        <p:spPr>
          <a:xfrm>
            <a:off x="9501530" y="4295851"/>
            <a:ext cx="667512" cy="60990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4"/>
          <p:cNvSpPr txBox="1"/>
          <p:nvPr/>
        </p:nvSpPr>
        <p:spPr>
          <a:xfrm>
            <a:off x="10187330" y="4295851"/>
            <a:ext cx="667512" cy="609905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9CA3A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9" name="Google Shape;1579;p54" descr="preencoded.png"/>
          <p:cNvPicPr preferRelativeResize="0"/>
          <p:nvPr/>
        </p:nvPicPr>
        <p:blipFill rotWithShape="1">
          <a:blip r:embed="rId8">
            <a:alphaModFix/>
          </a:blip>
          <a:srcRect t="-31" b="-30"/>
          <a:stretch/>
        </p:blipFill>
        <p:spPr>
          <a:xfrm>
            <a:off x="2541118" y="5447995"/>
            <a:ext cx="7109460" cy="495605"/>
          </a:xfrm>
          <a:prstGeom prst="rect">
            <a:avLst/>
          </a:prstGeom>
          <a:noFill/>
          <a:ln>
            <a:noFill/>
          </a:ln>
        </p:spPr>
      </p:pic>
      <p:sp>
        <p:nvSpPr>
          <p:cNvPr id="1580" name="Google Shape;1580;p54"/>
          <p:cNvSpPr txBox="1"/>
          <p:nvPr/>
        </p:nvSpPr>
        <p:spPr>
          <a:xfrm>
            <a:off x="3095244" y="5562295"/>
            <a:ext cx="701893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array with shape </a:t>
            </a:r>
            <a:r>
              <a:rPr lang="en-US" sz="13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(2, 1)</a:t>
            </a: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is effectively copied across the columns to match </a:t>
            </a:r>
            <a:r>
              <a:rPr lang="en-US" sz="13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(2, 3)</a:t>
            </a: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1" name="Google Shape;1581;p5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808122" y="5603443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5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5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9" name="Google Shape;1589;p5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5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1" name="Google Shape;1591;p55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592" name="Google Shape;1592;p55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Second rule of Broadcasting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3" name="Google Shape;1593;p5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55" descr="preencoded.png"/>
          <p:cNvPicPr preferRelativeResize="0"/>
          <p:nvPr/>
        </p:nvPicPr>
        <p:blipFill rotWithShape="1">
          <a:blip r:embed="rId6">
            <a:alphaModFix/>
          </a:blip>
          <a:srcRect t="-3" b="-3"/>
          <a:stretch/>
        </p:blipFill>
        <p:spPr>
          <a:xfrm>
            <a:off x="609905" y="2476195"/>
            <a:ext cx="4381805" cy="24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55"/>
          <p:cNvSpPr txBox="1"/>
          <p:nvPr/>
        </p:nvSpPr>
        <p:spPr>
          <a:xfrm>
            <a:off x="914400" y="2704795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Broadcasting Logic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55"/>
          <p:cNvSpPr txBox="1"/>
          <p:nvPr/>
        </p:nvSpPr>
        <p:spPr>
          <a:xfrm>
            <a:off x="914400" y="3200400"/>
            <a:ext cx="39346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On adding a 2D array to another array with compatible but different dimensions, NumPy applies broadcasting rules to match shapes.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7" name="Google Shape;1597;p55" descr="preencoded.png"/>
          <p:cNvPicPr preferRelativeResize="0"/>
          <p:nvPr/>
        </p:nvPicPr>
        <p:blipFill rotWithShape="1">
          <a:blip r:embed="rId7">
            <a:alphaModFix/>
          </a:blip>
          <a:srcRect t="-44" b="-45"/>
          <a:stretch/>
        </p:blipFill>
        <p:spPr>
          <a:xfrm>
            <a:off x="609905" y="5257800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8" name="Google Shape;1598;p55"/>
          <p:cNvSpPr txBox="1"/>
          <p:nvPr/>
        </p:nvSpPr>
        <p:spPr>
          <a:xfrm>
            <a:off x="981151" y="5219395"/>
            <a:ext cx="4086454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Here, a 1D list is broadcast across the rows of the 2D array.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9" name="Google Shape;1599;p55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447995" y="2519172"/>
            <a:ext cx="6133795" cy="3191256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55"/>
          <p:cNvSpPr/>
          <p:nvPr/>
        </p:nvSpPr>
        <p:spPr>
          <a:xfrm>
            <a:off x="5458054" y="252923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55"/>
          <p:cNvSpPr/>
          <p:nvPr/>
        </p:nvSpPr>
        <p:spPr>
          <a:xfrm>
            <a:off x="5458054" y="2948940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2" name="Google Shape;1602;p55"/>
          <p:cNvSpPr/>
          <p:nvPr/>
        </p:nvSpPr>
        <p:spPr>
          <a:xfrm>
            <a:off x="5609844" y="268102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55"/>
          <p:cNvSpPr/>
          <p:nvPr/>
        </p:nvSpPr>
        <p:spPr>
          <a:xfrm>
            <a:off x="5800954" y="268102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4" name="Google Shape;1604;p55"/>
          <p:cNvSpPr/>
          <p:nvPr/>
        </p:nvSpPr>
        <p:spPr>
          <a:xfrm>
            <a:off x="5991149" y="268102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55"/>
          <p:cNvSpPr txBox="1"/>
          <p:nvPr/>
        </p:nvSpPr>
        <p:spPr>
          <a:xfrm>
            <a:off x="6258154" y="264353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55"/>
          <p:cNvSpPr txBox="1"/>
          <p:nvPr/>
        </p:nvSpPr>
        <p:spPr>
          <a:xfrm>
            <a:off x="5686654" y="3185770"/>
            <a:ext cx="573420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k = np.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k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array([[0, 1, 2],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[3, 4, 5]])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k + [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300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array([[100, 201, 302],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[103, 204, 305]])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7" name="Google Shape;1607;p5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5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4" name="Google Shape;1614;p56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5" name="Google Shape;1615;p56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" name="Google Shape;1616;p5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0211105" y="761695"/>
            <a:ext cx="1218895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7" name="Google Shape;1617;p5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6858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8" name="Google Shape;1618;p56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9" name="Google Shape;1619;p56" descr="preencoded.png"/>
          <p:cNvPicPr preferRelativeResize="0"/>
          <p:nvPr/>
        </p:nvPicPr>
        <p:blipFill rotWithShape="1">
          <a:blip r:embed="rId7">
            <a:alphaModFix/>
          </a:blip>
          <a:srcRect t="-17" b="-16"/>
          <a:stretch/>
        </p:blipFill>
        <p:spPr>
          <a:xfrm>
            <a:off x="5524805" y="1657807"/>
            <a:ext cx="1143000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0" name="Google Shape;1620;p56" descr="preencoded.png"/>
          <p:cNvPicPr preferRelativeResize="0"/>
          <p:nvPr/>
        </p:nvPicPr>
        <p:blipFill rotWithShape="1">
          <a:blip r:embed="rId8">
            <a:alphaModFix/>
          </a:blip>
          <a:srcRect l="-44" r="-44"/>
          <a:stretch/>
        </p:blipFill>
        <p:spPr>
          <a:xfrm>
            <a:off x="5838444" y="1971446"/>
            <a:ext cx="51480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56"/>
          <p:cNvSpPr txBox="1"/>
          <p:nvPr/>
        </p:nvSpPr>
        <p:spPr>
          <a:xfrm>
            <a:off x="1285646" y="3200400"/>
            <a:ext cx="9620402" cy="142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Mathematical and statistical functions on NumPy arrays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2" name="Google Shape;1622;p56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781398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5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29" name="Google Shape;1629;p5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5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31" name="Google Shape;1631;p57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5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Finding Mean of NumPy array elements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3" name="Google Shape;1633;p5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57" descr="preencoded.png"/>
          <p:cNvPicPr preferRelativeResize="0"/>
          <p:nvPr/>
        </p:nvPicPr>
        <p:blipFill rotWithShape="1">
          <a:blip r:embed="rId6">
            <a:alphaModFix/>
          </a:blip>
          <a:srcRect l="-5" r="-4"/>
          <a:stretch/>
        </p:blipFill>
        <p:spPr>
          <a:xfrm>
            <a:off x="609905" y="2605126"/>
            <a:ext cx="4381805" cy="244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57"/>
          <p:cNvSpPr txBox="1"/>
          <p:nvPr/>
        </p:nvSpPr>
        <p:spPr>
          <a:xfrm>
            <a:off x="914400" y="283372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mean() Method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57"/>
          <p:cNvSpPr txBox="1"/>
          <p:nvPr/>
        </p:nvSpPr>
        <p:spPr>
          <a:xfrm>
            <a:off x="914400" y="3329330"/>
            <a:ext cx="3934663" cy="149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ndarray object has a method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mean()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which finds the mean of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all the elements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in the array regardless of the shape.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7" name="Google Shape;1637;p5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3766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Google Shape;1638;p57"/>
          <p:cNvSpPr txBox="1"/>
          <p:nvPr/>
        </p:nvSpPr>
        <p:spPr>
          <a:xfrm>
            <a:off x="952805" y="5357470"/>
            <a:ext cx="37408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Useful for statistical analysis of datasets.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9" name="Google Shape;1639;p57" descr="preencoded.png"/>
          <p:cNvPicPr preferRelativeResize="0"/>
          <p:nvPr/>
        </p:nvPicPr>
        <p:blipFill rotWithShape="1">
          <a:blip r:embed="rId8">
            <a:alphaModFix/>
          </a:blip>
          <a:srcRect t="-1" b="-1"/>
          <a:stretch/>
        </p:blipFill>
        <p:spPr>
          <a:xfrm>
            <a:off x="5447995" y="2979115"/>
            <a:ext cx="6133795" cy="2270455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57"/>
          <p:cNvSpPr/>
          <p:nvPr/>
        </p:nvSpPr>
        <p:spPr>
          <a:xfrm>
            <a:off x="5458054" y="298917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1" name="Google Shape;1641;p57"/>
          <p:cNvSpPr/>
          <p:nvPr/>
        </p:nvSpPr>
        <p:spPr>
          <a:xfrm>
            <a:off x="5458054" y="3408883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2" name="Google Shape;1642;p57"/>
          <p:cNvSpPr/>
          <p:nvPr/>
        </p:nvSpPr>
        <p:spPr>
          <a:xfrm>
            <a:off x="5609844" y="3141878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3" name="Google Shape;1643;p57"/>
          <p:cNvSpPr/>
          <p:nvPr/>
        </p:nvSpPr>
        <p:spPr>
          <a:xfrm>
            <a:off x="5800954" y="3141878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4" name="Google Shape;1644;p57"/>
          <p:cNvSpPr/>
          <p:nvPr/>
        </p:nvSpPr>
        <p:spPr>
          <a:xfrm>
            <a:off x="5991149" y="3141878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5" name="Google Shape;1645;p57"/>
          <p:cNvSpPr txBox="1"/>
          <p:nvPr/>
        </p:nvSpPr>
        <p:spPr>
          <a:xfrm>
            <a:off x="6258154" y="310347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57"/>
          <p:cNvSpPr txBox="1"/>
          <p:nvPr/>
        </p:nvSpPr>
        <p:spPr>
          <a:xfrm>
            <a:off x="5686654" y="3646627"/>
            <a:ext cx="573786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([[-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2.5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3.1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"mean ="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a.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mean = 6.76666666667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5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5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54" name="Google Shape;1654;p5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5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5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p58"/>
          <p:cNvSpPr txBox="1"/>
          <p:nvPr/>
        </p:nvSpPr>
        <p:spPr>
          <a:xfrm>
            <a:off x="609905" y="457200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Other useful ndarray methods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8" name="Google Shape;1658;p58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2188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9" name="Google Shape;1659;p58" descr="preencoded.png"/>
          <p:cNvPicPr preferRelativeResize="0"/>
          <p:nvPr/>
        </p:nvPicPr>
        <p:blipFill rotWithShape="1">
          <a:blip r:embed="rId7">
            <a:alphaModFix/>
          </a:blip>
          <a:srcRect l="-1117" r="-1118"/>
          <a:stretch/>
        </p:blipFill>
        <p:spPr>
          <a:xfrm>
            <a:off x="7925105" y="3788359"/>
            <a:ext cx="219456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1660" name="Google Shape;1660;p58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1" name="Google Shape;1661;p58" descr="preencoded.png"/>
          <p:cNvPicPr preferRelativeResize="0"/>
          <p:nvPr/>
        </p:nvPicPr>
        <p:blipFill rotWithShape="1">
          <a:blip r:embed="rId8">
            <a:alphaModFix/>
          </a:blip>
          <a:srcRect l="-17" r="-16"/>
          <a:stretch/>
        </p:blipFill>
        <p:spPr>
          <a:xfrm>
            <a:off x="609905" y="1600200"/>
            <a:ext cx="7086600" cy="576072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p58"/>
          <p:cNvSpPr txBox="1"/>
          <p:nvPr/>
        </p:nvSpPr>
        <p:spPr>
          <a:xfrm>
            <a:off x="838505" y="1752905"/>
            <a:ext cx="7392010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Similar to </a:t>
            </a:r>
            <a:r>
              <a:rPr lang="en-US" sz="1500" b="1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mean()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, there are other methods used for various computations.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3" name="Google Shape;1663;p5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2443277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58" descr="preencoded.png"/>
          <p:cNvPicPr preferRelativeResize="0"/>
          <p:nvPr/>
        </p:nvPicPr>
        <p:blipFill rotWithShape="1">
          <a:blip r:embed="rId10">
            <a:alphaModFix/>
          </a:blip>
          <a:srcRect t="-842" b="-841"/>
          <a:stretch/>
        </p:blipFill>
        <p:spPr>
          <a:xfrm>
            <a:off x="705002" y="2547518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58"/>
          <p:cNvSpPr txBox="1"/>
          <p:nvPr/>
        </p:nvSpPr>
        <p:spPr>
          <a:xfrm>
            <a:off x="1143000" y="2404872"/>
            <a:ext cx="233812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6" name="Google Shape;1666;p58"/>
          <p:cNvSpPr txBox="1"/>
          <p:nvPr/>
        </p:nvSpPr>
        <p:spPr>
          <a:xfrm>
            <a:off x="1143000" y="2671877"/>
            <a:ext cx="267553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returns the minimum element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7" name="Google Shape;1667;p5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04995" y="2443277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58" descr="preencoded.png"/>
          <p:cNvPicPr preferRelativeResize="0"/>
          <p:nvPr/>
        </p:nvPicPr>
        <p:blipFill rotWithShape="1">
          <a:blip r:embed="rId11">
            <a:alphaModFix/>
          </a:blip>
          <a:srcRect t="-842" b="-841"/>
          <a:stretch/>
        </p:blipFill>
        <p:spPr>
          <a:xfrm>
            <a:off x="4401007" y="2547518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58"/>
          <p:cNvSpPr txBox="1"/>
          <p:nvPr/>
        </p:nvSpPr>
        <p:spPr>
          <a:xfrm>
            <a:off x="4839005" y="2404872"/>
            <a:ext cx="238749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max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58"/>
          <p:cNvSpPr txBox="1"/>
          <p:nvPr/>
        </p:nvSpPr>
        <p:spPr>
          <a:xfrm>
            <a:off x="4839005" y="2671877"/>
            <a:ext cx="273222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returns the maximum element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1" name="Google Shape;1671;p5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3204972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2" name="Google Shape;1672;p58" descr="preencoded.png"/>
          <p:cNvPicPr preferRelativeResize="0"/>
          <p:nvPr/>
        </p:nvPicPr>
        <p:blipFill rotWithShape="1">
          <a:blip r:embed="rId12">
            <a:alphaModFix/>
          </a:blip>
          <a:srcRect l="-760" r="-759"/>
          <a:stretch/>
        </p:blipFill>
        <p:spPr>
          <a:xfrm>
            <a:off x="724205" y="3310128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58"/>
          <p:cNvSpPr txBox="1"/>
          <p:nvPr/>
        </p:nvSpPr>
        <p:spPr>
          <a:xfrm>
            <a:off x="1143000" y="3167482"/>
            <a:ext cx="223936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sum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58"/>
          <p:cNvSpPr txBox="1"/>
          <p:nvPr/>
        </p:nvSpPr>
        <p:spPr>
          <a:xfrm>
            <a:off x="1143000" y="3433572"/>
            <a:ext cx="256214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returns the sum of elements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5" name="Google Shape;1675;p5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04995" y="3204972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58" descr="preencoded.png"/>
          <p:cNvPicPr preferRelativeResize="0"/>
          <p:nvPr/>
        </p:nvPicPr>
        <p:blipFill rotWithShape="1">
          <a:blip r:embed="rId13">
            <a:alphaModFix/>
          </a:blip>
          <a:srcRect l="-1773" r="-1773"/>
          <a:stretch/>
        </p:blipFill>
        <p:spPr>
          <a:xfrm>
            <a:off x="4429354" y="3310128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58"/>
          <p:cNvSpPr txBox="1"/>
          <p:nvPr/>
        </p:nvSpPr>
        <p:spPr>
          <a:xfrm>
            <a:off x="4839005" y="3167482"/>
            <a:ext cx="24963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prod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8" name="Google Shape;1678;p58"/>
          <p:cNvSpPr txBox="1"/>
          <p:nvPr/>
        </p:nvSpPr>
        <p:spPr>
          <a:xfrm>
            <a:off x="4839005" y="3433572"/>
            <a:ext cx="285658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returns the product of elements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9" name="Google Shape;1679;p5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3967582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0" name="Google Shape;1680;p58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4146" y="4071823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58"/>
          <p:cNvSpPr txBox="1"/>
          <p:nvPr/>
        </p:nvSpPr>
        <p:spPr>
          <a:xfrm>
            <a:off x="1143000" y="3929177"/>
            <a:ext cx="208026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std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2" name="Google Shape;1682;p58"/>
          <p:cNvSpPr txBox="1"/>
          <p:nvPr/>
        </p:nvSpPr>
        <p:spPr>
          <a:xfrm>
            <a:off x="1143000" y="4196182"/>
            <a:ext cx="238109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returns standard deviation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3" name="Google Shape;1683;p5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04995" y="3967582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58" descr="preencoded.png"/>
          <p:cNvPicPr preferRelativeResize="0"/>
          <p:nvPr/>
        </p:nvPicPr>
        <p:blipFill rotWithShape="1">
          <a:blip r:embed="rId15">
            <a:alphaModFix/>
          </a:blip>
          <a:srcRect t="-842" b="-841"/>
          <a:stretch/>
        </p:blipFill>
        <p:spPr>
          <a:xfrm>
            <a:off x="4401007" y="4071823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58"/>
          <p:cNvSpPr txBox="1"/>
          <p:nvPr/>
        </p:nvSpPr>
        <p:spPr>
          <a:xfrm>
            <a:off x="4839005" y="3929177"/>
            <a:ext cx="226862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var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6" name="Google Shape;1686;p58"/>
          <p:cNvSpPr txBox="1"/>
          <p:nvPr/>
        </p:nvSpPr>
        <p:spPr>
          <a:xfrm>
            <a:off x="4839005" y="4196182"/>
            <a:ext cx="259598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returns variance of elements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7" name="Google Shape;1687;p58" descr="preencoded.png"/>
          <p:cNvPicPr preferRelativeResize="0"/>
          <p:nvPr/>
        </p:nvPicPr>
        <p:blipFill rotWithShape="1">
          <a:blip r:embed="rId16">
            <a:alphaModFix/>
          </a:blip>
          <a:srcRect t="-7" b="-6"/>
          <a:stretch/>
        </p:blipFill>
        <p:spPr>
          <a:xfrm>
            <a:off x="8857793" y="3657600"/>
            <a:ext cx="1791310" cy="1209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58"/>
          <p:cNvSpPr/>
          <p:nvPr/>
        </p:nvSpPr>
        <p:spPr>
          <a:xfrm>
            <a:off x="9019642" y="4086454"/>
            <a:ext cx="1476756" cy="914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9" name="Google Shape;1689;p58"/>
          <p:cNvSpPr txBox="1"/>
          <p:nvPr/>
        </p:nvSpPr>
        <p:spPr>
          <a:xfrm>
            <a:off x="9019642" y="3819449"/>
            <a:ext cx="770839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Input Array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58"/>
          <p:cNvSpPr txBox="1"/>
          <p:nvPr/>
        </p:nvSpPr>
        <p:spPr>
          <a:xfrm>
            <a:off x="9664294" y="3838651"/>
            <a:ext cx="905256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[1, 2, 3, 4]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58"/>
          <p:cNvSpPr txBox="1"/>
          <p:nvPr/>
        </p:nvSpPr>
        <p:spPr>
          <a:xfrm>
            <a:off x="9019642" y="4172407"/>
            <a:ext cx="342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sum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58"/>
          <p:cNvSpPr txBox="1"/>
          <p:nvPr/>
        </p:nvSpPr>
        <p:spPr>
          <a:xfrm>
            <a:off x="10304374" y="4172407"/>
            <a:ext cx="2670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58"/>
          <p:cNvSpPr txBox="1"/>
          <p:nvPr/>
        </p:nvSpPr>
        <p:spPr>
          <a:xfrm>
            <a:off x="9019642" y="4476902"/>
            <a:ext cx="3529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prod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4" name="Google Shape;1694;p58"/>
          <p:cNvSpPr txBox="1"/>
          <p:nvPr/>
        </p:nvSpPr>
        <p:spPr>
          <a:xfrm>
            <a:off x="10304374" y="4476902"/>
            <a:ext cx="2670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5" name="Google Shape;1695;p58" descr="preencoded.png"/>
          <p:cNvPicPr preferRelativeResize="0"/>
          <p:nvPr/>
        </p:nvPicPr>
        <p:blipFill rotWithShape="1">
          <a:blip r:embed="rId17">
            <a:alphaModFix amt="10000"/>
          </a:blip>
          <a:srcRect l="-9" r="-8"/>
          <a:stretch/>
        </p:blipFill>
        <p:spPr>
          <a:xfrm>
            <a:off x="8857793" y="1904695"/>
            <a:ext cx="2687422" cy="444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6" name="Google Shape;1696;p58" descr="preencoded.png"/>
          <p:cNvPicPr preferRelativeResize="0"/>
          <p:nvPr/>
        </p:nvPicPr>
        <p:blipFill rotWithShape="1">
          <a:blip r:embed="rId18">
            <a:alphaModFix amt="90000"/>
          </a:blip>
          <a:srcRect t="-9" b="-10"/>
          <a:stretch/>
        </p:blipFill>
        <p:spPr>
          <a:xfrm>
            <a:off x="9182405" y="1904695"/>
            <a:ext cx="1143000" cy="152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5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3" name="Google Shape;1703;p5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59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5" name="Google Shape;1705;p59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59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Other useful ndarray methods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7" name="Google Shape;1707;p59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59" descr="preencoded.png"/>
          <p:cNvPicPr preferRelativeResize="0"/>
          <p:nvPr/>
        </p:nvPicPr>
        <p:blipFill rotWithShape="1">
          <a:blip r:embed="rId6">
            <a:alphaModFix/>
          </a:blip>
          <a:srcRect l="-1" r="-1"/>
          <a:stretch/>
        </p:blipFill>
        <p:spPr>
          <a:xfrm>
            <a:off x="609905" y="2381098"/>
            <a:ext cx="3504895" cy="2200046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59"/>
          <p:cNvSpPr txBox="1"/>
          <p:nvPr/>
        </p:nvSpPr>
        <p:spPr>
          <a:xfrm>
            <a:off x="914400" y="2609698"/>
            <a:ext cx="3086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Batch Execution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59"/>
          <p:cNvSpPr txBox="1"/>
          <p:nvPr/>
        </p:nvSpPr>
        <p:spPr>
          <a:xfrm>
            <a:off x="914400" y="3105302"/>
            <a:ext cx="3048610" cy="124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Iterating through statistical methods (</a:t>
            </a:r>
            <a:r>
              <a:rPr lang="en-US" sz="15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etc.) allows for quick analysis of array properties.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1" name="Google Shape;1711;p59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4924044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2" name="Google Shape;1712;p59"/>
          <p:cNvSpPr txBox="1"/>
          <p:nvPr/>
        </p:nvSpPr>
        <p:spPr>
          <a:xfrm>
            <a:off x="895198" y="4886554"/>
            <a:ext cx="3296412" cy="81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__name__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attribute is used here to print the name of the function being executed.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3" name="Google Shape;1713;p59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4572000" y="1524305"/>
            <a:ext cx="7010705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59"/>
          <p:cNvSpPr/>
          <p:nvPr/>
        </p:nvSpPr>
        <p:spPr>
          <a:xfrm>
            <a:off x="4581144" y="1533449"/>
            <a:ext cx="6991502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5" name="Google Shape;1715;p59"/>
          <p:cNvSpPr/>
          <p:nvPr/>
        </p:nvSpPr>
        <p:spPr>
          <a:xfrm>
            <a:off x="4581144" y="1953158"/>
            <a:ext cx="6991502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6" name="Google Shape;1716;p59"/>
          <p:cNvSpPr/>
          <p:nvPr/>
        </p:nvSpPr>
        <p:spPr>
          <a:xfrm>
            <a:off x="4733849" y="1686154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7" name="Google Shape;1717;p59"/>
          <p:cNvSpPr/>
          <p:nvPr/>
        </p:nvSpPr>
        <p:spPr>
          <a:xfrm>
            <a:off x="4924044" y="1686154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8" name="Google Shape;1718;p59"/>
          <p:cNvSpPr/>
          <p:nvPr/>
        </p:nvSpPr>
        <p:spPr>
          <a:xfrm>
            <a:off x="5115154" y="1686154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9" name="Google Shape;1719;p59"/>
          <p:cNvSpPr txBox="1"/>
          <p:nvPr/>
        </p:nvSpPr>
        <p:spPr>
          <a:xfrm>
            <a:off x="5381244" y="1647749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59"/>
          <p:cNvSpPr txBox="1"/>
          <p:nvPr/>
        </p:nvSpPr>
        <p:spPr>
          <a:xfrm>
            <a:off x="4809744" y="2190902"/>
            <a:ext cx="661111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a = np.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([[-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2.5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3.1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func </a:t>
            </a:r>
            <a:r>
              <a:rPr lang="en-US" sz="15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(a.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a.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a.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a.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prod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a.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a.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(func.__name__,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"="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min = -2.5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max = 12.0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sum = 40.6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prod = -71610.0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std = 5.08483584352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var = 25.8555555556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59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59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6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8" name="Google Shape;1728;p6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60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30" name="Google Shape;1730;p60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6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Summing across different axes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2" name="Google Shape;1732;p60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60" descr="preencoded.png"/>
          <p:cNvPicPr preferRelativeResize="0"/>
          <p:nvPr/>
        </p:nvPicPr>
        <p:blipFill rotWithShape="1">
          <a:blip r:embed="rId6">
            <a:alphaModFix/>
          </a:blip>
          <a:srcRect l="-9" r="-8"/>
          <a:stretch/>
        </p:blipFill>
        <p:spPr>
          <a:xfrm>
            <a:off x="609905" y="1676095"/>
            <a:ext cx="4381805" cy="2085746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60"/>
          <p:cNvSpPr txBox="1"/>
          <p:nvPr/>
        </p:nvSpPr>
        <p:spPr>
          <a:xfrm>
            <a:off x="914400" y="1904695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3D Array Creation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0"/>
          <p:cNvSpPr txBox="1"/>
          <p:nvPr/>
        </p:nvSpPr>
        <p:spPr>
          <a:xfrm>
            <a:off x="914400" y="2400300"/>
            <a:ext cx="3934663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We can sum across different axes of a numpy array by specifying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axis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parameter of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function.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6" name="Google Shape;1736;p6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105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60"/>
          <p:cNvSpPr txBox="1"/>
          <p:nvPr/>
        </p:nvSpPr>
        <p:spPr>
          <a:xfrm>
            <a:off x="990295" y="4067251"/>
            <a:ext cx="4077310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First, let's create a 3D array to demonstrate this operation using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reshape(2,3,4)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8" name="Google Shape;1738;p60" descr="preencoded.png"/>
          <p:cNvPicPr preferRelativeResize="0"/>
          <p:nvPr/>
        </p:nvPicPr>
        <p:blipFill rotWithShape="1">
          <a:blip r:embed="rId8">
            <a:alphaModFix/>
          </a:blip>
          <a:srcRect t="-2" b="-2"/>
          <a:stretch/>
        </p:blipFill>
        <p:spPr>
          <a:xfrm>
            <a:off x="5447995" y="1828800"/>
            <a:ext cx="613379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9" name="Google Shape;1739;p60"/>
          <p:cNvSpPr/>
          <p:nvPr/>
        </p:nvSpPr>
        <p:spPr>
          <a:xfrm>
            <a:off x="5458054" y="183794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60"/>
          <p:cNvSpPr/>
          <p:nvPr/>
        </p:nvSpPr>
        <p:spPr>
          <a:xfrm>
            <a:off x="5458054" y="2257654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60"/>
          <p:cNvSpPr/>
          <p:nvPr/>
        </p:nvSpPr>
        <p:spPr>
          <a:xfrm>
            <a:off x="5609844" y="1990649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60"/>
          <p:cNvSpPr/>
          <p:nvPr/>
        </p:nvSpPr>
        <p:spPr>
          <a:xfrm>
            <a:off x="5800954" y="1990649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60"/>
          <p:cNvSpPr/>
          <p:nvPr/>
        </p:nvSpPr>
        <p:spPr>
          <a:xfrm>
            <a:off x="5991149" y="1990649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4" name="Google Shape;1744;p60"/>
          <p:cNvSpPr txBox="1"/>
          <p:nvPr/>
        </p:nvSpPr>
        <p:spPr>
          <a:xfrm>
            <a:off x="6258154" y="195224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5" name="Google Shape;1745;p60"/>
          <p:cNvSpPr txBox="1"/>
          <p:nvPr/>
        </p:nvSpPr>
        <p:spPr>
          <a:xfrm>
            <a:off x="5686654" y="2495398"/>
            <a:ext cx="5734202" cy="257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 = np.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array([[[ 0, 1, 2, 3],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[ 4, 5, 6, 7],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[ 8, 9, 10, 11]],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[[12, 13, 14, 15],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[16, 17, 18, 19],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[20, 21, 22, 23]]])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6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3" name="Google Shape;1753;p6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54" name="Google Shape;1754;p6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5" name="Google Shape;1755;p61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56" name="Google Shape;1756;p61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Summing across different axes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7" name="Google Shape;1757;p6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8" name="Google Shape;1758;p61" descr="preencoded.png"/>
          <p:cNvPicPr preferRelativeResize="0"/>
          <p:nvPr/>
        </p:nvPicPr>
        <p:blipFill rotWithShape="1">
          <a:blip r:embed="rId6">
            <a:alphaModFix/>
          </a:blip>
          <a:srcRect l="-1" r="-1"/>
          <a:stretch/>
        </p:blipFill>
        <p:spPr>
          <a:xfrm>
            <a:off x="609905" y="2505456"/>
            <a:ext cx="4381805" cy="2648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59" name="Google Shape;1759;p61"/>
          <p:cNvSpPr txBox="1"/>
          <p:nvPr/>
        </p:nvSpPr>
        <p:spPr>
          <a:xfrm>
            <a:off x="914400" y="27340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Sum across matrices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61"/>
          <p:cNvSpPr txBox="1"/>
          <p:nvPr/>
        </p:nvSpPr>
        <p:spPr>
          <a:xfrm>
            <a:off x="914400" y="32287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Using </a:t>
            </a:r>
            <a:r>
              <a:rPr lang="en-US" sz="1500" b="0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axis=0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collapses the first dimension.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61"/>
          <p:cNvSpPr txBox="1"/>
          <p:nvPr/>
        </p:nvSpPr>
        <p:spPr>
          <a:xfrm>
            <a:off x="914400" y="4123944"/>
            <a:ext cx="392460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effectively adds the elements of the 2D matrices together, resulting in a single 2D array.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2" name="Google Shape;1762;p6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4772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61"/>
          <p:cNvSpPr txBox="1"/>
          <p:nvPr/>
        </p:nvSpPr>
        <p:spPr>
          <a:xfrm>
            <a:off x="952805" y="5458054"/>
            <a:ext cx="390448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Input shape: (2, 3, 4) → Output shape: (3, 4)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4" name="Google Shape;1764;p61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3022092"/>
            <a:ext cx="6133795" cy="21854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5" name="Google Shape;1765;p61"/>
          <p:cNvSpPr/>
          <p:nvPr/>
        </p:nvSpPr>
        <p:spPr>
          <a:xfrm>
            <a:off x="5458054" y="303123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6" name="Google Shape;1766;p61"/>
          <p:cNvSpPr/>
          <p:nvPr/>
        </p:nvSpPr>
        <p:spPr>
          <a:xfrm>
            <a:off x="5458054" y="345094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61"/>
          <p:cNvSpPr/>
          <p:nvPr/>
        </p:nvSpPr>
        <p:spPr>
          <a:xfrm>
            <a:off x="5609844" y="318394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8" name="Google Shape;1768;p61"/>
          <p:cNvSpPr/>
          <p:nvPr/>
        </p:nvSpPr>
        <p:spPr>
          <a:xfrm>
            <a:off x="5800954" y="318394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9" name="Google Shape;1769;p61"/>
          <p:cNvSpPr/>
          <p:nvPr/>
        </p:nvSpPr>
        <p:spPr>
          <a:xfrm>
            <a:off x="5991149" y="318394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61"/>
          <p:cNvSpPr txBox="1"/>
          <p:nvPr/>
        </p:nvSpPr>
        <p:spPr>
          <a:xfrm>
            <a:off x="6258154" y="314553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61"/>
          <p:cNvSpPr txBox="1"/>
          <p:nvPr/>
        </p:nvSpPr>
        <p:spPr>
          <a:xfrm>
            <a:off x="5686654" y="3688690"/>
            <a:ext cx="5737860" cy="128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c.sum(axis=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sum across matrices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array([[12, 14, 16, 18],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[20, 22, 24, 26],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[28, 30, 32, 34]])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61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6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79" name="Google Shape;1779;p6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62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81" name="Google Shape;1781;p6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6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Transposing Matrices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3" name="Google Shape;1783;p62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62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62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The .T Attribute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62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T attribute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is equivalent to calling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transpose()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when the rank is ≥ 2.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7" name="Google Shape;1787;p6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0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8" name="Google Shape;1788;p62"/>
          <p:cNvSpPr txBox="1"/>
          <p:nvPr/>
        </p:nvSpPr>
        <p:spPr>
          <a:xfrm>
            <a:off x="952805" y="4848149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operation effectively flips the matrix over its diagonal, switching rows and columns.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9" name="Google Shape;1789;p62" descr="preencoded.png"/>
          <p:cNvPicPr preferRelativeResize="0"/>
          <p:nvPr/>
        </p:nvPicPr>
        <p:blipFill rotWithShape="1">
          <a:blip r:embed="rId8">
            <a:alphaModFix/>
          </a:blip>
          <a:srcRect l="-3" r="-3"/>
          <a:stretch/>
        </p:blipFill>
        <p:spPr>
          <a:xfrm>
            <a:off x="5447995" y="2221992"/>
            <a:ext cx="6133795" cy="3785616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Google Shape;1790;p62"/>
          <p:cNvSpPr/>
          <p:nvPr/>
        </p:nvSpPr>
        <p:spPr>
          <a:xfrm>
            <a:off x="5458054" y="223113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62"/>
          <p:cNvSpPr/>
          <p:nvPr/>
        </p:nvSpPr>
        <p:spPr>
          <a:xfrm>
            <a:off x="5458054" y="265084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62"/>
          <p:cNvSpPr/>
          <p:nvPr/>
        </p:nvSpPr>
        <p:spPr>
          <a:xfrm>
            <a:off x="5609844" y="238384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62"/>
          <p:cNvSpPr/>
          <p:nvPr/>
        </p:nvSpPr>
        <p:spPr>
          <a:xfrm>
            <a:off x="5800954" y="238384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62"/>
          <p:cNvSpPr/>
          <p:nvPr/>
        </p:nvSpPr>
        <p:spPr>
          <a:xfrm>
            <a:off x="5991149" y="238384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5" name="Google Shape;1795;p62"/>
          <p:cNvSpPr txBox="1"/>
          <p:nvPr/>
        </p:nvSpPr>
        <p:spPr>
          <a:xfrm>
            <a:off x="6258154" y="234543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62"/>
          <p:cNvSpPr txBox="1"/>
          <p:nvPr/>
        </p:nvSpPr>
        <p:spPr>
          <a:xfrm>
            <a:off x="5686654" y="2888590"/>
            <a:ext cx="5737860" cy="288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m1 =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arange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reshape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array([[0, 1, 2],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[3, 4, 5]])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m1.T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array([[0, 3],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[1, 4],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[2, 5]])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6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6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04" name="Google Shape;1804;p6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5" name="Google Shape;1805;p6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6" name="Google Shape;1806;p6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7" name="Google Shape;1807;p63"/>
          <p:cNvSpPr txBox="1"/>
          <p:nvPr/>
        </p:nvSpPr>
        <p:spPr>
          <a:xfrm>
            <a:off x="609905" y="533095"/>
            <a:ext cx="1190000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Solving a system of linear scalar equations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8" name="Google Shape;1808;p63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9" name="Google Shape;1809;p63" descr="preencoded.png"/>
          <p:cNvPicPr preferRelativeResize="0"/>
          <p:nvPr/>
        </p:nvPicPr>
        <p:blipFill rotWithShape="1">
          <a:blip r:embed="rId7">
            <a:alphaModFix amt="63000"/>
          </a:blip>
          <a:srcRect l="-56" r="-57"/>
          <a:stretch/>
        </p:blipFill>
        <p:spPr>
          <a:xfrm>
            <a:off x="10801807" y="3390595"/>
            <a:ext cx="400507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0" name="Google Shape;1810;p6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0705" y="4662526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1" name="Google Shape;1811;p6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2" name="Google Shape;1812;p63" descr="preencoded.png"/>
          <p:cNvPicPr preferRelativeResize="0"/>
          <p:nvPr/>
        </p:nvPicPr>
        <p:blipFill rotWithShape="1">
          <a:blip r:embed="rId9">
            <a:alphaModFix/>
          </a:blip>
          <a:srcRect t="-1" b="-1"/>
          <a:stretch/>
        </p:blipFill>
        <p:spPr>
          <a:xfrm>
            <a:off x="609905" y="2447849"/>
            <a:ext cx="6096305" cy="109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63"/>
          <p:cNvSpPr txBox="1"/>
          <p:nvPr/>
        </p:nvSpPr>
        <p:spPr>
          <a:xfrm>
            <a:off x="914400" y="2676449"/>
            <a:ext cx="5649163" cy="63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solve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function solves a system of linear scalar equations.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4" name="Google Shape;1814;p63" descr="preencoded.png"/>
          <p:cNvPicPr preferRelativeResize="0"/>
          <p:nvPr/>
        </p:nvPicPr>
        <p:blipFill rotWithShape="1">
          <a:blip r:embed="rId10">
            <a:alphaModFix/>
          </a:blip>
          <a:srcRect t="-7" b="-6"/>
          <a:stretch/>
        </p:blipFill>
        <p:spPr>
          <a:xfrm>
            <a:off x="609905" y="3924605"/>
            <a:ext cx="6096305" cy="2048256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63"/>
          <p:cNvSpPr/>
          <p:nvPr/>
        </p:nvSpPr>
        <p:spPr>
          <a:xfrm>
            <a:off x="923544" y="4581144"/>
            <a:ext cx="5467198" cy="9144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" name="Google Shape;1816;p63"/>
          <p:cNvSpPr txBox="1"/>
          <p:nvPr/>
        </p:nvSpPr>
        <p:spPr>
          <a:xfrm>
            <a:off x="923544" y="4238244"/>
            <a:ext cx="5582412" cy="267919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Example System: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7" name="Google Shape;1817;p63"/>
          <p:cNvSpPr txBox="1"/>
          <p:nvPr/>
        </p:nvSpPr>
        <p:spPr>
          <a:xfrm>
            <a:off x="2319833" y="4819802"/>
            <a:ext cx="2867558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lang="en-US" sz="27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2x + 6y = 6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63"/>
          <p:cNvSpPr txBox="1"/>
          <p:nvPr/>
        </p:nvSpPr>
        <p:spPr>
          <a:xfrm>
            <a:off x="2319833" y="5277002"/>
            <a:ext cx="2867558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lang="en-US" sz="2700" b="0" i="0" u="none" strike="noStrike" cap="none" dirty="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5x + 3y = -9</a:t>
            </a:r>
            <a:endParaRPr sz="2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9" name="Google Shape;1819;p63" descr="preencoded.png"/>
          <p:cNvPicPr preferRelativeResize="0"/>
          <p:nvPr/>
        </p:nvPicPr>
        <p:blipFill rotWithShape="1">
          <a:blip r:embed="rId11">
            <a:alphaModFix amt="10000"/>
          </a:blip>
          <a:srcRect t="-9" b="-10"/>
          <a:stretch/>
        </p:blipFill>
        <p:spPr>
          <a:xfrm>
            <a:off x="8226857" y="3010205"/>
            <a:ext cx="3209544" cy="3600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20" name="Google Shape;1820;p63"/>
          <p:cNvSpPr/>
          <p:nvPr/>
        </p:nvSpPr>
        <p:spPr>
          <a:xfrm>
            <a:off x="8226857" y="4839005"/>
            <a:ext cx="1000354" cy="571500"/>
          </a:xfrm>
          <a:prstGeom prst="roundRect">
            <a:avLst>
              <a:gd name="adj" fmla="val 21333"/>
            </a:avLst>
          </a:prstGeom>
          <a:solidFill>
            <a:srgbClr val="DBEAFE">
              <a:alpha val="6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63"/>
          <p:cNvSpPr txBox="1"/>
          <p:nvPr/>
        </p:nvSpPr>
        <p:spPr>
          <a:xfrm>
            <a:off x="8341157" y="4990795"/>
            <a:ext cx="7717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Ax = B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63"/>
          <p:cNvSpPr/>
          <p:nvPr/>
        </p:nvSpPr>
        <p:spPr>
          <a:xfrm>
            <a:off x="9372600" y="4839005"/>
            <a:ext cx="1000354" cy="571500"/>
          </a:xfrm>
          <a:prstGeom prst="roundRect">
            <a:avLst>
              <a:gd name="adj" fmla="val 21333"/>
            </a:avLst>
          </a:prstGeom>
          <a:solidFill>
            <a:srgbClr val="DBEAFE">
              <a:alpha val="6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3" name="Google Shape;1823;p63"/>
          <p:cNvSpPr txBox="1"/>
          <p:nvPr/>
        </p:nvSpPr>
        <p:spPr>
          <a:xfrm>
            <a:off x="9458554" y="4990795"/>
            <a:ext cx="82753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x = A</a:t>
            </a:r>
            <a:r>
              <a:rPr lang="en-US" sz="11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-1</a:t>
            </a:r>
            <a:r>
              <a:rPr lang="en-US" sz="15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4" name="Google Shape;1824;p63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25205" y="3010205"/>
            <a:ext cx="11430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" name="Google Shape;1825;p63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953805" y="3238805"/>
            <a:ext cx="6858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6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2" name="Google Shape;1832;p6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833" name="Google Shape;1833;p6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4" name="Google Shape;1834;p64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64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Solving a system of linear scalar equations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6" name="Google Shape;1836;p6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64" descr="preencoded.png"/>
          <p:cNvPicPr preferRelativeResize="0"/>
          <p:nvPr/>
        </p:nvPicPr>
        <p:blipFill rotWithShape="1">
          <a:blip r:embed="rId6">
            <a:alphaModFix/>
          </a:blip>
          <a:srcRect l="-5" r="-4"/>
          <a:stretch/>
        </p:blipFill>
        <p:spPr>
          <a:xfrm>
            <a:off x="609905" y="2090318"/>
            <a:ext cx="4381805" cy="3133649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p64"/>
          <p:cNvSpPr txBox="1"/>
          <p:nvPr/>
        </p:nvSpPr>
        <p:spPr>
          <a:xfrm>
            <a:off x="914400" y="23189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linalg.solve()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9" name="Google Shape;1839;p64"/>
          <p:cNvSpPr txBox="1"/>
          <p:nvPr/>
        </p:nvSpPr>
        <p:spPr>
          <a:xfrm>
            <a:off x="914400" y="2814523"/>
            <a:ext cx="3934663" cy="113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Computes the "exact" solution, </a:t>
            </a:r>
            <a:r>
              <a:rPr lang="en-US" sz="1800" b="0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of the well-determined linear matrix equation </a:t>
            </a:r>
            <a:r>
              <a:rPr lang="en-US" sz="1800" b="0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ax = b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64"/>
          <p:cNvSpPr/>
          <p:nvPr/>
        </p:nvSpPr>
        <p:spPr>
          <a:xfrm>
            <a:off x="914400" y="4100170"/>
            <a:ext cx="3847795" cy="895198"/>
          </a:xfrm>
          <a:prstGeom prst="roundRect">
            <a:avLst>
              <a:gd name="adj" fmla="val 8693"/>
            </a:avLst>
          </a:prstGeom>
          <a:solidFill>
            <a:srgbClr val="F9FAFB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64"/>
          <p:cNvSpPr txBox="1"/>
          <p:nvPr/>
        </p:nvSpPr>
        <p:spPr>
          <a:xfrm>
            <a:off x="1076249" y="4262018"/>
            <a:ext cx="36393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2x + 6y = 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64"/>
          <p:cNvSpPr txBox="1"/>
          <p:nvPr/>
        </p:nvSpPr>
        <p:spPr>
          <a:xfrm>
            <a:off x="1076249" y="4567428"/>
            <a:ext cx="36393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ourier New"/>
              <a:buNone/>
            </a:pPr>
            <a:r>
              <a:rPr lang="en-US" sz="1300" b="0" i="0" u="none" strike="noStrike" cap="none" dirty="0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5x + 3y = -9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3" name="Google Shape;1843;p64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682082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4" name="Google Shape;1844;p64"/>
          <p:cNvSpPr txBox="1"/>
          <p:nvPr/>
        </p:nvSpPr>
        <p:spPr>
          <a:xfrm>
            <a:off x="895198" y="5529377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NumPy's linear algebra module provides robust solvers.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5" name="Google Shape;1845;p64" descr="preencoded.png"/>
          <p:cNvPicPr preferRelativeResize="0"/>
          <p:nvPr/>
        </p:nvPicPr>
        <p:blipFill rotWithShape="1">
          <a:blip r:embed="rId8">
            <a:alphaModFix/>
          </a:blip>
          <a:srcRect l="-5" r="-4"/>
          <a:stretch/>
        </p:blipFill>
        <p:spPr>
          <a:xfrm>
            <a:off x="5447995" y="2770632"/>
            <a:ext cx="6133795" cy="2611526"/>
          </a:xfrm>
          <a:prstGeom prst="rect">
            <a:avLst/>
          </a:prstGeom>
          <a:noFill/>
          <a:ln>
            <a:noFill/>
          </a:ln>
        </p:spPr>
      </p:pic>
      <p:sp>
        <p:nvSpPr>
          <p:cNvPr id="1846" name="Google Shape;1846;p64"/>
          <p:cNvSpPr/>
          <p:nvPr/>
        </p:nvSpPr>
        <p:spPr>
          <a:xfrm>
            <a:off x="5458054" y="278069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64"/>
          <p:cNvSpPr/>
          <p:nvPr/>
        </p:nvSpPr>
        <p:spPr>
          <a:xfrm>
            <a:off x="5458054" y="3200400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64"/>
          <p:cNvSpPr/>
          <p:nvPr/>
        </p:nvSpPr>
        <p:spPr>
          <a:xfrm>
            <a:off x="5609844" y="29324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9" name="Google Shape;1849;p64"/>
          <p:cNvSpPr/>
          <p:nvPr/>
        </p:nvSpPr>
        <p:spPr>
          <a:xfrm>
            <a:off x="5800954" y="29324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0" name="Google Shape;1850;p64"/>
          <p:cNvSpPr/>
          <p:nvPr/>
        </p:nvSpPr>
        <p:spPr>
          <a:xfrm>
            <a:off x="5991149" y="29324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64"/>
          <p:cNvSpPr txBox="1"/>
          <p:nvPr/>
        </p:nvSpPr>
        <p:spPr>
          <a:xfrm>
            <a:off x="6258154" y="289499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64"/>
          <p:cNvSpPr txBox="1"/>
          <p:nvPr/>
        </p:nvSpPr>
        <p:spPr>
          <a:xfrm>
            <a:off x="5686654" y="3437230"/>
            <a:ext cx="573786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coeffs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depvars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np.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-9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solution =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linalg.</a:t>
            </a:r>
            <a:r>
              <a:rPr lang="en-US" sz="1600" b="0" i="0" u="none" strike="noStrike" cap="none" dirty="0" err="1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solve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coeffs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depvars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solution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array([-3., 2.])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6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6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0" name="Google Shape;1860;p6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861" name="Google Shape;1861;p6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2" name="Google Shape;1862;p65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1863" name="Google Shape;1863;p65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Solving a system of linear scalar equations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4" name="Google Shape;1864;p6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5" name="Google Shape;1865;p65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2432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866" name="Google Shape;1866;p65"/>
          <p:cNvSpPr txBox="1"/>
          <p:nvPr/>
        </p:nvSpPr>
        <p:spPr>
          <a:xfrm>
            <a:off x="914400" y="285292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65"/>
          <p:cNvSpPr txBox="1"/>
          <p:nvPr/>
        </p:nvSpPr>
        <p:spPr>
          <a:xfrm>
            <a:off x="914400" y="3347618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Let’s check the solution by computing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dot product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coefficients and the solution vector.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8" name="Google Shape;1868;p6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480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65"/>
          <p:cNvSpPr txBox="1"/>
          <p:nvPr/>
        </p:nvSpPr>
        <p:spPr>
          <a:xfrm>
            <a:off x="952805" y="499628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result should match the original dependent variables.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0" name="Google Shape;1870;p65" descr="preencoded.png"/>
          <p:cNvPicPr preferRelativeResize="0"/>
          <p:nvPr/>
        </p:nvPicPr>
        <p:blipFill rotWithShape="1">
          <a:blip r:embed="rId8">
            <a:alphaModFix/>
          </a:blip>
          <a:srcRect t="-11" b="-11"/>
          <a:stretch/>
        </p:blipFill>
        <p:spPr>
          <a:xfrm>
            <a:off x="5447995" y="3075127"/>
            <a:ext cx="6133795" cy="2002536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65"/>
          <p:cNvSpPr/>
          <p:nvPr/>
        </p:nvSpPr>
        <p:spPr>
          <a:xfrm>
            <a:off x="5458054" y="308518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2" name="Google Shape;1872;p65"/>
          <p:cNvSpPr/>
          <p:nvPr/>
        </p:nvSpPr>
        <p:spPr>
          <a:xfrm>
            <a:off x="5458054" y="3504895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3" name="Google Shape;1873;p65"/>
          <p:cNvSpPr/>
          <p:nvPr/>
        </p:nvSpPr>
        <p:spPr>
          <a:xfrm>
            <a:off x="5609844" y="3237890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4" name="Google Shape;1874;p65"/>
          <p:cNvSpPr/>
          <p:nvPr/>
        </p:nvSpPr>
        <p:spPr>
          <a:xfrm>
            <a:off x="5800954" y="3237890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5" name="Google Shape;1875;p65"/>
          <p:cNvSpPr/>
          <p:nvPr/>
        </p:nvSpPr>
        <p:spPr>
          <a:xfrm>
            <a:off x="5991149" y="3237890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6" name="Google Shape;1876;p65"/>
          <p:cNvSpPr txBox="1"/>
          <p:nvPr/>
        </p:nvSpPr>
        <p:spPr>
          <a:xfrm>
            <a:off x="6258154" y="319948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65"/>
          <p:cNvSpPr txBox="1"/>
          <p:nvPr/>
        </p:nvSpPr>
        <p:spPr>
          <a:xfrm>
            <a:off x="5686654" y="3742639"/>
            <a:ext cx="5744261" cy="1105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 dirty="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coeffs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800" b="0" i="0" u="none" strike="noStrike" cap="none" dirty="0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dot</a:t>
            </a:r>
            <a:r>
              <a:rPr lang="en-US" sz="18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(solution), </a:t>
            </a:r>
            <a:r>
              <a:rPr lang="en-US" sz="18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depvars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 dirty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(array([ 6., -9.]), array([ 6, -9]))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6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6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5" name="Google Shape;1885;p6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6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6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66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9" name="Google Shape;1889;p66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66" descr="preencoded.png"/>
          <p:cNvPicPr preferRelativeResize="0"/>
          <p:nvPr/>
        </p:nvPicPr>
        <p:blipFill rotWithShape="1">
          <a:blip r:embed="rId7">
            <a:alphaModFix amt="69000"/>
          </a:blip>
          <a:srcRect l="-27" r="-27"/>
          <a:stretch/>
        </p:blipFill>
        <p:spPr>
          <a:xfrm>
            <a:off x="10772546" y="3143707"/>
            <a:ext cx="42885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1" name="Google Shape;1891;p6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1095" y="452902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2" name="Google Shape;1892;p6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3" name="Google Shape;1893;p66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609905" y="2902306"/>
            <a:ext cx="60963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1894" name="Google Shape;1894;p66"/>
          <p:cNvSpPr txBox="1"/>
          <p:nvPr/>
        </p:nvSpPr>
        <p:spPr>
          <a:xfrm>
            <a:off x="914400" y="3130906"/>
            <a:ext cx="56701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Official resources for further learning and deep dives into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5" name="Google Shape;1895;p6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564685"/>
            <a:ext cx="609905" cy="60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6" name="Google Shape;1896;p66" descr="preencoded.png"/>
          <p:cNvPicPr preferRelativeResize="0"/>
          <p:nvPr/>
        </p:nvPicPr>
        <p:blipFill rotWithShape="1">
          <a:blip r:embed="rId11">
            <a:alphaModFix/>
          </a:blip>
          <a:srcRect t="-44" b="-45"/>
          <a:stretch/>
        </p:blipFill>
        <p:spPr>
          <a:xfrm>
            <a:off x="785470" y="4755794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66"/>
          <p:cNvSpPr txBox="1"/>
          <p:nvPr/>
        </p:nvSpPr>
        <p:spPr>
          <a:xfrm>
            <a:off x="1447495" y="4527194"/>
            <a:ext cx="4353458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rPr>
              <a:t>NumPy Documentation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8" name="Google Shape;1898;p66"/>
          <p:cNvSpPr txBox="1"/>
          <p:nvPr/>
        </p:nvSpPr>
        <p:spPr>
          <a:xfrm>
            <a:off x="1447495" y="4907585"/>
            <a:ext cx="435345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https://docs.scipy.org/doc/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66"/>
          <p:cNvSpPr txBox="1"/>
          <p:nvPr/>
        </p:nvSpPr>
        <p:spPr>
          <a:xfrm>
            <a:off x="1447495" y="5250485"/>
            <a:ext cx="492495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Comprehensive guide, API reference, and user manuals.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0" name="Google Shape;1900;p66" descr="preencoded.png"/>
          <p:cNvPicPr preferRelativeResize="0"/>
          <p:nvPr/>
        </p:nvPicPr>
        <p:blipFill rotWithShape="1">
          <a:blip r:embed="rId12">
            <a:alphaModFix amt="10000"/>
          </a:blip>
          <a:srcRect/>
          <a:stretch/>
        </p:blipFill>
        <p:spPr>
          <a:xfrm>
            <a:off x="7962595" y="3143707"/>
            <a:ext cx="40005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1" name="Google Shape;1901;p66" descr="preencoded.png"/>
          <p:cNvPicPr preferRelativeResize="0"/>
          <p:nvPr/>
        </p:nvPicPr>
        <p:blipFill rotWithShape="1">
          <a:blip r:embed="rId13">
            <a:alphaModFix amt="90000"/>
          </a:blip>
          <a:srcRect l="-13" r="-13"/>
          <a:stretch/>
        </p:blipFill>
        <p:spPr>
          <a:xfrm>
            <a:off x="7962595" y="3143707"/>
            <a:ext cx="266730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6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8" name="Google Shape;1908;p6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9" name="Google Shape;1909;p6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0" name="Google Shape;1910;p6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67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2" name="Google Shape;1912;p67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3" name="Google Shape;1913;p6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44200" y="312450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4" name="Google Shape;1914;p67" descr="preencoded.png"/>
          <p:cNvPicPr preferRelativeResize="0"/>
          <p:nvPr/>
        </p:nvPicPr>
        <p:blipFill rotWithShape="1">
          <a:blip r:embed="rId8">
            <a:alphaModFix/>
          </a:blip>
          <a:srcRect l="-27" r="-27"/>
          <a:stretch/>
        </p:blipFill>
        <p:spPr>
          <a:xfrm>
            <a:off x="7010705" y="4529023"/>
            <a:ext cx="42885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5" name="Google Shape;1915;p6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67"/>
          <p:cNvSpPr txBox="1"/>
          <p:nvPr/>
        </p:nvSpPr>
        <p:spPr>
          <a:xfrm>
            <a:off x="609905" y="2573122"/>
            <a:ext cx="6203290" cy="118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If you have any doubts or questions regarding the NumPy concepts covered, feel free to reach out.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7" name="Google Shape;1917;p67" descr="preencoded.png"/>
          <p:cNvPicPr preferRelativeResize="0"/>
          <p:nvPr/>
        </p:nvPicPr>
        <p:blipFill rotWithShape="1">
          <a:blip r:embed="rId9">
            <a:alphaModFix/>
          </a:blip>
          <a:srcRect l="-3" r="-3"/>
          <a:stretch/>
        </p:blipFill>
        <p:spPr>
          <a:xfrm>
            <a:off x="609905" y="4133088"/>
            <a:ext cx="609630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8" name="Google Shape;1918;p6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90295" y="4475988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67"/>
          <p:cNvSpPr txBox="1"/>
          <p:nvPr/>
        </p:nvSpPr>
        <p:spPr>
          <a:xfrm>
            <a:off x="1343254" y="4437583"/>
            <a:ext cx="228965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Join the discussion at: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67"/>
          <p:cNvSpPr txBox="1"/>
          <p:nvPr/>
        </p:nvSpPr>
        <p:spPr>
          <a:xfrm>
            <a:off x="990295" y="4780483"/>
            <a:ext cx="5539435" cy="7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https://discuss.cloudxlab.com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1" name="Google Shape;1921;p67" descr="preencoded.png"/>
          <p:cNvPicPr preferRelativeResize="0"/>
          <p:nvPr/>
        </p:nvPicPr>
        <p:blipFill rotWithShape="1">
          <a:blip r:embed="rId11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67" descr="preencoded.png"/>
          <p:cNvPicPr preferRelativeResize="0"/>
          <p:nvPr/>
        </p:nvPicPr>
        <p:blipFill rotWithShape="1">
          <a:blip r:embed="rId12">
            <a:alphaModFix amt="90000"/>
          </a:blip>
          <a:srcRect/>
          <a:stretch/>
        </p:blipFill>
        <p:spPr>
          <a:xfrm>
            <a:off x="8229600" y="3143707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6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9" name="Google Shape;1929;p68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0" name="Google Shape;1930;p68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1" name="Google Shape;1931;p68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0211105" y="761695"/>
            <a:ext cx="1218895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2" name="Google Shape;1932;p6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8001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3" name="Google Shape;1933;p68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4" name="Google Shape;1934;p68" descr="preencoded.png"/>
          <p:cNvPicPr preferRelativeResize="0"/>
          <p:nvPr/>
        </p:nvPicPr>
        <p:blipFill rotWithShape="1">
          <a:blip r:embed="rId7">
            <a:alphaModFix/>
          </a:blip>
          <a:srcRect t="-17" b="-16"/>
          <a:stretch/>
        </p:blipFill>
        <p:spPr>
          <a:xfrm>
            <a:off x="5524805" y="1657807"/>
            <a:ext cx="1143000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68" descr="preencoded.png"/>
          <p:cNvPicPr preferRelativeResize="0"/>
          <p:nvPr/>
        </p:nvPicPr>
        <p:blipFill rotWithShape="1">
          <a:blip r:embed="rId8">
            <a:alphaModFix/>
          </a:blip>
          <a:srcRect l="-44" r="-44"/>
          <a:stretch/>
        </p:blipFill>
        <p:spPr>
          <a:xfrm>
            <a:off x="5838444" y="1971446"/>
            <a:ext cx="514807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6" name="Google Shape;1936;p68"/>
          <p:cNvSpPr txBox="1"/>
          <p:nvPr/>
        </p:nvSpPr>
        <p:spPr>
          <a:xfrm>
            <a:off x="3840480" y="3200400"/>
            <a:ext cx="4515307" cy="1429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0"/>
              <a:buFont typeface="Poppins"/>
              <a:buNone/>
            </a:pPr>
            <a:r>
              <a:rPr lang="en-US" sz="90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</a:t>
            </a:r>
            <a:endParaRPr sz="9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7" name="Google Shape;1937;p68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781398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6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4" name="Google Shape;1944;p6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p6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6" name="Google Shape;1946;p6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69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What is Pandas?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8" name="Google Shape;1948;p69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9" name="Google Shape;1949;p69" descr="preencoded.png"/>
          <p:cNvPicPr preferRelativeResize="0"/>
          <p:nvPr/>
        </p:nvPicPr>
        <p:blipFill rotWithShape="1">
          <a:blip r:embed="rId7">
            <a:alphaModFix amt="74000"/>
          </a:blip>
          <a:srcRect l="-743" r="-742"/>
          <a:stretch/>
        </p:blipFill>
        <p:spPr>
          <a:xfrm>
            <a:off x="10896905" y="3143707"/>
            <a:ext cx="30449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0" name="Google Shape;1950;p6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1095" y="452902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1" name="Google Shape;1951;p69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69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2" name="Google Shape;1952;p69" descr="preencoded.png"/>
          <p:cNvPicPr preferRelativeResize="0"/>
          <p:nvPr/>
        </p:nvPicPr>
        <p:blipFill rotWithShape="1">
          <a:blip r:embed="rId9">
            <a:alphaModFix/>
          </a:blip>
          <a:srcRect l="-4" r="-4"/>
          <a:stretch/>
        </p:blipFill>
        <p:spPr>
          <a:xfrm>
            <a:off x="609905" y="2211019"/>
            <a:ext cx="6096305" cy="1635862"/>
          </a:xfrm>
          <a:prstGeom prst="rect">
            <a:avLst/>
          </a:prstGeom>
          <a:noFill/>
          <a:ln>
            <a:noFill/>
          </a:ln>
        </p:spPr>
      </p:pic>
      <p:sp>
        <p:nvSpPr>
          <p:cNvPr id="1953" name="Google Shape;1953;p69"/>
          <p:cNvSpPr txBox="1"/>
          <p:nvPr/>
        </p:nvSpPr>
        <p:spPr>
          <a:xfrm>
            <a:off x="914400" y="2439619"/>
            <a:ext cx="5670194" cy="118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One of the most widely used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Python libraries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in Data Science after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4" name="Google Shape;1954;p6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22818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5" name="Google Shape;1955;p6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3407" y="436168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56" name="Google Shape;1956;p69"/>
          <p:cNvSpPr txBox="1"/>
          <p:nvPr/>
        </p:nvSpPr>
        <p:spPr>
          <a:xfrm>
            <a:off x="1295705" y="4304081"/>
            <a:ext cx="219913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High-performance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7" name="Google Shape;1957;p6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9898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8" name="Google Shape;1958;p69" descr="preencoded.png"/>
          <p:cNvPicPr preferRelativeResize="0"/>
          <p:nvPr/>
        </p:nvPicPr>
        <p:blipFill rotWithShape="1">
          <a:blip r:embed="rId12">
            <a:alphaModFix/>
          </a:blip>
          <a:srcRect l="-1282" r="-1282"/>
          <a:stretch/>
        </p:blipFill>
        <p:spPr>
          <a:xfrm>
            <a:off x="728777" y="5123383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59" name="Google Shape;1959;p69"/>
          <p:cNvSpPr txBox="1"/>
          <p:nvPr/>
        </p:nvSpPr>
        <p:spPr>
          <a:xfrm>
            <a:off x="1295705" y="5065776"/>
            <a:ext cx="3310128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Easy-to-use data structures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0" name="Google Shape;1960;p6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75157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1" name="Google Shape;1961;p69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3407" y="588507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69"/>
          <p:cNvSpPr txBox="1"/>
          <p:nvPr/>
        </p:nvSpPr>
        <p:spPr>
          <a:xfrm>
            <a:off x="1295705" y="5828386"/>
            <a:ext cx="2289658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Data analysis tools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3" name="Google Shape;1963;p69" descr="preencoded.png"/>
          <p:cNvPicPr preferRelativeResize="0"/>
          <p:nvPr/>
        </p:nvPicPr>
        <p:blipFill rotWithShape="1">
          <a:blip r:embed="rId14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" name="Google Shape;1964;p69" descr="preencoded.png"/>
          <p:cNvPicPr preferRelativeResize="0"/>
          <p:nvPr/>
        </p:nvPicPr>
        <p:blipFill rotWithShape="1">
          <a:blip r:embed="rId15">
            <a:alphaModFix amt="90000"/>
          </a:blip>
          <a:srcRect/>
          <a:stretch/>
        </p:blipFill>
        <p:spPr>
          <a:xfrm>
            <a:off x="8229600" y="3143707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7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71" name="Google Shape;1971;p7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7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7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4" name="Google Shape;1974;p70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5" name="Google Shape;1975;p7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6" name="Google Shape;1976;p70"/>
          <p:cNvGraphicFramePr/>
          <p:nvPr/>
        </p:nvGraphicFramePr>
        <p:xfrm>
          <a:off x="6858000" y="2938882"/>
          <a:ext cx="4248300" cy="2543875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594350"/>
                <a:gridCol w="1624900"/>
                <a:gridCol w="927200"/>
                <a:gridCol w="1101850"/>
              </a:tblGrid>
              <a:tr h="50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E3A8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Name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E3A8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1E3A8A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City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</a:tr>
              <a:tr h="50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4B556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NY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0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4B556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30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SF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0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4B556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Charlie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35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LA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0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b="1" u="none" strike="noStrike" cap="none">
                          <a:solidFill>
                            <a:srgbClr val="4B556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David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19050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Roboto Mono"/>
                        <a:buNone/>
                      </a:pPr>
                      <a:r>
                        <a:rPr lang="en-US" sz="135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CHI</a:t>
                      </a:r>
                      <a:endParaRPr sz="135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14300" marR="114300" marT="114300" marB="114300" anchor="ctr">
                    <a:lnL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4F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7" name="Google Shape;1977;p70"/>
          <p:cNvSpPr/>
          <p:nvPr/>
        </p:nvSpPr>
        <p:spPr>
          <a:xfrm>
            <a:off x="7010705" y="3090672"/>
            <a:ext cx="4267505" cy="2542946"/>
          </a:xfrm>
          <a:prstGeom prst="roundRect">
            <a:avLst>
              <a:gd name="adj" fmla="val 1077"/>
            </a:avLst>
          </a:prstGeom>
          <a:noFill/>
          <a:ln w="254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70"/>
          <p:cNvSpPr/>
          <p:nvPr/>
        </p:nvSpPr>
        <p:spPr>
          <a:xfrm>
            <a:off x="6705295" y="2786177"/>
            <a:ext cx="761695" cy="761695"/>
          </a:xfrm>
          <a:prstGeom prst="ellipse">
            <a:avLst/>
          </a:prstGeom>
          <a:solidFill>
            <a:srgbClr val="DBEAFE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9" name="Google Shape;1979;p7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0" name="Google Shape;1980;p70" descr="preencoded.png"/>
          <p:cNvPicPr preferRelativeResize="0"/>
          <p:nvPr/>
        </p:nvPicPr>
        <p:blipFill rotWithShape="1">
          <a:blip r:embed="rId7">
            <a:alphaModFix/>
          </a:blip>
          <a:srcRect l="-17" r="-16"/>
          <a:stretch/>
        </p:blipFill>
        <p:spPr>
          <a:xfrm>
            <a:off x="609905" y="2626157"/>
            <a:ext cx="51819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p70"/>
          <p:cNvSpPr txBox="1"/>
          <p:nvPr/>
        </p:nvSpPr>
        <p:spPr>
          <a:xfrm>
            <a:off x="914400" y="2854757"/>
            <a:ext cx="47557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The main data structure is the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DataFrame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2" name="Google Shape;1982;p7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42885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3" name="Google Shape;1983;p70" descr="preencoded.png"/>
          <p:cNvPicPr preferRelativeResize="0"/>
          <p:nvPr/>
        </p:nvPicPr>
        <p:blipFill rotWithShape="1">
          <a:blip r:embed="rId9">
            <a:alphaModFix/>
          </a:blip>
          <a:srcRect l="-1282" r="-1282"/>
          <a:stretch/>
        </p:blipFill>
        <p:spPr>
          <a:xfrm>
            <a:off x="728777" y="4422038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4" name="Google Shape;1984;p70"/>
          <p:cNvSpPr txBox="1"/>
          <p:nvPr/>
        </p:nvSpPr>
        <p:spPr>
          <a:xfrm>
            <a:off x="1295705" y="4250131"/>
            <a:ext cx="2369210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In-memory 2D table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5" name="Google Shape;1985;p7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50886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7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43407" y="522213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987" name="Google Shape;1987;p70"/>
          <p:cNvSpPr txBox="1"/>
          <p:nvPr/>
        </p:nvSpPr>
        <p:spPr>
          <a:xfrm>
            <a:off x="1295705" y="5050231"/>
            <a:ext cx="4582058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Like a Spreadsheet with column names and row labels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70"/>
          <p:cNvSpPr/>
          <p:nvPr/>
        </p:nvSpPr>
        <p:spPr>
          <a:xfrm>
            <a:off x="9728302" y="2710282"/>
            <a:ext cx="1552651" cy="342900"/>
          </a:xfrm>
          <a:prstGeom prst="roundRect">
            <a:avLst>
              <a:gd name="adj" fmla="val 59259"/>
            </a:avLst>
          </a:prstGeom>
          <a:solidFill>
            <a:srgbClr val="2563E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9" name="Google Shape;1989;p70"/>
          <p:cNvSpPr txBox="1"/>
          <p:nvPr/>
        </p:nvSpPr>
        <p:spPr>
          <a:xfrm>
            <a:off x="9728302" y="2710282"/>
            <a:ext cx="161483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2D Table 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7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96" name="Google Shape;1996;p7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7" name="Google Shape;1997;p7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8" name="Google Shape;1998;p7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9" name="Google Shape;1999;p71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 Analysis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0" name="Google Shape;2000;p71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71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2" name="Google Shape;2002;p71" descr="preencoded.png"/>
          <p:cNvPicPr preferRelativeResize="0"/>
          <p:nvPr/>
        </p:nvPicPr>
        <p:blipFill rotWithShape="1">
          <a:blip r:embed="rId7">
            <a:alphaModFix/>
          </a:blip>
          <a:srcRect l="-16" r="-15"/>
          <a:stretch/>
        </p:blipFill>
        <p:spPr>
          <a:xfrm>
            <a:off x="609905" y="2407615"/>
            <a:ext cx="60963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2003" name="Google Shape;2003;p71"/>
          <p:cNvSpPr txBox="1"/>
          <p:nvPr/>
        </p:nvSpPr>
        <p:spPr>
          <a:xfrm>
            <a:off x="914400" y="2636215"/>
            <a:ext cx="56701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Many features available in Excel are available programmatically in Pandas.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4" name="Google Shape;2004;p7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40315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5" name="Google Shape;2005;p7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3407" y="416509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06" name="Google Shape;2006;p71"/>
          <p:cNvSpPr txBox="1"/>
          <p:nvPr/>
        </p:nvSpPr>
        <p:spPr>
          <a:xfrm>
            <a:off x="1295705" y="4107485"/>
            <a:ext cx="2494483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Creating pivot tables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7" name="Google Shape;2007;p7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479328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7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7182" y="4926787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71"/>
          <p:cNvSpPr txBox="1"/>
          <p:nvPr/>
        </p:nvSpPr>
        <p:spPr>
          <a:xfrm>
            <a:off x="1295705" y="4870094"/>
            <a:ext cx="5248656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Computing columns based on other columns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0" name="Google Shape;2010;p7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55558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1" name="Google Shape;2011;p7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3407" y="56884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71"/>
          <p:cNvSpPr txBox="1"/>
          <p:nvPr/>
        </p:nvSpPr>
        <p:spPr>
          <a:xfrm>
            <a:off x="1295705" y="5631790"/>
            <a:ext cx="184800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Plotting graphs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3" name="Google Shape;2013;p71" descr="preencoded.png"/>
          <p:cNvPicPr preferRelativeResize="0"/>
          <p:nvPr/>
        </p:nvPicPr>
        <p:blipFill rotWithShape="1">
          <a:blip r:embed="rId12">
            <a:alphaModFix amt="10000"/>
          </a:blip>
          <a:srcRect/>
          <a:stretch/>
        </p:blipFill>
        <p:spPr>
          <a:xfrm>
            <a:off x="7696505" y="2572207"/>
            <a:ext cx="4800600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4" name="Google Shape;2014;p71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96505" y="2572207"/>
            <a:ext cx="1524305" cy="152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5" name="Google Shape;2015;p71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87207" y="297180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6" name="Google Shape;2016;p71"/>
          <p:cNvSpPr txBox="1"/>
          <p:nvPr/>
        </p:nvSpPr>
        <p:spPr>
          <a:xfrm>
            <a:off x="8299094" y="3504895"/>
            <a:ext cx="400507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Excel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7" name="Google Shape;2017;p71" descr="preencoded.png"/>
          <p:cNvPicPr preferRelativeResize="0"/>
          <p:nvPr/>
        </p:nvPicPr>
        <p:blipFill rotWithShape="1">
          <a:blip r:embed="rId15">
            <a:alphaModFix amt="54000"/>
          </a:blip>
          <a:srcRect l="-743" r="-742"/>
          <a:stretch/>
        </p:blipFill>
        <p:spPr>
          <a:xfrm>
            <a:off x="9982505" y="3161995"/>
            <a:ext cx="30449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8" name="Google Shape;2018;p71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34095" y="4324198"/>
            <a:ext cx="1524305" cy="152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9" name="Google Shape;2019;p71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010498" y="472470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0" name="Google Shape;2020;p71"/>
          <p:cNvSpPr txBox="1"/>
          <p:nvPr/>
        </p:nvSpPr>
        <p:spPr>
          <a:xfrm>
            <a:off x="8901684" y="5257800"/>
            <a:ext cx="94091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Pandas Code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7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7" name="Google Shape;2027;p7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8" name="Google Shape;2028;p7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7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72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 Structures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1" name="Google Shape;2031;p7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2" name="Google Shape;2032;p72" descr="preencoded.png"/>
          <p:cNvPicPr preferRelativeResize="0"/>
          <p:nvPr/>
        </p:nvPicPr>
        <p:blipFill rotWithShape="1">
          <a:blip r:embed="rId7">
            <a:alphaModFix amt="64000"/>
          </a:blip>
          <a:srcRect l="-2" r="-2"/>
          <a:stretch/>
        </p:blipFill>
        <p:spPr>
          <a:xfrm>
            <a:off x="10554005" y="3676802"/>
            <a:ext cx="64739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3" name="Google Shape;2033;p72" descr="preencoded.png"/>
          <p:cNvPicPr preferRelativeResize="0"/>
          <p:nvPr/>
        </p:nvPicPr>
        <p:blipFill rotWithShape="1">
          <a:blip r:embed="rId8">
            <a:alphaModFix amt="64000"/>
          </a:blip>
          <a:srcRect/>
          <a:stretch/>
        </p:blipFill>
        <p:spPr>
          <a:xfrm>
            <a:off x="10705795" y="38295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4" name="Google Shape;2034;p72" descr="preencoded.png"/>
          <p:cNvPicPr preferRelativeResize="0"/>
          <p:nvPr/>
        </p:nvPicPr>
        <p:blipFill rotWithShape="1">
          <a:blip r:embed="rId7">
            <a:alphaModFix/>
          </a:blip>
          <a:srcRect l="-2" r="-2"/>
          <a:stretch/>
        </p:blipFill>
        <p:spPr>
          <a:xfrm>
            <a:off x="7010705" y="3690518"/>
            <a:ext cx="64739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5" name="Google Shape;2035;p7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62495" y="3843223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6" name="Google Shape;2036;p72" descr="preencoded.png"/>
          <p:cNvPicPr preferRelativeResize="0"/>
          <p:nvPr/>
        </p:nvPicPr>
        <p:blipFill rotWithShape="1">
          <a:blip r:embed="rId10">
            <a:alphaModFix/>
          </a:blip>
          <a:srcRect t="-2" b="-2"/>
          <a:stretch/>
        </p:blipFill>
        <p:spPr>
          <a:xfrm>
            <a:off x="11192256" y="4209898"/>
            <a:ext cx="694944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7" name="Google Shape;2037;p72" descr="preencoded.png"/>
          <p:cNvPicPr preferRelativeResize="0"/>
          <p:nvPr/>
        </p:nvPicPr>
        <p:blipFill rotWithShape="1">
          <a:blip r:embed="rId11">
            <a:alphaModFix/>
          </a:blip>
          <a:srcRect l="-607" r="-607"/>
          <a:stretch/>
        </p:blipFill>
        <p:spPr>
          <a:xfrm>
            <a:off x="11344046" y="4362602"/>
            <a:ext cx="3904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8" name="Google Shape;2038;p7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9" name="Google Shape;2039;p72" descr="preencoded.png"/>
          <p:cNvPicPr preferRelativeResize="0"/>
          <p:nvPr/>
        </p:nvPicPr>
        <p:blipFill rotWithShape="1">
          <a:blip r:embed="rId12">
            <a:alphaModFix/>
          </a:blip>
          <a:srcRect l="-9" r="-10"/>
          <a:stretch/>
        </p:blipFill>
        <p:spPr>
          <a:xfrm>
            <a:off x="609905" y="2352751"/>
            <a:ext cx="6096305" cy="1009498"/>
          </a:xfrm>
          <a:prstGeom prst="rect">
            <a:avLst/>
          </a:prstGeom>
          <a:noFill/>
          <a:ln>
            <a:noFill/>
          </a:ln>
        </p:spPr>
      </p:pic>
      <p:sp>
        <p:nvSpPr>
          <p:cNvPr id="2040" name="Google Shape;2040;p72"/>
          <p:cNvSpPr txBox="1"/>
          <p:nvPr/>
        </p:nvSpPr>
        <p:spPr>
          <a:xfrm>
            <a:off x="875995" y="2542946"/>
            <a:ext cx="5725058" cy="6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Pandas provides three primary data structures to handle vast amounts of data efficiently: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1" name="Google Shape;2041;p7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9905" y="3705149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2" name="Google Shape;2042;p7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1695" y="3857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3" name="Google Shape;2043;p72"/>
          <p:cNvSpPr txBox="1"/>
          <p:nvPr/>
        </p:nvSpPr>
        <p:spPr>
          <a:xfrm>
            <a:off x="1333195" y="3666744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Series Objects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72"/>
          <p:cNvSpPr txBox="1"/>
          <p:nvPr/>
        </p:nvSpPr>
        <p:spPr>
          <a:xfrm>
            <a:off x="1333195" y="4048049"/>
            <a:ext cx="45345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1D array, similar to a column in a spreadsheet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5" name="Google Shape;2045;p7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9905" y="4581144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6" name="Google Shape;2046;p72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1695" y="473384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72"/>
          <p:cNvSpPr txBox="1"/>
          <p:nvPr/>
        </p:nvSpPr>
        <p:spPr>
          <a:xfrm>
            <a:off x="1333195" y="4543654"/>
            <a:ext cx="312633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DataFrame Objects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72"/>
          <p:cNvSpPr txBox="1"/>
          <p:nvPr/>
        </p:nvSpPr>
        <p:spPr>
          <a:xfrm>
            <a:off x="1333195" y="4924044"/>
            <a:ext cx="34006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2D table, similar to a spreadsheet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9" name="Google Shape;2049;p72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9905" y="5458054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Google Shape;2050;p72" descr="preencoded.png"/>
          <p:cNvPicPr preferRelativeResize="0"/>
          <p:nvPr/>
        </p:nvPicPr>
        <p:blipFill rotWithShape="1">
          <a:blip r:embed="rId16">
            <a:alphaModFix/>
          </a:blip>
          <a:srcRect t="-44" b="-45"/>
          <a:stretch/>
        </p:blipFill>
        <p:spPr>
          <a:xfrm>
            <a:off x="747979" y="5609844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1" name="Google Shape;2051;p72"/>
          <p:cNvSpPr txBox="1"/>
          <p:nvPr/>
        </p:nvSpPr>
        <p:spPr>
          <a:xfrm>
            <a:off x="1333195" y="5419649"/>
            <a:ext cx="238932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Panel Objects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72"/>
          <p:cNvSpPr txBox="1"/>
          <p:nvPr/>
        </p:nvSpPr>
        <p:spPr>
          <a:xfrm>
            <a:off x="1333195" y="5800954"/>
            <a:ext cx="256214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Dictionary of DataFrames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3" name="Google Shape;2053;p72" descr="preencoded.png"/>
          <p:cNvPicPr preferRelativeResize="0"/>
          <p:nvPr/>
        </p:nvPicPr>
        <p:blipFill rotWithShape="1">
          <a:blip r:embed="rId17">
            <a:alphaModFix amt="10000"/>
          </a:blip>
          <a:srcRect/>
          <a:stretch/>
        </p:blipFill>
        <p:spPr>
          <a:xfrm>
            <a:off x="8496605" y="3295498"/>
            <a:ext cx="24003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Google Shape;2054;p72" descr="preencoded.png"/>
          <p:cNvPicPr preferRelativeResize="0"/>
          <p:nvPr/>
        </p:nvPicPr>
        <p:blipFill rotWithShape="1">
          <a:blip r:embed="rId18">
            <a:alphaModFix amt="90000"/>
          </a:blip>
          <a:srcRect/>
          <a:stretch/>
        </p:blipFill>
        <p:spPr>
          <a:xfrm>
            <a:off x="8496605" y="3295498"/>
            <a:ext cx="1600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7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1" name="Google Shape;2061;p7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7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3" name="Google Shape;2063;p73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7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5" name="Google Shape;2065;p7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6" name="Google Shape;2066;p73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2067" name="Google Shape;2067;p73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Creating a Series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73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Constructing a basic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Series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object from a Python list of integers.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9" name="Google Shape;2069;p73" descr="preencoded.png"/>
          <p:cNvPicPr preferRelativeResize="0"/>
          <p:nvPr/>
        </p:nvPicPr>
        <p:blipFill rotWithShape="1">
          <a:blip r:embed="rId7">
            <a:alphaModFix/>
          </a:blip>
          <a:srcRect t="-44" b="-45"/>
          <a:stretch/>
        </p:blipFill>
        <p:spPr>
          <a:xfrm>
            <a:off x="609905" y="5000854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2070;p73"/>
          <p:cNvSpPr txBox="1"/>
          <p:nvPr/>
        </p:nvSpPr>
        <p:spPr>
          <a:xfrm>
            <a:off x="981151" y="4848149"/>
            <a:ext cx="4086454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A Series is a one-dimensional labeled array capable of holding any data type.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1" name="Google Shape;2071;p73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473452"/>
            <a:ext cx="6133795" cy="3282696"/>
          </a:xfrm>
          <a:prstGeom prst="rect">
            <a:avLst/>
          </a:prstGeom>
          <a:noFill/>
          <a:ln>
            <a:noFill/>
          </a:ln>
        </p:spPr>
      </p:pic>
      <p:sp>
        <p:nvSpPr>
          <p:cNvPr id="2072" name="Google Shape;2072;p73"/>
          <p:cNvSpPr/>
          <p:nvPr/>
        </p:nvSpPr>
        <p:spPr>
          <a:xfrm>
            <a:off x="5458054" y="248259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3" name="Google Shape;2073;p73"/>
          <p:cNvSpPr/>
          <p:nvPr/>
        </p:nvSpPr>
        <p:spPr>
          <a:xfrm>
            <a:off x="5458054" y="290230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4" name="Google Shape;2074;p73"/>
          <p:cNvSpPr/>
          <p:nvPr/>
        </p:nvSpPr>
        <p:spPr>
          <a:xfrm>
            <a:off x="5609844" y="263530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5" name="Google Shape;2075;p73"/>
          <p:cNvSpPr/>
          <p:nvPr/>
        </p:nvSpPr>
        <p:spPr>
          <a:xfrm>
            <a:off x="5800954" y="263530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6" name="Google Shape;2076;p73"/>
          <p:cNvSpPr/>
          <p:nvPr/>
        </p:nvSpPr>
        <p:spPr>
          <a:xfrm>
            <a:off x="5991149" y="263530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p73"/>
          <p:cNvSpPr txBox="1"/>
          <p:nvPr/>
        </p:nvSpPr>
        <p:spPr>
          <a:xfrm>
            <a:off x="6258154" y="259689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73"/>
          <p:cNvSpPr txBox="1"/>
          <p:nvPr/>
        </p:nvSpPr>
        <p:spPr>
          <a:xfrm>
            <a:off x="5686654" y="3140050"/>
            <a:ext cx="5734202" cy="2382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n-US" sz="15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 = pd.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1 -1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2 3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3 5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7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7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6" name="Google Shape;2086;p7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87" name="Google Shape;2087;p7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8" name="Google Shape;2088;p74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089" name="Google Shape;2089;p7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0" name="Google Shape;2090;p7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1" name="Google Shape;2091;p74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74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NumPy Integration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3" name="Google Shape;2093;p74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Pass Series as parameters to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NumPy functions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4" name="Google Shape;2094;p7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0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5" name="Google Shape;2095;p74"/>
          <p:cNvSpPr txBox="1"/>
          <p:nvPr/>
        </p:nvSpPr>
        <p:spPr>
          <a:xfrm>
            <a:off x="952805" y="4848149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Pandas Series work seamlessly with NumPy's mathematical functions.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6" name="Google Shape;2096;p74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74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8" name="Google Shape;2098;p74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9" name="Google Shape;2099;p74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0" name="Google Shape;2100;p74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1" name="Google Shape;2101;p74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74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3" name="Google Shape;2103;p74"/>
          <p:cNvSpPr txBox="1"/>
          <p:nvPr/>
        </p:nvSpPr>
        <p:spPr>
          <a:xfrm>
            <a:off x="5686654" y="3048610"/>
            <a:ext cx="5737860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np.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square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2 9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3 25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7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7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1" name="Google Shape;2111;p7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2" name="Google Shape;2112;p7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CFD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3" name="Google Shape;2113;p75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4" name="Google Shape;2114;p75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5" name="Google Shape;2115;p7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6" name="Google Shape;2116;p75" descr="preencoded.png"/>
          <p:cNvPicPr preferRelativeResize="0"/>
          <p:nvPr/>
        </p:nvPicPr>
        <p:blipFill rotWithShape="1">
          <a:blip r:embed="rId6">
            <a:alphaModFix/>
          </a:blip>
          <a:srcRect t="-3" b="-3"/>
          <a:stretch/>
        </p:blipFill>
        <p:spPr>
          <a:xfrm>
            <a:off x="609905" y="2476195"/>
            <a:ext cx="4381805" cy="24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2117" name="Google Shape;2117;p75"/>
          <p:cNvSpPr txBox="1"/>
          <p:nvPr/>
        </p:nvSpPr>
        <p:spPr>
          <a:xfrm>
            <a:off x="914400" y="2704795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Arithmetic Operations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75"/>
          <p:cNvSpPr txBox="1"/>
          <p:nvPr/>
        </p:nvSpPr>
        <p:spPr>
          <a:xfrm>
            <a:off x="914400" y="3200400"/>
            <a:ext cx="39346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Performing arithmetic operations on a Series applies the operation </a:t>
            </a:r>
            <a:r>
              <a:rPr lang="en-US" sz="1800" b="1" i="0" u="none" strike="noStrike" cap="none">
                <a:solidFill>
                  <a:srgbClr val="059669"/>
                </a:solidFill>
                <a:latin typeface="Roboto"/>
                <a:ea typeface="Roboto"/>
                <a:cs typeface="Roboto"/>
                <a:sym typeface="Roboto"/>
              </a:rPr>
              <a:t>element-wise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similar to NumPy arrays.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9" name="Google Shape;2119;p7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3721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0" name="Google Shape;2120;p75"/>
          <p:cNvSpPr txBox="1"/>
          <p:nvPr/>
        </p:nvSpPr>
        <p:spPr>
          <a:xfrm>
            <a:off x="952805" y="5219395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Adding a list to a Series adds each list element to the corresponding Series item.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1" name="Google Shape;2121;p75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22" name="Google Shape;2122;p75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3" name="Google Shape;2123;p75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4" name="Google Shape;2124;p75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5" name="Google Shape;2125;p75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75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7" name="Google Shape;2127;p75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75"/>
          <p:cNvSpPr txBox="1"/>
          <p:nvPr/>
        </p:nvSpPr>
        <p:spPr>
          <a:xfrm>
            <a:off x="5686654" y="3048610"/>
            <a:ext cx="5737860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 +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2000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3000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4000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Output -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0 1002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1 1999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2 3003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3 4005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7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7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6" name="Google Shape;2136;p7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Google Shape;2137;p7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8" name="Google Shape;2138;p76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7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0" name="Google Shape;2140;p7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1" name="Google Shape;2141;p76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142" name="Google Shape;2142;p76"/>
          <p:cNvSpPr txBox="1"/>
          <p:nvPr/>
        </p:nvSpPr>
        <p:spPr>
          <a:xfrm>
            <a:off x="914400" y="28904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Broadcasting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76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When you perform an operation with a scalar value, it is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broadcast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to every element in the Series.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4" name="Google Shape;2144;p7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5" name="Google Shape;2145;p76"/>
          <p:cNvSpPr txBox="1"/>
          <p:nvPr/>
        </p:nvSpPr>
        <p:spPr>
          <a:xfrm>
            <a:off x="952805" y="503377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allows for concise and efficient element-wise operations without explicit loops.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6" name="Google Shape;2146;p76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447995" y="2296973"/>
            <a:ext cx="6133795" cy="3636569"/>
          </a:xfrm>
          <a:prstGeom prst="rect">
            <a:avLst/>
          </a:prstGeom>
          <a:noFill/>
          <a:ln>
            <a:noFill/>
          </a:ln>
        </p:spPr>
      </p:pic>
      <p:sp>
        <p:nvSpPr>
          <p:cNvPr id="2147" name="Google Shape;2147;p76"/>
          <p:cNvSpPr/>
          <p:nvPr/>
        </p:nvSpPr>
        <p:spPr>
          <a:xfrm>
            <a:off x="5458054" y="2306117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76"/>
          <p:cNvSpPr/>
          <p:nvPr/>
        </p:nvSpPr>
        <p:spPr>
          <a:xfrm>
            <a:off x="5458054" y="27258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9" name="Google Shape;2149;p76"/>
          <p:cNvSpPr/>
          <p:nvPr/>
        </p:nvSpPr>
        <p:spPr>
          <a:xfrm>
            <a:off x="5609844" y="2458822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76"/>
          <p:cNvSpPr/>
          <p:nvPr/>
        </p:nvSpPr>
        <p:spPr>
          <a:xfrm>
            <a:off x="5800954" y="2458822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1" name="Google Shape;2151;p76"/>
          <p:cNvSpPr/>
          <p:nvPr/>
        </p:nvSpPr>
        <p:spPr>
          <a:xfrm>
            <a:off x="5991149" y="2458822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p76"/>
          <p:cNvSpPr txBox="1"/>
          <p:nvPr/>
        </p:nvSpPr>
        <p:spPr>
          <a:xfrm>
            <a:off x="6258154" y="2420417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76"/>
          <p:cNvSpPr txBox="1"/>
          <p:nvPr/>
        </p:nvSpPr>
        <p:spPr>
          <a:xfrm>
            <a:off x="5686654" y="2963570"/>
            <a:ext cx="5737860" cy="273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 +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Output -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0 1002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1 999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2 1003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3 1005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7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7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1" name="Google Shape;2161;p7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7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3" name="Google Shape;2163;p77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7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5" name="Google Shape;2165;p7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6" name="Google Shape;2166;p77" descr="preencoded.png"/>
          <p:cNvPicPr preferRelativeResize="0"/>
          <p:nvPr/>
        </p:nvPicPr>
        <p:blipFill rotWithShape="1">
          <a:blip r:embed="rId6">
            <a:alphaModFix/>
          </a:blip>
          <a:srcRect l="-7" r="-6"/>
          <a:stretch/>
        </p:blipFill>
        <p:spPr>
          <a:xfrm>
            <a:off x="609905" y="2676449"/>
            <a:ext cx="4381805" cy="2038198"/>
          </a:xfrm>
          <a:prstGeom prst="rect">
            <a:avLst/>
          </a:prstGeom>
          <a:noFill/>
          <a:ln>
            <a:noFill/>
          </a:ln>
        </p:spPr>
      </p:pic>
      <p:sp>
        <p:nvSpPr>
          <p:cNvPr id="2167" name="Google Shape;2167;p77"/>
          <p:cNvSpPr txBox="1"/>
          <p:nvPr/>
        </p:nvSpPr>
        <p:spPr>
          <a:xfrm>
            <a:off x="914400" y="2905049"/>
            <a:ext cx="395569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Binary and conditional operations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77"/>
          <p:cNvSpPr txBox="1"/>
          <p:nvPr/>
        </p:nvSpPr>
        <p:spPr>
          <a:xfrm>
            <a:off x="914400" y="3743554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Applying conditional operators returns a Series of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boolean values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9" name="Google Shape;2169;p77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171846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0" name="Google Shape;2170;p77"/>
          <p:cNvSpPr txBox="1"/>
          <p:nvPr/>
        </p:nvSpPr>
        <p:spPr>
          <a:xfrm>
            <a:off x="895198" y="5020056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is extremely useful for filtering data based on conditions.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1" name="Google Shape;2171;p7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47995" y="2467051"/>
            <a:ext cx="6133795" cy="3294583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77"/>
          <p:cNvSpPr/>
          <p:nvPr/>
        </p:nvSpPr>
        <p:spPr>
          <a:xfrm>
            <a:off x="5458054" y="247711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p77"/>
          <p:cNvSpPr/>
          <p:nvPr/>
        </p:nvSpPr>
        <p:spPr>
          <a:xfrm>
            <a:off x="5458054" y="2896819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77"/>
          <p:cNvSpPr/>
          <p:nvPr/>
        </p:nvSpPr>
        <p:spPr>
          <a:xfrm>
            <a:off x="5609844" y="2628900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5" name="Google Shape;2175;p77"/>
          <p:cNvSpPr/>
          <p:nvPr/>
        </p:nvSpPr>
        <p:spPr>
          <a:xfrm>
            <a:off x="5800954" y="2628900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6" name="Google Shape;2176;p77"/>
          <p:cNvSpPr/>
          <p:nvPr/>
        </p:nvSpPr>
        <p:spPr>
          <a:xfrm>
            <a:off x="5991149" y="2628900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7" name="Google Shape;2177;p77"/>
          <p:cNvSpPr txBox="1"/>
          <p:nvPr/>
        </p:nvSpPr>
        <p:spPr>
          <a:xfrm>
            <a:off x="6258154" y="259141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77"/>
          <p:cNvSpPr txBox="1"/>
          <p:nvPr/>
        </p:nvSpPr>
        <p:spPr>
          <a:xfrm>
            <a:off x="5686654" y="3134563"/>
            <a:ext cx="5737860" cy="239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 &lt;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lang="en-US" sz="1600" b="0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lang="en-US" sz="1600" b="0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lang="en-US" sz="1600" b="0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lang="en-US" sz="1600" b="0" i="1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bool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7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7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6" name="Google Shape;2186;p7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87" name="Google Shape;2187;p78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8" name="Google Shape;2188;p78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189" name="Google Shape;2189;p78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0" name="Google Shape;2190;p7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1" name="Google Shape;2191;p78" descr="preencoded.png"/>
          <p:cNvPicPr preferRelativeResize="0"/>
          <p:nvPr/>
        </p:nvPicPr>
        <p:blipFill rotWithShape="1">
          <a:blip r:embed="rId6">
            <a:alphaModFix/>
          </a:blip>
          <a:srcRect l="-9" r="-8"/>
          <a:stretch/>
        </p:blipFill>
        <p:spPr>
          <a:xfrm>
            <a:off x="609905" y="2584094"/>
            <a:ext cx="4381805" cy="2223821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78"/>
          <p:cNvSpPr txBox="1"/>
          <p:nvPr/>
        </p:nvSpPr>
        <p:spPr>
          <a:xfrm>
            <a:off x="914400" y="2812694"/>
            <a:ext cx="395569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Index labels - Integer location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78"/>
          <p:cNvSpPr txBox="1"/>
          <p:nvPr/>
        </p:nvSpPr>
        <p:spPr>
          <a:xfrm>
            <a:off x="914400" y="3650285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When no index is explicitly defined, Pandas automatically assigns a default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integer index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starting from 0.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4" name="Google Shape;2194;p7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5081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5" name="Google Shape;2195;p78"/>
          <p:cNvSpPr txBox="1"/>
          <p:nvPr/>
        </p:nvSpPr>
        <p:spPr>
          <a:xfrm>
            <a:off x="952805" y="5112410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behavior is similar to Python lists, but with explicit label display.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6" name="Google Shape;2196;p78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97" name="Google Shape;2197;p78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8" name="Google Shape;2198;p78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9" name="Google Shape;2199;p78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0" name="Google Shape;2200;p78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1" name="Google Shape;2201;p78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2" name="Google Shape;2202;p78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78"/>
          <p:cNvSpPr txBox="1"/>
          <p:nvPr/>
        </p:nvSpPr>
        <p:spPr>
          <a:xfrm>
            <a:off x="5686654" y="3048610"/>
            <a:ext cx="5737860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s2 = pd.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112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(s2)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0 68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1 83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2 112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3 68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78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7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1" name="Google Shape;2211;p7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12" name="Google Shape;2212;p79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3" name="Google Shape;2213;p79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79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5" name="Google Shape;2215;p79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6" name="Google Shape;2216;p79" descr="preencoded.png"/>
          <p:cNvPicPr preferRelativeResize="0"/>
          <p:nvPr/>
        </p:nvPicPr>
        <p:blipFill rotWithShape="1">
          <a:blip r:embed="rId6">
            <a:alphaModFix/>
          </a:blip>
          <a:srcRect l="-1" r="-1"/>
          <a:stretch/>
        </p:blipFill>
        <p:spPr>
          <a:xfrm>
            <a:off x="609905" y="3033979"/>
            <a:ext cx="4381805" cy="1324051"/>
          </a:xfrm>
          <a:prstGeom prst="rect">
            <a:avLst/>
          </a:prstGeom>
          <a:noFill/>
          <a:ln>
            <a:noFill/>
          </a:ln>
        </p:spPr>
      </p:pic>
      <p:sp>
        <p:nvSpPr>
          <p:cNvPr id="2217" name="Google Shape;2217;p79"/>
          <p:cNvSpPr txBox="1"/>
          <p:nvPr/>
        </p:nvSpPr>
        <p:spPr>
          <a:xfrm>
            <a:off x="914400" y="3262579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Index labels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79"/>
          <p:cNvSpPr txBox="1"/>
          <p:nvPr/>
        </p:nvSpPr>
        <p:spPr>
          <a:xfrm>
            <a:off x="914400" y="3757270"/>
            <a:ext cx="3963010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Setting indexes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Manually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9" name="Google Shape;2219;p7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81523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0" name="Google Shape;2220;p79"/>
          <p:cNvSpPr txBox="1"/>
          <p:nvPr/>
        </p:nvSpPr>
        <p:spPr>
          <a:xfrm>
            <a:off x="952805" y="4662526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You can explicitly define index labels by passing a list to the </a:t>
            </a:r>
            <a:r>
              <a:rPr lang="en-US" sz="1200" b="0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parameter.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1" name="Google Shape;2221;p79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176272"/>
            <a:ext cx="6133795" cy="3877056"/>
          </a:xfrm>
          <a:prstGeom prst="rect">
            <a:avLst/>
          </a:prstGeom>
          <a:noFill/>
          <a:ln>
            <a:noFill/>
          </a:ln>
        </p:spPr>
      </p:pic>
      <p:sp>
        <p:nvSpPr>
          <p:cNvPr id="2222" name="Google Shape;2222;p79"/>
          <p:cNvSpPr/>
          <p:nvPr/>
        </p:nvSpPr>
        <p:spPr>
          <a:xfrm>
            <a:off x="5458054" y="218541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3" name="Google Shape;2223;p79"/>
          <p:cNvSpPr/>
          <p:nvPr/>
        </p:nvSpPr>
        <p:spPr>
          <a:xfrm>
            <a:off x="5458054" y="26051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4" name="Google Shape;2224;p79"/>
          <p:cNvSpPr/>
          <p:nvPr/>
        </p:nvSpPr>
        <p:spPr>
          <a:xfrm>
            <a:off x="5609844" y="233812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5" name="Google Shape;2225;p79"/>
          <p:cNvSpPr/>
          <p:nvPr/>
        </p:nvSpPr>
        <p:spPr>
          <a:xfrm>
            <a:off x="5800954" y="233812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6" name="Google Shape;2226;p79"/>
          <p:cNvSpPr/>
          <p:nvPr/>
        </p:nvSpPr>
        <p:spPr>
          <a:xfrm>
            <a:off x="5991149" y="233812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7" name="Google Shape;2227;p79"/>
          <p:cNvSpPr txBox="1"/>
          <p:nvPr/>
        </p:nvSpPr>
        <p:spPr>
          <a:xfrm>
            <a:off x="6258154" y="229971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79"/>
          <p:cNvSpPr txBox="1"/>
          <p:nvPr/>
        </p:nvSpPr>
        <p:spPr>
          <a:xfrm>
            <a:off x="5686654" y="2842870"/>
            <a:ext cx="5734202" cy="298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s2 = pd.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112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index=[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"charles"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"darwin"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(s2)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68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bob 83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charles 112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darwin 68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9" name="Google Shape;2229;p79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79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8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6" name="Google Shape;2236;p8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80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38" name="Google Shape;2238;p80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8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0" name="Google Shape;2240;p80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1" name="Google Shape;2241;p80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609905" y="2771546"/>
            <a:ext cx="4381805" cy="1848002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80"/>
          <p:cNvSpPr txBox="1"/>
          <p:nvPr/>
        </p:nvSpPr>
        <p:spPr>
          <a:xfrm>
            <a:off x="914400" y="300014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Access Items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80"/>
          <p:cNvSpPr txBox="1"/>
          <p:nvPr/>
        </p:nvSpPr>
        <p:spPr>
          <a:xfrm>
            <a:off x="1257300" y="3495751"/>
            <a:ext cx="3886200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By specifying </a:t>
            </a:r>
            <a:r>
              <a:rPr lang="en-US" sz="18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integer location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4" name="Google Shape;2244;p8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5341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5" name="Google Shape;2245;p80"/>
          <p:cNvSpPr txBox="1"/>
          <p:nvPr/>
        </p:nvSpPr>
        <p:spPr>
          <a:xfrm>
            <a:off x="1257300" y="4019702"/>
            <a:ext cx="3620110" cy="37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By specifying </a:t>
            </a:r>
            <a:r>
              <a:rPr lang="en-US" sz="18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6" name="Google Shape;2246;p8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405810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7" name="Google Shape;2247;p80" descr="preencoded.png"/>
          <p:cNvPicPr preferRelativeResize="0"/>
          <p:nvPr/>
        </p:nvPicPr>
        <p:blipFill rotWithShape="1">
          <a:blip r:embed="rId8">
            <a:alphaModFix/>
          </a:blip>
          <a:srcRect l="-133" r="-133"/>
          <a:stretch/>
        </p:blipFill>
        <p:spPr>
          <a:xfrm>
            <a:off x="609905" y="5076749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8" name="Google Shape;2248;p80"/>
          <p:cNvSpPr txBox="1"/>
          <p:nvPr/>
        </p:nvSpPr>
        <p:spPr>
          <a:xfrm>
            <a:off x="895198" y="4924044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Similar to NumPy arrays but with flexible indexing capabilities.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9" name="Google Shape;2249;p80" descr="preencoded.png"/>
          <p:cNvPicPr preferRelativeResize="0"/>
          <p:nvPr/>
        </p:nvPicPr>
        <p:blipFill rotWithShape="1">
          <a:blip r:embed="rId9">
            <a:alphaModFix/>
          </a:blip>
          <a:srcRect t="-4" b="-4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80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1" name="Google Shape;2251;p80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80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3" name="Google Shape;2253;p80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4" name="Google Shape;2254;p80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5" name="Google Shape;2255;p80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80"/>
          <p:cNvSpPr txBox="1"/>
          <p:nvPr/>
        </p:nvSpPr>
        <p:spPr>
          <a:xfrm>
            <a:off x="5686654" y="3048610"/>
            <a:ext cx="5744261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 by integer location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s2[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 by label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s2[</a:t>
            </a:r>
            <a:r>
              <a:rPr lang="en-US" sz="18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8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8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4" name="Google Shape;2264;p8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5" name="Google Shape;2265;p8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6" name="Google Shape;2266;p81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67" name="Google Shape;2267;p81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8" name="Google Shape;2268;p8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9" name="Google Shape;2269;p81" descr="preencoded.png"/>
          <p:cNvPicPr preferRelativeResize="0"/>
          <p:nvPr/>
        </p:nvPicPr>
        <p:blipFill rotWithShape="1">
          <a:blip r:embed="rId6">
            <a:alphaModFix/>
          </a:blip>
          <a:srcRect l="-7" r="-6"/>
          <a:stretch/>
        </p:blipFill>
        <p:spPr>
          <a:xfrm>
            <a:off x="609905" y="2271370"/>
            <a:ext cx="4381805" cy="3114446"/>
          </a:xfrm>
          <a:prstGeom prst="rect">
            <a:avLst/>
          </a:prstGeom>
          <a:noFill/>
          <a:ln>
            <a:noFill/>
          </a:ln>
        </p:spPr>
      </p:pic>
      <p:sp>
        <p:nvSpPr>
          <p:cNvPr id="2270" name="Google Shape;2270;p81"/>
          <p:cNvSpPr txBox="1"/>
          <p:nvPr/>
        </p:nvSpPr>
        <p:spPr>
          <a:xfrm>
            <a:off x="914400" y="2499970"/>
            <a:ext cx="3955694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Access Recommendations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81"/>
          <p:cNvSpPr txBox="1"/>
          <p:nvPr/>
        </p:nvSpPr>
        <p:spPr>
          <a:xfrm>
            <a:off x="914400" y="3338474"/>
            <a:ext cx="3934663" cy="7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Use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attribute when accessing by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2" name="Google Shape;2272;p81" descr="preencoded.png"/>
          <p:cNvPicPr preferRelativeResize="0"/>
          <p:nvPr/>
        </p:nvPicPr>
        <p:blipFill rotWithShape="1">
          <a:blip r:embed="rId7">
            <a:alphaModFix/>
          </a:blip>
          <a:srcRect l="-2077" r="-2077"/>
          <a:stretch/>
        </p:blipFill>
        <p:spPr>
          <a:xfrm>
            <a:off x="914400" y="4243730"/>
            <a:ext cx="38477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81"/>
          <p:cNvSpPr txBox="1"/>
          <p:nvPr/>
        </p:nvSpPr>
        <p:spPr>
          <a:xfrm>
            <a:off x="914400" y="4405579"/>
            <a:ext cx="3934663" cy="75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Use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iloc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attribute when accessing by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integer location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4" name="Google Shape;2274;p81" descr="preencoded.png"/>
          <p:cNvPicPr preferRelativeResize="0"/>
          <p:nvPr/>
        </p:nvPicPr>
        <p:blipFill rotWithShape="1">
          <a:blip r:embed="rId8">
            <a:alphaModFix/>
          </a:blip>
          <a:srcRect l="-133" r="-133"/>
          <a:stretch/>
        </p:blipFill>
        <p:spPr>
          <a:xfrm>
            <a:off x="609905" y="5710428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5" name="Google Shape;2275;p81"/>
          <p:cNvSpPr txBox="1"/>
          <p:nvPr/>
        </p:nvSpPr>
        <p:spPr>
          <a:xfrm>
            <a:off x="895198" y="5691226"/>
            <a:ext cx="433151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Explicitly using .loc and .iloc prevents ambiguity.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6" name="Google Shape;2276;p81" descr="preencoded.png"/>
          <p:cNvPicPr preferRelativeResize="0"/>
          <p:nvPr/>
        </p:nvPicPr>
        <p:blipFill rotWithShape="1">
          <a:blip r:embed="rId9">
            <a:alphaModFix/>
          </a:blip>
          <a:srcRect t="-4" b="-4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77" name="Google Shape;2277;p81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8" name="Google Shape;2278;p81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9" name="Google Shape;2279;p81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0" name="Google Shape;2280;p81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1" name="Google Shape;2281;p81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2" name="Google Shape;2282;p81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81"/>
          <p:cNvSpPr txBox="1"/>
          <p:nvPr/>
        </p:nvSpPr>
        <p:spPr>
          <a:xfrm>
            <a:off x="5686654" y="3048610"/>
            <a:ext cx="5744261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by label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s2.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8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by integer location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s2.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iloc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8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4" name="Google Shape;2284;p81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8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1" name="Google Shape;2291;p8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82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93" name="Google Shape;2293;p82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8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82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6" name="Google Shape;2296;p82" descr="preencoded.png"/>
          <p:cNvPicPr preferRelativeResize="0"/>
          <p:nvPr/>
        </p:nvPicPr>
        <p:blipFill rotWithShape="1">
          <a:blip r:embed="rId6">
            <a:alphaModFix/>
          </a:blip>
          <a:srcRect t="-4" b="-4"/>
          <a:stretch/>
        </p:blipFill>
        <p:spPr>
          <a:xfrm>
            <a:off x="609905" y="2897734"/>
            <a:ext cx="4381805" cy="1571854"/>
          </a:xfrm>
          <a:prstGeom prst="rect">
            <a:avLst/>
          </a:prstGeom>
          <a:noFill/>
          <a:ln>
            <a:noFill/>
          </a:ln>
        </p:spPr>
      </p:pic>
      <p:sp>
        <p:nvSpPr>
          <p:cNvPr id="2297" name="Google Shape;2297;p82"/>
          <p:cNvSpPr txBox="1"/>
          <p:nvPr/>
        </p:nvSpPr>
        <p:spPr>
          <a:xfrm>
            <a:off x="914400" y="3126334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Init from Python dict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8" name="Google Shape;2298;p82"/>
          <p:cNvSpPr txBox="1"/>
          <p:nvPr/>
        </p:nvSpPr>
        <p:spPr>
          <a:xfrm>
            <a:off x="914400" y="3621938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You can initialize a Series directly from a standard Python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dictionary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9" name="Google Shape;2299;p82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4812487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82"/>
          <p:cNvSpPr txBox="1"/>
          <p:nvPr/>
        </p:nvSpPr>
        <p:spPr>
          <a:xfrm>
            <a:off x="895198" y="4774082"/>
            <a:ext cx="4172407" cy="562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dictionary </a:t>
            </a:r>
            <a:r>
              <a:rPr lang="en-US" sz="13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keys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automatically become the Series </a:t>
            </a:r>
            <a:r>
              <a:rPr lang="en-US" sz="13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index labels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, and the values become the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1" name="Google Shape;2301;p82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176272"/>
            <a:ext cx="6133795" cy="3877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02" name="Google Shape;2302;p82"/>
          <p:cNvSpPr/>
          <p:nvPr/>
        </p:nvSpPr>
        <p:spPr>
          <a:xfrm>
            <a:off x="5458054" y="218541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3" name="Google Shape;2303;p82"/>
          <p:cNvSpPr/>
          <p:nvPr/>
        </p:nvSpPr>
        <p:spPr>
          <a:xfrm>
            <a:off x="5458054" y="26051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4" name="Google Shape;2304;p82"/>
          <p:cNvSpPr/>
          <p:nvPr/>
        </p:nvSpPr>
        <p:spPr>
          <a:xfrm>
            <a:off x="5609844" y="233812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5" name="Google Shape;2305;p82"/>
          <p:cNvSpPr/>
          <p:nvPr/>
        </p:nvSpPr>
        <p:spPr>
          <a:xfrm>
            <a:off x="5800954" y="233812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6" name="Google Shape;2306;p82"/>
          <p:cNvSpPr/>
          <p:nvPr/>
        </p:nvSpPr>
        <p:spPr>
          <a:xfrm>
            <a:off x="5991149" y="233812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82"/>
          <p:cNvSpPr txBox="1"/>
          <p:nvPr/>
        </p:nvSpPr>
        <p:spPr>
          <a:xfrm>
            <a:off x="6258154" y="229971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8" name="Google Shape;2308;p82"/>
          <p:cNvSpPr txBox="1"/>
          <p:nvPr/>
        </p:nvSpPr>
        <p:spPr>
          <a:xfrm>
            <a:off x="5686654" y="2842870"/>
            <a:ext cx="5734202" cy="298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weights = {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"colin"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86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"darwin"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s3 = pd.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(weights)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(s3)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68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bob 83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colin 86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darwin 68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8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6" name="Google Shape;2316;p8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7" name="Google Shape;2317;p8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8" name="Google Shape;2318;p83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9" name="Google Shape;2319;p8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0" name="Google Shape;2320;p8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1" name="Google Shape;2321;p8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905" y="2506370"/>
            <a:ext cx="4381805" cy="2076602"/>
          </a:xfrm>
          <a:prstGeom prst="rect">
            <a:avLst/>
          </a:prstGeom>
          <a:noFill/>
          <a:ln>
            <a:noFill/>
          </a:ln>
        </p:spPr>
      </p:pic>
      <p:sp>
        <p:nvSpPr>
          <p:cNvPr id="2322" name="Google Shape;2322;p83"/>
          <p:cNvSpPr txBox="1"/>
          <p:nvPr/>
        </p:nvSpPr>
        <p:spPr>
          <a:xfrm>
            <a:off x="914400" y="2734970"/>
            <a:ext cx="43662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Control Elements &amp; Order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3" name="Google Shape;2323;p83"/>
          <p:cNvSpPr txBox="1"/>
          <p:nvPr/>
        </p:nvSpPr>
        <p:spPr>
          <a:xfrm>
            <a:off x="914400" y="3230575"/>
            <a:ext cx="3934663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You can filter elements and define their order by passing a list to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argument.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4" name="Google Shape;2324;p83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4925873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5" name="Google Shape;2325;p83"/>
          <p:cNvSpPr txBox="1"/>
          <p:nvPr/>
        </p:nvSpPr>
        <p:spPr>
          <a:xfrm>
            <a:off x="895198" y="4887468"/>
            <a:ext cx="4172407" cy="8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Only keys present in the specified index list are kept in the resulting Series, and they appear in the specified order.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6" name="Google Shape;2326;p8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47995" y="2467051"/>
            <a:ext cx="6133795" cy="3294583"/>
          </a:xfrm>
          <a:prstGeom prst="rect">
            <a:avLst/>
          </a:prstGeom>
          <a:noFill/>
          <a:ln>
            <a:noFill/>
          </a:ln>
        </p:spPr>
      </p:pic>
      <p:sp>
        <p:nvSpPr>
          <p:cNvPr id="2327" name="Google Shape;2327;p83"/>
          <p:cNvSpPr/>
          <p:nvPr/>
        </p:nvSpPr>
        <p:spPr>
          <a:xfrm>
            <a:off x="5458054" y="247711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8" name="Google Shape;2328;p83"/>
          <p:cNvSpPr/>
          <p:nvPr/>
        </p:nvSpPr>
        <p:spPr>
          <a:xfrm>
            <a:off x="5458054" y="2896819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83"/>
          <p:cNvSpPr/>
          <p:nvPr/>
        </p:nvSpPr>
        <p:spPr>
          <a:xfrm>
            <a:off x="5609844" y="2628900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0" name="Google Shape;2330;p83"/>
          <p:cNvSpPr/>
          <p:nvPr/>
        </p:nvSpPr>
        <p:spPr>
          <a:xfrm>
            <a:off x="5800954" y="2628900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1" name="Google Shape;2331;p83"/>
          <p:cNvSpPr/>
          <p:nvPr/>
        </p:nvSpPr>
        <p:spPr>
          <a:xfrm>
            <a:off x="5991149" y="2628900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2" name="Google Shape;2332;p83"/>
          <p:cNvSpPr txBox="1"/>
          <p:nvPr/>
        </p:nvSpPr>
        <p:spPr>
          <a:xfrm>
            <a:off x="6258154" y="259141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3" name="Google Shape;2333;p83"/>
          <p:cNvSpPr txBox="1"/>
          <p:nvPr/>
        </p:nvSpPr>
        <p:spPr>
          <a:xfrm>
            <a:off x="5686654" y="3134563"/>
            <a:ext cx="5737860" cy="239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s4 = pd.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(weights, index = 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"colin"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(s4)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colin 86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68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8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8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41" name="Google Shape;2341;p8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2" name="Google Shape;2342;p8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3" name="Google Shape;2343;p8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4" name="Google Shape;2344;p84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5" name="Google Shape;2345;p84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6" name="Google Shape;2346;p84" descr="preencoded.png"/>
          <p:cNvPicPr preferRelativeResize="0"/>
          <p:nvPr/>
        </p:nvPicPr>
        <p:blipFill rotWithShape="1">
          <a:blip r:embed="rId7">
            <a:alphaModFix/>
          </a:blip>
          <a:srcRect t="-3" b="-3"/>
          <a:stretch/>
        </p:blipFill>
        <p:spPr>
          <a:xfrm>
            <a:off x="6400800" y="2029054"/>
            <a:ext cx="4389120" cy="3926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47" name="Google Shape;2347;p84"/>
          <p:cNvSpPr txBox="1"/>
          <p:nvPr/>
        </p:nvSpPr>
        <p:spPr>
          <a:xfrm>
            <a:off x="6820510" y="2461565"/>
            <a:ext cx="1400861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Series 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84"/>
          <p:cNvSpPr txBox="1"/>
          <p:nvPr/>
        </p:nvSpPr>
        <p:spPr>
          <a:xfrm>
            <a:off x="8782812" y="2967228"/>
            <a:ext cx="191110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9" name="Google Shape;2349;p84"/>
          <p:cNvSpPr txBox="1"/>
          <p:nvPr/>
        </p:nvSpPr>
        <p:spPr>
          <a:xfrm>
            <a:off x="9461297" y="2461565"/>
            <a:ext cx="1400861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065F46"/>
                </a:solidFill>
                <a:latin typeface="Roboto"/>
                <a:ea typeface="Roboto"/>
                <a:cs typeface="Roboto"/>
                <a:sym typeface="Roboto"/>
              </a:rPr>
              <a:t>Series 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84"/>
          <p:cNvSpPr/>
          <p:nvPr/>
        </p:nvSpPr>
        <p:spPr>
          <a:xfrm>
            <a:off x="9499702" y="3455518"/>
            <a:ext cx="1324051" cy="295351"/>
          </a:xfrm>
          <a:prstGeom prst="roundRect">
            <a:avLst>
              <a:gd name="adj" fmla="val 39948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1" name="Google Shape;2351;p84"/>
          <p:cNvSpPr/>
          <p:nvPr/>
        </p:nvSpPr>
        <p:spPr>
          <a:xfrm>
            <a:off x="9507931" y="3464662"/>
            <a:ext cx="342900" cy="27614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2" name="Google Shape;2352;p84"/>
          <p:cNvSpPr/>
          <p:nvPr/>
        </p:nvSpPr>
        <p:spPr>
          <a:xfrm>
            <a:off x="9841687" y="3464662"/>
            <a:ext cx="9144" cy="2761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3" name="Google Shape;2353;p84"/>
          <p:cNvSpPr txBox="1"/>
          <p:nvPr/>
        </p:nvSpPr>
        <p:spPr>
          <a:xfrm>
            <a:off x="9479585" y="3464662"/>
            <a:ext cx="277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84"/>
          <p:cNvSpPr txBox="1"/>
          <p:nvPr/>
        </p:nvSpPr>
        <p:spPr>
          <a:xfrm>
            <a:off x="9812426" y="3464662"/>
            <a:ext cx="1038758" cy="277063"/>
          </a:xfrm>
          <a:prstGeom prst="rect">
            <a:avLst/>
          </a:prstGeom>
          <a:solidFill>
            <a:srgbClr val="ECFDF5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5" name="Google Shape;2355;p8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70925" y="3884371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356" name="Google Shape;2356;p84"/>
          <p:cNvSpPr/>
          <p:nvPr/>
        </p:nvSpPr>
        <p:spPr>
          <a:xfrm>
            <a:off x="6858914" y="4141318"/>
            <a:ext cx="3962095" cy="19202"/>
          </a:xfrm>
          <a:prstGeom prst="rect">
            <a:avLst/>
          </a:prstGeom>
          <a:solidFill>
            <a:srgbClr val="D1D5DB"/>
          </a:solidFill>
          <a:ln w="12700" cap="flat" cmpd="sng">
            <a:solidFill>
              <a:srgbClr val="D1D5D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7" name="Google Shape;2357;p84"/>
          <p:cNvSpPr txBox="1"/>
          <p:nvPr/>
        </p:nvSpPr>
        <p:spPr>
          <a:xfrm>
            <a:off x="7466076" y="4295851"/>
            <a:ext cx="2754173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21B6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5B21B6"/>
                </a:solidFill>
                <a:latin typeface="Roboto"/>
                <a:ea typeface="Roboto"/>
                <a:cs typeface="Roboto"/>
                <a:sym typeface="Roboto"/>
              </a:rPr>
              <a:t>Result (Aligned by Index)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8" name="Google Shape;2358;p84"/>
          <p:cNvSpPr/>
          <p:nvPr/>
        </p:nvSpPr>
        <p:spPr>
          <a:xfrm>
            <a:off x="6858914" y="2735885"/>
            <a:ext cx="1324051" cy="295351"/>
          </a:xfrm>
          <a:prstGeom prst="roundRect">
            <a:avLst>
              <a:gd name="adj" fmla="val 39948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9" name="Google Shape;2359;p84"/>
          <p:cNvSpPr/>
          <p:nvPr/>
        </p:nvSpPr>
        <p:spPr>
          <a:xfrm>
            <a:off x="6867144" y="2744114"/>
            <a:ext cx="342900" cy="276149"/>
          </a:xfrm>
          <a:prstGeom prst="rect">
            <a:avLst/>
          </a:prstGeom>
          <a:solidFill>
            <a:srgbClr val="E5E7EB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0" name="Google Shape;2360;p84"/>
          <p:cNvSpPr/>
          <p:nvPr/>
        </p:nvSpPr>
        <p:spPr>
          <a:xfrm>
            <a:off x="7200900" y="2744114"/>
            <a:ext cx="9144" cy="2761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1" name="Google Shape;2361;p84"/>
          <p:cNvSpPr txBox="1"/>
          <p:nvPr/>
        </p:nvSpPr>
        <p:spPr>
          <a:xfrm>
            <a:off x="6838798" y="2744114"/>
            <a:ext cx="277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84"/>
          <p:cNvSpPr txBox="1"/>
          <p:nvPr/>
        </p:nvSpPr>
        <p:spPr>
          <a:xfrm>
            <a:off x="7172554" y="2744114"/>
            <a:ext cx="1038758" cy="277063"/>
          </a:xfrm>
          <a:prstGeom prst="rect">
            <a:avLst/>
          </a:prstGeom>
          <a:solidFill>
            <a:srgbClr val="EFF6FF">
              <a:alpha val="49803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84"/>
          <p:cNvSpPr/>
          <p:nvPr/>
        </p:nvSpPr>
        <p:spPr>
          <a:xfrm>
            <a:off x="6858914" y="3095244"/>
            <a:ext cx="1324051" cy="295351"/>
          </a:xfrm>
          <a:prstGeom prst="roundRect">
            <a:avLst>
              <a:gd name="adj" fmla="val 39948"/>
            </a:avLst>
          </a:prstGeom>
          <a:noFill/>
          <a:ln w="127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4" name="Google Shape;2364;p84"/>
          <p:cNvSpPr/>
          <p:nvPr/>
        </p:nvSpPr>
        <p:spPr>
          <a:xfrm>
            <a:off x="6835140" y="3097073"/>
            <a:ext cx="362102" cy="295351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5" name="Google Shape;2365;p84"/>
          <p:cNvSpPr/>
          <p:nvPr/>
        </p:nvSpPr>
        <p:spPr>
          <a:xfrm>
            <a:off x="7188098" y="3097073"/>
            <a:ext cx="9144" cy="2953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6" name="Google Shape;2366;p84"/>
          <p:cNvSpPr txBox="1"/>
          <p:nvPr/>
        </p:nvSpPr>
        <p:spPr>
          <a:xfrm>
            <a:off x="6806794" y="3097073"/>
            <a:ext cx="296266" cy="295351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7" name="Google Shape;2367;p84"/>
          <p:cNvSpPr txBox="1"/>
          <p:nvPr/>
        </p:nvSpPr>
        <p:spPr>
          <a:xfrm>
            <a:off x="7157009" y="3097073"/>
            <a:ext cx="1086307" cy="295351"/>
          </a:xfrm>
          <a:prstGeom prst="rect">
            <a:avLst/>
          </a:prstGeom>
          <a:solidFill>
            <a:srgbClr val="BFDBFE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84"/>
          <p:cNvSpPr/>
          <p:nvPr/>
        </p:nvSpPr>
        <p:spPr>
          <a:xfrm>
            <a:off x="6858914" y="3455518"/>
            <a:ext cx="1324051" cy="295351"/>
          </a:xfrm>
          <a:prstGeom prst="roundRect">
            <a:avLst>
              <a:gd name="adj" fmla="val 39948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9" name="Google Shape;2369;p84"/>
          <p:cNvSpPr/>
          <p:nvPr/>
        </p:nvSpPr>
        <p:spPr>
          <a:xfrm>
            <a:off x="6867144" y="3464662"/>
            <a:ext cx="342900" cy="276149"/>
          </a:xfrm>
          <a:prstGeom prst="rect">
            <a:avLst/>
          </a:prstGeom>
          <a:solidFill>
            <a:srgbClr val="E5E7EB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0" name="Google Shape;2370;p84"/>
          <p:cNvSpPr/>
          <p:nvPr/>
        </p:nvSpPr>
        <p:spPr>
          <a:xfrm>
            <a:off x="7200900" y="3464662"/>
            <a:ext cx="9144" cy="2761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1" name="Google Shape;2371;p84"/>
          <p:cNvSpPr txBox="1"/>
          <p:nvPr/>
        </p:nvSpPr>
        <p:spPr>
          <a:xfrm>
            <a:off x="6838798" y="3464662"/>
            <a:ext cx="277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2" name="Google Shape;2372;p84"/>
          <p:cNvSpPr txBox="1"/>
          <p:nvPr/>
        </p:nvSpPr>
        <p:spPr>
          <a:xfrm>
            <a:off x="7172554" y="3464662"/>
            <a:ext cx="1038758" cy="277063"/>
          </a:xfrm>
          <a:prstGeom prst="rect">
            <a:avLst/>
          </a:prstGeom>
          <a:solidFill>
            <a:srgbClr val="EFF6FF">
              <a:alpha val="49803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84"/>
          <p:cNvSpPr/>
          <p:nvPr/>
        </p:nvSpPr>
        <p:spPr>
          <a:xfrm>
            <a:off x="9499702" y="2735885"/>
            <a:ext cx="1324051" cy="295351"/>
          </a:xfrm>
          <a:prstGeom prst="roundRect">
            <a:avLst>
              <a:gd name="adj" fmla="val 39948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4" name="Google Shape;2374;p84"/>
          <p:cNvSpPr/>
          <p:nvPr/>
        </p:nvSpPr>
        <p:spPr>
          <a:xfrm>
            <a:off x="9507931" y="2744114"/>
            <a:ext cx="342900" cy="276149"/>
          </a:xfrm>
          <a:prstGeom prst="rect">
            <a:avLst/>
          </a:prstGeom>
          <a:solidFill>
            <a:srgbClr val="E5E7EB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5" name="Google Shape;2375;p84"/>
          <p:cNvSpPr/>
          <p:nvPr/>
        </p:nvSpPr>
        <p:spPr>
          <a:xfrm>
            <a:off x="9841687" y="2744114"/>
            <a:ext cx="9144" cy="2761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6" name="Google Shape;2376;p84"/>
          <p:cNvSpPr txBox="1"/>
          <p:nvPr/>
        </p:nvSpPr>
        <p:spPr>
          <a:xfrm>
            <a:off x="9479585" y="2744114"/>
            <a:ext cx="277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84"/>
          <p:cNvSpPr txBox="1"/>
          <p:nvPr/>
        </p:nvSpPr>
        <p:spPr>
          <a:xfrm>
            <a:off x="9812426" y="2744114"/>
            <a:ext cx="1038758" cy="277063"/>
          </a:xfrm>
          <a:prstGeom prst="rect">
            <a:avLst/>
          </a:prstGeom>
          <a:solidFill>
            <a:srgbClr val="ECFDF5">
              <a:alpha val="49803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8" name="Google Shape;2378;p84"/>
          <p:cNvSpPr/>
          <p:nvPr/>
        </p:nvSpPr>
        <p:spPr>
          <a:xfrm>
            <a:off x="9499702" y="3095244"/>
            <a:ext cx="1324051" cy="295351"/>
          </a:xfrm>
          <a:prstGeom prst="roundRect">
            <a:avLst>
              <a:gd name="adj" fmla="val 39948"/>
            </a:avLst>
          </a:prstGeom>
          <a:noFill/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9" name="Google Shape;2379;p84"/>
          <p:cNvSpPr/>
          <p:nvPr/>
        </p:nvSpPr>
        <p:spPr>
          <a:xfrm>
            <a:off x="9475013" y="3097073"/>
            <a:ext cx="362102" cy="295351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0" name="Google Shape;2380;p84"/>
          <p:cNvSpPr/>
          <p:nvPr/>
        </p:nvSpPr>
        <p:spPr>
          <a:xfrm>
            <a:off x="9827971" y="3097073"/>
            <a:ext cx="9144" cy="2953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1" name="Google Shape;2381;p84"/>
          <p:cNvSpPr txBox="1"/>
          <p:nvPr/>
        </p:nvSpPr>
        <p:spPr>
          <a:xfrm>
            <a:off x="9446666" y="3097073"/>
            <a:ext cx="296266" cy="295351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84"/>
          <p:cNvSpPr txBox="1"/>
          <p:nvPr/>
        </p:nvSpPr>
        <p:spPr>
          <a:xfrm>
            <a:off x="9796882" y="3097073"/>
            <a:ext cx="1086307" cy="295351"/>
          </a:xfrm>
          <a:prstGeom prst="rect">
            <a:avLst/>
          </a:prstGeom>
          <a:solidFill>
            <a:srgbClr val="A7F3D0"/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84"/>
          <p:cNvSpPr/>
          <p:nvPr/>
        </p:nvSpPr>
        <p:spPr>
          <a:xfrm>
            <a:off x="7519111" y="4570171"/>
            <a:ext cx="2648102" cy="295351"/>
          </a:xfrm>
          <a:prstGeom prst="roundRect">
            <a:avLst>
              <a:gd name="adj" fmla="val 39948"/>
            </a:avLst>
          </a:prstGeom>
          <a:solidFill>
            <a:srgbClr val="F9FAFB">
              <a:alpha val="60000"/>
            </a:srgbClr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4" name="Google Shape;2384;p84"/>
          <p:cNvSpPr/>
          <p:nvPr/>
        </p:nvSpPr>
        <p:spPr>
          <a:xfrm>
            <a:off x="7527341" y="4578401"/>
            <a:ext cx="342900" cy="276149"/>
          </a:xfrm>
          <a:prstGeom prst="rect">
            <a:avLst/>
          </a:prstGeom>
          <a:solidFill>
            <a:srgbClr val="E5E7EB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5" name="Google Shape;2385;p84"/>
          <p:cNvSpPr/>
          <p:nvPr/>
        </p:nvSpPr>
        <p:spPr>
          <a:xfrm>
            <a:off x="7861097" y="4578401"/>
            <a:ext cx="9144" cy="2761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6" name="Google Shape;2386;p84"/>
          <p:cNvSpPr txBox="1"/>
          <p:nvPr/>
        </p:nvSpPr>
        <p:spPr>
          <a:xfrm>
            <a:off x="7498994" y="4578401"/>
            <a:ext cx="277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84"/>
          <p:cNvSpPr txBox="1"/>
          <p:nvPr/>
        </p:nvSpPr>
        <p:spPr>
          <a:xfrm>
            <a:off x="7824521" y="4578401"/>
            <a:ext cx="2377440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84"/>
          <p:cNvSpPr/>
          <p:nvPr/>
        </p:nvSpPr>
        <p:spPr>
          <a:xfrm>
            <a:off x="7519111" y="5307178"/>
            <a:ext cx="2648102" cy="295351"/>
          </a:xfrm>
          <a:prstGeom prst="roundRect">
            <a:avLst>
              <a:gd name="adj" fmla="val 39948"/>
            </a:avLst>
          </a:prstGeom>
          <a:solidFill>
            <a:srgbClr val="F9FAFB">
              <a:alpha val="60000"/>
            </a:srgbClr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9" name="Google Shape;2389;p84"/>
          <p:cNvSpPr/>
          <p:nvPr/>
        </p:nvSpPr>
        <p:spPr>
          <a:xfrm>
            <a:off x="7527341" y="5316322"/>
            <a:ext cx="342900" cy="276149"/>
          </a:xfrm>
          <a:prstGeom prst="rect">
            <a:avLst/>
          </a:prstGeom>
          <a:solidFill>
            <a:srgbClr val="E5E7EB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" name="Google Shape;2390;p84"/>
          <p:cNvSpPr/>
          <p:nvPr/>
        </p:nvSpPr>
        <p:spPr>
          <a:xfrm>
            <a:off x="7861097" y="5316322"/>
            <a:ext cx="9144" cy="2761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1" name="Google Shape;2391;p84"/>
          <p:cNvSpPr txBox="1"/>
          <p:nvPr/>
        </p:nvSpPr>
        <p:spPr>
          <a:xfrm>
            <a:off x="7498994" y="5316322"/>
            <a:ext cx="277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2" name="Google Shape;2392;p84"/>
          <p:cNvSpPr txBox="1"/>
          <p:nvPr/>
        </p:nvSpPr>
        <p:spPr>
          <a:xfrm>
            <a:off x="7824521" y="5316322"/>
            <a:ext cx="2377440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NaN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84"/>
          <p:cNvSpPr/>
          <p:nvPr/>
        </p:nvSpPr>
        <p:spPr>
          <a:xfrm>
            <a:off x="7519111" y="5667451"/>
            <a:ext cx="2648102" cy="295351"/>
          </a:xfrm>
          <a:prstGeom prst="roundRect">
            <a:avLst>
              <a:gd name="adj" fmla="val 39948"/>
            </a:avLst>
          </a:prstGeom>
          <a:solidFill>
            <a:srgbClr val="F9FAFB">
              <a:alpha val="60000"/>
            </a:srgbClr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4" name="Google Shape;2394;p84"/>
          <p:cNvSpPr/>
          <p:nvPr/>
        </p:nvSpPr>
        <p:spPr>
          <a:xfrm>
            <a:off x="7527341" y="5675681"/>
            <a:ext cx="342900" cy="276149"/>
          </a:xfrm>
          <a:prstGeom prst="rect">
            <a:avLst/>
          </a:prstGeom>
          <a:solidFill>
            <a:srgbClr val="E5E7EB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5" name="Google Shape;2395;p84"/>
          <p:cNvSpPr/>
          <p:nvPr/>
        </p:nvSpPr>
        <p:spPr>
          <a:xfrm>
            <a:off x="7861097" y="5675681"/>
            <a:ext cx="9144" cy="2761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6" name="Google Shape;2396;p84"/>
          <p:cNvSpPr txBox="1"/>
          <p:nvPr/>
        </p:nvSpPr>
        <p:spPr>
          <a:xfrm>
            <a:off x="7498994" y="5675681"/>
            <a:ext cx="277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84"/>
          <p:cNvSpPr txBox="1"/>
          <p:nvPr/>
        </p:nvSpPr>
        <p:spPr>
          <a:xfrm>
            <a:off x="7824521" y="5675681"/>
            <a:ext cx="2377440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NaN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8" name="Google Shape;2398;p84" descr="preencoded.png"/>
          <p:cNvPicPr preferRelativeResize="0"/>
          <p:nvPr/>
        </p:nvPicPr>
        <p:blipFill rotWithShape="1">
          <a:blip r:embed="rId9">
            <a:alphaModFix/>
          </a:blip>
          <a:srcRect l="-32" r="-31"/>
          <a:stretch/>
        </p:blipFill>
        <p:spPr>
          <a:xfrm>
            <a:off x="7519111" y="4930445"/>
            <a:ext cx="2904134" cy="339242"/>
          </a:xfrm>
          <a:prstGeom prst="rect">
            <a:avLst/>
          </a:prstGeom>
          <a:noFill/>
          <a:ln>
            <a:noFill/>
          </a:ln>
        </p:spPr>
      </p:pic>
      <p:sp>
        <p:nvSpPr>
          <p:cNvPr id="2399" name="Google Shape;2399;p84"/>
          <p:cNvSpPr/>
          <p:nvPr/>
        </p:nvSpPr>
        <p:spPr>
          <a:xfrm>
            <a:off x="7405726" y="4933188"/>
            <a:ext cx="381305" cy="304495"/>
          </a:xfrm>
          <a:prstGeom prst="rect">
            <a:avLst/>
          </a:prstGeom>
          <a:solidFill>
            <a:srgbClr val="DDD6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0" name="Google Shape;2400;p84"/>
          <p:cNvSpPr/>
          <p:nvPr/>
        </p:nvSpPr>
        <p:spPr>
          <a:xfrm>
            <a:off x="7777886" y="4933188"/>
            <a:ext cx="9144" cy="30449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1" name="Google Shape;2401;p84"/>
          <p:cNvSpPr txBox="1"/>
          <p:nvPr/>
        </p:nvSpPr>
        <p:spPr>
          <a:xfrm>
            <a:off x="7377379" y="4933188"/>
            <a:ext cx="315468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4C1D9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84"/>
          <p:cNvSpPr txBox="1"/>
          <p:nvPr/>
        </p:nvSpPr>
        <p:spPr>
          <a:xfrm>
            <a:off x="7733081" y="4933188"/>
            <a:ext cx="259598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8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4" name="Google Shape;2404;p84" descr="preencoded.png"/>
          <p:cNvPicPr preferRelativeResize="0"/>
          <p:nvPr/>
        </p:nvPicPr>
        <p:blipFill rotWithShape="1">
          <a:blip r:embed="rId10">
            <a:alphaModFix/>
          </a:blip>
          <a:srcRect l="-6" r="-5"/>
          <a:stretch/>
        </p:blipFill>
        <p:spPr>
          <a:xfrm>
            <a:off x="609905" y="2048256"/>
            <a:ext cx="5181905" cy="1190549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84"/>
          <p:cNvSpPr txBox="1"/>
          <p:nvPr/>
        </p:nvSpPr>
        <p:spPr>
          <a:xfrm>
            <a:off x="914400" y="2276856"/>
            <a:ext cx="47631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Automatic Alignment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84"/>
          <p:cNvSpPr txBox="1"/>
          <p:nvPr/>
        </p:nvSpPr>
        <p:spPr>
          <a:xfrm>
            <a:off x="914400" y="2695651"/>
            <a:ext cx="5334610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Intrinsic data alignment based on labels.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7" name="Google Shape;2407;p8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36576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8" name="Google Shape;2408;p84" descr="preencoded.png"/>
          <p:cNvPicPr preferRelativeResize="0"/>
          <p:nvPr/>
        </p:nvPicPr>
        <p:blipFill rotWithShape="1">
          <a:blip r:embed="rId12">
            <a:alphaModFix/>
          </a:blip>
          <a:srcRect l="-1282" r="-1282"/>
          <a:stretch/>
        </p:blipFill>
        <p:spPr>
          <a:xfrm>
            <a:off x="728777" y="379110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84"/>
          <p:cNvSpPr txBox="1"/>
          <p:nvPr/>
        </p:nvSpPr>
        <p:spPr>
          <a:xfrm>
            <a:off x="1295705" y="3619195"/>
            <a:ext cx="4582058" cy="6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When an operation involves </a:t>
            </a:r>
            <a:r>
              <a:rPr lang="en-US" sz="18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multiple Series objects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...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0" name="Google Shape;2410;p8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4572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1" name="Google Shape;2411;p84" descr="preencoded.png"/>
          <p:cNvPicPr preferRelativeResize="0"/>
          <p:nvPr/>
        </p:nvPicPr>
        <p:blipFill rotWithShape="1">
          <a:blip r:embed="rId13">
            <a:alphaModFix/>
          </a:blip>
          <a:srcRect l="-1648" r="-1647"/>
          <a:stretch/>
        </p:blipFill>
        <p:spPr>
          <a:xfrm>
            <a:off x="752551" y="47055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412" name="Google Shape;2412;p84"/>
          <p:cNvSpPr txBox="1"/>
          <p:nvPr/>
        </p:nvSpPr>
        <p:spPr>
          <a:xfrm>
            <a:off x="1295705" y="4533595"/>
            <a:ext cx="4582058" cy="6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Pandas automatically aligns items by matching </a:t>
            </a:r>
            <a:r>
              <a:rPr lang="en-US" sz="18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index labels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3" name="Google Shape;2413;p8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5486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4" name="Google Shape;2414;p84" descr="preencoded.png"/>
          <p:cNvPicPr preferRelativeResize="0"/>
          <p:nvPr/>
        </p:nvPicPr>
        <p:blipFill rotWithShape="1">
          <a:blip r:embed="rId14">
            <a:alphaModFix/>
          </a:blip>
          <a:srcRect l="-1648" r="-1647"/>
          <a:stretch/>
        </p:blipFill>
        <p:spPr>
          <a:xfrm>
            <a:off x="752551" y="561990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415" name="Google Shape;2415;p84"/>
          <p:cNvSpPr txBox="1"/>
          <p:nvPr/>
        </p:nvSpPr>
        <p:spPr>
          <a:xfrm>
            <a:off x="1295705" y="5447995"/>
            <a:ext cx="4582058" cy="92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Ensures operations like addition are performed on corresponding data points, handling missing indices with </a:t>
            </a:r>
            <a:r>
              <a:rPr lang="en-US" sz="13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NaN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8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2" name="Google Shape;2422;p8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8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4" name="Google Shape;2424;p85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25" name="Google Shape;2425;p85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6" name="Google Shape;2426;p8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7" name="Google Shape;2427;p85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428" name="Google Shape;2428;p85"/>
          <p:cNvSpPr txBox="1"/>
          <p:nvPr/>
        </p:nvSpPr>
        <p:spPr>
          <a:xfrm>
            <a:off x="914400" y="28904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Automatic Alignment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85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Data aligns on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index labels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Indices present in one Series but not the other result in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0" name="Google Shape;2430;p8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1" name="Google Shape;2431;p85"/>
          <p:cNvSpPr txBox="1"/>
          <p:nvPr/>
        </p:nvSpPr>
        <p:spPr>
          <a:xfrm>
            <a:off x="952805" y="503377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NaN stands for "Not a Number" and indicates missing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2" name="Google Shape;2432;p85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85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4" name="Google Shape;2434;p85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5" name="Google Shape;2435;p85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6" name="Google Shape;2436;p85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85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8" name="Google Shape;2438;p85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85"/>
          <p:cNvSpPr txBox="1"/>
          <p:nvPr/>
        </p:nvSpPr>
        <p:spPr>
          <a:xfrm>
            <a:off x="5646904" y="3004585"/>
            <a:ext cx="5737800" cy="25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(s2 + s3)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136.0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bob 166.0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charles </a:t>
            </a:r>
            <a:r>
              <a:rPr lang="en-US" sz="1600" b="1" i="0" u="none" strike="noStrike" cap="non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colin </a:t>
            </a:r>
            <a:r>
              <a:rPr lang="en-US" sz="1600" b="1" i="0" u="none" strike="noStrike" cap="none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darwin 136.0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float64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8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8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7" name="Google Shape;2447;p8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8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9" name="Google Shape;2449;p8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50" name="Google Shape;2450;p8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1" name="Google Shape;2451;p8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2" name="Google Shape;2452;p86" descr="preencoded.png"/>
          <p:cNvPicPr preferRelativeResize="0"/>
          <p:nvPr/>
        </p:nvPicPr>
        <p:blipFill rotWithShape="1">
          <a:blip r:embed="rId6">
            <a:alphaModFix/>
          </a:blip>
          <a:srcRect l="-4" r="-4"/>
          <a:stretch/>
        </p:blipFill>
        <p:spPr>
          <a:xfrm>
            <a:off x="609905" y="2578608"/>
            <a:ext cx="4381805" cy="1966874"/>
          </a:xfrm>
          <a:prstGeom prst="rect">
            <a:avLst/>
          </a:prstGeom>
          <a:noFill/>
          <a:ln>
            <a:noFill/>
          </a:ln>
        </p:spPr>
      </p:pic>
      <p:sp>
        <p:nvSpPr>
          <p:cNvPr id="2453" name="Google Shape;2453;p86"/>
          <p:cNvSpPr txBox="1"/>
          <p:nvPr/>
        </p:nvSpPr>
        <p:spPr>
          <a:xfrm>
            <a:off x="914400" y="280720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Automatic Alignment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86"/>
          <p:cNvSpPr txBox="1"/>
          <p:nvPr/>
        </p:nvSpPr>
        <p:spPr>
          <a:xfrm>
            <a:off x="914400" y="3302813"/>
            <a:ext cx="4534510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Do not forget to set the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right index labels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86"/>
          <p:cNvSpPr txBox="1"/>
          <p:nvPr/>
        </p:nvSpPr>
        <p:spPr>
          <a:xfrm>
            <a:off x="914400" y="3688690"/>
            <a:ext cx="3924605" cy="6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Otherwise, you may get surprising results like </a:t>
            </a:r>
            <a:r>
              <a:rPr lang="en-US" sz="1500" b="1" i="0" u="none" strike="noStrike" cap="non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(Not a Number) values.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6" name="Google Shape;2456;p8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88838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7" name="Google Shape;2457;p86"/>
          <p:cNvSpPr txBox="1"/>
          <p:nvPr/>
        </p:nvSpPr>
        <p:spPr>
          <a:xfrm>
            <a:off x="952805" y="4850892"/>
            <a:ext cx="4114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happens because Pandas aligns data based on index labels, not position. If labels don't match, the result is missing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8" name="Google Shape;2458;p86" descr="preencoded.png"/>
          <p:cNvPicPr preferRelativeResize="0"/>
          <p:nvPr/>
        </p:nvPicPr>
        <p:blipFill rotWithShape="1">
          <a:blip r:embed="rId8">
            <a:alphaModFix/>
          </a:blip>
          <a:srcRect t="-2" b="-2"/>
          <a:stretch/>
        </p:blipFill>
        <p:spPr>
          <a:xfrm>
            <a:off x="5447995" y="1828800"/>
            <a:ext cx="613379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9" name="Google Shape;2459;p86"/>
          <p:cNvSpPr/>
          <p:nvPr/>
        </p:nvSpPr>
        <p:spPr>
          <a:xfrm>
            <a:off x="5458054" y="183794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0" name="Google Shape;2460;p86"/>
          <p:cNvSpPr/>
          <p:nvPr/>
        </p:nvSpPr>
        <p:spPr>
          <a:xfrm>
            <a:off x="5458054" y="2257654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1" name="Google Shape;2461;p86"/>
          <p:cNvSpPr/>
          <p:nvPr/>
        </p:nvSpPr>
        <p:spPr>
          <a:xfrm>
            <a:off x="5609844" y="1990649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2" name="Google Shape;2462;p86"/>
          <p:cNvSpPr/>
          <p:nvPr/>
        </p:nvSpPr>
        <p:spPr>
          <a:xfrm>
            <a:off x="5800954" y="1990649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3" name="Google Shape;2463;p86"/>
          <p:cNvSpPr/>
          <p:nvPr/>
        </p:nvSpPr>
        <p:spPr>
          <a:xfrm>
            <a:off x="5991149" y="1990649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4" name="Google Shape;2464;p86"/>
          <p:cNvSpPr txBox="1"/>
          <p:nvPr/>
        </p:nvSpPr>
        <p:spPr>
          <a:xfrm>
            <a:off x="6258154" y="195224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86"/>
          <p:cNvSpPr txBox="1"/>
          <p:nvPr/>
        </p:nvSpPr>
        <p:spPr>
          <a:xfrm>
            <a:off x="5686654" y="2495398"/>
            <a:ext cx="5734202" cy="3277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s2 has index: alice, bob, charles, darwin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s5 = pd.</a:t>
            </a:r>
            <a:r>
              <a:rPr lang="en-US" sz="13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(s2 + s5)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bob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charles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darwin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r>
              <a:rPr lang="en-US" sz="1300" b="0" i="1" u="none" strike="noStrike" cap="none">
                <a:solidFill>
                  <a:srgbClr val="FCA5A5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float64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8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8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3" name="Google Shape;2473;p8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74" name="Google Shape;2474;p8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5" name="Google Shape;2475;p87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76" name="Google Shape;2476;p8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7" name="Google Shape;2477;p8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8" name="Google Shape;2478;p87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87"/>
          <p:cNvSpPr txBox="1"/>
          <p:nvPr/>
        </p:nvSpPr>
        <p:spPr>
          <a:xfrm>
            <a:off x="914400" y="28904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Init with a scalar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87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Create a Series where every element has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same value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by passing a scalar and a list of index labels.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1" name="Google Shape;2481;p8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2" name="Google Shape;2482;p87"/>
          <p:cNvSpPr txBox="1"/>
          <p:nvPr/>
        </p:nvSpPr>
        <p:spPr>
          <a:xfrm>
            <a:off x="952805" y="503377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scalar value is broadcast to match the length of the provided index.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3" name="Google Shape;2483;p87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5447995" y="2382012"/>
            <a:ext cx="6133795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2484" name="Google Shape;2484;p87"/>
          <p:cNvSpPr/>
          <p:nvPr/>
        </p:nvSpPr>
        <p:spPr>
          <a:xfrm>
            <a:off x="5458054" y="239115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5" name="Google Shape;2485;p87"/>
          <p:cNvSpPr/>
          <p:nvPr/>
        </p:nvSpPr>
        <p:spPr>
          <a:xfrm>
            <a:off x="5458054" y="281086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6" name="Google Shape;2486;p87"/>
          <p:cNvSpPr/>
          <p:nvPr/>
        </p:nvSpPr>
        <p:spPr>
          <a:xfrm>
            <a:off x="5609844" y="254386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7" name="Google Shape;2487;p87"/>
          <p:cNvSpPr/>
          <p:nvPr/>
        </p:nvSpPr>
        <p:spPr>
          <a:xfrm>
            <a:off x="5800954" y="254386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p87"/>
          <p:cNvSpPr/>
          <p:nvPr/>
        </p:nvSpPr>
        <p:spPr>
          <a:xfrm>
            <a:off x="5991149" y="254386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9" name="Google Shape;2489;p87"/>
          <p:cNvSpPr txBox="1"/>
          <p:nvPr/>
        </p:nvSpPr>
        <p:spPr>
          <a:xfrm>
            <a:off x="6258154" y="250545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87"/>
          <p:cNvSpPr txBox="1"/>
          <p:nvPr/>
        </p:nvSpPr>
        <p:spPr>
          <a:xfrm>
            <a:off x="5686654" y="3048610"/>
            <a:ext cx="5737860" cy="256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meaning = pd.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"life"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"universe"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"everything"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(meaning)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life 42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universe 42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everything 42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8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p8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8" name="Google Shape;2498;p8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499" name="Google Shape;2499;p88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0" name="Google Shape;2500;p88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01" name="Google Shape;2501;p88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2" name="Google Shape;2502;p8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3" name="Google Shape;2503;p88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499970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p88"/>
          <p:cNvSpPr txBox="1"/>
          <p:nvPr/>
        </p:nvSpPr>
        <p:spPr>
          <a:xfrm>
            <a:off x="914400" y="2728570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Series Name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88"/>
          <p:cNvSpPr txBox="1"/>
          <p:nvPr/>
        </p:nvSpPr>
        <p:spPr>
          <a:xfrm>
            <a:off x="914400" y="3224174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 Series object can be assigned a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name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which becomes an attribute of the Series.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88"/>
          <p:cNvSpPr/>
          <p:nvPr/>
        </p:nvSpPr>
        <p:spPr>
          <a:xfrm>
            <a:off x="609905" y="4871923"/>
            <a:ext cx="4381805" cy="857707"/>
          </a:xfrm>
          <a:prstGeom prst="roundRect">
            <a:avLst>
              <a:gd name="adj" fmla="val 9476"/>
            </a:avLst>
          </a:prstGeom>
          <a:solidFill>
            <a:srgbClr val="EFF6FF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7" name="Google Shape;2507;p88" descr="preencoded.png"/>
          <p:cNvPicPr preferRelativeResize="0"/>
          <p:nvPr/>
        </p:nvPicPr>
        <p:blipFill rotWithShape="1">
          <a:blip r:embed="rId7">
            <a:alphaModFix/>
          </a:blip>
          <a:srcRect l="-56" r="-57"/>
          <a:stretch/>
        </p:blipFill>
        <p:spPr>
          <a:xfrm>
            <a:off x="771754" y="5186477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8" name="Google Shape;2508;p88"/>
          <p:cNvSpPr txBox="1"/>
          <p:nvPr/>
        </p:nvSpPr>
        <p:spPr>
          <a:xfrm>
            <a:off x="1123798" y="4871923"/>
            <a:ext cx="3781958" cy="85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 this example, the series name is set to "weights".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9" name="Google Shape;2509;p88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447995" y="2296973"/>
            <a:ext cx="6133795" cy="3636569"/>
          </a:xfrm>
          <a:prstGeom prst="rect">
            <a:avLst/>
          </a:prstGeom>
          <a:noFill/>
          <a:ln>
            <a:noFill/>
          </a:ln>
        </p:spPr>
      </p:pic>
      <p:sp>
        <p:nvSpPr>
          <p:cNvPr id="2510" name="Google Shape;2510;p88"/>
          <p:cNvSpPr/>
          <p:nvPr/>
        </p:nvSpPr>
        <p:spPr>
          <a:xfrm>
            <a:off x="5458054" y="2306117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1" name="Google Shape;2511;p88"/>
          <p:cNvSpPr/>
          <p:nvPr/>
        </p:nvSpPr>
        <p:spPr>
          <a:xfrm>
            <a:off x="5458054" y="27258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2" name="Google Shape;2512;p88"/>
          <p:cNvSpPr/>
          <p:nvPr/>
        </p:nvSpPr>
        <p:spPr>
          <a:xfrm>
            <a:off x="5609844" y="2458822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3" name="Google Shape;2513;p88"/>
          <p:cNvSpPr/>
          <p:nvPr/>
        </p:nvSpPr>
        <p:spPr>
          <a:xfrm>
            <a:off x="5800954" y="2458822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4" name="Google Shape;2514;p88"/>
          <p:cNvSpPr/>
          <p:nvPr/>
        </p:nvSpPr>
        <p:spPr>
          <a:xfrm>
            <a:off x="5991149" y="2458822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5" name="Google Shape;2515;p88"/>
          <p:cNvSpPr txBox="1"/>
          <p:nvPr/>
        </p:nvSpPr>
        <p:spPr>
          <a:xfrm>
            <a:off x="6258154" y="2420417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88"/>
          <p:cNvSpPr txBox="1"/>
          <p:nvPr/>
        </p:nvSpPr>
        <p:spPr>
          <a:xfrm>
            <a:off x="5686654" y="2963570"/>
            <a:ext cx="5737860" cy="273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s6 = pd.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"weights"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(s6)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bob 83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68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Name: weights, 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88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8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4" name="Google Shape;2524;p8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25" name="Google Shape;2525;p89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6" name="Google Shape;2526;p89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27" name="Google Shape;2527;p89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Series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8" name="Google Shape;2528;p89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9" name="Google Shape;2529;p89" descr="preencoded.png"/>
          <p:cNvPicPr preferRelativeResize="0"/>
          <p:nvPr/>
        </p:nvPicPr>
        <p:blipFill rotWithShape="1">
          <a:blip r:embed="rId6">
            <a:alphaModFix/>
          </a:blip>
          <a:srcRect l="-5" r="-4"/>
          <a:stretch/>
        </p:blipFill>
        <p:spPr>
          <a:xfrm>
            <a:off x="609905" y="2471623"/>
            <a:ext cx="4381805" cy="2447849"/>
          </a:xfrm>
          <a:prstGeom prst="rect">
            <a:avLst/>
          </a:prstGeom>
          <a:noFill/>
          <a:ln>
            <a:noFill/>
          </a:ln>
        </p:spPr>
      </p:pic>
      <p:sp>
        <p:nvSpPr>
          <p:cNvPr id="2530" name="Google Shape;2530;p89"/>
          <p:cNvSpPr txBox="1"/>
          <p:nvPr/>
        </p:nvSpPr>
        <p:spPr>
          <a:xfrm>
            <a:off x="914400" y="2700223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Plotting a Series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89"/>
          <p:cNvSpPr txBox="1"/>
          <p:nvPr/>
        </p:nvSpPr>
        <p:spPr>
          <a:xfrm>
            <a:off x="914400" y="3195828"/>
            <a:ext cx="3934663" cy="149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Visualizing data is straightforward in Pandas. You can generate plots directly from a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Series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object using the </a:t>
            </a:r>
            <a:r>
              <a:rPr lang="en-US" sz="1800" b="0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plot()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method.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2" name="Google Shape;2532;p8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37667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89"/>
          <p:cNvSpPr txBox="1"/>
          <p:nvPr/>
        </p:nvSpPr>
        <p:spPr>
          <a:xfrm>
            <a:off x="952805" y="522488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-US" sz="10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%matplotlib inline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in Jupyter to view plots instantly.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4" name="Google Shape;2534;p89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2125980"/>
            <a:ext cx="6133795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89"/>
          <p:cNvSpPr/>
          <p:nvPr/>
        </p:nvSpPr>
        <p:spPr>
          <a:xfrm>
            <a:off x="5458054" y="213512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6" name="Google Shape;2536;p89"/>
          <p:cNvSpPr/>
          <p:nvPr/>
        </p:nvSpPr>
        <p:spPr>
          <a:xfrm>
            <a:off x="5458054" y="2554834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7" name="Google Shape;2537;p89"/>
          <p:cNvSpPr/>
          <p:nvPr/>
        </p:nvSpPr>
        <p:spPr>
          <a:xfrm>
            <a:off x="5609844" y="2287829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8" name="Google Shape;2538;p89"/>
          <p:cNvSpPr/>
          <p:nvPr/>
        </p:nvSpPr>
        <p:spPr>
          <a:xfrm>
            <a:off x="5800954" y="2287829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9" name="Google Shape;2539;p89"/>
          <p:cNvSpPr/>
          <p:nvPr/>
        </p:nvSpPr>
        <p:spPr>
          <a:xfrm>
            <a:off x="5991149" y="2287829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0" name="Google Shape;2540;p89"/>
          <p:cNvSpPr txBox="1"/>
          <p:nvPr/>
        </p:nvSpPr>
        <p:spPr>
          <a:xfrm>
            <a:off x="6258154" y="224942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89"/>
          <p:cNvSpPr txBox="1"/>
          <p:nvPr/>
        </p:nvSpPr>
        <p:spPr>
          <a:xfrm>
            <a:off x="5686654" y="2792578"/>
            <a:ext cx="5737860" cy="307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%matplotlib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inline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matplotlib.pyplot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plt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temperatures = [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4.4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5.1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6.1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6.2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6.1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6.1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5.7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5.2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4.7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4.1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3.9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s7 = pd.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(temperatures,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name=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"Temperature"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s7.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plt.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89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89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p9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49" name="Google Shape;2549;p9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0" name="Google Shape;2550;p9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1" name="Google Shape;2551;p9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2" name="Google Shape;2552;p90"/>
          <p:cNvSpPr txBox="1"/>
          <p:nvPr/>
        </p:nvSpPr>
        <p:spPr>
          <a:xfrm>
            <a:off x="609905" y="533095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3" name="Google Shape;2553;p9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2188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4" name="Google Shape;2554;p90" descr="preencoded.png"/>
          <p:cNvPicPr preferRelativeResize="0"/>
          <p:nvPr/>
        </p:nvPicPr>
        <p:blipFill rotWithShape="1">
          <a:blip r:embed="rId7">
            <a:alphaModFix amt="20000"/>
          </a:blip>
          <a:srcRect t="-8" b="-8"/>
          <a:stretch/>
        </p:blipFill>
        <p:spPr>
          <a:xfrm>
            <a:off x="6096305" y="3076956"/>
            <a:ext cx="6035040" cy="236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555" name="Google Shape;2555;p90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6" name="Google Shape;2556;p90" descr="preencoded.png"/>
          <p:cNvPicPr preferRelativeResize="0"/>
          <p:nvPr/>
        </p:nvPicPr>
        <p:blipFill rotWithShape="1">
          <a:blip r:embed="rId8">
            <a:alphaModFix/>
          </a:blip>
          <a:srcRect l="-11" r="-11"/>
          <a:stretch/>
        </p:blipFill>
        <p:spPr>
          <a:xfrm>
            <a:off x="609905" y="2290572"/>
            <a:ext cx="5181905" cy="1399946"/>
          </a:xfrm>
          <a:prstGeom prst="rect">
            <a:avLst/>
          </a:prstGeom>
          <a:noFill/>
          <a:ln>
            <a:noFill/>
          </a:ln>
        </p:spPr>
      </p:pic>
      <p:sp>
        <p:nvSpPr>
          <p:cNvPr id="2557" name="Google Shape;2557;p90"/>
          <p:cNvSpPr txBox="1"/>
          <p:nvPr/>
        </p:nvSpPr>
        <p:spPr>
          <a:xfrm>
            <a:off x="914400" y="2519172"/>
            <a:ext cx="4734763" cy="943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DataFrame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object represents a spreadsheet with cell values, column names, and row index labels.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8" name="Google Shape;2558;p9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4033418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9" name="Google Shape;2559;p9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5002" y="412943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560" name="Google Shape;2560;p90"/>
          <p:cNvSpPr txBox="1"/>
          <p:nvPr/>
        </p:nvSpPr>
        <p:spPr>
          <a:xfrm>
            <a:off x="1181405" y="4033418"/>
            <a:ext cx="293613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In-memory 2D table structure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1" name="Google Shape;2561;p9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4681728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2" name="Google Shape;2562;p90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8777" y="4776826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563" name="Google Shape;2563;p90"/>
          <p:cNvSpPr txBox="1"/>
          <p:nvPr/>
        </p:nvSpPr>
        <p:spPr>
          <a:xfrm>
            <a:off x="1181405" y="4681728"/>
            <a:ext cx="46863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Similar to a Spreadsheet with column names and row labels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4" name="Google Shape;2564;p9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5481828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5" name="Google Shape;2565;p90" descr="preencoded.png"/>
          <p:cNvPicPr preferRelativeResize="0"/>
          <p:nvPr/>
        </p:nvPicPr>
        <p:blipFill rotWithShape="1">
          <a:blip r:embed="rId12">
            <a:alphaModFix/>
          </a:blip>
          <a:srcRect l="-1282" r="-1282"/>
          <a:stretch/>
        </p:blipFill>
        <p:spPr>
          <a:xfrm>
            <a:off x="690372" y="5576926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566" name="Google Shape;2566;p90"/>
          <p:cNvSpPr txBox="1"/>
          <p:nvPr/>
        </p:nvSpPr>
        <p:spPr>
          <a:xfrm>
            <a:off x="1181405" y="5481828"/>
            <a:ext cx="46863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Can be visualized as </a:t>
            </a:r>
            <a:r>
              <a:rPr lang="en-US" sz="15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dictionaries of Series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objects sharing the same index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7" name="Google Shape;2567;p90" descr="preencoded.png"/>
          <p:cNvPicPr preferRelativeResize="0"/>
          <p:nvPr/>
        </p:nvPicPr>
        <p:blipFill rotWithShape="1">
          <a:blip r:embed="rId13">
            <a:alphaModFix/>
          </a:blip>
          <a:srcRect l="-5" r="-4"/>
          <a:stretch/>
        </p:blipFill>
        <p:spPr>
          <a:xfrm>
            <a:off x="6839712" y="3039466"/>
            <a:ext cx="4304081" cy="2226564"/>
          </a:xfrm>
          <a:prstGeom prst="rect">
            <a:avLst/>
          </a:prstGeom>
          <a:noFill/>
          <a:ln>
            <a:noFill/>
          </a:ln>
        </p:spPr>
      </p:pic>
      <p:sp>
        <p:nvSpPr>
          <p:cNvPr id="2568" name="Google Shape;2568;p90"/>
          <p:cNvSpPr txBox="1"/>
          <p:nvPr/>
        </p:nvSpPr>
        <p:spPr>
          <a:xfrm>
            <a:off x="8043062" y="3298241"/>
            <a:ext cx="962863" cy="381305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9" name="Google Shape;2569;p90"/>
          <p:cNvSpPr txBox="1"/>
          <p:nvPr/>
        </p:nvSpPr>
        <p:spPr>
          <a:xfrm>
            <a:off x="9009583" y="3315614"/>
            <a:ext cx="962863" cy="381305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0" name="Google Shape;2570;p90"/>
          <p:cNvSpPr txBox="1"/>
          <p:nvPr/>
        </p:nvSpPr>
        <p:spPr>
          <a:xfrm>
            <a:off x="9976104" y="3332074"/>
            <a:ext cx="962863" cy="381305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City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1" name="Google Shape;2571;p90"/>
          <p:cNvSpPr txBox="1"/>
          <p:nvPr/>
        </p:nvSpPr>
        <p:spPr>
          <a:xfrm>
            <a:off x="7068312" y="3719779"/>
            <a:ext cx="962863" cy="38130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2" name="Google Shape;2572;p90"/>
          <p:cNvSpPr txBox="1"/>
          <p:nvPr/>
        </p:nvSpPr>
        <p:spPr>
          <a:xfrm>
            <a:off x="8034833" y="3737153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Alice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3" name="Google Shape;2573;p90"/>
          <p:cNvSpPr txBox="1"/>
          <p:nvPr/>
        </p:nvSpPr>
        <p:spPr>
          <a:xfrm>
            <a:off x="9001354" y="3753612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90"/>
          <p:cNvSpPr txBox="1"/>
          <p:nvPr/>
        </p:nvSpPr>
        <p:spPr>
          <a:xfrm>
            <a:off x="9968789" y="3770071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NY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5" name="Google Shape;2575;p90"/>
          <p:cNvSpPr txBox="1"/>
          <p:nvPr/>
        </p:nvSpPr>
        <p:spPr>
          <a:xfrm>
            <a:off x="7060997" y="4157777"/>
            <a:ext cx="962863" cy="38130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90"/>
          <p:cNvSpPr txBox="1"/>
          <p:nvPr/>
        </p:nvSpPr>
        <p:spPr>
          <a:xfrm>
            <a:off x="8027518" y="4175150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Bob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90"/>
          <p:cNvSpPr txBox="1"/>
          <p:nvPr/>
        </p:nvSpPr>
        <p:spPr>
          <a:xfrm>
            <a:off x="8994038" y="4191610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8" name="Google Shape;2578;p90"/>
          <p:cNvSpPr txBox="1"/>
          <p:nvPr/>
        </p:nvSpPr>
        <p:spPr>
          <a:xfrm>
            <a:off x="9960559" y="4208983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LA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90"/>
          <p:cNvSpPr txBox="1"/>
          <p:nvPr/>
        </p:nvSpPr>
        <p:spPr>
          <a:xfrm>
            <a:off x="7052767" y="4595774"/>
            <a:ext cx="962863" cy="38130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4B5563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0" name="Google Shape;2580;p90"/>
          <p:cNvSpPr txBox="1"/>
          <p:nvPr/>
        </p:nvSpPr>
        <p:spPr>
          <a:xfrm>
            <a:off x="8020202" y="4613148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Charlie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1" name="Google Shape;2581;p90"/>
          <p:cNvSpPr txBox="1"/>
          <p:nvPr/>
        </p:nvSpPr>
        <p:spPr>
          <a:xfrm>
            <a:off x="8986723" y="4629607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90"/>
          <p:cNvSpPr txBox="1"/>
          <p:nvPr/>
        </p:nvSpPr>
        <p:spPr>
          <a:xfrm>
            <a:off x="9953244" y="4646981"/>
            <a:ext cx="962863" cy="3813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SF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90"/>
          <p:cNvSpPr/>
          <p:nvPr/>
        </p:nvSpPr>
        <p:spPr>
          <a:xfrm>
            <a:off x="7037222" y="2899562"/>
            <a:ext cx="1561795" cy="295351"/>
          </a:xfrm>
          <a:prstGeom prst="roundRect">
            <a:avLst>
              <a:gd name="adj" fmla="val 309598"/>
            </a:avLst>
          </a:prstGeom>
          <a:solidFill>
            <a:srgbClr val="2563E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4" name="Google Shape;2584;p90"/>
          <p:cNvSpPr txBox="1"/>
          <p:nvPr/>
        </p:nvSpPr>
        <p:spPr>
          <a:xfrm>
            <a:off x="7037222" y="2899562"/>
            <a:ext cx="1624889" cy="295351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DataFrame 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5" name="Google Shape;2585;p90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125505" y="3732581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2586" name="Google Shape;2586;p90"/>
          <p:cNvSpPr txBox="1"/>
          <p:nvPr/>
        </p:nvSpPr>
        <p:spPr>
          <a:xfrm>
            <a:off x="10974629" y="3935578"/>
            <a:ext cx="499262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3B82F6"/>
                </a:solidFill>
                <a:latin typeface="Roboto"/>
                <a:ea typeface="Roboto"/>
                <a:cs typeface="Roboto"/>
                <a:sym typeface="Roboto"/>
              </a:rPr>
              <a:t>Series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90"/>
          <p:cNvSpPr txBox="1"/>
          <p:nvPr/>
        </p:nvSpPr>
        <p:spPr>
          <a:xfrm>
            <a:off x="6441034" y="4400093"/>
            <a:ext cx="362102" cy="16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8" name="Google Shape;2588;p90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17843" y="4591202"/>
            <a:ext cx="200254" cy="2002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4" name="Google Shape;2594;p9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5" name="Google Shape;2595;p9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96" name="Google Shape;2596;p9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7" name="Google Shape;2597;p91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598" name="Google Shape;2598;p91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9" name="Google Shape;2599;p9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0" name="Google Shape;2600;p91" descr="preencoded.png"/>
          <p:cNvPicPr preferRelativeResize="0"/>
          <p:nvPr/>
        </p:nvPicPr>
        <p:blipFill rotWithShape="1">
          <a:blip r:embed="rId6">
            <a:alphaModFix/>
          </a:blip>
          <a:srcRect l="-2" r="-2"/>
          <a:stretch/>
        </p:blipFill>
        <p:spPr>
          <a:xfrm>
            <a:off x="609905" y="2254910"/>
            <a:ext cx="3504895" cy="2866644"/>
          </a:xfrm>
          <a:prstGeom prst="rect">
            <a:avLst/>
          </a:prstGeom>
          <a:noFill/>
          <a:ln>
            <a:noFill/>
          </a:ln>
        </p:spPr>
      </p:pic>
      <p:sp>
        <p:nvSpPr>
          <p:cNvPr id="2601" name="Google Shape;2601;p91"/>
          <p:cNvSpPr txBox="1"/>
          <p:nvPr/>
        </p:nvSpPr>
        <p:spPr>
          <a:xfrm>
            <a:off x="914400" y="2483510"/>
            <a:ext cx="30796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Creating a DataFrame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2" name="Google Shape;2602;p91"/>
          <p:cNvSpPr txBox="1"/>
          <p:nvPr/>
        </p:nvSpPr>
        <p:spPr>
          <a:xfrm>
            <a:off x="914400" y="3322015"/>
            <a:ext cx="3048610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Pass a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dictionary of Series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objects.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3" name="Google Shape;2603;p91"/>
          <p:cNvSpPr txBox="1"/>
          <p:nvPr/>
        </p:nvSpPr>
        <p:spPr>
          <a:xfrm>
            <a:off x="914400" y="4093769"/>
            <a:ext cx="304861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dictionary keys become column names, and indices are automatically aligned.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4" name="Google Shape;2604;p91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388559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5" name="Google Shape;2605;p91"/>
          <p:cNvSpPr txBox="1"/>
          <p:nvPr/>
        </p:nvSpPr>
        <p:spPr>
          <a:xfrm>
            <a:off x="895198" y="5351069"/>
            <a:ext cx="3296412" cy="47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Note how different series indices are handled automatically.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6" name="Google Shape;2606;p91" descr="preencoded.png"/>
          <p:cNvPicPr preferRelativeResize="0"/>
          <p:nvPr/>
        </p:nvPicPr>
        <p:blipFill rotWithShape="1">
          <a:blip r:embed="rId8">
            <a:alphaModFix/>
          </a:blip>
          <a:srcRect l="-2" r="-2"/>
          <a:stretch/>
        </p:blipFill>
        <p:spPr>
          <a:xfrm>
            <a:off x="4572000" y="1524305"/>
            <a:ext cx="7010705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7" name="Google Shape;2607;p91"/>
          <p:cNvSpPr/>
          <p:nvPr/>
        </p:nvSpPr>
        <p:spPr>
          <a:xfrm>
            <a:off x="4581144" y="1533449"/>
            <a:ext cx="6991502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8" name="Google Shape;2608;p91"/>
          <p:cNvSpPr/>
          <p:nvPr/>
        </p:nvSpPr>
        <p:spPr>
          <a:xfrm>
            <a:off x="4581144" y="1953158"/>
            <a:ext cx="6991502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p91"/>
          <p:cNvSpPr/>
          <p:nvPr/>
        </p:nvSpPr>
        <p:spPr>
          <a:xfrm>
            <a:off x="4733849" y="1686154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0" name="Google Shape;2610;p91"/>
          <p:cNvSpPr/>
          <p:nvPr/>
        </p:nvSpPr>
        <p:spPr>
          <a:xfrm>
            <a:off x="4924044" y="1686154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1" name="Google Shape;2611;p91"/>
          <p:cNvSpPr/>
          <p:nvPr/>
        </p:nvSpPr>
        <p:spPr>
          <a:xfrm>
            <a:off x="5115154" y="1686154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2" name="Google Shape;2612;p91"/>
          <p:cNvSpPr txBox="1"/>
          <p:nvPr/>
        </p:nvSpPr>
        <p:spPr>
          <a:xfrm>
            <a:off x="5381244" y="1647749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91"/>
          <p:cNvSpPr txBox="1"/>
          <p:nvPr/>
        </p:nvSpPr>
        <p:spPr>
          <a:xfrm>
            <a:off x="4772254" y="2152498"/>
            <a:ext cx="6687007" cy="3419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people_dict = {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"weight"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pd.</a:t>
            </a:r>
            <a:r>
              <a:rPr lang="en-US" sz="1300" b="0" i="0" u="none" strike="noStrike" cap="non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112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"charles"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pd.</a:t>
            </a:r>
            <a:r>
              <a:rPr lang="en-US" sz="1300" b="0" i="0" u="none" strike="noStrike" cap="non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1984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1985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1992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"charles"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lang="en-US" sz="13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"year"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"children"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pd.</a:t>
            </a:r>
            <a:r>
              <a:rPr lang="en-US" sz="1300" b="0" i="0" u="none" strike="noStrike" cap="non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"charles"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3E635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"hobby"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pd.</a:t>
            </a:r>
            <a:r>
              <a:rPr lang="en-US" sz="1300" b="0" i="0" u="none" strike="noStrike" cap="non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Series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"Biking"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"Dancing"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]),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91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9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1" name="Google Shape;2621;p9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2" name="Google Shape;2622;p9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3" name="Google Shape;2623;p9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2624" name="Google Shape;2624;p9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 - Creating a DataFrame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5" name="Google Shape;2625;p9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26" name="Google Shape;2626;p92"/>
          <p:cNvSpPr/>
          <p:nvPr/>
        </p:nvSpPr>
        <p:spPr>
          <a:xfrm>
            <a:off x="1828800" y="1780337"/>
            <a:ext cx="8534095" cy="857707"/>
          </a:xfrm>
          <a:prstGeom prst="roundRect">
            <a:avLst>
              <a:gd name="adj" fmla="val 9476"/>
            </a:avLst>
          </a:prstGeom>
          <a:solidFill>
            <a:srgbClr val="1E293B"/>
          </a:solidFill>
          <a:ln>
            <a:noFill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7" name="Google Shape;2627;p92"/>
          <p:cNvSpPr/>
          <p:nvPr/>
        </p:nvSpPr>
        <p:spPr>
          <a:xfrm>
            <a:off x="1828800" y="1780337"/>
            <a:ext cx="57607" cy="857707"/>
          </a:xfrm>
          <a:prstGeom prst="roundRect">
            <a:avLst>
              <a:gd name="adj" fmla="val 141094"/>
            </a:avLst>
          </a:prstGeom>
          <a:solidFill>
            <a:srgbClr val="3B82F6"/>
          </a:solidFill>
          <a:ln w="12700" cap="flat" cmpd="sng">
            <a:solidFill>
              <a:srgbClr val="3B82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8" name="Google Shape;2628;p92"/>
          <p:cNvSpPr txBox="1"/>
          <p:nvPr/>
        </p:nvSpPr>
        <p:spPr>
          <a:xfrm>
            <a:off x="2115007" y="1932127"/>
            <a:ext cx="8134502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4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people = pd.DataFrame(people_dict)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92"/>
          <p:cNvSpPr txBox="1"/>
          <p:nvPr/>
        </p:nvSpPr>
        <p:spPr>
          <a:xfrm>
            <a:off x="2115007" y="2206447"/>
            <a:ext cx="8134502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urier New"/>
              <a:buNone/>
            </a:pPr>
            <a:r>
              <a:rPr lang="en-US" sz="14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4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people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0" name="Google Shape;2630;p92" descr="preencoded.png"/>
          <p:cNvPicPr preferRelativeResize="0"/>
          <p:nvPr/>
        </p:nvPicPr>
        <p:blipFill rotWithShape="1">
          <a:blip r:embed="rId7">
            <a:alphaModFix/>
          </a:blip>
          <a:srcRect t="-7" b="-6"/>
          <a:stretch/>
        </p:blipFill>
        <p:spPr>
          <a:xfrm>
            <a:off x="3073298" y="2937967"/>
            <a:ext cx="6045098" cy="19778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31" name="Google Shape;2631;p92"/>
          <p:cNvGraphicFramePr/>
          <p:nvPr/>
        </p:nvGraphicFramePr>
        <p:xfrm>
          <a:off x="3082442" y="2948026"/>
          <a:ext cx="6025900" cy="196230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1170425"/>
                <a:gridCol w="1371600"/>
                <a:gridCol w="1261875"/>
                <a:gridCol w="1161300"/>
                <a:gridCol w="1060700"/>
              </a:tblGrid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20"/>
                        <a:buFont typeface="Calibri"/>
                        <a:buNone/>
                      </a:pP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birthyear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children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hobby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weight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1E293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1985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i="1" u="none" strike="noStrike" cap="none">
                          <a:solidFill>
                            <a:srgbClr val="94A3B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/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Biking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1E293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1984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3.0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Dancing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1E293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1992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0.0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i="1" u="none" strike="noStrike" cap="none">
                          <a:solidFill>
                            <a:srgbClr val="94A3B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/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112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14300" marB="114300" anchor="ctr">
                    <a:lnL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632" name="Google Shape;2632;p92" descr="preencoded.png"/>
          <p:cNvPicPr preferRelativeResize="0"/>
          <p:nvPr/>
        </p:nvPicPr>
        <p:blipFill rotWithShape="1">
          <a:blip r:embed="rId8">
            <a:alphaModFix/>
          </a:blip>
          <a:srcRect l="-3" r="-3"/>
          <a:stretch/>
        </p:blipFill>
        <p:spPr>
          <a:xfrm>
            <a:off x="1828800" y="5373014"/>
            <a:ext cx="8534095" cy="847649"/>
          </a:xfrm>
          <a:prstGeom prst="rect">
            <a:avLst/>
          </a:prstGeom>
          <a:noFill/>
          <a:ln>
            <a:noFill/>
          </a:ln>
        </p:spPr>
      </p:pic>
      <p:sp>
        <p:nvSpPr>
          <p:cNvPr id="2633" name="Google Shape;2633;p92"/>
          <p:cNvSpPr txBox="1"/>
          <p:nvPr/>
        </p:nvSpPr>
        <p:spPr>
          <a:xfrm>
            <a:off x="2210105" y="5525719"/>
            <a:ext cx="7925105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5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DataFrame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 aligns data by row index (alice, bob, charles) and column keys. Missing values are automatically handled as </a:t>
            </a:r>
            <a:r>
              <a:rPr lang="en-US" sz="1500" b="0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lang="en-US" sz="15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4" name="Google Shape;2634;p92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9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1" name="Google Shape;2641;p9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2" name="Google Shape;2642;p9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3" name="Google Shape;2643;p9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4" name="Google Shape;2644;p93"/>
          <p:cNvSpPr txBox="1"/>
          <p:nvPr/>
        </p:nvSpPr>
        <p:spPr>
          <a:xfrm>
            <a:off x="609905" y="533095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5" name="Google Shape;2645;p93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2188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6" name="Google Shape;2646;p9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62895" y="361919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7" name="Google Shape;2647;p9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1095" y="383865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8" name="Google Shape;2648;p93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9" name="Google Shape;2649;p93" descr="preencoded.png"/>
          <p:cNvPicPr preferRelativeResize="0"/>
          <p:nvPr/>
        </p:nvPicPr>
        <p:blipFill rotWithShape="1">
          <a:blip r:embed="rId9">
            <a:alphaModFix/>
          </a:blip>
          <a:srcRect t="-14" b="-13"/>
          <a:stretch/>
        </p:blipFill>
        <p:spPr>
          <a:xfrm>
            <a:off x="609905" y="2393899"/>
            <a:ext cx="6096305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2650" name="Google Shape;2650;p93"/>
          <p:cNvSpPr txBox="1"/>
          <p:nvPr/>
        </p:nvSpPr>
        <p:spPr>
          <a:xfrm>
            <a:off x="914400" y="2622499"/>
            <a:ext cx="6249010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Important Notes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on Creating DataFrames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1" name="Google Shape;2651;p9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370149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2" name="Google Shape;2652;p93" descr="preencoded.png"/>
          <p:cNvPicPr preferRelativeResize="0"/>
          <p:nvPr/>
        </p:nvPicPr>
        <p:blipFill rotWithShape="1">
          <a:blip r:embed="rId11">
            <a:alphaModFix/>
          </a:blip>
          <a:srcRect l="-1648" r="-1647"/>
          <a:stretch/>
        </p:blipFill>
        <p:spPr>
          <a:xfrm>
            <a:off x="752551" y="3834994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653" name="Google Shape;2653;p93"/>
          <p:cNvSpPr txBox="1"/>
          <p:nvPr/>
        </p:nvSpPr>
        <p:spPr>
          <a:xfrm>
            <a:off x="1295705" y="3625596"/>
            <a:ext cx="5496458" cy="6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The Series were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automatically aligned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based on their index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4" name="Google Shape;2654;p9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5399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5" name="Google Shape;2655;p93" descr="preencoded.png"/>
          <p:cNvPicPr preferRelativeResize="0"/>
          <p:nvPr/>
        </p:nvPicPr>
        <p:blipFill rotWithShape="1">
          <a:blip r:embed="rId12">
            <a:alphaModFix/>
          </a:blip>
          <a:srcRect l="-1923" r="-1923"/>
          <a:stretch/>
        </p:blipFill>
        <p:spPr>
          <a:xfrm>
            <a:off x="776326" y="4673498"/>
            <a:ext cx="1234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656" name="Google Shape;2656;p93"/>
          <p:cNvSpPr txBox="1"/>
          <p:nvPr/>
        </p:nvSpPr>
        <p:spPr>
          <a:xfrm>
            <a:off x="1295705" y="4615891"/>
            <a:ext cx="46488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Missing values are represented as </a:t>
            </a:r>
            <a:r>
              <a:rPr lang="en-US" sz="1800" b="1" i="0" u="none" strike="noStrike" cap="none">
                <a:solidFill>
                  <a:srgbClr val="EF4444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7" name="Google Shape;2657;p9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37850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8" name="Google Shape;2658;p93" descr="preencoded.png"/>
          <p:cNvPicPr preferRelativeResize="0"/>
          <p:nvPr/>
        </p:nvPicPr>
        <p:blipFill rotWithShape="1">
          <a:blip r:embed="rId13">
            <a:alphaModFix/>
          </a:blip>
          <a:srcRect l="-1648" r="-1647"/>
          <a:stretch/>
        </p:blipFill>
        <p:spPr>
          <a:xfrm>
            <a:off x="752551" y="5511089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659" name="Google Shape;2659;p93"/>
          <p:cNvSpPr txBox="1"/>
          <p:nvPr/>
        </p:nvSpPr>
        <p:spPr>
          <a:xfrm>
            <a:off x="1295705" y="5301691"/>
            <a:ext cx="5496458" cy="6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Series names are </a:t>
            </a:r>
            <a:r>
              <a:rPr lang="en-US" sz="1800" b="1" i="0" u="none" strike="noStrike" cap="none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rPr>
              <a:t>ignored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(e.g., the name "year" was dropped)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0" name="Google Shape;2660;p93" descr="preencoded.png"/>
          <p:cNvPicPr preferRelativeResize="0"/>
          <p:nvPr/>
        </p:nvPicPr>
        <p:blipFill rotWithShape="1">
          <a:blip r:embed="rId14">
            <a:alphaModFix amt="10000"/>
          </a:blip>
          <a:srcRect/>
          <a:stretch/>
        </p:blipFill>
        <p:spPr>
          <a:xfrm>
            <a:off x="8382305" y="3238805"/>
            <a:ext cx="2743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1" name="Google Shape;2661;p93" descr="preencoded.png"/>
          <p:cNvPicPr preferRelativeResize="0"/>
          <p:nvPr/>
        </p:nvPicPr>
        <p:blipFill rotWithShape="1">
          <a:blip r:embed="rId15">
            <a:alphaModFix amt="90000"/>
          </a:blip>
          <a:srcRect/>
          <a:stretch/>
        </p:blipFill>
        <p:spPr>
          <a:xfrm>
            <a:off x="8382305" y="3238805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2" name="Google Shape;2662;p93" descr="preencoded.png"/>
          <p:cNvPicPr preferRelativeResize="0"/>
          <p:nvPr/>
        </p:nvPicPr>
        <p:blipFill rotWithShape="1">
          <a:blip r:embed="rId16">
            <a:alphaModFix/>
          </a:blip>
          <a:srcRect l="-2" r="-2"/>
          <a:stretch/>
        </p:blipFill>
        <p:spPr>
          <a:xfrm>
            <a:off x="9715500" y="3086100"/>
            <a:ext cx="647395" cy="67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3" name="Google Shape;2663;p93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868205" y="32388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4" name="Google Shape;2664;p93" descr="preencoded.png"/>
          <p:cNvPicPr preferRelativeResize="0"/>
          <p:nvPr/>
        </p:nvPicPr>
        <p:blipFill rotWithShape="1">
          <a:blip r:embed="rId18">
            <a:alphaModFix/>
          </a:blip>
          <a:srcRect l="-24" r="-23"/>
          <a:stretch/>
        </p:blipFill>
        <p:spPr>
          <a:xfrm>
            <a:off x="8229600" y="4572000"/>
            <a:ext cx="819302" cy="647395"/>
          </a:xfrm>
          <a:prstGeom prst="rect">
            <a:avLst/>
          </a:prstGeom>
          <a:noFill/>
          <a:ln>
            <a:noFill/>
          </a:ln>
        </p:spPr>
      </p:pic>
      <p:sp>
        <p:nvSpPr>
          <p:cNvPr id="2665" name="Google Shape;2665;p93"/>
          <p:cNvSpPr txBox="1"/>
          <p:nvPr/>
        </p:nvSpPr>
        <p:spPr>
          <a:xfrm>
            <a:off x="8382305" y="4733849"/>
            <a:ext cx="600761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Arial"/>
              <a:buNone/>
            </a:pPr>
            <a:r>
              <a:rPr lang="en-US" sz="22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NaN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9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72" name="Google Shape;2672;p9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73" name="Google Shape;2673;p9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74" name="Google Shape;2674;p94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675" name="Google Shape;2675;p9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6" name="Google Shape;2676;p9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7" name="Google Shape;2677;p94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2870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2678" name="Google Shape;2678;p94"/>
          <p:cNvSpPr txBox="1"/>
          <p:nvPr/>
        </p:nvSpPr>
        <p:spPr>
          <a:xfrm>
            <a:off x="914400" y="3071470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Access a Column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94"/>
          <p:cNvSpPr txBox="1"/>
          <p:nvPr/>
        </p:nvSpPr>
        <p:spPr>
          <a:xfrm>
            <a:off x="914400" y="3567074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Accessing a single column returns a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Series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object with the index intact.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0" name="Google Shape;2680;p9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0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1" name="Google Shape;2681;p94"/>
          <p:cNvSpPr txBox="1"/>
          <p:nvPr/>
        </p:nvSpPr>
        <p:spPr>
          <a:xfrm>
            <a:off x="952805" y="4843577"/>
            <a:ext cx="4114800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Use bracket notation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[]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with the column name string.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2" name="Google Shape;2682;p94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638044"/>
            <a:ext cx="6133795" cy="2953512"/>
          </a:xfrm>
          <a:prstGeom prst="rect">
            <a:avLst/>
          </a:prstGeom>
          <a:noFill/>
          <a:ln>
            <a:noFill/>
          </a:ln>
        </p:spPr>
      </p:pic>
      <p:sp>
        <p:nvSpPr>
          <p:cNvPr id="2683" name="Google Shape;2683;p94"/>
          <p:cNvSpPr/>
          <p:nvPr/>
        </p:nvSpPr>
        <p:spPr>
          <a:xfrm>
            <a:off x="5458054" y="2648102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94"/>
          <p:cNvSpPr/>
          <p:nvPr/>
        </p:nvSpPr>
        <p:spPr>
          <a:xfrm>
            <a:off x="5458054" y="3067812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5" name="Google Shape;2685;p94"/>
          <p:cNvSpPr/>
          <p:nvPr/>
        </p:nvSpPr>
        <p:spPr>
          <a:xfrm>
            <a:off x="5609844" y="2799893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6" name="Google Shape;2686;p94"/>
          <p:cNvSpPr/>
          <p:nvPr/>
        </p:nvSpPr>
        <p:spPr>
          <a:xfrm>
            <a:off x="5800954" y="2799893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7" name="Google Shape;2687;p94"/>
          <p:cNvSpPr/>
          <p:nvPr/>
        </p:nvSpPr>
        <p:spPr>
          <a:xfrm>
            <a:off x="5991149" y="2799893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8" name="Google Shape;2688;p94"/>
          <p:cNvSpPr txBox="1"/>
          <p:nvPr/>
        </p:nvSpPr>
        <p:spPr>
          <a:xfrm>
            <a:off x="6258154" y="2762402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94"/>
          <p:cNvSpPr txBox="1"/>
          <p:nvPr/>
        </p:nvSpPr>
        <p:spPr>
          <a:xfrm>
            <a:off x="5686654" y="3304642"/>
            <a:ext cx="57378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1985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bob 1984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charles 1992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Name: birthyear, dtype: int64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94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9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7" name="Google Shape;2697;p9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8" name="Google Shape;2698;p95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9" name="Google Shape;2699;p95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2700" name="Google Shape;2700;p95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1" name="Google Shape;2701;p95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702" name="Google Shape;2702;p95"/>
          <p:cNvSpPr txBox="1"/>
          <p:nvPr/>
        </p:nvSpPr>
        <p:spPr>
          <a:xfrm>
            <a:off x="609905" y="1295705"/>
            <a:ext cx="1108710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Accessing multiple columns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3" name="Google Shape;2703;p9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2649931"/>
            <a:ext cx="45720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4" name="Google Shape;2704;p95"/>
          <p:cNvSpPr txBox="1"/>
          <p:nvPr/>
        </p:nvSpPr>
        <p:spPr>
          <a:xfrm>
            <a:off x="875995" y="2878531"/>
            <a:ext cx="41916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Syntax:</a:t>
            </a:r>
            <a:r>
              <a:rPr lang="en-US" sz="13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Passing a list of column names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95"/>
          <p:cNvSpPr txBox="1"/>
          <p:nvPr/>
        </p:nvSpPr>
        <p:spPr>
          <a:xfrm>
            <a:off x="875995" y="3221431"/>
            <a:ext cx="415320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To select multiple columns, pass a </a:t>
            </a:r>
            <a:r>
              <a:rPr lang="en-US" sz="12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list of strings</a:t>
            </a: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inside the selection brackets.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6" name="Google Shape;2706;p95"/>
          <p:cNvSpPr/>
          <p:nvPr/>
        </p:nvSpPr>
        <p:spPr>
          <a:xfrm>
            <a:off x="609905" y="4212641"/>
            <a:ext cx="4572000" cy="1114654"/>
          </a:xfrm>
          <a:prstGeom prst="roundRect">
            <a:avLst>
              <a:gd name="adj" fmla="val 5609"/>
            </a:avLst>
          </a:prstGeom>
          <a:solidFill>
            <a:srgbClr val="1E293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7" name="Google Shape;2707;p95"/>
          <p:cNvSpPr/>
          <p:nvPr/>
        </p:nvSpPr>
        <p:spPr>
          <a:xfrm>
            <a:off x="838505" y="4669841"/>
            <a:ext cx="4114800" cy="9144"/>
          </a:xfrm>
          <a:prstGeom prst="rect">
            <a:avLst/>
          </a:prstGeom>
          <a:solidFill>
            <a:srgbClr val="4B5563"/>
          </a:solidFill>
          <a:ln w="12700" cap="flat" cmpd="sng">
            <a:solidFill>
              <a:srgbClr val="4B556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8" name="Google Shape;2708;p95"/>
          <p:cNvSpPr/>
          <p:nvPr/>
        </p:nvSpPr>
        <p:spPr>
          <a:xfrm>
            <a:off x="838505" y="4460443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9" name="Google Shape;2709;p95"/>
          <p:cNvSpPr/>
          <p:nvPr/>
        </p:nvSpPr>
        <p:spPr>
          <a:xfrm>
            <a:off x="1028700" y="4460443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95"/>
          <p:cNvSpPr/>
          <p:nvPr/>
        </p:nvSpPr>
        <p:spPr>
          <a:xfrm>
            <a:off x="1218895" y="4460443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95"/>
          <p:cNvSpPr txBox="1"/>
          <p:nvPr/>
        </p:nvSpPr>
        <p:spPr>
          <a:xfrm>
            <a:off x="1410005" y="4441241"/>
            <a:ext cx="905256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Python Input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2" name="Google Shape;2712;p95"/>
          <p:cNvSpPr txBox="1"/>
          <p:nvPr/>
        </p:nvSpPr>
        <p:spPr>
          <a:xfrm>
            <a:off x="838505" y="4831690"/>
            <a:ext cx="422910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people[[</a:t>
            </a:r>
            <a:r>
              <a:rPr lang="en-US" sz="1500" b="0" i="0" u="none" strike="noStrike" cap="non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5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"hobby"</a:t>
            </a:r>
            <a:r>
              <a:rPr lang="en-US" sz="15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]]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3" name="Google Shape;2713;p95" descr="preencoded.png"/>
          <p:cNvPicPr preferRelativeResize="0"/>
          <p:nvPr/>
        </p:nvPicPr>
        <p:blipFill rotWithShape="1">
          <a:blip r:embed="rId8">
            <a:alphaModFix amt="66000"/>
          </a:blip>
          <a:srcRect l="-743" r="-742"/>
          <a:stretch/>
        </p:blipFill>
        <p:spPr>
          <a:xfrm>
            <a:off x="2743200" y="5631790"/>
            <a:ext cx="30449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4" name="Google Shape;2714;p95"/>
          <p:cNvSpPr txBox="1"/>
          <p:nvPr/>
        </p:nvSpPr>
        <p:spPr>
          <a:xfrm>
            <a:off x="6248095" y="2938882"/>
            <a:ext cx="1410005" cy="247802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Output DataFrame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5" name="Google Shape;2715;p95"/>
          <p:cNvGraphicFramePr/>
          <p:nvPr/>
        </p:nvGraphicFramePr>
        <p:xfrm>
          <a:off x="6096305" y="3053182"/>
          <a:ext cx="5467200" cy="220100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1800450"/>
                <a:gridCol w="1896475"/>
                <a:gridCol w="1770275"/>
              </a:tblGrid>
              <a:tr h="55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birthyear</a:t>
                      </a: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8A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E3A8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hobby</a:t>
                      </a: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5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1985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Biking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CBD5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5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1984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Dancing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550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1992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i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16" name="Google Shape;2716;p95"/>
          <p:cNvSpPr txBox="1"/>
          <p:nvPr/>
        </p:nvSpPr>
        <p:spPr>
          <a:xfrm>
            <a:off x="6038698" y="5405018"/>
            <a:ext cx="5600700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1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Notice the order of columns follows the list provided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7" name="Google Shape;2717;p9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89927" y="543153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718" name="Google Shape;2718;p95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p9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5" name="Google Shape;2725;p9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726" name="Google Shape;2726;p9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7" name="Google Shape;2727;p9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728" name="Google Shape;2728;p9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9" name="Google Shape;2729;p9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0" name="Google Shape;2730;p96" descr="preencoded.png"/>
          <p:cNvPicPr preferRelativeResize="0"/>
          <p:nvPr/>
        </p:nvPicPr>
        <p:blipFill rotWithShape="1">
          <a:blip r:embed="rId6">
            <a:alphaModFix/>
          </a:blip>
          <a:srcRect l="-3" r="-3"/>
          <a:stretch/>
        </p:blipFill>
        <p:spPr>
          <a:xfrm>
            <a:off x="609905" y="2286000"/>
            <a:ext cx="4381805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1" name="Google Shape;2731;p96"/>
          <p:cNvSpPr txBox="1"/>
          <p:nvPr/>
        </p:nvSpPr>
        <p:spPr>
          <a:xfrm>
            <a:off x="914400" y="2514600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Creating DataFrame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96"/>
          <p:cNvSpPr txBox="1"/>
          <p:nvPr/>
        </p:nvSpPr>
        <p:spPr>
          <a:xfrm>
            <a:off x="914400" y="3010205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Include columns and/or rows and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guarantee order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96"/>
          <p:cNvSpPr txBox="1"/>
          <p:nvPr/>
        </p:nvSpPr>
        <p:spPr>
          <a:xfrm>
            <a:off x="914400" y="3905402"/>
            <a:ext cx="3924605" cy="1239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If you pass columns and/or index lists to the constructor, the DataFrame will contain exactly those columns/rows in the specified order.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4" name="Google Shape;2734;p9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6957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5" name="Google Shape;2735;p96"/>
          <p:cNvSpPr txBox="1"/>
          <p:nvPr/>
        </p:nvSpPr>
        <p:spPr>
          <a:xfrm>
            <a:off x="952805" y="5676595"/>
            <a:ext cx="323057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Missing data will be filled with NaN.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6" name="Google Shape;2736;p96" descr="preencoded.png"/>
          <p:cNvPicPr preferRelativeResize="0"/>
          <p:nvPr/>
        </p:nvPicPr>
        <p:blipFill rotWithShape="1">
          <a:blip r:embed="rId8">
            <a:alphaModFix/>
          </a:blip>
          <a:srcRect t="-4" b="-4"/>
          <a:stretch/>
        </p:blipFill>
        <p:spPr>
          <a:xfrm>
            <a:off x="5447995" y="2176272"/>
            <a:ext cx="6133795" cy="3877056"/>
          </a:xfrm>
          <a:prstGeom prst="rect">
            <a:avLst/>
          </a:prstGeom>
          <a:noFill/>
          <a:ln>
            <a:noFill/>
          </a:ln>
        </p:spPr>
      </p:pic>
      <p:sp>
        <p:nvSpPr>
          <p:cNvPr id="2737" name="Google Shape;2737;p96"/>
          <p:cNvSpPr/>
          <p:nvPr/>
        </p:nvSpPr>
        <p:spPr>
          <a:xfrm>
            <a:off x="5458054" y="218541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96"/>
          <p:cNvSpPr/>
          <p:nvPr/>
        </p:nvSpPr>
        <p:spPr>
          <a:xfrm>
            <a:off x="5458054" y="260512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96"/>
          <p:cNvSpPr/>
          <p:nvPr/>
        </p:nvSpPr>
        <p:spPr>
          <a:xfrm>
            <a:off x="5609844" y="233812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0" name="Google Shape;2740;p96"/>
          <p:cNvSpPr/>
          <p:nvPr/>
        </p:nvSpPr>
        <p:spPr>
          <a:xfrm>
            <a:off x="5800954" y="233812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1" name="Google Shape;2741;p96"/>
          <p:cNvSpPr/>
          <p:nvPr/>
        </p:nvSpPr>
        <p:spPr>
          <a:xfrm>
            <a:off x="5991149" y="233812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2" name="Google Shape;2742;p96"/>
          <p:cNvSpPr txBox="1"/>
          <p:nvPr/>
        </p:nvSpPr>
        <p:spPr>
          <a:xfrm>
            <a:off x="6258154" y="229971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96"/>
          <p:cNvSpPr txBox="1"/>
          <p:nvPr/>
        </p:nvSpPr>
        <p:spPr>
          <a:xfrm>
            <a:off x="5686654" y="2842870"/>
            <a:ext cx="5734202" cy="2981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d2 = pd.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DataFrame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people_dict,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500" b="0" i="0" u="none" strike="noStrike" cap="none">
                <a:solidFill>
                  <a:srgbClr val="FDBA74"/>
                </a:solidFill>
                <a:latin typeface="Courier New"/>
                <a:ea typeface="Courier New"/>
                <a:cs typeface="Courier New"/>
                <a:sym typeface="Courier New"/>
              </a:rPr>
              <a:t>columns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"weight"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"height"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500" b="0" i="0" u="none" strike="noStrike" cap="none">
                <a:solidFill>
                  <a:srgbClr val="FDBA74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"eugene"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(d2)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birthyear weight height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bob 1984 83.0 NaN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alice 1985 68.0 NaN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eugene NaN NaN NaN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96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9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51" name="Google Shape;2751;p9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752" name="Google Shape;2752;p97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53" name="Google Shape;2753;p97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754" name="Google Shape;2754;p97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DataFrame - Accessing Rows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5" name="Google Shape;2755;p9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6" name="Google Shape;2756;p97" descr="preencoded.png"/>
          <p:cNvPicPr preferRelativeResize="0"/>
          <p:nvPr/>
        </p:nvPicPr>
        <p:blipFill rotWithShape="1">
          <a:blip r:embed="rId6">
            <a:alphaModFix/>
          </a:blip>
          <a:srcRect t="-2" b="-2"/>
          <a:stretch/>
        </p:blipFill>
        <p:spPr>
          <a:xfrm>
            <a:off x="609905" y="2343607"/>
            <a:ext cx="4381805" cy="1390802"/>
          </a:xfrm>
          <a:prstGeom prst="rect">
            <a:avLst/>
          </a:prstGeom>
          <a:noFill/>
          <a:ln>
            <a:noFill/>
          </a:ln>
        </p:spPr>
      </p:pic>
      <p:sp>
        <p:nvSpPr>
          <p:cNvPr id="2757" name="Google Shape;2757;p97"/>
          <p:cNvSpPr txBox="1"/>
          <p:nvPr/>
        </p:nvSpPr>
        <p:spPr>
          <a:xfrm>
            <a:off x="875995" y="2533802"/>
            <a:ext cx="4038905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 Using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.loc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97"/>
          <p:cNvSpPr txBox="1"/>
          <p:nvPr/>
        </p:nvSpPr>
        <p:spPr>
          <a:xfrm>
            <a:off x="875995" y="2924251"/>
            <a:ext cx="4000500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Access a group of rows and columns by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label(s)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or a boolean array.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9" name="Google Shape;2759;p97" descr="preencoded.png"/>
          <p:cNvPicPr preferRelativeResize="0"/>
          <p:nvPr/>
        </p:nvPicPr>
        <p:blipFill rotWithShape="1">
          <a:blip r:embed="rId7">
            <a:alphaModFix/>
          </a:blip>
          <a:srcRect t="-2" b="-2"/>
          <a:stretch/>
        </p:blipFill>
        <p:spPr>
          <a:xfrm>
            <a:off x="609905" y="3962095"/>
            <a:ext cx="4381805" cy="1390802"/>
          </a:xfrm>
          <a:prstGeom prst="rect">
            <a:avLst/>
          </a:prstGeom>
          <a:noFill/>
          <a:ln>
            <a:noFill/>
          </a:ln>
        </p:spPr>
      </p:pic>
      <p:sp>
        <p:nvSpPr>
          <p:cNvPr id="2760" name="Google Shape;2760;p97"/>
          <p:cNvSpPr txBox="1"/>
          <p:nvPr/>
        </p:nvSpPr>
        <p:spPr>
          <a:xfrm>
            <a:off x="875995" y="4153205"/>
            <a:ext cx="4038905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 Using </a:t>
            </a:r>
            <a:r>
              <a:rPr lang="en-US" sz="1800" b="1" i="0" u="none" strike="noStrike" cap="non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.iloc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1" name="Google Shape;2761;p97"/>
          <p:cNvSpPr txBox="1"/>
          <p:nvPr/>
        </p:nvSpPr>
        <p:spPr>
          <a:xfrm>
            <a:off x="875995" y="4543654"/>
            <a:ext cx="4000500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Purely </a:t>
            </a:r>
            <a:r>
              <a:rPr lang="en-US" sz="15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integer-location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based indexing for selection by position.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2" name="Google Shape;2762;p9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5" y="5676595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763" name="Google Shape;2763;p97"/>
          <p:cNvSpPr txBox="1"/>
          <p:nvPr/>
        </p:nvSpPr>
        <p:spPr>
          <a:xfrm>
            <a:off x="866851" y="5658307"/>
            <a:ext cx="444124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Roboto"/>
              <a:buNone/>
            </a:pPr>
            <a:r>
              <a:rPr lang="en-US" sz="1200" b="0" i="1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Both methods return a Series if a single row is selected.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4" name="Google Shape;2764;p97" descr="preencoded.png"/>
          <p:cNvPicPr preferRelativeResize="0"/>
          <p:nvPr/>
        </p:nvPicPr>
        <p:blipFill rotWithShape="1">
          <a:blip r:embed="rId9">
            <a:alphaModFix/>
          </a:blip>
          <a:srcRect t="-2" b="-2"/>
          <a:stretch/>
        </p:blipFill>
        <p:spPr>
          <a:xfrm>
            <a:off x="5447995" y="2115007"/>
            <a:ext cx="613379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5" name="Google Shape;2765;p97"/>
          <p:cNvSpPr/>
          <p:nvPr/>
        </p:nvSpPr>
        <p:spPr>
          <a:xfrm>
            <a:off x="5458054" y="2124151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6" name="Google Shape;2766;p97"/>
          <p:cNvSpPr/>
          <p:nvPr/>
        </p:nvSpPr>
        <p:spPr>
          <a:xfrm>
            <a:off x="5458054" y="2543861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7" name="Google Shape;2767;p97"/>
          <p:cNvSpPr/>
          <p:nvPr/>
        </p:nvSpPr>
        <p:spPr>
          <a:xfrm>
            <a:off x="5609844" y="227685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8" name="Google Shape;2768;p97"/>
          <p:cNvSpPr/>
          <p:nvPr/>
        </p:nvSpPr>
        <p:spPr>
          <a:xfrm>
            <a:off x="5800954" y="227685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9" name="Google Shape;2769;p97"/>
          <p:cNvSpPr/>
          <p:nvPr/>
        </p:nvSpPr>
        <p:spPr>
          <a:xfrm>
            <a:off x="5991149" y="227685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0" name="Google Shape;2770;p97"/>
          <p:cNvSpPr txBox="1"/>
          <p:nvPr/>
        </p:nvSpPr>
        <p:spPr>
          <a:xfrm>
            <a:off x="6258154" y="2238451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1" name="Google Shape;2771;p97"/>
          <p:cNvSpPr txBox="1"/>
          <p:nvPr/>
        </p:nvSpPr>
        <p:spPr>
          <a:xfrm>
            <a:off x="5686654" y="2781605"/>
            <a:ext cx="5734202" cy="3572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row by label "charles"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people.loc[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"charles"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Accessing row by integer position 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people.iloc[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Output (for both commands):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birthyear 1992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children 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hobby NaN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weight 112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Name: charles, dtype: object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97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9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9" name="Google Shape;2779;p98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0" name="Google Shape;2780;p98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2781" name="Google Shape;2781;p98"/>
          <p:cNvSpPr txBox="1"/>
          <p:nvPr/>
        </p:nvSpPr>
        <p:spPr>
          <a:xfrm>
            <a:off x="609905" y="381305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2" name="Google Shape;2782;p98"/>
          <p:cNvSpPr txBox="1"/>
          <p:nvPr/>
        </p:nvSpPr>
        <p:spPr>
          <a:xfrm>
            <a:off x="609905" y="914400"/>
            <a:ext cx="1108710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Get a slice of rows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3" name="Google Shape;2783;p9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371600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4" name="Google Shape;2784;p98" descr="preencoded.png"/>
          <p:cNvPicPr preferRelativeResize="0"/>
          <p:nvPr/>
        </p:nvPicPr>
        <p:blipFill rotWithShape="1">
          <a:blip r:embed="rId6">
            <a:alphaModFix/>
          </a:blip>
          <a:srcRect l="-14" r="-13"/>
          <a:stretch/>
        </p:blipFill>
        <p:spPr>
          <a:xfrm>
            <a:off x="1828800" y="1828800"/>
            <a:ext cx="8534095" cy="990295"/>
          </a:xfrm>
          <a:prstGeom prst="rect">
            <a:avLst/>
          </a:prstGeom>
          <a:noFill/>
          <a:ln>
            <a:noFill/>
          </a:ln>
        </p:spPr>
      </p:pic>
      <p:sp>
        <p:nvSpPr>
          <p:cNvPr id="2785" name="Google Shape;2785;p98"/>
          <p:cNvSpPr/>
          <p:nvPr/>
        </p:nvSpPr>
        <p:spPr>
          <a:xfrm>
            <a:off x="1828800" y="1828800"/>
            <a:ext cx="38405" cy="990295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98"/>
          <p:cNvSpPr txBox="1"/>
          <p:nvPr/>
        </p:nvSpPr>
        <p:spPr>
          <a:xfrm>
            <a:off x="2286000" y="2057400"/>
            <a:ext cx="7963510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 Python Input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7" name="Google Shape;2787;p98" descr="preencoded.png"/>
          <p:cNvPicPr preferRelativeResize="0"/>
          <p:nvPr/>
        </p:nvPicPr>
        <p:blipFill rotWithShape="1">
          <a:blip r:embed="rId7">
            <a:alphaModFix/>
          </a:blip>
          <a:srcRect l="-837" r="-837"/>
          <a:stretch/>
        </p:blipFill>
        <p:spPr>
          <a:xfrm>
            <a:off x="2057400" y="2085746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788" name="Google Shape;2788;p98"/>
          <p:cNvSpPr txBox="1"/>
          <p:nvPr/>
        </p:nvSpPr>
        <p:spPr>
          <a:xfrm>
            <a:off x="2057400" y="2324405"/>
            <a:ext cx="81921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people.iloc[</a:t>
            </a:r>
            <a:r>
              <a:rPr lang="en-US" sz="1500" b="0" i="0" u="none" strike="noStrike" cap="non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500" b="0" i="0" u="none" strike="noStrike" cap="non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9" name="Google Shape;2789;p98" descr="preencoded.png"/>
          <p:cNvPicPr preferRelativeResize="0"/>
          <p:nvPr/>
        </p:nvPicPr>
        <p:blipFill rotWithShape="1">
          <a:blip r:embed="rId8">
            <a:alphaModFix/>
          </a:blip>
          <a:srcRect t="-44" b="-45"/>
          <a:stretch/>
        </p:blipFill>
        <p:spPr>
          <a:xfrm>
            <a:off x="5967374" y="3099816"/>
            <a:ext cx="256946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0" name="Google Shape;2790;p98" descr="preencoded.png"/>
          <p:cNvPicPr preferRelativeResize="0"/>
          <p:nvPr/>
        </p:nvPicPr>
        <p:blipFill rotWithShape="1">
          <a:blip r:embed="rId9">
            <a:alphaModFix/>
          </a:blip>
          <a:srcRect l="-11" r="-11"/>
          <a:stretch/>
        </p:blipFill>
        <p:spPr>
          <a:xfrm>
            <a:off x="1218895" y="3810305"/>
            <a:ext cx="9753905" cy="17007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91" name="Google Shape;2791;p98"/>
          <p:cNvGraphicFramePr/>
          <p:nvPr/>
        </p:nvGraphicFramePr>
        <p:xfrm>
          <a:off x="1257300" y="3847795"/>
          <a:ext cx="9658825" cy="162945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1922075"/>
                <a:gridCol w="2133300"/>
                <a:gridCol w="1963225"/>
                <a:gridCol w="1902875"/>
                <a:gridCol w="1737350"/>
              </a:tblGrid>
              <a:tr h="543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birthyear</a:t>
                      </a: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children</a:t>
                      </a: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hobby</a:t>
                      </a: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Poppins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weight</a:t>
                      </a:r>
                      <a:endParaRPr sz="12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43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1984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Dancing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43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1992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40"/>
                        <a:buFont typeface="Roboto Mono"/>
                        <a:buNone/>
                      </a:pPr>
                      <a:r>
                        <a:rPr lang="en-US" sz="1140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112</a:t>
                      </a:r>
                      <a:endParaRPr sz="114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792" name="Google Shape;2792;p98"/>
          <p:cNvSpPr/>
          <p:nvPr/>
        </p:nvSpPr>
        <p:spPr>
          <a:xfrm>
            <a:off x="1218895" y="5739689"/>
            <a:ext cx="9753905" cy="1133856"/>
          </a:xfrm>
          <a:prstGeom prst="roundRect">
            <a:avLst>
              <a:gd name="adj" fmla="val 5422"/>
            </a:avLst>
          </a:prstGeom>
          <a:solidFill>
            <a:srgbClr val="EFF6FF"/>
          </a:solidFill>
          <a:ln w="12700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3" name="Google Shape;2793;p98" descr="preencoded.png"/>
          <p:cNvPicPr preferRelativeResize="0"/>
          <p:nvPr/>
        </p:nvPicPr>
        <p:blipFill rotWithShape="1">
          <a:blip r:embed="rId10">
            <a:alphaModFix/>
          </a:blip>
          <a:srcRect l="-989999" r="-989999"/>
          <a:stretch/>
        </p:blipFill>
        <p:spPr>
          <a:xfrm>
            <a:off x="1380744" y="6130138"/>
            <a:ext cx="190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794" name="Google Shape;2794;p98"/>
          <p:cNvSpPr txBox="1"/>
          <p:nvPr/>
        </p:nvSpPr>
        <p:spPr>
          <a:xfrm>
            <a:off x="1723644" y="5901538"/>
            <a:ext cx="92016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Row Slicing with .iloc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98"/>
          <p:cNvSpPr txBox="1"/>
          <p:nvPr/>
        </p:nvSpPr>
        <p:spPr>
          <a:xfrm>
            <a:off x="1723644" y="6206033"/>
            <a:ext cx="9163202" cy="50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 The slicing operation </a:t>
            </a:r>
            <a:r>
              <a:rPr lang="en-US" sz="1200" b="0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1:3</a:t>
            </a:r>
            <a:r>
              <a:rPr lang="en-US" sz="12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 follows standard Python slicing rules: it starts at index </a:t>
            </a:r>
            <a:r>
              <a:rPr lang="en-US" sz="1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-US" sz="12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 (inclusive) and stops before index </a:t>
            </a:r>
            <a:r>
              <a:rPr lang="en-US" sz="1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en-US" sz="1200" b="0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 (exclusive). Thus, it retrieves rows at integer positions 1 and 2.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6" name="Google Shape;2796;p98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p9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3" name="Google Shape;2803;p9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4" name="Google Shape;2804;p99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5" name="Google Shape;2805;p99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2806" name="Google Shape;2806;p99"/>
          <p:cNvSpPr txBox="1"/>
          <p:nvPr/>
        </p:nvSpPr>
        <p:spPr>
          <a:xfrm>
            <a:off x="609905" y="457200"/>
            <a:ext cx="1244407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Pandas - DataFrame Objects </a:t>
            </a:r>
            <a:r>
              <a:rPr lang="en-US" sz="36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Pass boolean array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7" name="Google Shape;2807;p99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1814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8" name="Google Shape;2808;p99" descr="preencoded.png"/>
          <p:cNvPicPr preferRelativeResize="0"/>
          <p:nvPr/>
        </p:nvPicPr>
        <p:blipFill rotWithShape="1">
          <a:blip r:embed="rId7">
            <a:alphaModFix/>
          </a:blip>
          <a:srcRect l="-6" r="-5"/>
          <a:stretch/>
        </p:blipFill>
        <p:spPr>
          <a:xfrm>
            <a:off x="1828800" y="1790395"/>
            <a:ext cx="8534095" cy="1009498"/>
          </a:xfrm>
          <a:prstGeom prst="rect">
            <a:avLst/>
          </a:prstGeom>
          <a:noFill/>
          <a:ln>
            <a:noFill/>
          </a:ln>
        </p:spPr>
      </p:pic>
      <p:sp>
        <p:nvSpPr>
          <p:cNvPr id="2809" name="Google Shape;2809;p99"/>
          <p:cNvSpPr txBox="1"/>
          <p:nvPr/>
        </p:nvSpPr>
        <p:spPr>
          <a:xfrm>
            <a:off x="2104949" y="2018995"/>
            <a:ext cx="8144561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Filter rows using a boolean array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0" name="Google Shape;2810;p99"/>
          <p:cNvSpPr txBox="1"/>
          <p:nvPr/>
        </p:nvSpPr>
        <p:spPr>
          <a:xfrm>
            <a:off x="2104949" y="2286000"/>
            <a:ext cx="8144561" cy="28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&gt;&gt; people[np.array([True, False, True])]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99"/>
          <p:cNvSpPr txBox="1"/>
          <p:nvPr/>
        </p:nvSpPr>
        <p:spPr>
          <a:xfrm>
            <a:off x="552298" y="3258007"/>
            <a:ext cx="49441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lang="en-US" sz="1200" b="1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Original DataFrame + Mask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2" name="Google Shape;2812;p99"/>
          <p:cNvGraphicFramePr/>
          <p:nvPr/>
        </p:nvGraphicFramePr>
        <p:xfrm>
          <a:off x="609905" y="3638398"/>
          <a:ext cx="4784150" cy="196230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1128375"/>
                <a:gridCol w="1375250"/>
                <a:gridCol w="1128375"/>
                <a:gridCol w="1152150"/>
              </a:tblGrid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INDEX</a:t>
                      </a:r>
                      <a:endParaRPr sz="105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BIRTHYEAR</a:t>
                      </a:r>
                      <a:endParaRPr sz="105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HOBBY</a:t>
                      </a:r>
                      <a:endParaRPr sz="105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47556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MASK</a:t>
                      </a:r>
                      <a:endParaRPr sz="105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1985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Biking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Roboto Mono"/>
                        <a:buNone/>
                      </a:pPr>
                      <a:r>
                        <a:rPr lang="en-US" sz="960" b="1" u="none" strike="noStrike" cap="non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1200" u="none" strike="noStrike" cap="none"/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1984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Dancing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Roboto Mono"/>
                        <a:buNone/>
                      </a:pPr>
                      <a:r>
                        <a:rPr lang="en-US" sz="960" b="1" u="none" strike="noStrike" cap="non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 sz="1200" u="none" strike="noStrike" cap="none"/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90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1992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60"/>
                        <a:buFont typeface="Roboto Mono"/>
                        <a:buNone/>
                      </a:pPr>
                      <a:r>
                        <a:rPr lang="en-US" sz="960" b="1" u="none" strike="noStrike" cap="none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1200" u="none" strike="noStrike" cap="none"/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813" name="Google Shape;2813;p99" descr="preencoded.png"/>
          <p:cNvPicPr preferRelativeResize="0"/>
          <p:nvPr/>
        </p:nvPicPr>
        <p:blipFill rotWithShape="1">
          <a:blip r:embed="rId8">
            <a:alphaModFix amt="87000"/>
          </a:blip>
          <a:srcRect l="-743" r="-742"/>
          <a:stretch/>
        </p:blipFill>
        <p:spPr>
          <a:xfrm>
            <a:off x="5943600" y="4122115"/>
            <a:ext cx="30449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4" name="Google Shape;2814;p99"/>
          <p:cNvSpPr txBox="1"/>
          <p:nvPr/>
        </p:nvSpPr>
        <p:spPr>
          <a:xfrm>
            <a:off x="5888736" y="4541825"/>
            <a:ext cx="499262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Poppins"/>
              <a:buNone/>
            </a:pPr>
            <a:r>
              <a:rPr lang="en-US" sz="1000" b="1" i="0" u="none" strike="noStrike" cap="none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FILTER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99"/>
          <p:cNvSpPr txBox="1"/>
          <p:nvPr/>
        </p:nvSpPr>
        <p:spPr>
          <a:xfrm>
            <a:off x="6703466" y="3387852"/>
            <a:ext cx="494416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Poppins"/>
              <a:buNone/>
            </a:pPr>
            <a:r>
              <a:rPr lang="en-US" sz="12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Filtered Result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6" name="Google Shape;2816;p99"/>
          <p:cNvSpPr/>
          <p:nvPr/>
        </p:nvSpPr>
        <p:spPr>
          <a:xfrm>
            <a:off x="6721754" y="3730752"/>
            <a:ext cx="4905756" cy="1438351"/>
          </a:xfrm>
          <a:prstGeom prst="roundRect">
            <a:avLst>
              <a:gd name="adj" fmla="val 3368"/>
            </a:avLst>
          </a:prstGeom>
          <a:solidFill>
            <a:srgbClr val="DBEAFE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7" name="Google Shape;2817;p99"/>
          <p:cNvSpPr txBox="1"/>
          <p:nvPr/>
        </p:nvSpPr>
        <p:spPr>
          <a:xfrm>
            <a:off x="6703466" y="5276088"/>
            <a:ext cx="4944161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Poppins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Only rows corresponding to </a:t>
            </a:r>
            <a:r>
              <a:rPr lang="en-US" sz="1000" b="1" i="0" u="none" strike="noStrike" cap="none">
                <a:solidFill>
                  <a:srgbClr val="059669"/>
                </a:solidFill>
                <a:latin typeface="Poppins"/>
                <a:ea typeface="Poppins"/>
                <a:cs typeface="Poppins"/>
                <a:sym typeface="Poppins"/>
              </a:rPr>
              <a:t>True</a:t>
            </a:r>
            <a:r>
              <a:rPr lang="en-US" sz="1000" b="0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 values are kept.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8" name="Google Shape;2818;p99"/>
          <p:cNvSpPr txBox="1"/>
          <p:nvPr/>
        </p:nvSpPr>
        <p:spPr>
          <a:xfrm>
            <a:off x="11716207" y="6400800"/>
            <a:ext cx="24780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99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19" name="Google Shape;2819;p99"/>
          <p:cNvGraphicFramePr/>
          <p:nvPr/>
        </p:nvGraphicFramePr>
        <p:xfrm>
          <a:off x="6760159" y="3769157"/>
          <a:ext cx="4785050" cy="136245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1530700"/>
                <a:gridCol w="1866300"/>
                <a:gridCol w="1388050"/>
              </a:tblGrid>
              <a:tr h="454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40A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INDEX</a:t>
                      </a:r>
                      <a:endParaRPr sz="105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40A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BIRTHYEAR</a:t>
                      </a:r>
                      <a:endParaRPr sz="105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050"/>
                        <a:buFont typeface="Roboto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40A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HOBBY</a:t>
                      </a:r>
                      <a:endParaRPr sz="1050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</a:tr>
              <a:tr h="454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1985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Biking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54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1992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p10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6" name="Google Shape;2826;p10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7" name="Google Shape;2827;p100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8" name="Google Shape;2828;p100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2829" name="Google Shape;2829;p100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0" name="Google Shape;2830;p10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1814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831" name="Google Shape;2831;p100"/>
          <p:cNvSpPr txBox="1"/>
          <p:nvPr/>
        </p:nvSpPr>
        <p:spPr>
          <a:xfrm>
            <a:off x="1676095" y="1067105"/>
            <a:ext cx="3049524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Pass boolean expression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2" name="Google Shape;2832;p100"/>
          <p:cNvSpPr txBox="1"/>
          <p:nvPr/>
        </p:nvSpPr>
        <p:spPr>
          <a:xfrm>
            <a:off x="1218895" y="1752905"/>
            <a:ext cx="1043970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We can filter rows directly by passing a boolean expression (condition) inside the brackets.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3" name="Google Shape;2833;p100" descr="preencoded.png"/>
          <p:cNvPicPr preferRelativeResize="0"/>
          <p:nvPr/>
        </p:nvPicPr>
        <p:blipFill rotWithShape="1">
          <a:blip r:embed="rId7">
            <a:alphaModFix/>
          </a:blip>
          <a:srcRect l="-11" r="-11"/>
          <a:stretch/>
        </p:blipFill>
        <p:spPr>
          <a:xfrm>
            <a:off x="1218895" y="2247595"/>
            <a:ext cx="9753905" cy="1033272"/>
          </a:xfrm>
          <a:prstGeom prst="rect">
            <a:avLst/>
          </a:prstGeom>
          <a:noFill/>
          <a:ln>
            <a:noFill/>
          </a:ln>
        </p:spPr>
      </p:pic>
      <p:sp>
        <p:nvSpPr>
          <p:cNvPr id="2834" name="Google Shape;2834;p100"/>
          <p:cNvSpPr txBox="1"/>
          <p:nvPr/>
        </p:nvSpPr>
        <p:spPr>
          <a:xfrm>
            <a:off x="1723644" y="2476195"/>
            <a:ext cx="91348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 Python Input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5" name="Google Shape;2835;p100" descr="preencoded.png"/>
          <p:cNvPicPr preferRelativeResize="0"/>
          <p:nvPr/>
        </p:nvPicPr>
        <p:blipFill rotWithShape="1">
          <a:blip r:embed="rId8">
            <a:alphaModFix/>
          </a:blip>
          <a:srcRect l="-837" r="-837"/>
          <a:stretch/>
        </p:blipFill>
        <p:spPr>
          <a:xfrm>
            <a:off x="1495044" y="2505456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36" name="Google Shape;2836;p100"/>
          <p:cNvSpPr txBox="1"/>
          <p:nvPr/>
        </p:nvSpPr>
        <p:spPr>
          <a:xfrm>
            <a:off x="1495044" y="2743200"/>
            <a:ext cx="9363456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people[people[</a:t>
            </a:r>
            <a:r>
              <a:rPr lang="en-US" sz="1500" b="0" i="0" u="none" strike="noStrike" cap="non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&lt; </a:t>
            </a:r>
            <a:r>
              <a:rPr lang="en-US" sz="1500" b="0" i="0" u="none" strike="noStrike" cap="non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1990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100"/>
          <p:cNvSpPr txBox="1"/>
          <p:nvPr/>
        </p:nvSpPr>
        <p:spPr>
          <a:xfrm>
            <a:off x="1447495" y="3890772"/>
            <a:ext cx="96396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Poppins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 Output DataFrame (Filtered)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8" name="Google Shape;2838;p10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18895" y="3929177"/>
            <a:ext cx="152705" cy="1527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9" name="Google Shape;2839;p100"/>
          <p:cNvGraphicFramePr/>
          <p:nvPr/>
        </p:nvGraphicFramePr>
        <p:xfrm>
          <a:off x="1218895" y="4272077"/>
          <a:ext cx="9734700" cy="163860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1636775"/>
                <a:gridCol w="2267700"/>
                <a:gridCol w="2104950"/>
                <a:gridCol w="1943100"/>
                <a:gridCol w="1782175"/>
              </a:tblGrid>
              <a:tr h="546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birthyear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children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hobby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weight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E40A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1985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Biking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546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E40A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1984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Dancing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228600" marR="2286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840" name="Google Shape;2840;p100" descr="preencoded.png"/>
          <p:cNvPicPr preferRelativeResize="0"/>
          <p:nvPr/>
        </p:nvPicPr>
        <p:blipFill rotWithShape="1">
          <a:blip r:embed="rId10">
            <a:alphaModFix/>
          </a:blip>
          <a:srcRect t="-17" b="-16"/>
          <a:stretch/>
        </p:blipFill>
        <p:spPr>
          <a:xfrm>
            <a:off x="7066483" y="6062472"/>
            <a:ext cx="3906317" cy="362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1" name="Google Shape;2841;p100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28332" y="6176772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842" name="Google Shape;2842;p100"/>
          <p:cNvSpPr txBox="1"/>
          <p:nvPr/>
        </p:nvSpPr>
        <p:spPr>
          <a:xfrm>
            <a:off x="7438644" y="6062472"/>
            <a:ext cx="3458261" cy="362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B91C1C"/>
                </a:solidFill>
                <a:latin typeface="Roboto"/>
                <a:ea typeface="Roboto"/>
                <a:cs typeface="Roboto"/>
                <a:sym typeface="Roboto"/>
              </a:rPr>
              <a:t>Row </a:t>
            </a:r>
            <a:r>
              <a:rPr lang="en-US" sz="1000" b="1" i="0" u="none" strike="noStrike" cap="none">
                <a:solidFill>
                  <a:srgbClr val="B91C1C"/>
                </a:solidFill>
                <a:latin typeface="Roboto"/>
                <a:ea typeface="Roboto"/>
                <a:cs typeface="Roboto"/>
                <a:sym typeface="Roboto"/>
              </a:rPr>
              <a:t>"charles"</a:t>
            </a:r>
            <a:r>
              <a:rPr lang="en-US" sz="1000" b="0" i="0" u="none" strike="noStrike" cap="none">
                <a:solidFill>
                  <a:srgbClr val="B91C1C"/>
                </a:solidFill>
                <a:latin typeface="Roboto"/>
                <a:ea typeface="Roboto"/>
                <a:cs typeface="Roboto"/>
                <a:sym typeface="Roboto"/>
              </a:rPr>
              <a:t> (1992) was removed because 1992 ≮ 1990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100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10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50" name="Google Shape;2850;p10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851" name="Google Shape;2851;p10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52" name="Google Shape;2852;p101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853" name="Google Shape;2853;p101"/>
          <p:cNvSpPr txBox="1"/>
          <p:nvPr/>
        </p:nvSpPr>
        <p:spPr>
          <a:xfrm>
            <a:off x="609905" y="381305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4" name="Google Shape;2854;p10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14400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5" name="Google Shape;2855;p101" descr="preencoded.png"/>
          <p:cNvPicPr preferRelativeResize="0"/>
          <p:nvPr/>
        </p:nvPicPr>
        <p:blipFill rotWithShape="1">
          <a:blip r:embed="rId6">
            <a:alphaModFix/>
          </a:blip>
          <a:srcRect l="-9" r="-8"/>
          <a:stretch/>
        </p:blipFill>
        <p:spPr>
          <a:xfrm>
            <a:off x="609905" y="2145182"/>
            <a:ext cx="4381805" cy="2566721"/>
          </a:xfrm>
          <a:prstGeom prst="rect">
            <a:avLst/>
          </a:prstGeom>
          <a:noFill/>
          <a:ln>
            <a:noFill/>
          </a:ln>
        </p:spPr>
      </p:pic>
      <p:sp>
        <p:nvSpPr>
          <p:cNvPr id="2856" name="Google Shape;2856;p101"/>
          <p:cNvSpPr txBox="1"/>
          <p:nvPr/>
        </p:nvSpPr>
        <p:spPr>
          <a:xfrm>
            <a:off x="914400" y="2373782"/>
            <a:ext cx="39630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Poppins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Adding &amp; Removing Columns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7" name="Google Shape;2857;p101"/>
          <p:cNvSpPr txBox="1"/>
          <p:nvPr/>
        </p:nvSpPr>
        <p:spPr>
          <a:xfrm>
            <a:off x="914400" y="2793492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DataFrames are mutable. You can easily add new calculated columns or remove existing ones using Python syntax.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101"/>
          <p:cNvSpPr txBox="1"/>
          <p:nvPr/>
        </p:nvSpPr>
        <p:spPr>
          <a:xfrm>
            <a:off x="1162202" y="3874313"/>
            <a:ext cx="37152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Assign new keys to add columns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9" name="Google Shape;2859;p10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91271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60" name="Google Shape;2860;p101"/>
          <p:cNvSpPr txBox="1"/>
          <p:nvPr/>
        </p:nvSpPr>
        <p:spPr>
          <a:xfrm>
            <a:off x="1162202" y="4217213"/>
            <a:ext cx="37152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-US" sz="1000" b="0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pop()</a:t>
            </a: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-US" sz="1000" b="0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del</a:t>
            </a: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to remove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1" name="Google Shape;2861;p10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425561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62" name="Google Shape;2862;p101"/>
          <p:cNvSpPr/>
          <p:nvPr/>
        </p:nvSpPr>
        <p:spPr>
          <a:xfrm>
            <a:off x="609905" y="4941418"/>
            <a:ext cx="4381805" cy="761695"/>
          </a:xfrm>
          <a:prstGeom prst="roundRect">
            <a:avLst>
              <a:gd name="adj" fmla="val 12005"/>
            </a:avLst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3" name="Google Shape;2863;p101" descr="preencoded.png"/>
          <p:cNvPicPr preferRelativeResize="0"/>
          <p:nvPr/>
        </p:nvPicPr>
        <p:blipFill rotWithShape="1">
          <a:blip r:embed="rId9">
            <a:alphaModFix/>
          </a:blip>
          <a:srcRect l="-133" r="-133"/>
          <a:stretch/>
        </p:blipFill>
        <p:spPr>
          <a:xfrm>
            <a:off x="761695" y="5207508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4" name="Google Shape;2864;p101"/>
          <p:cNvSpPr txBox="1"/>
          <p:nvPr/>
        </p:nvSpPr>
        <p:spPr>
          <a:xfrm>
            <a:off x="1086307" y="4941418"/>
            <a:ext cx="3829507" cy="7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Tip: Calculated columns can use boolean logic to create True/False flags.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5" name="Google Shape;2865;p101" descr="preencoded.png"/>
          <p:cNvPicPr preferRelativeResize="0"/>
          <p:nvPr/>
        </p:nvPicPr>
        <p:blipFill rotWithShape="1">
          <a:blip r:embed="rId10">
            <a:alphaModFix/>
          </a:blip>
          <a:srcRect t="-2" b="-2"/>
          <a:stretch/>
        </p:blipFill>
        <p:spPr>
          <a:xfrm>
            <a:off x="5447995" y="1295705"/>
            <a:ext cx="6133795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6" name="Google Shape;2866;p101"/>
          <p:cNvSpPr/>
          <p:nvPr/>
        </p:nvSpPr>
        <p:spPr>
          <a:xfrm>
            <a:off x="5458054" y="1304849"/>
            <a:ext cx="6115507" cy="352044"/>
          </a:xfrm>
          <a:prstGeom prst="roundRect">
            <a:avLst>
              <a:gd name="adj" fmla="val 8424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7" name="Google Shape;2867;p101"/>
          <p:cNvSpPr/>
          <p:nvPr/>
        </p:nvSpPr>
        <p:spPr>
          <a:xfrm>
            <a:off x="5458054" y="1647749"/>
            <a:ext cx="6115507" cy="9144"/>
          </a:xfrm>
          <a:prstGeom prst="roundRect">
            <a:avLst>
              <a:gd name="adj" fmla="val 3243243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8" name="Google Shape;2868;p101"/>
          <p:cNvSpPr/>
          <p:nvPr/>
        </p:nvSpPr>
        <p:spPr>
          <a:xfrm>
            <a:off x="5609844" y="1419149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9" name="Google Shape;2869;p101"/>
          <p:cNvSpPr/>
          <p:nvPr/>
        </p:nvSpPr>
        <p:spPr>
          <a:xfrm>
            <a:off x="5800954" y="1419149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0" name="Google Shape;2870;p101"/>
          <p:cNvSpPr/>
          <p:nvPr/>
        </p:nvSpPr>
        <p:spPr>
          <a:xfrm>
            <a:off x="5991149" y="1419149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1" name="Google Shape;2871;p101"/>
          <p:cNvSpPr txBox="1"/>
          <p:nvPr/>
        </p:nvSpPr>
        <p:spPr>
          <a:xfrm>
            <a:off x="6258154" y="138074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101"/>
          <p:cNvSpPr txBox="1"/>
          <p:nvPr/>
        </p:nvSpPr>
        <p:spPr>
          <a:xfrm>
            <a:off x="5648249" y="1848002"/>
            <a:ext cx="5811012" cy="28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Adds a new column "age"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2016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- people[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Adds another column "over 30"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"over 30"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= people[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&gt; </a:t>
            </a:r>
            <a:r>
              <a:rPr lang="en-US" sz="13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Removes "birthyear" and "children" columns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87171"/>
                </a:solidFill>
                <a:latin typeface="Courier New"/>
                <a:ea typeface="Courier New"/>
                <a:cs typeface="Courier New"/>
                <a:sym typeface="Courier New"/>
              </a:rPr>
              <a:t>birthyears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people.</a:t>
            </a:r>
            <a:r>
              <a:rPr lang="en-US" sz="13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pop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del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people[</a:t>
            </a:r>
            <a:r>
              <a:rPr lang="en-US" sz="13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"children"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3" name="Google Shape;2873;p101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Google Shape;2879;p10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80" name="Google Shape;2880;p10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1" name="Google Shape;2881;p10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2" name="Google Shape;2882;p102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2883" name="Google Shape;2883;p10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4" name="Google Shape;2884;p102"/>
          <p:cNvSpPr txBox="1"/>
          <p:nvPr/>
        </p:nvSpPr>
        <p:spPr>
          <a:xfrm>
            <a:off x="609905" y="990295"/>
            <a:ext cx="1108710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800"/>
              <a:buFont typeface="Poppins"/>
              <a:buNone/>
            </a:pPr>
            <a:r>
              <a:rPr lang="en-US" sz="1800" b="0" i="0" u="none" strike="noStrike" cap="none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Alignment: New column must match index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5" name="Google Shape;2885;p10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4474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6" name="Google Shape;2886;p102" descr="preencoded.png"/>
          <p:cNvPicPr preferRelativeResize="0"/>
          <p:nvPr/>
        </p:nvPicPr>
        <p:blipFill rotWithShape="1">
          <a:blip r:embed="rId7">
            <a:alphaModFix/>
          </a:blip>
          <a:srcRect l="-9" r="-10"/>
          <a:stretch/>
        </p:blipFill>
        <p:spPr>
          <a:xfrm>
            <a:off x="609905" y="2266798"/>
            <a:ext cx="3551530" cy="2133295"/>
          </a:xfrm>
          <a:prstGeom prst="rect">
            <a:avLst/>
          </a:prstGeom>
          <a:noFill/>
          <a:ln>
            <a:noFill/>
          </a:ln>
        </p:spPr>
      </p:pic>
      <p:sp>
        <p:nvSpPr>
          <p:cNvPr id="2887" name="Google Shape;2887;p102"/>
          <p:cNvSpPr txBox="1"/>
          <p:nvPr/>
        </p:nvSpPr>
        <p:spPr>
          <a:xfrm>
            <a:off x="875995" y="2495398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Adding "pets" column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102"/>
          <p:cNvSpPr txBox="1"/>
          <p:nvPr/>
        </p:nvSpPr>
        <p:spPr>
          <a:xfrm>
            <a:off x="875995" y="2838298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people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["pets"]</a:t>
            </a:r>
            <a:r>
              <a:rPr lang="en-US" sz="1300" b="0" i="0" u="none" strike="noStrike" cap="non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300" b="0" i="0" u="none" strike="noStrike" cap="non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pd.Series</a:t>
            </a:r>
            <a:r>
              <a:rPr lang="en-US" sz="1300" b="0" i="0" u="none" strike="noStrike" cap="non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({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102"/>
          <p:cNvSpPr txBox="1"/>
          <p:nvPr/>
        </p:nvSpPr>
        <p:spPr>
          <a:xfrm>
            <a:off x="1028700" y="3105302"/>
            <a:ext cx="302026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: 0,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0" name="Google Shape;2890;p102"/>
          <p:cNvSpPr txBox="1"/>
          <p:nvPr/>
        </p:nvSpPr>
        <p:spPr>
          <a:xfrm>
            <a:off x="1028700" y="3372307"/>
            <a:ext cx="302026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"charles"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: 5,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102"/>
          <p:cNvSpPr txBox="1"/>
          <p:nvPr/>
        </p:nvSpPr>
        <p:spPr>
          <a:xfrm>
            <a:off x="1028700" y="3638398"/>
            <a:ext cx="302026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6EE7B7"/>
                </a:solidFill>
                <a:latin typeface="Courier New"/>
                <a:ea typeface="Courier New"/>
                <a:cs typeface="Courier New"/>
                <a:sym typeface="Courier New"/>
              </a:rPr>
              <a:t>"eugene"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: 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2" name="Google Shape;2892;p102"/>
          <p:cNvSpPr txBox="1"/>
          <p:nvPr/>
        </p:nvSpPr>
        <p:spPr>
          <a:xfrm>
            <a:off x="875995" y="3905402"/>
            <a:ext cx="31720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3" name="Google Shape;2893;p102" descr="preencoded.png"/>
          <p:cNvPicPr preferRelativeResize="0"/>
          <p:nvPr/>
        </p:nvPicPr>
        <p:blipFill rotWithShape="1">
          <a:blip r:embed="rId8">
            <a:alphaModFix/>
          </a:blip>
          <a:srcRect l="-3" r="-3"/>
          <a:stretch/>
        </p:blipFill>
        <p:spPr>
          <a:xfrm>
            <a:off x="609905" y="4705502"/>
            <a:ext cx="355153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4" name="Google Shape;2894;p102"/>
          <p:cNvSpPr txBox="1"/>
          <p:nvPr/>
        </p:nvSpPr>
        <p:spPr>
          <a:xfrm>
            <a:off x="838505" y="4895698"/>
            <a:ext cx="324886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Poppins"/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Poppins"/>
                <a:ea typeface="Poppins"/>
                <a:cs typeface="Poppins"/>
                <a:sym typeface="Poppins"/>
              </a:rPr>
              <a:t>Alignment Rules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102"/>
          <p:cNvSpPr txBox="1"/>
          <p:nvPr/>
        </p:nvSpPr>
        <p:spPr>
          <a:xfrm>
            <a:off x="1067105" y="5238598"/>
            <a:ext cx="302026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Missing in Series:</a:t>
            </a:r>
            <a:r>
              <a:rPr lang="en-US" sz="1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Row gets </a:t>
            </a:r>
            <a:r>
              <a:rPr lang="en-US" sz="10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6" name="Google Shape;2896;p10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505" y="52770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897" name="Google Shape;2897;p102"/>
          <p:cNvSpPr txBox="1"/>
          <p:nvPr/>
        </p:nvSpPr>
        <p:spPr>
          <a:xfrm>
            <a:off x="1067105" y="5544007"/>
            <a:ext cx="34518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Not in DataFrame:</a:t>
            </a:r>
            <a:r>
              <a:rPr lang="en-US" sz="1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Extra data is ignored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8" name="Google Shape;2898;p102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505" y="5581498"/>
            <a:ext cx="152705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9" name="Google Shape;2899;p102" descr="preencoded.png"/>
          <p:cNvPicPr preferRelativeResize="0"/>
          <p:nvPr/>
        </p:nvPicPr>
        <p:blipFill rotWithShape="1">
          <a:blip r:embed="rId11">
            <a:alphaModFix/>
          </a:blip>
          <a:srcRect l="-4" r="-4"/>
          <a:stretch/>
        </p:blipFill>
        <p:spPr>
          <a:xfrm>
            <a:off x="4465930" y="1676095"/>
            <a:ext cx="7116775" cy="4876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0" name="Google Shape;2900;p102" descr="preencoded.png"/>
          <p:cNvPicPr preferRelativeResize="0"/>
          <p:nvPr/>
        </p:nvPicPr>
        <p:blipFill rotWithShape="1">
          <a:blip r:embed="rId12">
            <a:alphaModFix/>
          </a:blip>
          <a:srcRect t="-80" b="-80"/>
          <a:stretch/>
        </p:blipFill>
        <p:spPr>
          <a:xfrm>
            <a:off x="9271102" y="4000500"/>
            <a:ext cx="1426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1" name="Google Shape;2901;p102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102"/>
          <p:cNvSpPr txBox="1"/>
          <p:nvPr/>
        </p:nvSpPr>
        <p:spPr>
          <a:xfrm>
            <a:off x="4670755" y="2895905"/>
            <a:ext cx="1733702" cy="362102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3" name="Google Shape;2903;p102" descr="preencoded.png"/>
          <p:cNvPicPr preferRelativeResize="0"/>
          <p:nvPr/>
        </p:nvPicPr>
        <p:blipFill rotWithShape="1">
          <a:blip r:embed="rId13">
            <a:alphaModFix/>
          </a:blip>
          <a:srcRect t="-9" b="-10"/>
          <a:stretch/>
        </p:blipFill>
        <p:spPr>
          <a:xfrm>
            <a:off x="4703674" y="3258007"/>
            <a:ext cx="1659636" cy="199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4" name="Google Shape;2904;p102" descr="preencoded.png"/>
          <p:cNvPicPr preferRelativeResize="0"/>
          <p:nvPr/>
        </p:nvPicPr>
        <p:blipFill rotWithShape="1">
          <a:blip r:embed="rId14">
            <a:alphaModFix/>
          </a:blip>
          <a:srcRect t="-9" b="-8"/>
          <a:stretch/>
        </p:blipFill>
        <p:spPr>
          <a:xfrm>
            <a:off x="4865522" y="3409798"/>
            <a:ext cx="133593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5" name="Google Shape;2905;p102"/>
          <p:cNvSpPr txBox="1"/>
          <p:nvPr/>
        </p:nvSpPr>
        <p:spPr>
          <a:xfrm>
            <a:off x="4999025" y="3524098"/>
            <a:ext cx="54315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alice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6" name="Google Shape;2906;p102" descr="preencoded.png"/>
          <p:cNvPicPr preferRelativeResize="0"/>
          <p:nvPr/>
        </p:nvPicPr>
        <p:blipFill rotWithShape="1">
          <a:blip r:embed="rId15">
            <a:alphaModFix/>
          </a:blip>
          <a:srcRect t="-299" b="-299"/>
          <a:stretch/>
        </p:blipFill>
        <p:spPr>
          <a:xfrm>
            <a:off x="6259068" y="3638398"/>
            <a:ext cx="1527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7" name="Google Shape;2907;p102" descr="preencoded.png"/>
          <p:cNvPicPr preferRelativeResize="0"/>
          <p:nvPr/>
        </p:nvPicPr>
        <p:blipFill rotWithShape="1">
          <a:blip r:embed="rId16">
            <a:alphaModFix/>
          </a:blip>
          <a:srcRect t="-9" b="-8"/>
          <a:stretch/>
        </p:blipFill>
        <p:spPr>
          <a:xfrm>
            <a:off x="4865522" y="4019702"/>
            <a:ext cx="133593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8" name="Google Shape;2908;p102"/>
          <p:cNvSpPr txBox="1"/>
          <p:nvPr/>
        </p:nvSpPr>
        <p:spPr>
          <a:xfrm>
            <a:off x="4989881" y="4134002"/>
            <a:ext cx="3529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bob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9" name="Google Shape;2909;p102" descr="preencoded.png"/>
          <p:cNvPicPr preferRelativeResize="0"/>
          <p:nvPr/>
        </p:nvPicPr>
        <p:blipFill rotWithShape="1">
          <a:blip r:embed="rId17">
            <a:alphaModFix/>
          </a:blip>
          <a:srcRect t="-299" b="-299"/>
          <a:stretch/>
        </p:blipFill>
        <p:spPr>
          <a:xfrm>
            <a:off x="6268212" y="4248302"/>
            <a:ext cx="152705" cy="19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0" name="Google Shape;2910;p102" descr="preencoded.png"/>
          <p:cNvPicPr preferRelativeResize="0"/>
          <p:nvPr/>
        </p:nvPicPr>
        <p:blipFill rotWithShape="1">
          <a:blip r:embed="rId16">
            <a:alphaModFix/>
          </a:blip>
          <a:srcRect t="-9" b="-8"/>
          <a:stretch/>
        </p:blipFill>
        <p:spPr>
          <a:xfrm>
            <a:off x="4865522" y="4629607"/>
            <a:ext cx="133593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1" name="Google Shape;2911;p102"/>
          <p:cNvSpPr txBox="1"/>
          <p:nvPr/>
        </p:nvSpPr>
        <p:spPr>
          <a:xfrm>
            <a:off x="4989881" y="4743907"/>
            <a:ext cx="7242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charles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2" name="Google Shape;2912;p102" descr="preencoded.png"/>
          <p:cNvPicPr preferRelativeResize="0"/>
          <p:nvPr/>
        </p:nvPicPr>
        <p:blipFill rotWithShape="1">
          <a:blip r:embed="rId17">
            <a:alphaModFix/>
          </a:blip>
          <a:srcRect t="-299" b="-299"/>
          <a:stretch/>
        </p:blipFill>
        <p:spPr>
          <a:xfrm>
            <a:off x="6268212" y="4858207"/>
            <a:ext cx="152705" cy="19202"/>
          </a:xfrm>
          <a:prstGeom prst="rect">
            <a:avLst/>
          </a:prstGeom>
          <a:noFill/>
          <a:ln>
            <a:noFill/>
          </a:ln>
        </p:spPr>
      </p:pic>
      <p:sp>
        <p:nvSpPr>
          <p:cNvPr id="2913" name="Google Shape;2913;p102"/>
          <p:cNvSpPr txBox="1"/>
          <p:nvPr/>
        </p:nvSpPr>
        <p:spPr>
          <a:xfrm>
            <a:off x="6672377" y="2895905"/>
            <a:ext cx="2296058" cy="362102"/>
          </a:xfrm>
          <a:prstGeom prst="rect">
            <a:avLst/>
          </a:prstGeom>
          <a:solidFill>
            <a:srgbClr val="DBEAFE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Input Series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4" name="Google Shape;2914;p102" descr="preencoded.png"/>
          <p:cNvPicPr preferRelativeResize="0"/>
          <p:nvPr/>
        </p:nvPicPr>
        <p:blipFill rotWithShape="1">
          <a:blip r:embed="rId18">
            <a:alphaModFix/>
          </a:blip>
          <a:srcRect l="-11" r="-11"/>
          <a:stretch/>
        </p:blipFill>
        <p:spPr>
          <a:xfrm>
            <a:off x="6710782" y="3258007"/>
            <a:ext cx="2213762" cy="1990649"/>
          </a:xfrm>
          <a:prstGeom prst="rect">
            <a:avLst/>
          </a:prstGeom>
          <a:noFill/>
          <a:ln>
            <a:noFill/>
          </a:ln>
        </p:spPr>
      </p:pic>
      <p:sp>
        <p:nvSpPr>
          <p:cNvPr id="2915" name="Google Shape;2915;p102"/>
          <p:cNvSpPr txBox="1"/>
          <p:nvPr/>
        </p:nvSpPr>
        <p:spPr>
          <a:xfrm>
            <a:off x="6834226" y="3409798"/>
            <a:ext cx="1971446" cy="457200"/>
          </a:xfrm>
          <a:prstGeom prst="rect">
            <a:avLst/>
          </a:prstGeom>
          <a:noFill/>
          <a:ln w="25400" cap="flat" cmpd="sng">
            <a:solidFill>
              <a:srgbClr val="FC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Roboto"/>
              <a:buNone/>
            </a:pPr>
            <a:r>
              <a:rPr lang="en-US" sz="900" b="0" i="1" u="none" strike="noStrike" cap="none">
                <a:solidFill>
                  <a:srgbClr val="F87171"/>
                </a:solidFill>
                <a:latin typeface="Roboto"/>
                <a:ea typeface="Roboto"/>
                <a:cs typeface="Roboto"/>
                <a:sym typeface="Roboto"/>
              </a:rPr>
              <a:t>Missing Data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6" name="Google Shape;2916;p102" descr="preencoded.png"/>
          <p:cNvPicPr preferRelativeResize="0"/>
          <p:nvPr/>
        </p:nvPicPr>
        <p:blipFill rotWithShape="1">
          <a:blip r:embed="rId19">
            <a:alphaModFix/>
          </a:blip>
          <a:srcRect t="-9" b="-10"/>
          <a:stretch/>
        </p:blipFill>
        <p:spPr>
          <a:xfrm>
            <a:off x="6872630" y="4019702"/>
            <a:ext cx="18891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7" name="Google Shape;2917;p102"/>
          <p:cNvSpPr txBox="1"/>
          <p:nvPr/>
        </p:nvSpPr>
        <p:spPr>
          <a:xfrm>
            <a:off x="6996074" y="4172407"/>
            <a:ext cx="352958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bob: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102"/>
          <p:cNvSpPr txBox="1"/>
          <p:nvPr/>
        </p:nvSpPr>
        <p:spPr>
          <a:xfrm>
            <a:off x="8535010" y="4114800"/>
            <a:ext cx="18105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9" name="Google Shape;2919;p102" descr="preencoded.png"/>
          <p:cNvPicPr preferRelativeResize="0"/>
          <p:nvPr/>
        </p:nvPicPr>
        <p:blipFill rotWithShape="1">
          <a:blip r:embed="rId19">
            <a:alphaModFix/>
          </a:blip>
          <a:srcRect t="-9" b="-10"/>
          <a:stretch/>
        </p:blipFill>
        <p:spPr>
          <a:xfrm>
            <a:off x="6872630" y="4629607"/>
            <a:ext cx="18891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0" name="Google Shape;2920;p102"/>
          <p:cNvSpPr txBox="1"/>
          <p:nvPr/>
        </p:nvSpPr>
        <p:spPr>
          <a:xfrm>
            <a:off x="6996074" y="4781398"/>
            <a:ext cx="629107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charles: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1" name="Google Shape;2921;p102"/>
          <p:cNvSpPr txBox="1"/>
          <p:nvPr/>
        </p:nvSpPr>
        <p:spPr>
          <a:xfrm>
            <a:off x="8535010" y="4724705"/>
            <a:ext cx="18105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ourier New"/>
              <a:buNone/>
            </a:pPr>
            <a:r>
              <a:rPr lang="en-US" sz="1300" b="1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102"/>
          <p:cNvSpPr/>
          <p:nvPr/>
        </p:nvSpPr>
        <p:spPr>
          <a:xfrm>
            <a:off x="6872630" y="5391302"/>
            <a:ext cx="1895551" cy="457200"/>
          </a:xfrm>
          <a:prstGeom prst="roundRect">
            <a:avLst>
              <a:gd name="adj" fmla="val 16667"/>
            </a:avLst>
          </a:prstGeom>
          <a:solidFill>
            <a:srgbClr val="F3F4F6">
              <a:alpha val="60000"/>
            </a:srgbClr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3" name="Google Shape;2923;p102"/>
          <p:cNvSpPr txBox="1"/>
          <p:nvPr/>
        </p:nvSpPr>
        <p:spPr>
          <a:xfrm>
            <a:off x="6996074" y="5544007"/>
            <a:ext cx="476402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Roboto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eugene: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4" name="Google Shape;2924;p102"/>
          <p:cNvSpPr txBox="1"/>
          <p:nvPr/>
        </p:nvSpPr>
        <p:spPr>
          <a:xfrm>
            <a:off x="8550554" y="5505602"/>
            <a:ext cx="17190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5" name="Google Shape;2925;p102" descr="preencoded.png"/>
          <p:cNvPicPr preferRelativeResize="0"/>
          <p:nvPr/>
        </p:nvPicPr>
        <p:blipFill rotWithShape="1">
          <a:blip r:embed="rId20">
            <a:alphaModFix amt="60000"/>
          </a:blip>
          <a:srcRect/>
          <a:stretch/>
        </p:blipFill>
        <p:spPr>
          <a:xfrm>
            <a:off x="8638337" y="5324551"/>
            <a:ext cx="190195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6" name="Google Shape;2926;p102" descr="preencoded.png"/>
          <p:cNvPicPr preferRelativeResize="0"/>
          <p:nvPr/>
        </p:nvPicPr>
        <p:blipFill rotWithShape="1">
          <a:blip r:embed="rId21">
            <a:alphaModFix amt="60000"/>
          </a:blip>
          <a:srcRect l="-133" r="-133"/>
          <a:stretch/>
        </p:blipFill>
        <p:spPr>
          <a:xfrm>
            <a:off x="8690458" y="5362956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7" name="Google Shape;2927;p102"/>
          <p:cNvSpPr txBox="1"/>
          <p:nvPr/>
        </p:nvSpPr>
        <p:spPr>
          <a:xfrm>
            <a:off x="9650578" y="2895905"/>
            <a:ext cx="1733702" cy="362102"/>
          </a:xfrm>
          <a:prstGeom prst="rect">
            <a:avLst/>
          </a:prstGeom>
          <a:solidFill>
            <a:srgbClr val="D1FAE5"/>
          </a:solidFill>
          <a:ln w="12700" cap="flat" cmpd="sng">
            <a:solidFill>
              <a:srgbClr val="A7F3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047857"/>
                </a:solidFill>
                <a:latin typeface="Roboto"/>
                <a:ea typeface="Roboto"/>
                <a:cs typeface="Roboto"/>
                <a:sym typeface="Roboto"/>
              </a:rPr>
              <a:t>"pets" Column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8" name="Google Shape;2928;p102" descr="preencoded.png"/>
          <p:cNvPicPr preferRelativeResize="0"/>
          <p:nvPr/>
        </p:nvPicPr>
        <p:blipFill rotWithShape="1">
          <a:blip r:embed="rId22">
            <a:alphaModFix/>
          </a:blip>
          <a:srcRect t="-9" b="-10"/>
          <a:stretch/>
        </p:blipFill>
        <p:spPr>
          <a:xfrm>
            <a:off x="9684410" y="3258007"/>
            <a:ext cx="1659636" cy="199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9" name="Google Shape;2929;p102" descr="preencoded.png"/>
          <p:cNvPicPr preferRelativeResize="0"/>
          <p:nvPr/>
        </p:nvPicPr>
        <p:blipFill rotWithShape="1">
          <a:blip r:embed="rId23">
            <a:alphaModFix/>
          </a:blip>
          <a:srcRect t="-9" b="-8"/>
          <a:stretch/>
        </p:blipFill>
        <p:spPr>
          <a:xfrm>
            <a:off x="9846259" y="3409798"/>
            <a:ext cx="133593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0" name="Google Shape;2930;p102"/>
          <p:cNvSpPr txBox="1"/>
          <p:nvPr/>
        </p:nvSpPr>
        <p:spPr>
          <a:xfrm>
            <a:off x="10376611" y="3524098"/>
            <a:ext cx="3529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1" name="Google Shape;2931;p102" descr="preencoded.png"/>
          <p:cNvPicPr preferRelativeResize="0"/>
          <p:nvPr/>
        </p:nvPicPr>
        <p:blipFill rotWithShape="1">
          <a:blip r:embed="rId24">
            <a:alphaModFix/>
          </a:blip>
          <a:srcRect t="-9" b="-8"/>
          <a:stretch/>
        </p:blipFill>
        <p:spPr>
          <a:xfrm>
            <a:off x="9846259" y="4019702"/>
            <a:ext cx="133593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2" name="Google Shape;2932;p102"/>
          <p:cNvSpPr txBox="1"/>
          <p:nvPr/>
        </p:nvSpPr>
        <p:spPr>
          <a:xfrm>
            <a:off x="10376611" y="4134002"/>
            <a:ext cx="3529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0.0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3" name="Google Shape;2933;p102" descr="preencoded.png"/>
          <p:cNvPicPr preferRelativeResize="0"/>
          <p:nvPr/>
        </p:nvPicPr>
        <p:blipFill rotWithShape="1">
          <a:blip r:embed="rId24">
            <a:alphaModFix/>
          </a:blip>
          <a:srcRect t="-9" b="-8"/>
          <a:stretch/>
        </p:blipFill>
        <p:spPr>
          <a:xfrm>
            <a:off x="9846259" y="4629607"/>
            <a:ext cx="133593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4" name="Google Shape;2934;p102"/>
          <p:cNvSpPr txBox="1"/>
          <p:nvPr/>
        </p:nvSpPr>
        <p:spPr>
          <a:xfrm>
            <a:off x="10376611" y="4743907"/>
            <a:ext cx="3529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5.0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10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41" name="Google Shape;2941;p10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2" name="Google Shape;2942;p103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3" name="Google Shape;2943;p103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2944" name="Google Shape;2944;p10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5" name="Google Shape;2945;p103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946" name="Google Shape;2946;p103"/>
          <p:cNvSpPr txBox="1"/>
          <p:nvPr/>
        </p:nvSpPr>
        <p:spPr>
          <a:xfrm>
            <a:off x="609905" y="1524305"/>
            <a:ext cx="1108710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DataFrame - Add a new column using </a:t>
            </a:r>
            <a:r>
              <a:rPr lang="en-US" sz="1800" b="1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method after an existing column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7" name="Google Shape;2947;p103" descr="preencoded.png"/>
          <p:cNvPicPr preferRelativeResize="0"/>
          <p:nvPr/>
        </p:nvPicPr>
        <p:blipFill rotWithShape="1">
          <a:blip r:embed="rId7">
            <a:alphaModFix/>
          </a:blip>
          <a:srcRect t="-5" b="-4"/>
          <a:stretch/>
        </p:blipFill>
        <p:spPr>
          <a:xfrm>
            <a:off x="609905" y="2210105"/>
            <a:ext cx="4529023" cy="175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8" name="Google Shape;2948;p103" descr="preencoded.png"/>
          <p:cNvPicPr preferRelativeResize="0"/>
          <p:nvPr/>
        </p:nvPicPr>
        <p:blipFill rotWithShape="1">
          <a:blip r:embed="rId8">
            <a:alphaModFix/>
          </a:blip>
          <a:srcRect l="-1105556" r="-1105556"/>
          <a:stretch/>
        </p:blipFill>
        <p:spPr>
          <a:xfrm>
            <a:off x="4747565" y="2595982"/>
            <a:ext cx="237744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2949" name="Google Shape;2949;p103"/>
          <p:cNvSpPr txBox="1"/>
          <p:nvPr/>
        </p:nvSpPr>
        <p:spPr>
          <a:xfrm>
            <a:off x="875995" y="2438705"/>
            <a:ext cx="415320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ourier New"/>
              <a:buNone/>
            </a:pPr>
            <a:r>
              <a:rPr lang="en-US" sz="1200" b="0" i="1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Insert 'height' at index 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103"/>
          <p:cNvSpPr txBox="1"/>
          <p:nvPr/>
        </p:nvSpPr>
        <p:spPr>
          <a:xfrm>
            <a:off x="875995" y="2819095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 people.insert(</a:t>
            </a:r>
            <a:r>
              <a:rPr lang="en-US" sz="1300" b="0" i="0" u="none" strike="noStrike" cap="non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"height"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, [</a:t>
            </a:r>
            <a:r>
              <a:rPr lang="en-US" sz="1300" b="0" i="0" u="none" strike="noStrike" cap="none">
                <a:solidFill>
                  <a:srgbClr val="C4B5FD"/>
                </a:solidFill>
                <a:latin typeface="Courier New"/>
                <a:ea typeface="Courier New"/>
                <a:cs typeface="Courier New"/>
                <a:sym typeface="Courier New"/>
              </a:rPr>
              <a:t>172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C4B5FD"/>
                </a:solidFill>
                <a:latin typeface="Courier New"/>
                <a:ea typeface="Courier New"/>
                <a:cs typeface="Courier New"/>
                <a:sym typeface="Courier New"/>
              </a:rPr>
              <a:t>181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 b="0" i="0" u="none" strike="noStrike" cap="none">
                <a:solidFill>
                  <a:srgbClr val="C4B5FD"/>
                </a:solidFill>
                <a:latin typeface="Courier New"/>
                <a:ea typeface="Courier New"/>
                <a:cs typeface="Courier New"/>
                <a:sym typeface="Courier New"/>
              </a:rPr>
              <a:t>185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])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1" name="Google Shape;2951;p103"/>
          <p:cNvSpPr txBox="1"/>
          <p:nvPr/>
        </p:nvSpPr>
        <p:spPr>
          <a:xfrm>
            <a:off x="875995" y="3467405"/>
            <a:ext cx="415320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 people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2" name="Google Shape;2952;p103" descr="preencoded.png"/>
          <p:cNvPicPr preferRelativeResize="0"/>
          <p:nvPr/>
        </p:nvPicPr>
        <p:blipFill rotWithShape="1">
          <a:blip r:embed="rId9">
            <a:alphaModFix/>
          </a:blip>
          <a:srcRect l="-13" r="-13"/>
          <a:stretch/>
        </p:blipFill>
        <p:spPr>
          <a:xfrm>
            <a:off x="609905" y="4190695"/>
            <a:ext cx="4529023" cy="117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3" name="Google Shape;2953;p103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9244" y="442935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954" name="Google Shape;2954;p103"/>
          <p:cNvSpPr txBox="1"/>
          <p:nvPr/>
        </p:nvSpPr>
        <p:spPr>
          <a:xfrm>
            <a:off x="1114654" y="4390949"/>
            <a:ext cx="39438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In-Place Modification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5" name="Google Shape;2955;p103"/>
          <p:cNvSpPr txBox="1"/>
          <p:nvPr/>
        </p:nvSpPr>
        <p:spPr>
          <a:xfrm>
            <a:off x="1114654" y="4695444"/>
            <a:ext cx="3905402" cy="46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200" b="0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US" sz="12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method modifies the DataFrame directly and does not return a new object.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6" name="Google Shape;2956;p103" descr="preencoded.png"/>
          <p:cNvPicPr preferRelativeResize="0"/>
          <p:nvPr/>
        </p:nvPicPr>
        <p:blipFill rotWithShape="1">
          <a:blip r:embed="rId11">
            <a:alphaModFix/>
          </a:blip>
          <a:srcRect t="-530" b="-530"/>
          <a:stretch/>
        </p:blipFill>
        <p:spPr>
          <a:xfrm>
            <a:off x="5519318" y="3642970"/>
            <a:ext cx="247802" cy="28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7" name="Google Shape;2957;p103" descr="preencoded.png"/>
          <p:cNvPicPr preferRelativeResize="0"/>
          <p:nvPr/>
        </p:nvPicPr>
        <p:blipFill rotWithShape="1">
          <a:blip r:embed="rId12">
            <a:alphaModFix/>
          </a:blip>
          <a:srcRect t="-3" b="-3"/>
          <a:stretch/>
        </p:blipFill>
        <p:spPr>
          <a:xfrm>
            <a:off x="6147511" y="2210105"/>
            <a:ext cx="5434279" cy="258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958" name="Google Shape;2958;p103"/>
          <p:cNvSpPr/>
          <p:nvPr/>
        </p:nvSpPr>
        <p:spPr>
          <a:xfrm>
            <a:off x="6157570" y="2219249"/>
            <a:ext cx="5419649" cy="428854"/>
          </a:xfrm>
          <a:prstGeom prst="roundRect">
            <a:avLst>
              <a:gd name="adj" fmla="val 56859"/>
            </a:avLst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9" name="Google Shape;2959;p103"/>
          <p:cNvSpPr/>
          <p:nvPr/>
        </p:nvSpPr>
        <p:spPr>
          <a:xfrm>
            <a:off x="6157570" y="2638958"/>
            <a:ext cx="5419649" cy="9144"/>
          </a:xfrm>
          <a:prstGeom prst="roundRect">
            <a:avLst>
              <a:gd name="adj" fmla="val 2666667"/>
            </a:avLst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0" name="Google Shape;2960;p103"/>
          <p:cNvSpPr txBox="1"/>
          <p:nvPr/>
        </p:nvSpPr>
        <p:spPr>
          <a:xfrm>
            <a:off x="6271870" y="2333549"/>
            <a:ext cx="1505102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Output DataFrame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1" name="Google Shape;2961;p103"/>
          <p:cNvSpPr/>
          <p:nvPr/>
        </p:nvSpPr>
        <p:spPr>
          <a:xfrm>
            <a:off x="11039551" y="2371954"/>
            <a:ext cx="114300" cy="114300"/>
          </a:xfrm>
          <a:prstGeom prst="ellipse">
            <a:avLst/>
          </a:prstGeom>
          <a:solidFill>
            <a:srgbClr val="F8717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2" name="Google Shape;2962;p103"/>
          <p:cNvSpPr/>
          <p:nvPr/>
        </p:nvSpPr>
        <p:spPr>
          <a:xfrm>
            <a:off x="11192256" y="2371954"/>
            <a:ext cx="114300" cy="114300"/>
          </a:xfrm>
          <a:prstGeom prst="ellipse">
            <a:avLst/>
          </a:prstGeom>
          <a:solidFill>
            <a:srgbClr val="FBBF2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3" name="Google Shape;2963;p103"/>
          <p:cNvSpPr/>
          <p:nvPr/>
        </p:nvSpPr>
        <p:spPr>
          <a:xfrm>
            <a:off x="11344046" y="2371954"/>
            <a:ext cx="114300" cy="114300"/>
          </a:xfrm>
          <a:prstGeom prst="ellipse">
            <a:avLst/>
          </a:prstGeom>
          <a:solidFill>
            <a:srgbClr val="34D399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964" name="Google Shape;2964;p103"/>
          <p:cNvGraphicFramePr/>
          <p:nvPr/>
        </p:nvGraphicFramePr>
        <p:xfrm>
          <a:off x="6157570" y="2648102"/>
          <a:ext cx="5415975" cy="220323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950050"/>
                <a:gridCol w="1230775"/>
                <a:gridCol w="982075"/>
                <a:gridCol w="1013150"/>
                <a:gridCol w="1239925"/>
              </a:tblGrid>
              <a:tr h="53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6B728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Index</a:t>
                      </a:r>
                      <a:endParaRPr sz="105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birthyear</a:t>
                      </a:r>
                      <a:endParaRPr sz="105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0AF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40A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height </a:t>
                      </a:r>
                      <a:endParaRPr sz="12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Poppin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New</a:t>
                      </a:r>
                      <a:endParaRPr sz="1200" u="none" strike="noStrike" cap="none"/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weight</a:t>
                      </a:r>
                      <a:endParaRPr sz="105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Poppins"/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hobby</a:t>
                      </a:r>
                      <a:endParaRPr sz="105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</a:tr>
              <a:tr h="53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4B556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1985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D4ED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172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3C5F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Biking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4B556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1984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D4ED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181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Dancing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33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B5563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4B556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1992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D4ED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185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37415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112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200"/>
                        <a:buFont typeface="Roboto Mono"/>
                        <a:buNone/>
                      </a:pPr>
                      <a:r>
                        <a:rPr lang="en-US" sz="1200" u="none" strike="noStrike" cap="none">
                          <a:solidFill>
                            <a:srgbClr val="9CA3A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5E7EB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5DB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965" name="Google Shape;2965;p103"/>
          <p:cNvSpPr/>
          <p:nvPr/>
        </p:nvSpPr>
        <p:spPr>
          <a:xfrm>
            <a:off x="7353605" y="498165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E5E7EB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6" name="Google Shape;2966;p103"/>
          <p:cNvSpPr txBox="1"/>
          <p:nvPr/>
        </p:nvSpPr>
        <p:spPr>
          <a:xfrm>
            <a:off x="7543800" y="4943246"/>
            <a:ext cx="522122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Index 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7" name="Google Shape;2967;p103"/>
          <p:cNvSpPr/>
          <p:nvPr/>
        </p:nvSpPr>
        <p:spPr>
          <a:xfrm>
            <a:off x="8203082" y="498165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DBEAFE"/>
          </a:solidFill>
          <a:ln w="12700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8" name="Google Shape;2968;p103"/>
          <p:cNvSpPr txBox="1"/>
          <p:nvPr/>
        </p:nvSpPr>
        <p:spPr>
          <a:xfrm>
            <a:off x="8393278" y="4943246"/>
            <a:ext cx="1270102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Index 1 (Inserted)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9" name="Google Shape;2969;p103"/>
          <p:cNvSpPr/>
          <p:nvPr/>
        </p:nvSpPr>
        <p:spPr>
          <a:xfrm>
            <a:off x="9680753" y="498165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0" name="Google Shape;2970;p103"/>
          <p:cNvSpPr txBox="1"/>
          <p:nvPr/>
        </p:nvSpPr>
        <p:spPr>
          <a:xfrm>
            <a:off x="9870948" y="4943246"/>
            <a:ext cx="612648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Index 2+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03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10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8" name="Google Shape;2978;p10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979" name="Google Shape;2979;p10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80" name="Google Shape;2980;p104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2981" name="Google Shape;2981;p10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2" name="Google Shape;2982;p10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3" name="Google Shape;2983;p104" descr="preencoded.png"/>
          <p:cNvPicPr preferRelativeResize="0"/>
          <p:nvPr/>
        </p:nvPicPr>
        <p:blipFill rotWithShape="1">
          <a:blip r:embed="rId6">
            <a:alphaModFix/>
          </a:blip>
          <a:srcRect t="-3" b="-3"/>
          <a:stretch/>
        </p:blipFill>
        <p:spPr>
          <a:xfrm>
            <a:off x="609905" y="2609698"/>
            <a:ext cx="4381805" cy="2438705"/>
          </a:xfrm>
          <a:prstGeom prst="rect">
            <a:avLst/>
          </a:prstGeom>
          <a:noFill/>
          <a:ln>
            <a:noFill/>
          </a:ln>
        </p:spPr>
      </p:pic>
      <p:sp>
        <p:nvSpPr>
          <p:cNvPr id="2984" name="Google Shape;2984;p104"/>
          <p:cNvSpPr txBox="1"/>
          <p:nvPr/>
        </p:nvSpPr>
        <p:spPr>
          <a:xfrm>
            <a:off x="914400" y="283829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assign() Method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5" name="Google Shape;2985;p104"/>
          <p:cNvSpPr txBox="1"/>
          <p:nvPr/>
        </p:nvSpPr>
        <p:spPr>
          <a:xfrm>
            <a:off x="914400" y="3333902"/>
            <a:ext cx="3934663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Add new columns using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assign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method. It returns a new DataFrame with the requested columns added or modified.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6" name="Google Shape;2986;p104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372100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7" name="Google Shape;2987;p104"/>
          <p:cNvSpPr txBox="1"/>
          <p:nvPr/>
        </p:nvSpPr>
        <p:spPr>
          <a:xfrm>
            <a:off x="895198" y="5352898"/>
            <a:ext cx="35213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Useful for method chaining operations.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88" name="Google Shape;2988;p104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2736799"/>
            <a:ext cx="6133795" cy="275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989" name="Google Shape;2989;p104"/>
          <p:cNvSpPr/>
          <p:nvPr/>
        </p:nvSpPr>
        <p:spPr>
          <a:xfrm>
            <a:off x="5458054" y="2745943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0" name="Google Shape;2990;p104"/>
          <p:cNvSpPr/>
          <p:nvPr/>
        </p:nvSpPr>
        <p:spPr>
          <a:xfrm>
            <a:off x="5458054" y="3165653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1" name="Google Shape;2991;p104"/>
          <p:cNvSpPr/>
          <p:nvPr/>
        </p:nvSpPr>
        <p:spPr>
          <a:xfrm>
            <a:off x="5609844" y="2898648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2" name="Google Shape;2992;p104"/>
          <p:cNvSpPr/>
          <p:nvPr/>
        </p:nvSpPr>
        <p:spPr>
          <a:xfrm>
            <a:off x="5800954" y="2898648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3" name="Google Shape;2993;p104"/>
          <p:cNvSpPr/>
          <p:nvPr/>
        </p:nvSpPr>
        <p:spPr>
          <a:xfrm>
            <a:off x="5991149" y="2898648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4" name="Google Shape;2994;p104"/>
          <p:cNvSpPr txBox="1"/>
          <p:nvPr/>
        </p:nvSpPr>
        <p:spPr>
          <a:xfrm>
            <a:off x="6258154" y="2860243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104"/>
          <p:cNvSpPr txBox="1"/>
          <p:nvPr/>
        </p:nvSpPr>
        <p:spPr>
          <a:xfrm>
            <a:off x="5686654" y="3403397"/>
            <a:ext cx="5735117" cy="1858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(people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assign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(body_mass_index =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df: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df[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"weight"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/ (df[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"height"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/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**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assign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(overweight =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df: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df[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"body_mass_index"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&gt; 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)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104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2" name="Google Shape;3002;p10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03" name="Google Shape;3003;p10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4" name="Google Shape;3004;p10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5" name="Google Shape;3005;p10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6" name="Google Shape;3006;p105"/>
          <p:cNvSpPr/>
          <p:nvPr/>
        </p:nvSpPr>
        <p:spPr>
          <a:xfrm>
            <a:off x="609905" y="533095"/>
            <a:ext cx="1686154" cy="267005"/>
          </a:xfrm>
          <a:prstGeom prst="roundRect">
            <a:avLst>
              <a:gd name="adj" fmla="val 342465"/>
            </a:avLst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7" name="Google Shape;3007;p105"/>
          <p:cNvSpPr txBox="1"/>
          <p:nvPr/>
        </p:nvSpPr>
        <p:spPr>
          <a:xfrm>
            <a:off x="609905" y="533095"/>
            <a:ext cx="1753819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Roboto"/>
              <a:buNone/>
            </a:pPr>
            <a:r>
              <a:rPr lang="en-US" sz="10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Pandas DataFrames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8" name="Google Shape;3008;p105"/>
          <p:cNvSpPr txBox="1"/>
          <p:nvPr/>
        </p:nvSpPr>
        <p:spPr>
          <a:xfrm>
            <a:off x="609905" y="8759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Sorting a DataFrame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9" name="Google Shape;3009;p105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6760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0" name="Google Shape;3010;p105" descr="preencoded.png"/>
          <p:cNvPicPr preferRelativeResize="0"/>
          <p:nvPr/>
        </p:nvPicPr>
        <p:blipFill rotWithShape="1">
          <a:blip r:embed="rId7">
            <a:alphaModFix amt="50000"/>
          </a:blip>
          <a:srcRect/>
          <a:stretch/>
        </p:blipFill>
        <p:spPr>
          <a:xfrm>
            <a:off x="7772400" y="2857500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3011" name="Google Shape;3011;p105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2" name="Google Shape;3012;p105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609905" y="2002536"/>
            <a:ext cx="6096305" cy="1252728"/>
          </a:xfrm>
          <a:prstGeom prst="rect">
            <a:avLst/>
          </a:prstGeom>
          <a:noFill/>
          <a:ln>
            <a:noFill/>
          </a:ln>
        </p:spPr>
      </p:pic>
      <p:sp>
        <p:nvSpPr>
          <p:cNvPr id="3013" name="Google Shape;3013;p105"/>
          <p:cNvSpPr txBox="1"/>
          <p:nvPr/>
        </p:nvSpPr>
        <p:spPr>
          <a:xfrm>
            <a:off x="914400" y="2231136"/>
            <a:ext cx="567019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Use the </a:t>
            </a:r>
            <a:r>
              <a:rPr lang="en-US" sz="2200" b="1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sort_index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method to organize rows based on their labels.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4" name="Google Shape;3014;p10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3674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5" name="Google Shape;3015;p105" descr="preencoded.png"/>
          <p:cNvPicPr preferRelativeResize="0"/>
          <p:nvPr/>
        </p:nvPicPr>
        <p:blipFill rotWithShape="1">
          <a:blip r:embed="rId10">
            <a:alphaModFix/>
          </a:blip>
          <a:srcRect l="-1282" r="-1282"/>
          <a:stretch/>
        </p:blipFill>
        <p:spPr>
          <a:xfrm>
            <a:off x="728777" y="380756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016" name="Google Shape;3016;p105"/>
          <p:cNvSpPr txBox="1"/>
          <p:nvPr/>
        </p:nvSpPr>
        <p:spPr>
          <a:xfrm>
            <a:off x="1295705" y="3636569"/>
            <a:ext cx="489661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Sorts by Index Label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105"/>
          <p:cNvSpPr txBox="1"/>
          <p:nvPr/>
        </p:nvSpPr>
        <p:spPr>
          <a:xfrm>
            <a:off x="1295705" y="3979469"/>
            <a:ext cx="54681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It sorts the rows by their index label (not column values).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8" name="Google Shape;3018;p10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451256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9" name="Google Shape;3019;p10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7182" y="4646066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020" name="Google Shape;3020;p105"/>
          <p:cNvSpPr txBox="1"/>
          <p:nvPr/>
        </p:nvSpPr>
        <p:spPr>
          <a:xfrm>
            <a:off x="1295705" y="4474159"/>
            <a:ext cx="329641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Ascending Order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105"/>
          <p:cNvSpPr txBox="1"/>
          <p:nvPr/>
        </p:nvSpPr>
        <p:spPr>
          <a:xfrm>
            <a:off x="1295705" y="4817059"/>
            <a:ext cx="377372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By default, it sorts in ascending order.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2" name="Google Shape;3022;p10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53510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3" name="Google Shape;3023;p10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3407" y="548365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024" name="Google Shape;3024;p105"/>
          <p:cNvSpPr txBox="1"/>
          <p:nvPr/>
        </p:nvSpPr>
        <p:spPr>
          <a:xfrm>
            <a:off x="1295705" y="5312664"/>
            <a:ext cx="3210458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Reverse Order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105"/>
          <p:cNvSpPr txBox="1"/>
          <p:nvPr/>
        </p:nvSpPr>
        <p:spPr>
          <a:xfrm>
            <a:off x="1295705" y="5655564"/>
            <a:ext cx="367497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Pass </a:t>
            </a:r>
            <a:r>
              <a:rPr lang="en-US" sz="1300" b="0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ascending=False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to reverse.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6" name="Google Shape;3026;p10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61886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7" name="Google Shape;3027;p105" descr="preencoded.png"/>
          <p:cNvPicPr preferRelativeResize="0"/>
          <p:nvPr/>
        </p:nvPicPr>
        <p:blipFill rotWithShape="1">
          <a:blip r:embed="rId13">
            <a:alphaModFix/>
          </a:blip>
          <a:srcRect l="-7142" r="-7142"/>
          <a:stretch/>
        </p:blipFill>
        <p:spPr>
          <a:xfrm>
            <a:off x="743407" y="632216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028" name="Google Shape;3028;p105"/>
          <p:cNvSpPr txBox="1"/>
          <p:nvPr/>
        </p:nvSpPr>
        <p:spPr>
          <a:xfrm>
            <a:off x="1295705" y="6151169"/>
            <a:ext cx="4038905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Returns a Copy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105"/>
          <p:cNvSpPr txBox="1"/>
          <p:nvPr/>
        </p:nvSpPr>
        <p:spPr>
          <a:xfrm>
            <a:off x="1295705" y="6494069"/>
            <a:ext cx="461040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It returns a new sorted copy of the DataFrame.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0" name="Google Shape;3030;p105" descr="preencoded.png"/>
          <p:cNvPicPr preferRelativeResize="0"/>
          <p:nvPr/>
        </p:nvPicPr>
        <p:blipFill rotWithShape="1">
          <a:blip r:embed="rId14">
            <a:alphaModFix/>
          </a:blip>
          <a:srcRect l="-6" r="-5"/>
          <a:stretch/>
        </p:blipFill>
        <p:spPr>
          <a:xfrm>
            <a:off x="8366760" y="2723998"/>
            <a:ext cx="2164385" cy="2019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1" name="Google Shape;3031;p105" descr="preencoded.png"/>
          <p:cNvPicPr preferRelativeResize="0"/>
          <p:nvPr/>
        </p:nvPicPr>
        <p:blipFill rotWithShape="1">
          <a:blip r:embed="rId15">
            <a:alphaModFix/>
          </a:blip>
          <a:srcRect t="-919" b="-918"/>
          <a:stretch/>
        </p:blipFill>
        <p:spPr>
          <a:xfrm>
            <a:off x="8696858" y="3054096"/>
            <a:ext cx="1505102" cy="1362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2" name="Google Shape;3032;p105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877349" y="4173322"/>
            <a:ext cx="801014" cy="801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3" name="Google Shape;3033;p105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116922" y="4413809"/>
            <a:ext cx="323698" cy="323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4" name="Google Shape;3034;p105" descr="preencoded.png"/>
          <p:cNvPicPr preferRelativeResize="0"/>
          <p:nvPr/>
        </p:nvPicPr>
        <p:blipFill rotWithShape="1">
          <a:blip r:embed="rId18">
            <a:alphaModFix/>
          </a:blip>
          <a:srcRect t="-1" b="-1"/>
          <a:stretch/>
        </p:blipFill>
        <p:spPr>
          <a:xfrm>
            <a:off x="8415223" y="5148072"/>
            <a:ext cx="2094890" cy="909828"/>
          </a:xfrm>
          <a:prstGeom prst="rect">
            <a:avLst/>
          </a:prstGeom>
          <a:noFill/>
          <a:ln>
            <a:noFill/>
          </a:ln>
        </p:spPr>
      </p:pic>
      <p:sp>
        <p:nvSpPr>
          <p:cNvPr id="3035" name="Google Shape;3035;p105"/>
          <p:cNvSpPr txBox="1"/>
          <p:nvPr/>
        </p:nvSpPr>
        <p:spPr>
          <a:xfrm>
            <a:off x="8597189" y="5269687"/>
            <a:ext cx="1859890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1300" b="0" i="0" u="none" strike="noStrike" cap="non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 b="0" i="0" u="none" strike="noStrike" cap="non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sort_index</a:t>
            </a:r>
            <a:r>
              <a:rPr lang="en-US" sz="1300" b="0" i="0" u="none" strike="noStrike" cap="none">
                <a:solidFill>
                  <a:srgbClr val="E5E7EB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6" name="Google Shape;3036;p105"/>
          <p:cNvSpPr txBox="1"/>
          <p:nvPr/>
        </p:nvSpPr>
        <p:spPr>
          <a:xfrm>
            <a:off x="8609076" y="5612587"/>
            <a:ext cx="1810512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# Default ascending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p10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43" name="Google Shape;3043;p10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4" name="Google Shape;3044;p106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5" name="Google Shape;3045;p106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3046" name="Google Shape;3046;p10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106"/>
          <p:cNvSpPr txBox="1"/>
          <p:nvPr/>
        </p:nvSpPr>
        <p:spPr>
          <a:xfrm>
            <a:off x="609905" y="990295"/>
            <a:ext cx="1108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00"/>
              <a:buFont typeface="Poppins"/>
              <a:buNone/>
            </a:pPr>
            <a:r>
              <a:rPr lang="en-US" sz="2200" b="0" i="0" u="none" strike="noStrike" cap="none">
                <a:solidFill>
                  <a:srgbClr val="1D4ED8"/>
                </a:solidFill>
                <a:latin typeface="Poppins"/>
                <a:ea typeface="Poppins"/>
                <a:cs typeface="Poppins"/>
                <a:sym typeface="Poppins"/>
              </a:rPr>
              <a:t>Sorting a DataFrame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8" name="Google Shape;3048;p106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485900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9" name="Google Shape;3049;p106" descr="preencoded.png"/>
          <p:cNvPicPr preferRelativeResize="0"/>
          <p:nvPr/>
        </p:nvPicPr>
        <p:blipFill rotWithShape="1">
          <a:blip r:embed="rId7">
            <a:alphaModFix/>
          </a:blip>
          <a:srcRect l="-11" r="-11"/>
          <a:stretch/>
        </p:blipFill>
        <p:spPr>
          <a:xfrm>
            <a:off x="1218895" y="2269541"/>
            <a:ext cx="9753905" cy="1033272"/>
          </a:xfrm>
          <a:prstGeom prst="rect">
            <a:avLst/>
          </a:prstGeom>
          <a:noFill/>
          <a:ln>
            <a:noFill/>
          </a:ln>
        </p:spPr>
      </p:pic>
      <p:sp>
        <p:nvSpPr>
          <p:cNvPr id="3050" name="Google Shape;3050;p106"/>
          <p:cNvSpPr txBox="1"/>
          <p:nvPr/>
        </p:nvSpPr>
        <p:spPr>
          <a:xfrm>
            <a:off x="1752905" y="2498141"/>
            <a:ext cx="9106510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 Python Input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1" name="Google Shape;3051;p106" descr="preencoded.png"/>
          <p:cNvPicPr preferRelativeResize="0"/>
          <p:nvPr/>
        </p:nvPicPr>
        <p:blipFill rotWithShape="1">
          <a:blip r:embed="rId8">
            <a:alphaModFix/>
          </a:blip>
          <a:srcRect l="-837" r="-837"/>
          <a:stretch/>
        </p:blipFill>
        <p:spPr>
          <a:xfrm>
            <a:off x="1524305" y="2526487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52" name="Google Shape;3052;p106"/>
          <p:cNvSpPr txBox="1"/>
          <p:nvPr/>
        </p:nvSpPr>
        <p:spPr>
          <a:xfrm>
            <a:off x="1524305" y="2764231"/>
            <a:ext cx="9335110" cy="314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people.sort_index(ascending=</a:t>
            </a:r>
            <a:r>
              <a:rPr lang="en-US" sz="1500" b="0" i="0" u="none" strike="noStrike" cap="non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3" name="Google Shape;3053;p106" descr="preencoded.png"/>
          <p:cNvPicPr preferRelativeResize="0"/>
          <p:nvPr/>
        </p:nvPicPr>
        <p:blipFill rotWithShape="1">
          <a:blip r:embed="rId9">
            <a:alphaModFix/>
          </a:blip>
          <a:srcRect l="-7" r="-6"/>
          <a:stretch/>
        </p:blipFill>
        <p:spPr>
          <a:xfrm>
            <a:off x="1218895" y="3607308"/>
            <a:ext cx="9753905" cy="2200046"/>
          </a:xfrm>
          <a:prstGeom prst="rect">
            <a:avLst/>
          </a:prstGeom>
          <a:noFill/>
          <a:ln>
            <a:noFill/>
          </a:ln>
        </p:spPr>
      </p:pic>
      <p:sp>
        <p:nvSpPr>
          <p:cNvPr id="3054" name="Google Shape;3054;p106"/>
          <p:cNvSpPr/>
          <p:nvPr/>
        </p:nvSpPr>
        <p:spPr>
          <a:xfrm>
            <a:off x="10319918" y="3617366"/>
            <a:ext cx="647395" cy="228600"/>
          </a:xfrm>
          <a:prstGeom prst="roundRect">
            <a:avLst>
              <a:gd name="adj" fmla="val 133333"/>
            </a:avLst>
          </a:prstGeom>
          <a:solidFill>
            <a:srgbClr val="2563E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5" name="Google Shape;3055;p106"/>
          <p:cNvSpPr txBox="1"/>
          <p:nvPr/>
        </p:nvSpPr>
        <p:spPr>
          <a:xfrm>
            <a:off x="10319918" y="3617366"/>
            <a:ext cx="705002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106"/>
          <p:cNvSpPr/>
          <p:nvPr/>
        </p:nvSpPr>
        <p:spPr>
          <a:xfrm>
            <a:off x="1228954" y="3617366"/>
            <a:ext cx="9734702" cy="552298"/>
          </a:xfrm>
          <a:prstGeom prst="roundRect">
            <a:avLst>
              <a:gd name="adj" fmla="val 22836"/>
            </a:avLst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7" name="Google Shape;3057;p106"/>
          <p:cNvSpPr/>
          <p:nvPr/>
        </p:nvSpPr>
        <p:spPr>
          <a:xfrm>
            <a:off x="1228954" y="4150462"/>
            <a:ext cx="1952244" cy="19202"/>
          </a:xfrm>
          <a:prstGeom prst="rect">
            <a:avLst/>
          </a:prstGeom>
          <a:solidFill>
            <a:srgbClr val="BFDBFE"/>
          </a:solidFill>
          <a:ln w="12700" cap="flat" cmpd="sng">
            <a:solidFill>
              <a:srgbClr val="BFD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8" name="Google Shape;3058;p106"/>
          <p:cNvSpPr txBox="1"/>
          <p:nvPr/>
        </p:nvSpPr>
        <p:spPr>
          <a:xfrm>
            <a:off x="1381658" y="3617366"/>
            <a:ext cx="1876349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 Index </a:t>
            </a:r>
            <a:r>
              <a:rPr lang="en-US" sz="9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 Desc 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9" name="Google Shape;3059;p106" descr="preencoded.png"/>
          <p:cNvPicPr preferRelativeResize="0"/>
          <p:nvPr/>
        </p:nvPicPr>
        <p:blipFill rotWithShape="1">
          <a:blip r:embed="rId10">
            <a:alphaModFix/>
          </a:blip>
          <a:srcRect l="-1911" r="-1910"/>
          <a:stretch/>
        </p:blipFill>
        <p:spPr>
          <a:xfrm>
            <a:off x="1990649" y="3831336"/>
            <a:ext cx="13350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0" name="Google Shape;3060;p106"/>
          <p:cNvSpPr/>
          <p:nvPr/>
        </p:nvSpPr>
        <p:spPr>
          <a:xfrm>
            <a:off x="3175711" y="4150462"/>
            <a:ext cx="2104949" cy="19202"/>
          </a:xfrm>
          <a:prstGeom prst="rect">
            <a:avLst/>
          </a:prstGeom>
          <a:solidFill>
            <a:srgbClr val="BFDBFE"/>
          </a:solidFill>
          <a:ln w="12700" cap="flat" cmpd="sng">
            <a:solidFill>
              <a:srgbClr val="BFD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1" name="Google Shape;3061;p106"/>
          <p:cNvSpPr txBox="1"/>
          <p:nvPr/>
        </p:nvSpPr>
        <p:spPr>
          <a:xfrm>
            <a:off x="3175711" y="3617366"/>
            <a:ext cx="2181758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birthyear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106"/>
          <p:cNvSpPr/>
          <p:nvPr/>
        </p:nvSpPr>
        <p:spPr>
          <a:xfrm>
            <a:off x="5277917" y="4150462"/>
            <a:ext cx="1952244" cy="19202"/>
          </a:xfrm>
          <a:prstGeom prst="rect">
            <a:avLst/>
          </a:prstGeom>
          <a:solidFill>
            <a:srgbClr val="BFDBFE"/>
          </a:solidFill>
          <a:ln w="12700" cap="flat" cmpd="sng">
            <a:solidFill>
              <a:srgbClr val="BFD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3" name="Google Shape;3063;p106"/>
          <p:cNvSpPr txBox="1"/>
          <p:nvPr/>
        </p:nvSpPr>
        <p:spPr>
          <a:xfrm>
            <a:off x="5277917" y="3617366"/>
            <a:ext cx="2029054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children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106"/>
          <p:cNvSpPr/>
          <p:nvPr/>
        </p:nvSpPr>
        <p:spPr>
          <a:xfrm>
            <a:off x="7229246" y="4150462"/>
            <a:ext cx="2018995" cy="19202"/>
          </a:xfrm>
          <a:prstGeom prst="rect">
            <a:avLst/>
          </a:prstGeom>
          <a:solidFill>
            <a:srgbClr val="BFDBFE"/>
          </a:solidFill>
          <a:ln w="12700" cap="flat" cmpd="sng">
            <a:solidFill>
              <a:srgbClr val="BFD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5" name="Google Shape;3065;p106"/>
          <p:cNvSpPr txBox="1"/>
          <p:nvPr/>
        </p:nvSpPr>
        <p:spPr>
          <a:xfrm>
            <a:off x="7229246" y="3617366"/>
            <a:ext cx="2095805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hobby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106"/>
          <p:cNvSpPr/>
          <p:nvPr/>
        </p:nvSpPr>
        <p:spPr>
          <a:xfrm>
            <a:off x="9242755" y="4150462"/>
            <a:ext cx="1723644" cy="19202"/>
          </a:xfrm>
          <a:prstGeom prst="rect">
            <a:avLst/>
          </a:prstGeom>
          <a:solidFill>
            <a:srgbClr val="BFDBFE"/>
          </a:solidFill>
          <a:ln w="12700" cap="flat" cmpd="sng">
            <a:solidFill>
              <a:srgbClr val="BFDBFE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7" name="Google Shape;3067;p106"/>
          <p:cNvSpPr txBox="1"/>
          <p:nvPr/>
        </p:nvSpPr>
        <p:spPr>
          <a:xfrm>
            <a:off x="9242755" y="3617366"/>
            <a:ext cx="1793138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Roboto"/>
              <a:buNone/>
            </a:pPr>
            <a:r>
              <a:rPr lang="en-US" sz="1200" b="1" i="0" u="none" strike="noStrike" cap="none">
                <a:solidFill>
                  <a:srgbClr val="1E3A8A"/>
                </a:solidFill>
                <a:latin typeface="Roboto"/>
                <a:ea typeface="Roboto"/>
                <a:cs typeface="Roboto"/>
                <a:sym typeface="Roboto"/>
              </a:rPr>
              <a:t>weight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106"/>
          <p:cNvSpPr/>
          <p:nvPr/>
        </p:nvSpPr>
        <p:spPr>
          <a:xfrm>
            <a:off x="1228954" y="4712818"/>
            <a:ext cx="9734702" cy="914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106"/>
          <p:cNvSpPr/>
          <p:nvPr/>
        </p:nvSpPr>
        <p:spPr>
          <a:xfrm>
            <a:off x="1228954" y="4169664"/>
            <a:ext cx="1952244" cy="55229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106"/>
          <p:cNvSpPr/>
          <p:nvPr/>
        </p:nvSpPr>
        <p:spPr>
          <a:xfrm>
            <a:off x="3172054" y="4169664"/>
            <a:ext cx="9144" cy="552298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106"/>
          <p:cNvSpPr txBox="1"/>
          <p:nvPr/>
        </p:nvSpPr>
        <p:spPr>
          <a:xfrm>
            <a:off x="1228954" y="4169664"/>
            <a:ext cx="1867205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charles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106"/>
          <p:cNvSpPr txBox="1"/>
          <p:nvPr/>
        </p:nvSpPr>
        <p:spPr>
          <a:xfrm>
            <a:off x="3175711" y="4169664"/>
            <a:ext cx="2181758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1992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106"/>
          <p:cNvSpPr txBox="1"/>
          <p:nvPr/>
        </p:nvSpPr>
        <p:spPr>
          <a:xfrm>
            <a:off x="5277917" y="4169664"/>
            <a:ext cx="2029054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106"/>
          <p:cNvSpPr txBox="1"/>
          <p:nvPr/>
        </p:nvSpPr>
        <p:spPr>
          <a:xfrm>
            <a:off x="7229246" y="4169664"/>
            <a:ext cx="2095805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ourier New"/>
              <a:buNone/>
            </a:pPr>
            <a:r>
              <a:rPr lang="en-US" sz="1200" b="0" i="1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106"/>
          <p:cNvSpPr txBox="1"/>
          <p:nvPr/>
        </p:nvSpPr>
        <p:spPr>
          <a:xfrm>
            <a:off x="9242755" y="4169664"/>
            <a:ext cx="1793138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112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106"/>
          <p:cNvSpPr/>
          <p:nvPr/>
        </p:nvSpPr>
        <p:spPr>
          <a:xfrm>
            <a:off x="1228954" y="5251399"/>
            <a:ext cx="9734702" cy="914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7" name="Google Shape;3077;p106"/>
          <p:cNvSpPr/>
          <p:nvPr/>
        </p:nvSpPr>
        <p:spPr>
          <a:xfrm>
            <a:off x="1228954" y="4717390"/>
            <a:ext cx="1952244" cy="54315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8" name="Google Shape;3078;p106"/>
          <p:cNvSpPr/>
          <p:nvPr/>
        </p:nvSpPr>
        <p:spPr>
          <a:xfrm>
            <a:off x="3172054" y="4717390"/>
            <a:ext cx="9144" cy="54315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9" name="Google Shape;3079;p106"/>
          <p:cNvSpPr txBox="1"/>
          <p:nvPr/>
        </p:nvSpPr>
        <p:spPr>
          <a:xfrm>
            <a:off x="1228954" y="4717390"/>
            <a:ext cx="1867205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bob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106"/>
          <p:cNvSpPr txBox="1"/>
          <p:nvPr/>
        </p:nvSpPr>
        <p:spPr>
          <a:xfrm>
            <a:off x="3175711" y="4717390"/>
            <a:ext cx="2181758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1984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1" name="Google Shape;3081;p106"/>
          <p:cNvSpPr txBox="1"/>
          <p:nvPr/>
        </p:nvSpPr>
        <p:spPr>
          <a:xfrm>
            <a:off x="5277917" y="4717390"/>
            <a:ext cx="2029054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2" name="Google Shape;3082;p106"/>
          <p:cNvSpPr txBox="1"/>
          <p:nvPr/>
        </p:nvSpPr>
        <p:spPr>
          <a:xfrm>
            <a:off x="7229246" y="4717390"/>
            <a:ext cx="2095805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Dancing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3" name="Google Shape;3083;p106"/>
          <p:cNvSpPr txBox="1"/>
          <p:nvPr/>
        </p:nvSpPr>
        <p:spPr>
          <a:xfrm>
            <a:off x="9242755" y="4717390"/>
            <a:ext cx="1793138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83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4" name="Google Shape;3084;p106"/>
          <p:cNvSpPr/>
          <p:nvPr/>
        </p:nvSpPr>
        <p:spPr>
          <a:xfrm>
            <a:off x="1228954" y="5260543"/>
            <a:ext cx="1952244" cy="543154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5" name="Google Shape;3085;p106"/>
          <p:cNvSpPr/>
          <p:nvPr/>
        </p:nvSpPr>
        <p:spPr>
          <a:xfrm>
            <a:off x="3172054" y="5260543"/>
            <a:ext cx="9144" cy="543154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3F4F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6" name="Google Shape;3086;p106"/>
          <p:cNvSpPr txBox="1"/>
          <p:nvPr/>
        </p:nvSpPr>
        <p:spPr>
          <a:xfrm>
            <a:off x="1228954" y="5260543"/>
            <a:ext cx="1867205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111827"/>
                </a:solidFill>
                <a:latin typeface="Courier New"/>
                <a:ea typeface="Courier New"/>
                <a:cs typeface="Courier New"/>
                <a:sym typeface="Courier New"/>
              </a:rPr>
              <a:t>alice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7" name="Google Shape;3087;p106"/>
          <p:cNvSpPr txBox="1"/>
          <p:nvPr/>
        </p:nvSpPr>
        <p:spPr>
          <a:xfrm>
            <a:off x="3175711" y="5260543"/>
            <a:ext cx="2181758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1985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106"/>
          <p:cNvSpPr txBox="1"/>
          <p:nvPr/>
        </p:nvSpPr>
        <p:spPr>
          <a:xfrm>
            <a:off x="5277917" y="5260543"/>
            <a:ext cx="2029054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ourier New"/>
              <a:buNone/>
            </a:pPr>
            <a:r>
              <a:rPr lang="en-US" sz="1200" b="0" i="1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106"/>
          <p:cNvSpPr txBox="1"/>
          <p:nvPr/>
        </p:nvSpPr>
        <p:spPr>
          <a:xfrm>
            <a:off x="7229246" y="5260543"/>
            <a:ext cx="2095805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Biking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0" name="Google Shape;3090;p106"/>
          <p:cNvSpPr txBox="1"/>
          <p:nvPr/>
        </p:nvSpPr>
        <p:spPr>
          <a:xfrm>
            <a:off x="9242755" y="5260543"/>
            <a:ext cx="1793138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1" name="Google Shape;3091;p10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18895" y="6074359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92" name="Google Shape;3092;p106"/>
          <p:cNvSpPr txBox="1"/>
          <p:nvPr/>
        </p:nvSpPr>
        <p:spPr>
          <a:xfrm>
            <a:off x="1429207" y="6036869"/>
            <a:ext cx="8944661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sort_index()</a:t>
            </a: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method returns a new DataFrame sorted by the index labels. Setting </a:t>
            </a: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ascending=False</a:t>
            </a:r>
            <a:r>
              <a:rPr lang="en-US" sz="10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reverses the order (Z to A).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3" name="Google Shape;3093;p106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10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0" name="Google Shape;3100;p107" descr="preencoded.png"/>
          <p:cNvPicPr preferRelativeResize="0"/>
          <p:nvPr/>
        </p:nvPicPr>
        <p:blipFill rotWithShape="1">
          <a:blip r:embed="rId3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1" name="Google Shape;3101;p107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3102" name="Google Shape;3102;p107"/>
          <p:cNvSpPr txBox="1"/>
          <p:nvPr/>
        </p:nvSpPr>
        <p:spPr>
          <a:xfrm>
            <a:off x="609905" y="381305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3" name="Google Shape;3103;p107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104" name="Google Shape;3104;p107"/>
          <p:cNvSpPr txBox="1"/>
          <p:nvPr/>
        </p:nvSpPr>
        <p:spPr>
          <a:xfrm>
            <a:off x="1162202" y="1143000"/>
            <a:ext cx="98682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Sorting a DataFrame - inplace argument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5" name="Google Shape;3105;p107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1218895" y="1867205"/>
            <a:ext cx="9753905" cy="1333195"/>
          </a:xfrm>
          <a:prstGeom prst="rect">
            <a:avLst/>
          </a:prstGeom>
          <a:noFill/>
          <a:ln>
            <a:noFill/>
          </a:ln>
        </p:spPr>
      </p:pic>
      <p:sp>
        <p:nvSpPr>
          <p:cNvPr id="3106" name="Google Shape;3106;p107"/>
          <p:cNvSpPr/>
          <p:nvPr/>
        </p:nvSpPr>
        <p:spPr>
          <a:xfrm>
            <a:off x="1524305" y="2133295"/>
            <a:ext cx="114300" cy="114300"/>
          </a:xfrm>
          <a:prstGeom prst="ellipse">
            <a:avLst/>
          </a:prstGeom>
          <a:solidFill>
            <a:srgbClr val="EF4444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7" name="Google Shape;3107;p107"/>
          <p:cNvSpPr/>
          <p:nvPr/>
        </p:nvSpPr>
        <p:spPr>
          <a:xfrm>
            <a:off x="1714500" y="2133295"/>
            <a:ext cx="114300" cy="114300"/>
          </a:xfrm>
          <a:prstGeom prst="ellipse">
            <a:avLst/>
          </a:prstGeom>
          <a:solidFill>
            <a:srgbClr val="F59E0B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8" name="Google Shape;3108;p107"/>
          <p:cNvSpPr/>
          <p:nvPr/>
        </p:nvSpPr>
        <p:spPr>
          <a:xfrm>
            <a:off x="1904695" y="2133295"/>
            <a:ext cx="114300" cy="114300"/>
          </a:xfrm>
          <a:prstGeom prst="ellipse">
            <a:avLst/>
          </a:prstGeom>
          <a:solidFill>
            <a:srgbClr val="10B981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9" name="Google Shape;3109;p107"/>
          <p:cNvSpPr txBox="1"/>
          <p:nvPr/>
        </p:nvSpPr>
        <p:spPr>
          <a:xfrm>
            <a:off x="2171700" y="2095805"/>
            <a:ext cx="1200607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3F4F6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Python Console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0" name="Google Shape;3110;p107"/>
          <p:cNvSpPr txBox="1"/>
          <p:nvPr/>
        </p:nvSpPr>
        <p:spPr>
          <a:xfrm>
            <a:off x="1524305" y="2361895"/>
            <a:ext cx="93351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people</a:t>
            </a:r>
            <a:r>
              <a:rPr lang="en-US" sz="15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.sort_index(inplace=</a:t>
            </a:r>
            <a:r>
              <a:rPr lang="en-US" sz="1500" b="0" i="0" u="none" strike="noStrike" cap="non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US" sz="1500" b="0" i="0" u="none" strike="noStrike" cap="none">
                <a:solidFill>
                  <a:srgbClr val="F3F4F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107"/>
          <p:cNvSpPr txBox="1"/>
          <p:nvPr/>
        </p:nvSpPr>
        <p:spPr>
          <a:xfrm>
            <a:off x="1524305" y="2704795"/>
            <a:ext cx="93351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people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2" name="Google Shape;3112;p10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18895" y="3943807"/>
            <a:ext cx="9753905" cy="284835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13" name="Google Shape;3113;p107"/>
          <p:cNvGraphicFramePr/>
          <p:nvPr/>
        </p:nvGraphicFramePr>
        <p:xfrm>
          <a:off x="1228954" y="3952951"/>
          <a:ext cx="9734700" cy="283925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2445100"/>
                <a:gridCol w="2927900"/>
                <a:gridCol w="2180850"/>
                <a:gridCol w="2180850"/>
              </a:tblGrid>
              <a:tr h="56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20"/>
                        <a:buFont typeface="Calibri"/>
                        <a:buNone/>
                      </a:pP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birthyear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weight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height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56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1E293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1985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172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1E293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1984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181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1E293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1992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112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185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b="1" u="none" strike="noStrike" cap="none">
                          <a:solidFill>
                            <a:srgbClr val="1E293B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eugene</a:t>
                      </a:r>
                      <a:endParaRPr sz="132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i="1" u="none" strike="noStrike" cap="none">
                          <a:solidFill>
                            <a:srgbClr val="9CA3A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/>
                    </a:p>
                  </a:txBody>
                  <a:tcPr marL="152700" marR="152700" marT="152700" marB="152700" anchor="ctr">
                    <a:lnL w="19050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i="1" u="none" strike="noStrike" cap="none">
                          <a:solidFill>
                            <a:srgbClr val="9CA3A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/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CA3AF"/>
                        </a:buClr>
                        <a:buSzPts val="1320"/>
                        <a:buFont typeface="Roboto Mono"/>
                        <a:buNone/>
                      </a:pPr>
                      <a:r>
                        <a:rPr lang="en-US" sz="1320" i="1" u="none" strike="noStrike" cap="none">
                          <a:solidFill>
                            <a:srgbClr val="9CA3A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200" u="none" strike="noStrike" cap="none"/>
                    </a:p>
                  </a:txBody>
                  <a:tcPr marL="152700" marR="152700" marT="152700" marB="1527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1F5F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14" name="Google Shape;3114;p107"/>
          <p:cNvSpPr txBox="1"/>
          <p:nvPr/>
        </p:nvSpPr>
        <p:spPr>
          <a:xfrm>
            <a:off x="1162202" y="7096658"/>
            <a:ext cx="9868205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The original DataFrame is modified directly. The method returns </a:t>
            </a:r>
            <a:r>
              <a:rPr lang="en-US" sz="13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5" name="Google Shape;3115;p10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49778" y="713689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116" name="Google Shape;3116;p107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7" name="Google Shape;3117;p107" descr="preencoded.png"/>
          <p:cNvPicPr preferRelativeResize="0"/>
          <p:nvPr/>
        </p:nvPicPr>
        <p:blipFill rotWithShape="1">
          <a:blip r:embed="rId9">
            <a:alphaModFix/>
          </a:blip>
          <a:srcRect l="-17" r="-16"/>
          <a:stretch/>
        </p:blipFill>
        <p:spPr>
          <a:xfrm>
            <a:off x="5924398" y="3353105"/>
            <a:ext cx="342900" cy="43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8" name="Google Shape;3118;p107" descr="preencoded.png"/>
          <p:cNvPicPr preferRelativeResize="0"/>
          <p:nvPr/>
        </p:nvPicPr>
        <p:blipFill rotWithShape="1">
          <a:blip r:embed="rId10">
            <a:alphaModFix/>
          </a:blip>
          <a:srcRect l="-133" r="-133"/>
          <a:stretch/>
        </p:blipFill>
        <p:spPr>
          <a:xfrm>
            <a:off x="6010351" y="3438144"/>
            <a:ext cx="171907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p10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25" name="Google Shape;3125;p10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6" name="Google Shape;3126;p108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9753905" y="761695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7" name="Google Shape;3127;p108" descr="preencoded.png"/>
          <p:cNvPicPr preferRelativeResize="0"/>
          <p:nvPr/>
        </p:nvPicPr>
        <p:blipFill rotWithShape="1">
          <a:blip r:embed="rId5">
            <a:alphaModFix amt="50000"/>
          </a:blip>
          <a:srcRect/>
          <a:stretch/>
        </p:blipFill>
        <p:spPr>
          <a:xfrm>
            <a:off x="761695" y="3810305"/>
            <a:ext cx="3047695" cy="3047695"/>
          </a:xfrm>
          <a:prstGeom prst="rect">
            <a:avLst/>
          </a:prstGeom>
          <a:noFill/>
          <a:ln>
            <a:noFill/>
          </a:ln>
        </p:spPr>
      </p:pic>
      <p:sp>
        <p:nvSpPr>
          <p:cNvPr id="3128" name="Google Shape;3128;p108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 - Sorting by Value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9" name="Google Shape;3129;p108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130" name="Google Shape;3130;p108"/>
          <p:cNvSpPr/>
          <p:nvPr/>
        </p:nvSpPr>
        <p:spPr>
          <a:xfrm>
            <a:off x="1828800" y="1524305"/>
            <a:ext cx="8534095" cy="961949"/>
          </a:xfrm>
          <a:prstGeom prst="roundRect">
            <a:avLst>
              <a:gd name="adj" fmla="val 7529"/>
            </a:avLst>
          </a:prstGeom>
          <a:solidFill>
            <a:srgbClr val="1E293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16200000" algn="bl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1" name="Google Shape;3131;p108"/>
          <p:cNvSpPr txBox="1"/>
          <p:nvPr/>
        </p:nvSpPr>
        <p:spPr>
          <a:xfrm>
            <a:off x="2018995" y="1714500"/>
            <a:ext cx="381305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2" name="Google Shape;3132;p108"/>
          <p:cNvSpPr txBox="1"/>
          <p:nvPr/>
        </p:nvSpPr>
        <p:spPr>
          <a:xfrm>
            <a:off x="2397557" y="1714500"/>
            <a:ext cx="685800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75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people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3" name="Google Shape;3133;p108"/>
          <p:cNvSpPr txBox="1"/>
          <p:nvPr/>
        </p:nvSpPr>
        <p:spPr>
          <a:xfrm>
            <a:off x="3001061" y="1714500"/>
            <a:ext cx="181051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4" name="Google Shape;3134;p108"/>
          <p:cNvSpPr txBox="1"/>
          <p:nvPr/>
        </p:nvSpPr>
        <p:spPr>
          <a:xfrm>
            <a:off x="3101645" y="1714500"/>
            <a:ext cx="1191463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rPr>
              <a:t>sort_values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5" name="Google Shape;3135;p108"/>
          <p:cNvSpPr txBox="1"/>
          <p:nvPr/>
        </p:nvSpPr>
        <p:spPr>
          <a:xfrm>
            <a:off x="4208069" y="1714500"/>
            <a:ext cx="181051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6" name="Google Shape;3136;p108"/>
          <p:cNvSpPr txBox="1"/>
          <p:nvPr/>
        </p:nvSpPr>
        <p:spPr>
          <a:xfrm>
            <a:off x="4308653" y="1714500"/>
            <a:ext cx="286207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by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7" name="Google Shape;3137;p108"/>
          <p:cNvSpPr txBox="1"/>
          <p:nvPr/>
        </p:nvSpPr>
        <p:spPr>
          <a:xfrm>
            <a:off x="4509821" y="1714500"/>
            <a:ext cx="181051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8" name="Google Shape;3138;p108"/>
          <p:cNvSpPr txBox="1"/>
          <p:nvPr/>
        </p:nvSpPr>
        <p:spPr>
          <a:xfrm>
            <a:off x="4610405" y="1714500"/>
            <a:ext cx="581558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8C379"/>
                </a:solidFill>
                <a:latin typeface="Courier New"/>
                <a:ea typeface="Courier New"/>
                <a:cs typeface="Courier New"/>
                <a:sym typeface="Courier New"/>
              </a:rPr>
              <a:t>"age"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108"/>
          <p:cNvSpPr txBox="1"/>
          <p:nvPr/>
        </p:nvSpPr>
        <p:spPr>
          <a:xfrm>
            <a:off x="5113325" y="1714500"/>
            <a:ext cx="181051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108"/>
          <p:cNvSpPr txBox="1"/>
          <p:nvPr/>
        </p:nvSpPr>
        <p:spPr>
          <a:xfrm>
            <a:off x="5213909" y="1714500"/>
            <a:ext cx="781812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inplace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1" name="Google Shape;3141;p108"/>
          <p:cNvSpPr txBox="1"/>
          <p:nvPr/>
        </p:nvSpPr>
        <p:spPr>
          <a:xfrm>
            <a:off x="5917997" y="1714500"/>
            <a:ext cx="181051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108"/>
          <p:cNvSpPr txBox="1"/>
          <p:nvPr/>
        </p:nvSpPr>
        <p:spPr>
          <a:xfrm>
            <a:off x="6018581" y="1714500"/>
            <a:ext cx="486461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C678DD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3" name="Google Shape;3143;p108"/>
          <p:cNvSpPr txBox="1"/>
          <p:nvPr/>
        </p:nvSpPr>
        <p:spPr>
          <a:xfrm>
            <a:off x="6420002" y="1714500"/>
            <a:ext cx="181051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D1D5D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4" name="Google Shape;3144;p108"/>
          <p:cNvSpPr txBox="1"/>
          <p:nvPr/>
        </p:nvSpPr>
        <p:spPr>
          <a:xfrm>
            <a:off x="2018995" y="2041855"/>
            <a:ext cx="381305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5" name="Google Shape;3145;p108"/>
          <p:cNvSpPr txBox="1"/>
          <p:nvPr/>
        </p:nvSpPr>
        <p:spPr>
          <a:xfrm>
            <a:off x="2397557" y="2041855"/>
            <a:ext cx="685800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75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E06C75"/>
                </a:solidFill>
                <a:latin typeface="Courier New"/>
                <a:ea typeface="Courier New"/>
                <a:cs typeface="Courier New"/>
                <a:sym typeface="Courier New"/>
              </a:rPr>
              <a:t>people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6" name="Google Shape;3146;p108" descr="preencoded.png"/>
          <p:cNvPicPr preferRelativeResize="0"/>
          <p:nvPr/>
        </p:nvPicPr>
        <p:blipFill rotWithShape="1">
          <a:blip r:embed="rId7">
            <a:alphaModFix/>
          </a:blip>
          <a:srcRect l="-50" r="-49"/>
          <a:stretch/>
        </p:blipFill>
        <p:spPr>
          <a:xfrm>
            <a:off x="5982005" y="2978201"/>
            <a:ext cx="228600" cy="3044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47" name="Google Shape;3147;p108"/>
          <p:cNvGraphicFramePr/>
          <p:nvPr/>
        </p:nvGraphicFramePr>
        <p:xfrm>
          <a:off x="1218895" y="3474720"/>
          <a:ext cx="9753025" cy="1772100"/>
        </p:xfrm>
        <a:graphic>
          <a:graphicData uri="http://schemas.openxmlformats.org/drawingml/2006/table">
            <a:tbl>
              <a:tblPr>
                <a:noFill/>
                <a:tableStyleId>{D884A612-7BE0-4178-B2F7-9DC0DBD60275}</a:tableStyleId>
              </a:tblPr>
              <a:tblGrid>
                <a:gridCol w="1177750"/>
                <a:gridCol w="737925"/>
                <a:gridCol w="2058325"/>
                <a:gridCol w="1177750"/>
                <a:gridCol w="1177750"/>
                <a:gridCol w="1507850"/>
                <a:gridCol w="847650"/>
                <a:gridCol w="1068025"/>
              </a:tblGrid>
              <a:tr h="443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Calibri"/>
                        <a:buNone/>
                      </a:pP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body_mass_index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hobby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over 30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overweight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pets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47556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weight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443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charles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24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32.72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112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</a:tr>
              <a:tr h="443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alice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31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20.90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Biking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False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NaN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68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443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b="1" u="none" strike="noStrike" cap="none">
                          <a:solidFill>
                            <a:srgbClr val="334155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bob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32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25.35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Dancing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True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0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Roboto Mono"/>
                        <a:buNone/>
                      </a:pPr>
                      <a:r>
                        <a:rPr lang="en-US" sz="1080" u="none" strike="noStrike" cap="none">
                          <a:solidFill>
                            <a:srgbClr val="000000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83</a:t>
                      </a:r>
                      <a:endParaRPr sz="1080" u="none" strike="noStrike" cap="none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152700" marR="152700" marT="114300" marB="114300" anchor="ctr">
                    <a:lnL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2E8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148" name="Google Shape;3148;p108" descr="preencoded.png"/>
          <p:cNvPicPr preferRelativeResize="0"/>
          <p:nvPr/>
        </p:nvPicPr>
        <p:blipFill rotWithShape="1">
          <a:blip r:embed="rId8">
            <a:alphaModFix/>
          </a:blip>
          <a:srcRect l="-3" r="-3"/>
          <a:stretch/>
        </p:blipFill>
        <p:spPr>
          <a:xfrm>
            <a:off x="1828800" y="5545836"/>
            <a:ext cx="8534095" cy="84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9" name="Google Shape;3149;p10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18995" y="576986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150" name="Google Shape;3150;p108"/>
          <p:cNvSpPr txBox="1"/>
          <p:nvPr/>
        </p:nvSpPr>
        <p:spPr>
          <a:xfrm>
            <a:off x="2324405" y="5698541"/>
            <a:ext cx="7963510" cy="54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The rows are now ordered by the </a:t>
            </a:r>
            <a:r>
              <a:rPr lang="en-US" sz="1300" b="1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en-US" sz="13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column in ascending order (default). </a:t>
            </a:r>
            <a:r>
              <a:rPr lang="en-US" sz="10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inplace=True</a:t>
            </a:r>
            <a:r>
              <a:rPr lang="en-US" sz="13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modifies the original DataFrame directly.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1" name="Google Shape;3151;p108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p10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8" name="Google Shape;3158;p10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159" name="Google Shape;3159;p109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60" name="Google Shape;3160;p109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161" name="Google Shape;3161;p109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2" name="Google Shape;3162;p109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3" name="Google Shape;3163;p109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3164" name="Google Shape;3164;p109"/>
          <p:cNvSpPr txBox="1"/>
          <p:nvPr/>
        </p:nvSpPr>
        <p:spPr>
          <a:xfrm>
            <a:off x="914400" y="28904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Plotting a DataFrame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5" name="Google Shape;3165;p109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Visualize data directly using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.plot()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method. Specify the chart type and axes for quick insights.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6" name="Google Shape;3166;p10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7" name="Google Shape;3167;p109"/>
          <p:cNvSpPr txBox="1"/>
          <p:nvPr/>
        </p:nvSpPr>
        <p:spPr>
          <a:xfrm>
            <a:off x="952805" y="503377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integrates Matplotlib capabilities directly into Pandas objects.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8" name="Google Shape;3168;p109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638044"/>
            <a:ext cx="6133795" cy="2953512"/>
          </a:xfrm>
          <a:prstGeom prst="rect">
            <a:avLst/>
          </a:prstGeom>
          <a:noFill/>
          <a:ln>
            <a:noFill/>
          </a:ln>
        </p:spPr>
      </p:pic>
      <p:sp>
        <p:nvSpPr>
          <p:cNvPr id="3169" name="Google Shape;3169;p109"/>
          <p:cNvSpPr/>
          <p:nvPr/>
        </p:nvSpPr>
        <p:spPr>
          <a:xfrm>
            <a:off x="5458054" y="2648102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109"/>
          <p:cNvSpPr/>
          <p:nvPr/>
        </p:nvSpPr>
        <p:spPr>
          <a:xfrm>
            <a:off x="5458054" y="3067812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109"/>
          <p:cNvSpPr/>
          <p:nvPr/>
        </p:nvSpPr>
        <p:spPr>
          <a:xfrm>
            <a:off x="5609844" y="2799893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2" name="Google Shape;3172;p109"/>
          <p:cNvSpPr/>
          <p:nvPr/>
        </p:nvSpPr>
        <p:spPr>
          <a:xfrm>
            <a:off x="5800954" y="2799893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3" name="Google Shape;3173;p109"/>
          <p:cNvSpPr/>
          <p:nvPr/>
        </p:nvSpPr>
        <p:spPr>
          <a:xfrm>
            <a:off x="5991149" y="2799893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4" name="Google Shape;3174;p109"/>
          <p:cNvSpPr txBox="1"/>
          <p:nvPr/>
        </p:nvSpPr>
        <p:spPr>
          <a:xfrm>
            <a:off x="6258154" y="2762402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5" name="Google Shape;3175;p109"/>
          <p:cNvSpPr txBox="1"/>
          <p:nvPr/>
        </p:nvSpPr>
        <p:spPr>
          <a:xfrm>
            <a:off x="5686654" y="3304642"/>
            <a:ext cx="573786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people.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plot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B923C"/>
                </a:solidFill>
                <a:latin typeface="Courier New"/>
                <a:ea typeface="Courier New"/>
                <a:cs typeface="Courier New"/>
                <a:sym typeface="Courier New"/>
              </a:rPr>
              <a:t>kind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"line"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B923C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"body_mass_index"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B923C"/>
                </a:solidFill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"height"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"weight"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plt.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6" name="Google Shape;3176;p109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109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1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83" name="Google Shape;3183;p11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4" name="Google Shape;3184;p1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5" name="Google Shape;3185;p1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6" name="Google Shape;3186;p110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7" name="Google Shape;3187;p11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8" name="Google Shape;3188;p1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91495" y="1759306"/>
            <a:ext cx="609905" cy="60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9" name="Google Shape;3189;p1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53344" y="1921154"/>
            <a:ext cx="286207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190" name="Google Shape;3190;p110"/>
          <p:cNvSpPr txBox="1"/>
          <p:nvPr/>
        </p:nvSpPr>
        <p:spPr>
          <a:xfrm>
            <a:off x="10791749" y="2445106"/>
            <a:ext cx="286207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.csv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1" name="Google Shape;3191;p1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20095" y="5114239"/>
            <a:ext cx="609905" cy="60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2" name="Google Shape;3192;p110" descr="preencoded.png"/>
          <p:cNvPicPr preferRelativeResize="0"/>
          <p:nvPr/>
        </p:nvPicPr>
        <p:blipFill rotWithShape="1">
          <a:blip r:embed="rId9">
            <a:alphaModFix/>
          </a:blip>
          <a:srcRect l="-1117" r="-1118"/>
          <a:stretch/>
        </p:blipFill>
        <p:spPr>
          <a:xfrm>
            <a:off x="11015777" y="5276088"/>
            <a:ext cx="219456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193" name="Google Shape;3193;p110"/>
          <p:cNvSpPr txBox="1"/>
          <p:nvPr/>
        </p:nvSpPr>
        <p:spPr>
          <a:xfrm>
            <a:off x="11005718" y="5800039"/>
            <a:ext cx="324612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.xlsx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4" name="Google Shape;3194;p11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62495" y="5223053"/>
            <a:ext cx="609905" cy="60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5" name="Google Shape;3195;p110" descr="preencoded.png"/>
          <p:cNvPicPr preferRelativeResize="0"/>
          <p:nvPr/>
        </p:nvPicPr>
        <p:blipFill rotWithShape="1">
          <a:blip r:embed="rId11">
            <a:alphaModFix/>
          </a:blip>
          <a:srcRect l="-1117" r="-1118"/>
          <a:stretch/>
        </p:blipFill>
        <p:spPr>
          <a:xfrm>
            <a:off x="7358177" y="5384902"/>
            <a:ext cx="219456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196" name="Google Shape;3196;p110"/>
          <p:cNvSpPr txBox="1"/>
          <p:nvPr/>
        </p:nvSpPr>
        <p:spPr>
          <a:xfrm>
            <a:off x="7342632" y="5908853"/>
            <a:ext cx="333756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.json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110"/>
          <p:cNvSpPr/>
          <p:nvPr/>
        </p:nvSpPr>
        <p:spPr>
          <a:xfrm>
            <a:off x="7391095" y="1751076"/>
            <a:ext cx="609905" cy="609905"/>
          </a:xfrm>
          <a:prstGeom prst="roundRect">
            <a:avLst>
              <a:gd name="adj" fmla="val 18741"/>
            </a:avLst>
          </a:prstGeom>
          <a:noFill/>
          <a:ln w="12700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98" name="Google Shape;3198;p110" descr="preencoded.png"/>
          <p:cNvPicPr preferRelativeResize="0"/>
          <p:nvPr/>
        </p:nvPicPr>
        <p:blipFill rotWithShape="1">
          <a:blip r:embed="rId12">
            <a:alphaModFix/>
          </a:blip>
          <a:srcRect l="-1117" r="-1118"/>
          <a:stretch/>
        </p:blipFill>
        <p:spPr>
          <a:xfrm>
            <a:off x="7586777" y="1912925"/>
            <a:ext cx="219456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199" name="Google Shape;3199;p110"/>
          <p:cNvSpPr txBox="1"/>
          <p:nvPr/>
        </p:nvSpPr>
        <p:spPr>
          <a:xfrm>
            <a:off x="7563917" y="2436876"/>
            <a:ext cx="342900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.html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0" name="Google Shape;3200;p110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991295" y="6172200"/>
            <a:ext cx="609905" cy="60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1" name="Google Shape;3201;p110" descr="preencoded.png"/>
          <p:cNvPicPr preferRelativeResize="0"/>
          <p:nvPr/>
        </p:nvPicPr>
        <p:blipFill rotWithShape="1">
          <a:blip r:embed="rId14">
            <a:alphaModFix/>
          </a:blip>
          <a:srcRect t="-530" b="-530"/>
          <a:stretch/>
        </p:blipFill>
        <p:spPr>
          <a:xfrm>
            <a:off x="9172346" y="6334049"/>
            <a:ext cx="247802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110"/>
          <p:cNvSpPr txBox="1"/>
          <p:nvPr/>
        </p:nvSpPr>
        <p:spPr>
          <a:xfrm>
            <a:off x="9190634" y="6858000"/>
            <a:ext cx="295351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Roboto"/>
              <a:buNone/>
            </a:pPr>
            <a:r>
              <a:rPr lang="en-US" sz="900" b="1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SQL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3" name="Google Shape;3203;p110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4" name="Google Shape;3204;p110" descr="preencoded.png"/>
          <p:cNvPicPr preferRelativeResize="0"/>
          <p:nvPr/>
        </p:nvPicPr>
        <p:blipFill rotWithShape="1">
          <a:blip r:embed="rId15">
            <a:alphaModFix/>
          </a:blip>
          <a:srcRect t="-9" b="-8"/>
          <a:stretch/>
        </p:blipFill>
        <p:spPr>
          <a:xfrm>
            <a:off x="609905" y="1584655"/>
            <a:ext cx="6096305" cy="1193292"/>
          </a:xfrm>
          <a:prstGeom prst="rect">
            <a:avLst/>
          </a:prstGeom>
          <a:noFill/>
          <a:ln>
            <a:noFill/>
          </a:ln>
        </p:spPr>
      </p:pic>
      <p:sp>
        <p:nvSpPr>
          <p:cNvPr id="3205" name="Google Shape;3205;p110"/>
          <p:cNvSpPr txBox="1"/>
          <p:nvPr/>
        </p:nvSpPr>
        <p:spPr>
          <a:xfrm>
            <a:off x="914400" y="1813255"/>
            <a:ext cx="5677510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Saving and Loading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6" name="Google Shape;3206;p110"/>
          <p:cNvSpPr txBox="1"/>
          <p:nvPr/>
        </p:nvSpPr>
        <p:spPr>
          <a:xfrm>
            <a:off x="914400" y="2282342"/>
            <a:ext cx="62490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Pandas can save DataFrames to various backends such as: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7" name="Google Shape;3207;p110" descr="preencoded.png"/>
          <p:cNvPicPr preferRelativeResize="0"/>
          <p:nvPr/>
        </p:nvPicPr>
        <p:blipFill rotWithShape="1">
          <a:blip r:embed="rId16">
            <a:alphaModFix/>
          </a:blip>
          <a:srcRect t="-34" b="-33"/>
          <a:stretch/>
        </p:blipFill>
        <p:spPr>
          <a:xfrm>
            <a:off x="609905" y="3082442"/>
            <a:ext cx="6096305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208" name="Google Shape;3208;p110"/>
          <p:cNvSpPr/>
          <p:nvPr/>
        </p:nvSpPr>
        <p:spPr>
          <a:xfrm>
            <a:off x="733349" y="3206801"/>
            <a:ext cx="381305" cy="381305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09" name="Google Shape;3209;p110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28446" y="330189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10" name="Google Shape;3210;p110"/>
          <p:cNvSpPr txBox="1"/>
          <p:nvPr/>
        </p:nvSpPr>
        <p:spPr>
          <a:xfrm>
            <a:off x="1266444" y="3263494"/>
            <a:ext cx="326532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CSV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(Comma Separated Values)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1" name="Google Shape;3211;p110" descr="preencoded.png"/>
          <p:cNvPicPr preferRelativeResize="0"/>
          <p:nvPr/>
        </p:nvPicPr>
        <p:blipFill rotWithShape="1">
          <a:blip r:embed="rId16">
            <a:alphaModFix/>
          </a:blip>
          <a:srcRect t="-34" b="-33"/>
          <a:stretch/>
        </p:blipFill>
        <p:spPr>
          <a:xfrm>
            <a:off x="609905" y="3863340"/>
            <a:ext cx="6096305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212" name="Google Shape;3212;p110"/>
          <p:cNvSpPr/>
          <p:nvPr/>
        </p:nvSpPr>
        <p:spPr>
          <a:xfrm>
            <a:off x="733349" y="3987698"/>
            <a:ext cx="381305" cy="381305"/>
          </a:xfrm>
          <a:prstGeom prst="ellipse">
            <a:avLst/>
          </a:prstGeom>
          <a:solidFill>
            <a:srgbClr val="D1FAE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3" name="Google Shape;3213;p110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2221" y="4082796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14" name="Google Shape;3214;p110"/>
          <p:cNvSpPr txBox="1"/>
          <p:nvPr/>
        </p:nvSpPr>
        <p:spPr>
          <a:xfrm>
            <a:off x="1266444" y="4035247"/>
            <a:ext cx="3389681" cy="28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Excel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(requires </a:t>
            </a:r>
            <a:r>
              <a:rPr lang="en-US" sz="1500" b="0" i="0" u="none" strike="noStrike" cap="non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openpyxl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library)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5" name="Google Shape;3215;p110" descr="preencoded.png"/>
          <p:cNvPicPr preferRelativeResize="0"/>
          <p:nvPr/>
        </p:nvPicPr>
        <p:blipFill rotWithShape="1">
          <a:blip r:embed="rId16">
            <a:alphaModFix/>
          </a:blip>
          <a:srcRect t="-34" b="-33"/>
          <a:stretch/>
        </p:blipFill>
        <p:spPr>
          <a:xfrm>
            <a:off x="609905" y="4644238"/>
            <a:ext cx="6096305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216" name="Google Shape;3216;p110"/>
          <p:cNvSpPr/>
          <p:nvPr/>
        </p:nvSpPr>
        <p:spPr>
          <a:xfrm>
            <a:off x="733349" y="4768596"/>
            <a:ext cx="381305" cy="381305"/>
          </a:xfrm>
          <a:prstGeom prst="ellipse">
            <a:avLst/>
          </a:prstGeom>
          <a:solidFill>
            <a:srgbClr val="FEF3C7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7" name="Google Shape;3217;p110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52221" y="4863694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18" name="Google Shape;3218;p110"/>
          <p:cNvSpPr txBox="1"/>
          <p:nvPr/>
        </p:nvSpPr>
        <p:spPr>
          <a:xfrm>
            <a:off x="1266444" y="4825289"/>
            <a:ext cx="349940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JSON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(JavaScript Object Notation)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9" name="Google Shape;3219;p110" descr="preencoded.png"/>
          <p:cNvPicPr preferRelativeResize="0"/>
          <p:nvPr/>
        </p:nvPicPr>
        <p:blipFill rotWithShape="1">
          <a:blip r:embed="rId16">
            <a:alphaModFix/>
          </a:blip>
          <a:srcRect t="-34" b="-33"/>
          <a:stretch/>
        </p:blipFill>
        <p:spPr>
          <a:xfrm>
            <a:off x="609905" y="5426050"/>
            <a:ext cx="6096305" cy="62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0" name="Google Shape;3220;p110" descr="preencoded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52221" y="5644591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21" name="Google Shape;3221;p110"/>
          <p:cNvSpPr txBox="1"/>
          <p:nvPr/>
        </p:nvSpPr>
        <p:spPr>
          <a:xfrm>
            <a:off x="1266444" y="5607101"/>
            <a:ext cx="371886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(HyperText Markup Language)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2" name="Google Shape;3222;p110" descr="preencoded.png"/>
          <p:cNvPicPr preferRelativeResize="0"/>
          <p:nvPr/>
        </p:nvPicPr>
        <p:blipFill rotWithShape="1">
          <a:blip r:embed="rId16">
            <a:alphaModFix/>
          </a:blip>
          <a:srcRect t="-34" b="-33"/>
          <a:stretch/>
        </p:blipFill>
        <p:spPr>
          <a:xfrm>
            <a:off x="609905" y="6206947"/>
            <a:ext cx="6096305" cy="629107"/>
          </a:xfrm>
          <a:prstGeom prst="rect">
            <a:avLst/>
          </a:prstGeom>
          <a:noFill/>
          <a:ln>
            <a:noFill/>
          </a:ln>
        </p:spPr>
      </p:pic>
      <p:sp>
        <p:nvSpPr>
          <p:cNvPr id="3223" name="Google Shape;3223;p110"/>
          <p:cNvSpPr/>
          <p:nvPr/>
        </p:nvSpPr>
        <p:spPr>
          <a:xfrm>
            <a:off x="733349" y="6330391"/>
            <a:ext cx="381305" cy="381305"/>
          </a:xfrm>
          <a:prstGeom prst="ellipse">
            <a:avLst/>
          </a:prstGeom>
          <a:solidFill>
            <a:srgbClr val="DB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24" name="Google Shape;3224;p110" descr="preencoded.png"/>
          <p:cNvPicPr preferRelativeResize="0"/>
          <p:nvPr/>
        </p:nvPicPr>
        <p:blipFill rotWithShape="1">
          <a:blip r:embed="rId21">
            <a:alphaModFix/>
          </a:blip>
          <a:srcRect l="-1648" r="-1647"/>
          <a:stretch/>
        </p:blipFill>
        <p:spPr>
          <a:xfrm>
            <a:off x="838505" y="6425489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25" name="Google Shape;3225;p110"/>
          <p:cNvSpPr txBox="1"/>
          <p:nvPr/>
        </p:nvSpPr>
        <p:spPr>
          <a:xfrm>
            <a:off x="1266444" y="6387998"/>
            <a:ext cx="1420063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SQL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Database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6" name="Google Shape;3226;p110" descr="preencoded.png"/>
          <p:cNvPicPr preferRelativeResize="0"/>
          <p:nvPr/>
        </p:nvPicPr>
        <p:blipFill rotWithShape="1">
          <a:blip r:embed="rId22">
            <a:alphaModFix/>
          </a:blip>
          <a:srcRect t="-12" b="-12"/>
          <a:stretch/>
        </p:blipFill>
        <p:spPr>
          <a:xfrm>
            <a:off x="8382305" y="3562502"/>
            <a:ext cx="1828800" cy="1295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7" name="Google Shape;3227;p110" descr="preencoded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9068105" y="381030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8" name="Google Shape;3228;p110"/>
          <p:cNvSpPr txBox="1"/>
          <p:nvPr/>
        </p:nvSpPr>
        <p:spPr>
          <a:xfrm>
            <a:off x="8876995" y="4343400"/>
            <a:ext cx="99029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Roboto"/>
              <a:buNone/>
            </a:pPr>
            <a:r>
              <a:rPr lang="en-US" sz="13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DataFrame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1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35" name="Google Shape;3235;p11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36" name="Google Shape;3236;p11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37" name="Google Shape;3237;p111" descr="preencoded.png"/>
          <p:cNvPicPr preferRelativeResize="0"/>
          <p:nvPr/>
        </p:nvPicPr>
        <p:blipFill rotWithShape="1">
          <a:blip r:embed="rId4">
            <a:alphaModFix amt="50000"/>
          </a:blip>
          <a:srcRect l="-27" r="-27"/>
          <a:stretch/>
        </p:blipFill>
        <p:spPr>
          <a:xfrm>
            <a:off x="381305" y="5257800"/>
            <a:ext cx="10671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38" name="Google Shape;3238;p111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DataFrames - Saving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39" name="Google Shape;3239;p11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0" name="Google Shape;3240;p111" descr="preencoded.png"/>
          <p:cNvPicPr preferRelativeResize="0"/>
          <p:nvPr/>
        </p:nvPicPr>
        <p:blipFill rotWithShape="1">
          <a:blip r:embed="rId6">
            <a:alphaModFix/>
          </a:blip>
          <a:srcRect l="-5" r="-4"/>
          <a:stretch/>
        </p:blipFill>
        <p:spPr>
          <a:xfrm>
            <a:off x="609905" y="2186330"/>
            <a:ext cx="4381805" cy="2447849"/>
          </a:xfrm>
          <a:prstGeom prst="rect">
            <a:avLst/>
          </a:prstGeom>
          <a:noFill/>
          <a:ln>
            <a:noFill/>
          </a:ln>
        </p:spPr>
      </p:pic>
      <p:sp>
        <p:nvSpPr>
          <p:cNvPr id="3241" name="Google Shape;3241;p111"/>
          <p:cNvSpPr txBox="1"/>
          <p:nvPr/>
        </p:nvSpPr>
        <p:spPr>
          <a:xfrm>
            <a:off x="914400" y="2414930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Creating Sample Data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2" name="Google Shape;3242;p111"/>
          <p:cNvSpPr txBox="1"/>
          <p:nvPr/>
        </p:nvSpPr>
        <p:spPr>
          <a:xfrm>
            <a:off x="914400" y="2909621"/>
            <a:ext cx="3934663" cy="149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To demonstrate saving capabilities, let's create a new DataFrame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my_df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containing mixed data types (strings, floats, integers, and NaN values).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3" name="Google Shape;3243;p111" descr="preencoded.png"/>
          <p:cNvPicPr preferRelativeResize="0"/>
          <p:nvPr/>
        </p:nvPicPr>
        <p:blipFill rotWithShape="1">
          <a:blip r:embed="rId7">
            <a:alphaModFix/>
          </a:blip>
          <a:srcRect t="-44" b="-45"/>
          <a:stretch/>
        </p:blipFill>
        <p:spPr>
          <a:xfrm>
            <a:off x="609905" y="4977079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4" name="Google Shape;3244;p111"/>
          <p:cNvSpPr txBox="1"/>
          <p:nvPr/>
        </p:nvSpPr>
        <p:spPr>
          <a:xfrm>
            <a:off x="981151" y="4938674"/>
            <a:ext cx="4086454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DataFrame will be used in subsequent slides to demonstrate saving to CSV, HTML, and JSON formats.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5" name="Google Shape;3245;p111" descr="preencoded.png"/>
          <p:cNvPicPr preferRelativeResize="0"/>
          <p:nvPr/>
        </p:nvPicPr>
        <p:blipFill rotWithShape="1">
          <a:blip r:embed="rId8">
            <a:alphaModFix/>
          </a:blip>
          <a:srcRect t="-1" b="-1"/>
          <a:stretch/>
        </p:blipFill>
        <p:spPr>
          <a:xfrm>
            <a:off x="5447995" y="1803197"/>
            <a:ext cx="6133795" cy="4317797"/>
          </a:xfrm>
          <a:prstGeom prst="rect">
            <a:avLst/>
          </a:prstGeom>
          <a:noFill/>
          <a:ln>
            <a:noFill/>
          </a:ln>
        </p:spPr>
      </p:pic>
      <p:sp>
        <p:nvSpPr>
          <p:cNvPr id="3246" name="Google Shape;3246;p111"/>
          <p:cNvSpPr/>
          <p:nvPr/>
        </p:nvSpPr>
        <p:spPr>
          <a:xfrm>
            <a:off x="5458054" y="1813255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7" name="Google Shape;3247;p111"/>
          <p:cNvSpPr/>
          <p:nvPr/>
        </p:nvSpPr>
        <p:spPr>
          <a:xfrm>
            <a:off x="5458054" y="2232965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8" name="Google Shape;3248;p111"/>
          <p:cNvSpPr/>
          <p:nvPr/>
        </p:nvSpPr>
        <p:spPr>
          <a:xfrm>
            <a:off x="5609844" y="196504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9" name="Google Shape;3249;p111"/>
          <p:cNvSpPr/>
          <p:nvPr/>
        </p:nvSpPr>
        <p:spPr>
          <a:xfrm>
            <a:off x="5800954" y="196504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0" name="Google Shape;3250;p111"/>
          <p:cNvSpPr/>
          <p:nvPr/>
        </p:nvSpPr>
        <p:spPr>
          <a:xfrm>
            <a:off x="5991149" y="196504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1" name="Google Shape;3251;p111"/>
          <p:cNvSpPr txBox="1"/>
          <p:nvPr/>
        </p:nvSpPr>
        <p:spPr>
          <a:xfrm>
            <a:off x="6258154" y="1927555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2" name="Google Shape;3252;p111"/>
          <p:cNvSpPr txBox="1"/>
          <p:nvPr/>
        </p:nvSpPr>
        <p:spPr>
          <a:xfrm>
            <a:off x="5686654" y="2469794"/>
            <a:ext cx="5734202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my_df = pd.</a:t>
            </a:r>
            <a:r>
              <a:rPr lang="en-US" sz="1500" b="0" i="0" u="none" strike="noStrike" cap="none">
                <a:solidFill>
                  <a:srgbClr val="2DD4BF"/>
                </a:solidFill>
                <a:latin typeface="Courier New"/>
                <a:ea typeface="Courier New"/>
                <a:cs typeface="Courier New"/>
                <a:sym typeface="Courier New"/>
              </a:rPr>
              <a:t>DataFrame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 [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"Biking"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68.5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1985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np.</a:t>
            </a: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"Dancing"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83.1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1984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]],columns=[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"hobby"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"weight"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"children"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],index=[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] 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my_df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3" name="Google Shape;3253;p111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p1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0" name="Google Shape;3260;p11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61" name="Google Shape;3261;p112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2" name="Google Shape;3262;p112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13716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63" name="Google Shape;3263;p112"/>
          <p:cNvSpPr txBox="1"/>
          <p:nvPr/>
        </p:nvSpPr>
        <p:spPr>
          <a:xfrm>
            <a:off x="609905" y="457200"/>
            <a:ext cx="11163910" cy="381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Poppins"/>
              <a:buNone/>
            </a:pPr>
            <a:r>
              <a:rPr lang="en-US" sz="27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4" name="Google Shape;3264;p112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9902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5" name="Google Shape;3265;p112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09951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3266" name="Google Shape;3266;p112"/>
          <p:cNvSpPr txBox="1"/>
          <p:nvPr/>
        </p:nvSpPr>
        <p:spPr>
          <a:xfrm>
            <a:off x="914400" y="3038551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Saving DataFrames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7" name="Google Shape;3267;p112"/>
          <p:cNvSpPr txBox="1"/>
          <p:nvPr/>
        </p:nvSpPr>
        <p:spPr>
          <a:xfrm>
            <a:off x="914400" y="353415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Export your DataFrame to various formats like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CSV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JSON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8" name="Google Shape;3268;p1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96244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9" name="Google Shape;3269;p112"/>
          <p:cNvSpPr txBox="1"/>
          <p:nvPr/>
        </p:nvSpPr>
        <p:spPr>
          <a:xfrm>
            <a:off x="952805" y="4809744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Pandas makes it easy to serialize data for storage or sharing.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0" name="Google Shape;3270;p112" descr="preencoded.png"/>
          <p:cNvPicPr preferRelativeResize="0"/>
          <p:nvPr/>
        </p:nvPicPr>
        <p:blipFill rotWithShape="1">
          <a:blip r:embed="rId8">
            <a:alphaModFix/>
          </a:blip>
          <a:srcRect t="-5" b="-4"/>
          <a:stretch/>
        </p:blipFill>
        <p:spPr>
          <a:xfrm>
            <a:off x="5447995" y="2160727"/>
            <a:ext cx="6133795" cy="3831336"/>
          </a:xfrm>
          <a:prstGeom prst="rect">
            <a:avLst/>
          </a:prstGeom>
          <a:noFill/>
          <a:ln>
            <a:noFill/>
          </a:ln>
        </p:spPr>
      </p:pic>
      <p:sp>
        <p:nvSpPr>
          <p:cNvPr id="3271" name="Google Shape;3271;p112"/>
          <p:cNvSpPr/>
          <p:nvPr/>
        </p:nvSpPr>
        <p:spPr>
          <a:xfrm>
            <a:off x="5458054" y="217078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2" name="Google Shape;3272;p112"/>
          <p:cNvSpPr/>
          <p:nvPr/>
        </p:nvSpPr>
        <p:spPr>
          <a:xfrm>
            <a:off x="5458054" y="2590495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3" name="Google Shape;3273;p112"/>
          <p:cNvSpPr/>
          <p:nvPr/>
        </p:nvSpPr>
        <p:spPr>
          <a:xfrm>
            <a:off x="5609844" y="2323490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4" name="Google Shape;3274;p112"/>
          <p:cNvSpPr/>
          <p:nvPr/>
        </p:nvSpPr>
        <p:spPr>
          <a:xfrm>
            <a:off x="5800954" y="2323490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5" name="Google Shape;3275;p112"/>
          <p:cNvSpPr/>
          <p:nvPr/>
        </p:nvSpPr>
        <p:spPr>
          <a:xfrm>
            <a:off x="5991149" y="2323490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6" name="Google Shape;3276;p112"/>
          <p:cNvSpPr txBox="1"/>
          <p:nvPr/>
        </p:nvSpPr>
        <p:spPr>
          <a:xfrm>
            <a:off x="6258154" y="228508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7" name="Google Shape;3277;p112"/>
          <p:cNvSpPr txBox="1"/>
          <p:nvPr/>
        </p:nvSpPr>
        <p:spPr>
          <a:xfrm>
            <a:off x="5686654" y="2828239"/>
            <a:ext cx="5744261" cy="293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Save to CSV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my_df.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to_csv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"my_df.csv"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Save to HTML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my_df.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to_html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"my_df.html"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Save to JSON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my_df.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to_json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"my_df.json"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112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4" name="Google Shape;3284;p1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85" name="Google Shape;3285;p11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86" name="Google Shape;3286;p11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87" name="Google Shape;3287;p113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88" name="Google Shape;3288;p11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9" name="Google Shape;3289;p11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0" name="Google Shape;3290;p113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66181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3291" name="Google Shape;3291;p113"/>
          <p:cNvSpPr txBox="1"/>
          <p:nvPr/>
        </p:nvSpPr>
        <p:spPr>
          <a:xfrm>
            <a:off x="914400" y="289041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What was saved?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2" name="Google Shape;3292;p113"/>
          <p:cNvSpPr txBox="1"/>
          <p:nvPr/>
        </p:nvSpPr>
        <p:spPr>
          <a:xfrm>
            <a:off x="914400" y="3386023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We can iterate through the filenames to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read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and print the content of each saved file to verify the output format.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3" name="Google Shape;3293;p1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4" name="Google Shape;3294;p113"/>
          <p:cNvSpPr txBox="1"/>
          <p:nvPr/>
        </p:nvSpPr>
        <p:spPr>
          <a:xfrm>
            <a:off x="952805" y="5033772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Inspecting raw file contents helps understand how Pandas handles indices in different formats.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5" name="Google Shape;3295;p1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47995" y="2467051"/>
            <a:ext cx="6133795" cy="3294583"/>
          </a:xfrm>
          <a:prstGeom prst="rect">
            <a:avLst/>
          </a:prstGeom>
          <a:noFill/>
          <a:ln>
            <a:noFill/>
          </a:ln>
        </p:spPr>
      </p:pic>
      <p:sp>
        <p:nvSpPr>
          <p:cNvPr id="3296" name="Google Shape;3296;p113"/>
          <p:cNvSpPr/>
          <p:nvPr/>
        </p:nvSpPr>
        <p:spPr>
          <a:xfrm>
            <a:off x="5458054" y="2477110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7" name="Google Shape;3297;p113"/>
          <p:cNvSpPr/>
          <p:nvPr/>
        </p:nvSpPr>
        <p:spPr>
          <a:xfrm>
            <a:off x="5458054" y="2896819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8" name="Google Shape;3298;p113"/>
          <p:cNvSpPr/>
          <p:nvPr/>
        </p:nvSpPr>
        <p:spPr>
          <a:xfrm>
            <a:off x="5609844" y="2628900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9" name="Google Shape;3299;p113"/>
          <p:cNvSpPr/>
          <p:nvPr/>
        </p:nvSpPr>
        <p:spPr>
          <a:xfrm>
            <a:off x="5800954" y="2628900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0" name="Google Shape;3300;p113"/>
          <p:cNvSpPr/>
          <p:nvPr/>
        </p:nvSpPr>
        <p:spPr>
          <a:xfrm>
            <a:off x="5991149" y="2628900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1" name="Google Shape;3301;p113"/>
          <p:cNvSpPr txBox="1"/>
          <p:nvPr/>
        </p:nvSpPr>
        <p:spPr>
          <a:xfrm>
            <a:off x="6258154" y="2591410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2" name="Google Shape;3302;p113"/>
          <p:cNvSpPr txBox="1"/>
          <p:nvPr/>
        </p:nvSpPr>
        <p:spPr>
          <a:xfrm>
            <a:off x="5686654" y="3134563"/>
            <a:ext cx="5737860" cy="2391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filename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"my_df.csv"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"my_df.html"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"my_df.json"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"#"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filename)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(filename, </a:t>
            </a:r>
            <a:r>
              <a:rPr lang="en-US" sz="16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"rt"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16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f: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(f.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3" name="Google Shape;3303;p113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1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0" name="Google Shape;3310;p11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11" name="Google Shape;3311;p114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2" name="Google Shape;3312;p114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13" name="Google Shape;3313;p114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4" name="Google Shape;3314;p114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5" name="Google Shape;3315;p114" descr="preencoded.png"/>
          <p:cNvPicPr preferRelativeResize="0"/>
          <p:nvPr/>
        </p:nvPicPr>
        <p:blipFill rotWithShape="1">
          <a:blip r:embed="rId6">
            <a:alphaModFix/>
          </a:blip>
          <a:srcRect l="-13" r="-13"/>
          <a:stretch/>
        </p:blipFill>
        <p:spPr>
          <a:xfrm>
            <a:off x="609905" y="2495398"/>
            <a:ext cx="4381805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3316" name="Google Shape;3316;p114"/>
          <p:cNvSpPr txBox="1"/>
          <p:nvPr/>
        </p:nvSpPr>
        <p:spPr>
          <a:xfrm>
            <a:off x="914400" y="2723998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What was saved?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114"/>
          <p:cNvSpPr txBox="1"/>
          <p:nvPr/>
        </p:nvSpPr>
        <p:spPr>
          <a:xfrm>
            <a:off x="914400" y="3219602"/>
            <a:ext cx="3934663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Note that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is saved as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first column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(with no name) in a CSV file.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114"/>
          <p:cNvSpPr/>
          <p:nvPr/>
        </p:nvSpPr>
        <p:spPr>
          <a:xfrm>
            <a:off x="609905" y="4867351"/>
            <a:ext cx="438180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 cap="flat" cmpd="sng">
            <a:solidFill>
              <a:srgbClr val="F3F4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19" name="Google Shape;3319;p1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754" y="51864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0" name="Google Shape;3320;p114"/>
          <p:cNvSpPr txBox="1"/>
          <p:nvPr/>
        </p:nvSpPr>
        <p:spPr>
          <a:xfrm>
            <a:off x="1152144" y="4867351"/>
            <a:ext cx="3753612" cy="866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When reading back, you often need to specify </a:t>
            </a:r>
            <a:r>
              <a:rPr lang="en-US" sz="13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index_col=0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to handle this correctly.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1" name="Google Shape;3321;p114" descr="preencoded.png"/>
          <p:cNvPicPr preferRelativeResize="0"/>
          <p:nvPr/>
        </p:nvPicPr>
        <p:blipFill rotWithShape="1">
          <a:blip r:embed="rId8">
            <a:alphaModFix/>
          </a:blip>
          <a:srcRect t="-2" b="-2"/>
          <a:stretch/>
        </p:blipFill>
        <p:spPr>
          <a:xfrm>
            <a:off x="5447995" y="2702052"/>
            <a:ext cx="6133795" cy="2825496"/>
          </a:xfrm>
          <a:prstGeom prst="rect">
            <a:avLst/>
          </a:prstGeom>
          <a:noFill/>
          <a:ln>
            <a:noFill/>
          </a:ln>
        </p:spPr>
      </p:pic>
      <p:sp>
        <p:nvSpPr>
          <p:cNvPr id="3322" name="Google Shape;3322;p114"/>
          <p:cNvSpPr/>
          <p:nvPr/>
        </p:nvSpPr>
        <p:spPr>
          <a:xfrm>
            <a:off x="5458054" y="271119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3" name="Google Shape;3323;p114"/>
          <p:cNvSpPr/>
          <p:nvPr/>
        </p:nvSpPr>
        <p:spPr>
          <a:xfrm>
            <a:off x="5458054" y="313090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4" name="Google Shape;3324;p114"/>
          <p:cNvSpPr/>
          <p:nvPr/>
        </p:nvSpPr>
        <p:spPr>
          <a:xfrm>
            <a:off x="5609844" y="286390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5" name="Google Shape;3325;p114"/>
          <p:cNvSpPr/>
          <p:nvPr/>
        </p:nvSpPr>
        <p:spPr>
          <a:xfrm>
            <a:off x="5800954" y="286390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6" name="Google Shape;3326;p114"/>
          <p:cNvSpPr/>
          <p:nvPr/>
        </p:nvSpPr>
        <p:spPr>
          <a:xfrm>
            <a:off x="5991149" y="286390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7" name="Google Shape;3327;p114"/>
          <p:cNvSpPr txBox="1"/>
          <p:nvPr/>
        </p:nvSpPr>
        <p:spPr>
          <a:xfrm>
            <a:off x="6258154" y="2825496"/>
            <a:ext cx="800100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my_df.csv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8" name="Google Shape;3328;p114"/>
          <p:cNvSpPr txBox="1"/>
          <p:nvPr/>
        </p:nvSpPr>
        <p:spPr>
          <a:xfrm>
            <a:off x="5686654" y="3368650"/>
            <a:ext cx="5737860" cy="1924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Courier New"/>
              <a:buNone/>
            </a:pP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my_df.csv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hobby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weight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birthyear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alice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Biking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68.5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1985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600"/>
              <a:buFont typeface="Courier New"/>
              <a:buNone/>
            </a:pPr>
            <a:r>
              <a:rPr lang="en-US" sz="1600" b="1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bob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Dancing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83.1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1984</a:t>
            </a:r>
            <a:r>
              <a:rPr lang="en-US" sz="1600" b="0" i="0" u="none" strike="noStrike" cap="non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3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114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" name="Google Shape;3335;p1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36" name="Google Shape;3336;p11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37" name="Google Shape;3337;p115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38" name="Google Shape;3338;p115" descr="preencoded.png"/>
          <p:cNvPicPr preferRelativeResize="0"/>
          <p:nvPr/>
        </p:nvPicPr>
        <p:blipFill rotWithShape="1">
          <a:blip r:embed="rId4">
            <a:alphaModFix amt="50000"/>
          </a:blip>
          <a:srcRect l="-22" r="-22"/>
          <a:stretch/>
        </p:blipFill>
        <p:spPr>
          <a:xfrm>
            <a:off x="381305" y="5257800"/>
            <a:ext cx="152430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39" name="Google Shape;3339;p115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0" name="Google Shape;3340;p115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1" name="Google Shape;3341;p115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3342" name="Google Shape;3342;p115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What was saved?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3" name="Google Shape;3343;p115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Note that the index is saved as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&lt;th&gt;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tags in HTML.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4" name="Google Shape;3344;p115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5000854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5" name="Google Shape;3345;p115"/>
          <p:cNvSpPr txBox="1"/>
          <p:nvPr/>
        </p:nvSpPr>
        <p:spPr>
          <a:xfrm>
            <a:off x="895198" y="4848149"/>
            <a:ext cx="417240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row labels become table headers in the HTML output.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6" name="Google Shape;3346;p115" descr="preencoded.png"/>
          <p:cNvPicPr preferRelativeResize="0"/>
          <p:nvPr/>
        </p:nvPicPr>
        <p:blipFill rotWithShape="1">
          <a:blip r:embed="rId8">
            <a:alphaModFix/>
          </a:blip>
          <a:srcRect l="-1" r="-1"/>
          <a:stretch/>
        </p:blipFill>
        <p:spPr>
          <a:xfrm>
            <a:off x="5447995" y="1733702"/>
            <a:ext cx="6133795" cy="4762195"/>
          </a:xfrm>
          <a:prstGeom prst="rect">
            <a:avLst/>
          </a:prstGeom>
          <a:noFill/>
          <a:ln>
            <a:noFill/>
          </a:ln>
        </p:spPr>
      </p:pic>
      <p:sp>
        <p:nvSpPr>
          <p:cNvPr id="3347" name="Google Shape;3347;p115"/>
          <p:cNvSpPr/>
          <p:nvPr/>
        </p:nvSpPr>
        <p:spPr>
          <a:xfrm>
            <a:off x="5458054" y="174284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8" name="Google Shape;3348;p115"/>
          <p:cNvSpPr/>
          <p:nvPr/>
        </p:nvSpPr>
        <p:spPr>
          <a:xfrm>
            <a:off x="5458054" y="216255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9" name="Google Shape;3349;p115"/>
          <p:cNvSpPr/>
          <p:nvPr/>
        </p:nvSpPr>
        <p:spPr>
          <a:xfrm>
            <a:off x="5609844" y="189555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0" name="Google Shape;3350;p115"/>
          <p:cNvSpPr/>
          <p:nvPr/>
        </p:nvSpPr>
        <p:spPr>
          <a:xfrm>
            <a:off x="5800954" y="189555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1" name="Google Shape;3351;p115"/>
          <p:cNvSpPr/>
          <p:nvPr/>
        </p:nvSpPr>
        <p:spPr>
          <a:xfrm>
            <a:off x="5991149" y="189555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2" name="Google Shape;3352;p115"/>
          <p:cNvSpPr txBox="1"/>
          <p:nvPr/>
        </p:nvSpPr>
        <p:spPr>
          <a:xfrm>
            <a:off x="6258154" y="1857146"/>
            <a:ext cx="886054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my_df.html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115"/>
          <p:cNvSpPr txBox="1"/>
          <p:nvPr/>
        </p:nvSpPr>
        <p:spPr>
          <a:xfrm>
            <a:off x="5686654" y="2400300"/>
            <a:ext cx="5734202" cy="5153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&lt;table</a:t>
            </a:r>
            <a:r>
              <a:rPr lang="en-US" sz="10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lang="en-US" sz="10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lang="en-US" sz="10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0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"dataframe"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&lt;thead&gt;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&lt;tr</a:t>
            </a:r>
            <a:r>
              <a:rPr lang="en-US" sz="10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-US" sz="10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"text-align: right;"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&lt;th&gt;&lt;/th&gt;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hobby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weight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birthyear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children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&lt;/tr&gt;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&lt;/thead&gt;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&lt;tbody&gt;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&lt;tr&gt;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alice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r>
              <a:rPr lang="en-US" sz="10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&lt;!-- Index saved as &lt;th&gt; --&gt;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&lt;td&gt;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Biking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&lt;td&gt;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68.5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&lt;td&gt;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1985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&lt;td&gt;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&lt;/tr&gt;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&lt;tr&gt;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&lt;th&gt;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bob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&lt;/th&gt;</a:t>
            </a:r>
            <a:r>
              <a:rPr lang="en-US" sz="10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&lt;!-- Index saved as &lt;th&gt; --&gt;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&lt;td&gt;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Dancing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&lt;td&gt;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83.1</a:t>
            </a: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&lt;/td&gt;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&lt;/tr&gt;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 &lt;/tbody&gt;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000"/>
              <a:buFont typeface="Courier New"/>
              <a:buNone/>
            </a:pPr>
            <a:r>
              <a:rPr lang="en-US" sz="1000" b="1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115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p1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1" name="Google Shape;3361;p11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62" name="Google Shape;3362;p116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63" name="Google Shape;3363;p116" descr="preencoded.png"/>
          <p:cNvPicPr preferRelativeResize="0"/>
          <p:nvPr/>
        </p:nvPicPr>
        <p:blipFill rotWithShape="1">
          <a:blip r:embed="rId4">
            <a:alphaModFix amt="50000"/>
          </a:blip>
          <a:srcRect l="-13" r="-13"/>
          <a:stretch/>
        </p:blipFill>
        <p:spPr>
          <a:xfrm>
            <a:off x="381305" y="5257800"/>
            <a:ext cx="914400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364" name="Google Shape;3364;p116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5" name="Google Shape;3365;p116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6" name="Google Shape;3366;p116" descr="preencoded.png"/>
          <p:cNvPicPr preferRelativeResize="0"/>
          <p:nvPr/>
        </p:nvPicPr>
        <p:blipFill rotWithShape="1">
          <a:blip r:embed="rId6">
            <a:alphaModFix/>
          </a:blip>
          <a:srcRect l="-9" r="-8"/>
          <a:stretch/>
        </p:blipFill>
        <p:spPr>
          <a:xfrm>
            <a:off x="609905" y="2476195"/>
            <a:ext cx="4381805" cy="2704795"/>
          </a:xfrm>
          <a:prstGeom prst="rect">
            <a:avLst/>
          </a:prstGeom>
          <a:noFill/>
          <a:ln>
            <a:noFill/>
          </a:ln>
        </p:spPr>
      </p:pic>
      <p:sp>
        <p:nvSpPr>
          <p:cNvPr id="3367" name="Google Shape;3367;p116"/>
          <p:cNvSpPr txBox="1"/>
          <p:nvPr/>
        </p:nvSpPr>
        <p:spPr>
          <a:xfrm>
            <a:off x="914400" y="2704795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What was saved?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116"/>
          <p:cNvSpPr txBox="1"/>
          <p:nvPr/>
        </p:nvSpPr>
        <p:spPr>
          <a:xfrm>
            <a:off x="914400" y="3200400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Checking the content of the saved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JSON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file.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9" name="Google Shape;3369;p116"/>
          <p:cNvSpPr/>
          <p:nvPr/>
        </p:nvSpPr>
        <p:spPr>
          <a:xfrm>
            <a:off x="914400" y="4095598"/>
            <a:ext cx="3847795" cy="857707"/>
          </a:xfrm>
          <a:prstGeom prst="roundRect">
            <a:avLst>
              <a:gd name="adj" fmla="val 9476"/>
            </a:avLst>
          </a:prstGeom>
          <a:solidFill>
            <a:srgbClr val="FFFBEB"/>
          </a:solidFill>
          <a:ln w="12700" cap="flat" cmpd="sng">
            <a:solidFill>
              <a:srgbClr val="FDE6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0" name="Google Shape;3370;p116"/>
          <p:cNvSpPr txBox="1"/>
          <p:nvPr/>
        </p:nvSpPr>
        <p:spPr>
          <a:xfrm>
            <a:off x="1342339" y="4257446"/>
            <a:ext cx="3334817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Note that the </a:t>
            </a: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is saved as </a:t>
            </a:r>
            <a:r>
              <a:rPr lang="en-US" sz="1500" b="1" i="0" u="none" strike="noStrike" cap="none">
                <a:solidFill>
                  <a:srgbClr val="DB2777"/>
                </a:solidFill>
                <a:latin typeface="Roboto"/>
                <a:ea typeface="Roboto"/>
                <a:cs typeface="Roboto"/>
                <a:sym typeface="Roboto"/>
              </a:rPr>
              <a:t>keys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in JSON structure.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1" name="Google Shape;3371;p11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6249" y="4291279"/>
            <a:ext cx="142646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2" name="Google Shape;3372;p116" descr="preencoded.png"/>
          <p:cNvPicPr preferRelativeResize="0"/>
          <p:nvPr/>
        </p:nvPicPr>
        <p:blipFill rotWithShape="1">
          <a:blip r:embed="rId8">
            <a:alphaModFix/>
          </a:blip>
          <a:srcRect l="-56" r="-57"/>
          <a:stretch/>
        </p:blipFill>
        <p:spPr>
          <a:xfrm>
            <a:off x="609905" y="5505602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3" name="Google Shape;3373;p116"/>
          <p:cNvSpPr txBox="1"/>
          <p:nvPr/>
        </p:nvSpPr>
        <p:spPr>
          <a:xfrm>
            <a:off x="923544" y="5486400"/>
            <a:ext cx="377372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The default JSON orientation is 'columns'.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4" name="Google Shape;3374;p116" descr="preencoded.png"/>
          <p:cNvPicPr preferRelativeResize="0"/>
          <p:nvPr/>
        </p:nvPicPr>
        <p:blipFill rotWithShape="1">
          <a:blip r:embed="rId9">
            <a:alphaModFix/>
          </a:blip>
          <a:srcRect t="-2" b="-2"/>
          <a:stretch/>
        </p:blipFill>
        <p:spPr>
          <a:xfrm>
            <a:off x="5447995" y="2115007"/>
            <a:ext cx="613379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5" name="Google Shape;3375;p116"/>
          <p:cNvSpPr/>
          <p:nvPr/>
        </p:nvSpPr>
        <p:spPr>
          <a:xfrm>
            <a:off x="5458054" y="2124151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6" name="Google Shape;3376;p116"/>
          <p:cNvSpPr/>
          <p:nvPr/>
        </p:nvSpPr>
        <p:spPr>
          <a:xfrm>
            <a:off x="5458054" y="2543861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7" name="Google Shape;3377;p116"/>
          <p:cNvSpPr/>
          <p:nvPr/>
        </p:nvSpPr>
        <p:spPr>
          <a:xfrm>
            <a:off x="5609844" y="227685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8" name="Google Shape;3378;p116"/>
          <p:cNvSpPr/>
          <p:nvPr/>
        </p:nvSpPr>
        <p:spPr>
          <a:xfrm>
            <a:off x="5800954" y="227685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9" name="Google Shape;3379;p116"/>
          <p:cNvSpPr/>
          <p:nvPr/>
        </p:nvSpPr>
        <p:spPr>
          <a:xfrm>
            <a:off x="5991149" y="227685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0" name="Google Shape;3380;p116"/>
          <p:cNvSpPr txBox="1"/>
          <p:nvPr/>
        </p:nvSpPr>
        <p:spPr>
          <a:xfrm>
            <a:off x="6258154" y="2238451"/>
            <a:ext cx="886054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my_df.json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116"/>
          <p:cNvSpPr txBox="1"/>
          <p:nvPr/>
        </p:nvSpPr>
        <p:spPr>
          <a:xfrm>
            <a:off x="5686654" y="2781605"/>
            <a:ext cx="5734202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"hobby"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"Biking"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"Dancing"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"weight"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68.5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83.1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"birthyear"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1985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1984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"children"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{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1" i="0" u="none" strike="noStrike" cap="none">
                <a:solidFill>
                  <a:srgbClr val="C084FC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3.0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116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p1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89" name="Google Shape;3389;p117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0" name="Google Shape;3390;p1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1" name="Google Shape;3391;p1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2" name="Google Shape;3392;p117"/>
          <p:cNvSpPr txBox="1"/>
          <p:nvPr/>
        </p:nvSpPr>
        <p:spPr>
          <a:xfrm>
            <a:off x="609905" y="533095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3" name="Google Shape;3393;p117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2188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4" name="Google Shape;3394;p117" descr="preencoded.png"/>
          <p:cNvPicPr preferRelativeResize="0"/>
          <p:nvPr/>
        </p:nvPicPr>
        <p:blipFill rotWithShape="1">
          <a:blip r:embed="rId7">
            <a:alphaModFix/>
          </a:blip>
          <a:srcRect l="-743" r="-742"/>
          <a:stretch/>
        </p:blipFill>
        <p:spPr>
          <a:xfrm>
            <a:off x="10896905" y="2866644"/>
            <a:ext cx="30449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5" name="Google Shape;3395;p1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0705" y="431048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6" name="Google Shape;3396;p117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7" name="Google Shape;3397;p117" descr="preencoded.png"/>
          <p:cNvPicPr preferRelativeResize="0"/>
          <p:nvPr/>
        </p:nvPicPr>
        <p:blipFill rotWithShape="1">
          <a:blip r:embed="rId9">
            <a:alphaModFix/>
          </a:blip>
          <a:srcRect t="-9" b="-8"/>
          <a:stretch/>
        </p:blipFill>
        <p:spPr>
          <a:xfrm>
            <a:off x="609905" y="2132381"/>
            <a:ext cx="6096305" cy="1193292"/>
          </a:xfrm>
          <a:prstGeom prst="rect">
            <a:avLst/>
          </a:prstGeom>
          <a:noFill/>
          <a:ln>
            <a:noFill/>
          </a:ln>
        </p:spPr>
      </p:pic>
      <p:sp>
        <p:nvSpPr>
          <p:cNvPr id="3398" name="Google Shape;3398;p117"/>
          <p:cNvSpPr txBox="1"/>
          <p:nvPr/>
        </p:nvSpPr>
        <p:spPr>
          <a:xfrm>
            <a:off x="914400" y="2360981"/>
            <a:ext cx="5677510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Loading DataFrames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117"/>
          <p:cNvSpPr txBox="1"/>
          <p:nvPr/>
        </p:nvSpPr>
        <p:spPr>
          <a:xfrm>
            <a:off x="914400" y="2830068"/>
            <a:ext cx="567751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Methods to import data from various file formats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0" name="Google Shape;3400;p11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3749040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1" name="Google Shape;3401;p11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1695" y="390174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2" name="Google Shape;3402;p117"/>
          <p:cNvSpPr txBox="1"/>
          <p:nvPr/>
        </p:nvSpPr>
        <p:spPr>
          <a:xfrm>
            <a:off x="1371600" y="4059022"/>
            <a:ext cx="208574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For loading CSV files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3" name="Google Shape;3403;p11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673498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4" name="Google Shape;3404;p117" descr="preencoded.png"/>
          <p:cNvPicPr preferRelativeResize="0"/>
          <p:nvPr/>
        </p:nvPicPr>
        <p:blipFill rotWithShape="1">
          <a:blip r:embed="rId12">
            <a:alphaModFix/>
          </a:blip>
          <a:srcRect l="-133" r="-133"/>
          <a:stretch/>
        </p:blipFill>
        <p:spPr>
          <a:xfrm>
            <a:off x="790956" y="4825289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5" name="Google Shape;3405;p117"/>
          <p:cNvSpPr txBox="1"/>
          <p:nvPr/>
        </p:nvSpPr>
        <p:spPr>
          <a:xfrm>
            <a:off x="1371600" y="4982566"/>
            <a:ext cx="2278685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For loading HTML files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6" name="Google Shape;3406;p11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597042"/>
            <a:ext cx="533095" cy="5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7" name="Google Shape;3407;p117" descr="preencoded.png"/>
          <p:cNvPicPr preferRelativeResize="0"/>
          <p:nvPr/>
        </p:nvPicPr>
        <p:blipFill rotWithShape="1">
          <a:blip r:embed="rId13">
            <a:alphaModFix/>
          </a:blip>
          <a:srcRect l="-133" r="-133"/>
          <a:stretch/>
        </p:blipFill>
        <p:spPr>
          <a:xfrm>
            <a:off x="790956" y="5749747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8" name="Google Shape;3408;p117"/>
          <p:cNvSpPr txBox="1"/>
          <p:nvPr/>
        </p:nvSpPr>
        <p:spPr>
          <a:xfrm>
            <a:off x="1371600" y="5907024"/>
            <a:ext cx="219913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For loading Excel files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9" name="Google Shape;3409;p117" descr="preencoded.png"/>
          <p:cNvPicPr preferRelativeResize="0"/>
          <p:nvPr/>
        </p:nvPicPr>
        <p:blipFill rotWithShape="1">
          <a:blip r:embed="rId14">
            <a:alphaModFix amt="10000"/>
          </a:blip>
          <a:srcRect t="-3" b="-3"/>
          <a:stretch/>
        </p:blipFill>
        <p:spPr>
          <a:xfrm>
            <a:off x="8534095" y="2866644"/>
            <a:ext cx="2286000" cy="3857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0" name="Google Shape;3410;p117" descr="preencoded.png"/>
          <p:cNvPicPr preferRelativeResize="0"/>
          <p:nvPr/>
        </p:nvPicPr>
        <p:blipFill rotWithShape="1">
          <a:blip r:embed="rId15">
            <a:alphaModFix amt="90000"/>
          </a:blip>
          <a:srcRect/>
          <a:stretch/>
        </p:blipFill>
        <p:spPr>
          <a:xfrm>
            <a:off x="8534095" y="2866644"/>
            <a:ext cx="1524305" cy="1524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1" name="Google Shape;3411;p117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630107" y="4829861"/>
            <a:ext cx="286207" cy="28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2" name="Google Shape;3412;p117" descr="preencoded.png"/>
          <p:cNvPicPr preferRelativeResize="0"/>
          <p:nvPr/>
        </p:nvPicPr>
        <p:blipFill rotWithShape="1">
          <a:blip r:embed="rId17">
            <a:alphaModFix/>
          </a:blip>
          <a:srcRect l="-133" r="-133"/>
          <a:stretch/>
        </p:blipFill>
        <p:spPr>
          <a:xfrm>
            <a:off x="8686800" y="5191963"/>
            <a:ext cx="17190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3" name="Google Shape;3413;p117" descr="preencoded.png"/>
          <p:cNvPicPr preferRelativeResize="0"/>
          <p:nvPr/>
        </p:nvPicPr>
        <p:blipFill rotWithShape="1">
          <a:blip r:embed="rId18">
            <a:alphaModFix/>
          </a:blip>
          <a:srcRect l="-1117" r="-1118"/>
          <a:stretch/>
        </p:blipFill>
        <p:spPr>
          <a:xfrm>
            <a:off x="9219895" y="4732020"/>
            <a:ext cx="219456" cy="28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4" name="Google Shape;3414;p117" descr="preencoded.png"/>
          <p:cNvPicPr preferRelativeResize="0"/>
          <p:nvPr/>
        </p:nvPicPr>
        <p:blipFill rotWithShape="1">
          <a:blip r:embed="rId17">
            <a:alphaModFix/>
          </a:blip>
          <a:srcRect l="-133" r="-133"/>
          <a:stretch/>
        </p:blipFill>
        <p:spPr>
          <a:xfrm>
            <a:off x="9243670" y="5094122"/>
            <a:ext cx="17190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5" name="Google Shape;3415;p117" descr="preencoded.png"/>
          <p:cNvPicPr preferRelativeResize="0"/>
          <p:nvPr/>
        </p:nvPicPr>
        <p:blipFill rotWithShape="1">
          <a:blip r:embed="rId19">
            <a:alphaModFix/>
          </a:blip>
          <a:srcRect l="-1117" r="-1118"/>
          <a:stretch/>
        </p:blipFill>
        <p:spPr>
          <a:xfrm>
            <a:off x="9743846" y="4702759"/>
            <a:ext cx="219456" cy="28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6" name="Google Shape;3416;p117" descr="preencoded.png"/>
          <p:cNvPicPr preferRelativeResize="0"/>
          <p:nvPr/>
        </p:nvPicPr>
        <p:blipFill rotWithShape="1">
          <a:blip r:embed="rId17">
            <a:alphaModFix/>
          </a:blip>
          <a:srcRect l="-133" r="-133"/>
          <a:stretch/>
        </p:blipFill>
        <p:spPr>
          <a:xfrm>
            <a:off x="9767621" y="5064862"/>
            <a:ext cx="171907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p1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23" name="Google Shape;3423;p11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424" name="Google Shape;3424;p118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25" name="Google Shape;3425;p118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426" name="Google Shape;3426;p118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7" name="Google Shape;3427;p118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8" name="Google Shape;3428;p118" descr="preencoded.png"/>
          <p:cNvPicPr preferRelativeResize="0"/>
          <p:nvPr/>
        </p:nvPicPr>
        <p:blipFill rotWithShape="1">
          <a:blip r:embed="rId6">
            <a:alphaModFix/>
          </a:blip>
          <a:srcRect l="-9" r="-8"/>
          <a:stretch/>
        </p:blipFill>
        <p:spPr>
          <a:xfrm>
            <a:off x="609905" y="2510942"/>
            <a:ext cx="4114800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3429" name="Google Shape;3429;p118"/>
          <p:cNvSpPr txBox="1"/>
          <p:nvPr/>
        </p:nvSpPr>
        <p:spPr>
          <a:xfrm>
            <a:off x="914400" y="2739542"/>
            <a:ext cx="36960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Load CSV File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118"/>
          <p:cNvSpPr txBox="1"/>
          <p:nvPr/>
        </p:nvSpPr>
        <p:spPr>
          <a:xfrm>
            <a:off x="914400" y="3235147"/>
            <a:ext cx="3667658" cy="11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Use the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function to load data from a CSV file into a DataFrame.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1" name="Google Shape;3431;p1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492130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2" name="Google Shape;3432;p118"/>
          <p:cNvSpPr txBox="1"/>
          <p:nvPr/>
        </p:nvSpPr>
        <p:spPr>
          <a:xfrm>
            <a:off x="952805" y="4882896"/>
            <a:ext cx="3848710" cy="8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The parameter </a:t>
            </a:r>
            <a:r>
              <a:rPr lang="en-US" sz="1300" b="0" i="0" u="none" strike="noStrike" cap="none">
                <a:solidFill>
                  <a:srgbClr val="374151"/>
                </a:solidFill>
                <a:latin typeface="Courier New"/>
                <a:ea typeface="Courier New"/>
                <a:cs typeface="Courier New"/>
                <a:sym typeface="Courier New"/>
              </a:rPr>
              <a:t>index_col=0</a:t>
            </a: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 tells Pandas to use the first column of the CSV file as the index (row labels). 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3" name="Google Shape;3433;p118" descr="preencoded.png"/>
          <p:cNvPicPr preferRelativeResize="0"/>
          <p:nvPr/>
        </p:nvPicPr>
        <p:blipFill rotWithShape="1">
          <a:blip r:embed="rId8">
            <a:alphaModFix/>
          </a:blip>
          <a:srcRect t="-8" b="-8"/>
          <a:stretch/>
        </p:blipFill>
        <p:spPr>
          <a:xfrm>
            <a:off x="5181905" y="2919679"/>
            <a:ext cx="6400800" cy="2391156"/>
          </a:xfrm>
          <a:prstGeom prst="rect">
            <a:avLst/>
          </a:prstGeom>
          <a:noFill/>
          <a:ln>
            <a:noFill/>
          </a:ln>
        </p:spPr>
      </p:pic>
      <p:sp>
        <p:nvSpPr>
          <p:cNvPr id="3434" name="Google Shape;3434;p118"/>
          <p:cNvSpPr/>
          <p:nvPr/>
        </p:nvSpPr>
        <p:spPr>
          <a:xfrm>
            <a:off x="5191049" y="2928823"/>
            <a:ext cx="6381598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5" name="Google Shape;3435;p118"/>
          <p:cNvSpPr/>
          <p:nvPr/>
        </p:nvSpPr>
        <p:spPr>
          <a:xfrm>
            <a:off x="5191049" y="3348533"/>
            <a:ext cx="6381598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6" name="Google Shape;3436;p118"/>
          <p:cNvSpPr/>
          <p:nvPr/>
        </p:nvSpPr>
        <p:spPr>
          <a:xfrm>
            <a:off x="5343754" y="3081528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7" name="Google Shape;3437;p118"/>
          <p:cNvSpPr/>
          <p:nvPr/>
        </p:nvSpPr>
        <p:spPr>
          <a:xfrm>
            <a:off x="5533949" y="3081528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8" name="Google Shape;3438;p118"/>
          <p:cNvSpPr/>
          <p:nvPr/>
        </p:nvSpPr>
        <p:spPr>
          <a:xfrm>
            <a:off x="5724144" y="3081528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9" name="Google Shape;3439;p118"/>
          <p:cNvSpPr txBox="1"/>
          <p:nvPr/>
        </p:nvSpPr>
        <p:spPr>
          <a:xfrm>
            <a:off x="5991149" y="3043123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0" name="Google Shape;3440;p118"/>
          <p:cNvSpPr txBox="1"/>
          <p:nvPr/>
        </p:nvSpPr>
        <p:spPr>
          <a:xfrm>
            <a:off x="5419649" y="3586277"/>
            <a:ext cx="6001207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my_df_loaded = pd.</a:t>
            </a: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5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"my_df.csv"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500" b="0" i="0" u="none" strike="noStrike" cap="none">
                <a:solidFill>
                  <a:srgbClr val="F472B6"/>
                </a:solidFill>
                <a:latin typeface="Courier New"/>
                <a:ea typeface="Courier New"/>
                <a:cs typeface="Courier New"/>
                <a:sym typeface="Courier New"/>
              </a:rPr>
              <a:t>index_col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5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5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my_df_loaded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ourier New"/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birthyear children hobby weight alice 1985 NaN Biking 68.5 bob 1984 3.0 Dancing 83.1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1" name="Google Shape;3441;p118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7" name="Google Shape;3447;p1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8" name="Google Shape;3448;p11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9" name="Google Shape;3449;p1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0" name="Google Shape;3450;p1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1" name="Google Shape;3451;p119"/>
          <p:cNvSpPr txBox="1"/>
          <p:nvPr/>
        </p:nvSpPr>
        <p:spPr>
          <a:xfrm>
            <a:off x="609905" y="457200"/>
            <a:ext cx="1114470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Pandas - DataFrame Objects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2" name="Google Shape;3452;p119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828800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3" name="Google Shape;3453;p119" descr="preencoded.png"/>
          <p:cNvPicPr preferRelativeResize="0"/>
          <p:nvPr/>
        </p:nvPicPr>
        <p:blipFill rotWithShape="1">
          <a:blip r:embed="rId7">
            <a:alphaModFix/>
          </a:blip>
          <a:srcRect l="-4" r="-4"/>
          <a:stretch/>
        </p:blipFill>
        <p:spPr>
          <a:xfrm>
            <a:off x="7297826" y="3847795"/>
            <a:ext cx="4302252" cy="1219810"/>
          </a:xfrm>
          <a:prstGeom prst="rect">
            <a:avLst/>
          </a:prstGeom>
          <a:noFill/>
          <a:ln>
            <a:noFill/>
          </a:ln>
        </p:spPr>
      </p:pic>
      <p:sp>
        <p:nvSpPr>
          <p:cNvPr id="3454" name="Google Shape;3454;p119"/>
          <p:cNvSpPr/>
          <p:nvPr/>
        </p:nvSpPr>
        <p:spPr>
          <a:xfrm>
            <a:off x="7324344" y="3847795"/>
            <a:ext cx="4276649" cy="457200"/>
          </a:xfrm>
          <a:prstGeom prst="roundRect">
            <a:avLst>
              <a:gd name="adj" fmla="val 33333"/>
            </a:avLst>
          </a:prstGeom>
          <a:solidFill>
            <a:srgbClr val="1F2937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5" name="Google Shape;3455;p119"/>
          <p:cNvSpPr/>
          <p:nvPr/>
        </p:nvSpPr>
        <p:spPr>
          <a:xfrm>
            <a:off x="7479792" y="3948379"/>
            <a:ext cx="123444" cy="123444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6" name="Google Shape;3456;p119"/>
          <p:cNvSpPr/>
          <p:nvPr/>
        </p:nvSpPr>
        <p:spPr>
          <a:xfrm>
            <a:off x="7670902" y="3954780"/>
            <a:ext cx="123444" cy="123444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7" name="Google Shape;3457;p119"/>
          <p:cNvSpPr/>
          <p:nvPr/>
        </p:nvSpPr>
        <p:spPr>
          <a:xfrm>
            <a:off x="7861097" y="3961181"/>
            <a:ext cx="123444" cy="123444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8" name="Google Shape;3458;p119"/>
          <p:cNvSpPr txBox="1"/>
          <p:nvPr/>
        </p:nvSpPr>
        <p:spPr>
          <a:xfrm>
            <a:off x="8050378" y="3949294"/>
            <a:ext cx="495605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9" name="Google Shape;3459;p119"/>
          <p:cNvSpPr txBox="1"/>
          <p:nvPr/>
        </p:nvSpPr>
        <p:spPr>
          <a:xfrm>
            <a:off x="7535570" y="4417466"/>
            <a:ext cx="771754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0" name="Google Shape;3460;p119"/>
          <p:cNvSpPr txBox="1"/>
          <p:nvPr/>
        </p:nvSpPr>
        <p:spPr>
          <a:xfrm>
            <a:off x="9134856" y="4473245"/>
            <a:ext cx="314554" cy="25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A78BFA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1" name="Google Shape;3461;p119"/>
          <p:cNvSpPr txBox="1"/>
          <p:nvPr/>
        </p:nvSpPr>
        <p:spPr>
          <a:xfrm>
            <a:off x="9820656" y="4497019"/>
            <a:ext cx="1686154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Load dataset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2" name="Google Shape;3462;p119"/>
          <p:cNvSpPr txBox="1"/>
          <p:nvPr/>
        </p:nvSpPr>
        <p:spPr>
          <a:xfrm>
            <a:off x="14047927" y="4645152"/>
            <a:ext cx="2506370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"dataset/housing.csv"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3" name="Google Shape;3463;p119"/>
          <p:cNvSpPr txBox="1"/>
          <p:nvPr/>
        </p:nvSpPr>
        <p:spPr>
          <a:xfrm>
            <a:off x="16675913" y="4736592"/>
            <a:ext cx="2387498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# Get quick overview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119"/>
          <p:cNvSpPr txBox="1"/>
          <p:nvPr/>
        </p:nvSpPr>
        <p:spPr>
          <a:xfrm>
            <a:off x="18960998" y="4816145"/>
            <a:ext cx="657454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500"/>
              <a:buFont typeface="Courier New"/>
              <a:buNone/>
            </a:pPr>
            <a:r>
              <a:rPr lang="en-US" sz="15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5" name="Google Shape;3465;p1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48695" y="3621024"/>
            <a:ext cx="761695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6" name="Google Shape;3466;p119" descr="preencoded.png"/>
          <p:cNvPicPr preferRelativeResize="0"/>
          <p:nvPr/>
        </p:nvPicPr>
        <p:blipFill rotWithShape="1">
          <a:blip r:embed="rId9">
            <a:alphaModFix/>
          </a:blip>
          <a:srcRect l="-1117" r="-1118"/>
          <a:stretch/>
        </p:blipFill>
        <p:spPr>
          <a:xfrm>
            <a:off x="11320272" y="3859682"/>
            <a:ext cx="219456" cy="286207"/>
          </a:xfrm>
          <a:prstGeom prst="rect">
            <a:avLst/>
          </a:prstGeom>
          <a:noFill/>
          <a:ln>
            <a:noFill/>
          </a:ln>
        </p:spPr>
      </p:pic>
      <p:sp>
        <p:nvSpPr>
          <p:cNvPr id="3467" name="Google Shape;3467;p119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119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8" name="Google Shape;3468;p119" descr="preencoded.png"/>
          <p:cNvPicPr preferRelativeResize="0"/>
          <p:nvPr/>
        </p:nvPicPr>
        <p:blipFill rotWithShape="1">
          <a:blip r:embed="rId10">
            <a:alphaModFix/>
          </a:blip>
          <a:srcRect t="-19" b="-19"/>
          <a:stretch/>
        </p:blipFill>
        <p:spPr>
          <a:xfrm>
            <a:off x="609905" y="2924251"/>
            <a:ext cx="6096305" cy="1086307"/>
          </a:xfrm>
          <a:prstGeom prst="rect">
            <a:avLst/>
          </a:prstGeom>
          <a:noFill/>
          <a:ln>
            <a:noFill/>
          </a:ln>
        </p:spPr>
      </p:pic>
      <p:sp>
        <p:nvSpPr>
          <p:cNvPr id="3469" name="Google Shape;3469;p119"/>
          <p:cNvSpPr txBox="1"/>
          <p:nvPr/>
        </p:nvSpPr>
        <p:spPr>
          <a:xfrm>
            <a:off x="914400" y="3152851"/>
            <a:ext cx="5649163" cy="6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When dealing with large DataFrames, it is useful to get a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quick overview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of its content.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0" name="Google Shape;3470;p11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442935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1" name="Google Shape;3471;p119" descr="preencoded.png"/>
          <p:cNvPicPr preferRelativeResize="0"/>
          <p:nvPr/>
        </p:nvPicPr>
        <p:blipFill rotWithShape="1">
          <a:blip r:embed="rId12">
            <a:alphaModFix/>
          </a:blip>
          <a:srcRect l="-1648" r="-1647"/>
          <a:stretch/>
        </p:blipFill>
        <p:spPr>
          <a:xfrm>
            <a:off x="752551" y="456285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72" name="Google Shape;3472;p119"/>
          <p:cNvSpPr txBox="1"/>
          <p:nvPr/>
        </p:nvSpPr>
        <p:spPr>
          <a:xfrm>
            <a:off x="1295705" y="4390949"/>
            <a:ext cx="560070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Load external data to create a DataFrame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3" name="Google Shape;3473;p119"/>
          <p:cNvSpPr txBox="1"/>
          <p:nvPr/>
        </p:nvSpPr>
        <p:spPr>
          <a:xfrm>
            <a:off x="1295705" y="4772254"/>
            <a:ext cx="597834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1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Example: Loading 'housing.csv' from the dataset directory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4" name="Google Shape;3474;p11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53812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5" name="Google Shape;3475;p119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3407" y="551474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76" name="Google Shape;3476;p119"/>
          <p:cNvSpPr txBox="1"/>
          <p:nvPr/>
        </p:nvSpPr>
        <p:spPr>
          <a:xfrm>
            <a:off x="1295705" y="5343754"/>
            <a:ext cx="5524805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Inspect the data structure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7" name="Google Shape;3477;p119"/>
          <p:cNvSpPr txBox="1"/>
          <p:nvPr/>
        </p:nvSpPr>
        <p:spPr>
          <a:xfrm>
            <a:off x="1295705" y="5724144"/>
            <a:ext cx="556686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1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Quickly check dimensions, data types, and sample rows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p1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84" name="Google Shape;3484;p12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5" name="Google Shape;3485;p1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6" name="Google Shape;3486;p1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7" name="Google Shape;3487;p120"/>
          <p:cNvSpPr txBox="1"/>
          <p:nvPr/>
        </p:nvSpPr>
        <p:spPr>
          <a:xfrm>
            <a:off x="609905" y="533095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Overview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8" name="Google Shape;3488;p12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2188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9" name="Google Shape;3489;p120" descr="preencoded.png"/>
          <p:cNvPicPr preferRelativeResize="0"/>
          <p:nvPr/>
        </p:nvPicPr>
        <p:blipFill rotWithShape="1">
          <a:blip r:embed="rId7">
            <a:alphaModFix amt="74000"/>
          </a:blip>
          <a:srcRect/>
          <a:stretch/>
        </p:blipFill>
        <p:spPr>
          <a:xfrm>
            <a:off x="10858500" y="316199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0" name="Google Shape;3490;p1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1095" y="4395521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1" name="Google Shape;3491;p120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2" name="Google Shape;3492;p120" descr="preencoded.png"/>
          <p:cNvPicPr preferRelativeResize="0"/>
          <p:nvPr/>
        </p:nvPicPr>
        <p:blipFill rotWithShape="1">
          <a:blip r:embed="rId9">
            <a:alphaModFix/>
          </a:blip>
          <a:srcRect l="-9" r="-10"/>
          <a:stretch/>
        </p:blipFill>
        <p:spPr>
          <a:xfrm>
            <a:off x="609905" y="2238451"/>
            <a:ext cx="6096305" cy="1009498"/>
          </a:xfrm>
          <a:prstGeom prst="rect">
            <a:avLst/>
          </a:prstGeom>
          <a:noFill/>
          <a:ln>
            <a:noFill/>
          </a:ln>
        </p:spPr>
      </p:pic>
      <p:sp>
        <p:nvSpPr>
          <p:cNvPr id="3493" name="Google Shape;3493;p120"/>
          <p:cNvSpPr txBox="1"/>
          <p:nvPr/>
        </p:nvSpPr>
        <p:spPr>
          <a:xfrm>
            <a:off x="875995" y="2428646"/>
            <a:ext cx="5725058" cy="6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Let’s understand the essential methods to get a quick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of your DataFrame content.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4" name="Google Shape;3494;p1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35524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5" name="Google Shape;3495;p120" descr="preencoded.png"/>
          <p:cNvPicPr preferRelativeResize="0"/>
          <p:nvPr/>
        </p:nvPicPr>
        <p:blipFill rotWithShape="1">
          <a:blip r:embed="rId11">
            <a:alphaModFix/>
          </a:blip>
          <a:srcRect l="-1773" r="-1773"/>
          <a:stretch/>
        </p:blipFill>
        <p:spPr>
          <a:xfrm>
            <a:off x="771754" y="3696005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496" name="Google Shape;3496;p120"/>
          <p:cNvSpPr/>
          <p:nvPr/>
        </p:nvSpPr>
        <p:spPr>
          <a:xfrm>
            <a:off x="1295705" y="3590849"/>
            <a:ext cx="1057046" cy="381305"/>
          </a:xfrm>
          <a:prstGeom prst="roundRect">
            <a:avLst>
              <a:gd name="adj" fmla="val 23981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7" name="Google Shape;3497;p120"/>
          <p:cNvSpPr txBox="1"/>
          <p:nvPr/>
        </p:nvSpPr>
        <p:spPr>
          <a:xfrm>
            <a:off x="1295705" y="3590849"/>
            <a:ext cx="1133856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head()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8" name="Google Shape;3498;p1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2382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9" name="Google Shape;3499;p120" descr="preencoded.png"/>
          <p:cNvPicPr preferRelativeResize="0"/>
          <p:nvPr/>
        </p:nvPicPr>
        <p:blipFill rotWithShape="1">
          <a:blip r:embed="rId12">
            <a:alphaModFix/>
          </a:blip>
          <a:srcRect l="-1773" r="-1773"/>
          <a:stretch/>
        </p:blipFill>
        <p:spPr>
          <a:xfrm>
            <a:off x="771754" y="4381805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500" name="Google Shape;3500;p120"/>
          <p:cNvSpPr/>
          <p:nvPr/>
        </p:nvSpPr>
        <p:spPr>
          <a:xfrm>
            <a:off x="1295705" y="4276649"/>
            <a:ext cx="1057046" cy="381305"/>
          </a:xfrm>
          <a:prstGeom prst="roundRect">
            <a:avLst>
              <a:gd name="adj" fmla="val 23981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1" name="Google Shape;3501;p120"/>
          <p:cNvSpPr txBox="1"/>
          <p:nvPr/>
        </p:nvSpPr>
        <p:spPr>
          <a:xfrm>
            <a:off x="1295705" y="4276649"/>
            <a:ext cx="1133856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tail()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2" name="Google Shape;3502;p1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9240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3" name="Google Shape;3503;p120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52551" y="506760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504" name="Google Shape;3504;p120"/>
          <p:cNvSpPr/>
          <p:nvPr/>
        </p:nvSpPr>
        <p:spPr>
          <a:xfrm>
            <a:off x="1295705" y="4962449"/>
            <a:ext cx="1057046" cy="381305"/>
          </a:xfrm>
          <a:prstGeom prst="roundRect">
            <a:avLst>
              <a:gd name="adj" fmla="val 23981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5" name="Google Shape;3505;p120"/>
          <p:cNvSpPr txBox="1"/>
          <p:nvPr/>
        </p:nvSpPr>
        <p:spPr>
          <a:xfrm>
            <a:off x="1295705" y="4962449"/>
            <a:ext cx="1133856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info()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6" name="Google Shape;3506;p12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609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7" name="Google Shape;3507;p120" descr="preencoded.png"/>
          <p:cNvPicPr preferRelativeResize="0"/>
          <p:nvPr/>
        </p:nvPicPr>
        <p:blipFill rotWithShape="1">
          <a:blip r:embed="rId14">
            <a:alphaModFix/>
          </a:blip>
          <a:srcRect l="-1773" r="-1773"/>
          <a:stretch/>
        </p:blipFill>
        <p:spPr>
          <a:xfrm>
            <a:off x="771754" y="5753405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508" name="Google Shape;3508;p120"/>
          <p:cNvSpPr/>
          <p:nvPr/>
        </p:nvSpPr>
        <p:spPr>
          <a:xfrm>
            <a:off x="1295705" y="5648249"/>
            <a:ext cx="1609344" cy="381305"/>
          </a:xfrm>
          <a:prstGeom prst="roundRect">
            <a:avLst>
              <a:gd name="adj" fmla="val 23981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9" name="Google Shape;3509;p120"/>
          <p:cNvSpPr txBox="1"/>
          <p:nvPr/>
        </p:nvSpPr>
        <p:spPr>
          <a:xfrm>
            <a:off x="1295705" y="5648249"/>
            <a:ext cx="1686154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Courier New"/>
                <a:ea typeface="Courier New"/>
                <a:cs typeface="Courier New"/>
                <a:sym typeface="Courier New"/>
              </a:rPr>
              <a:t>describe()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0" name="Google Shape;3510;p120" descr="preencoded.png"/>
          <p:cNvPicPr preferRelativeResize="0"/>
          <p:nvPr/>
        </p:nvPicPr>
        <p:blipFill rotWithShape="1">
          <a:blip r:embed="rId15">
            <a:alphaModFix amt="10000"/>
          </a:blip>
          <a:srcRect/>
          <a:stretch/>
        </p:blipFill>
        <p:spPr>
          <a:xfrm>
            <a:off x="8305495" y="3161995"/>
            <a:ext cx="29718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1" name="Google Shape;3511;p120" descr="preencoded.png"/>
          <p:cNvPicPr preferRelativeResize="0"/>
          <p:nvPr/>
        </p:nvPicPr>
        <p:blipFill rotWithShape="1">
          <a:blip r:embed="rId16">
            <a:alphaModFix amt="90000"/>
          </a:blip>
          <a:srcRect/>
          <a:stretch/>
        </p:blipFill>
        <p:spPr>
          <a:xfrm>
            <a:off x="8305495" y="3161995"/>
            <a:ext cx="1981505" cy="1981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1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18" name="Google Shape;3518;p12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19" name="Google Shape;3519;p121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20" name="Google Shape;3520;p121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21" name="Google Shape;3521;p121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DataFrame Overview: head()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2" name="Google Shape;3522;p121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3" name="Google Shape;3523;p121" descr="preencoded.png"/>
          <p:cNvPicPr preferRelativeResize="0"/>
          <p:nvPr/>
        </p:nvPicPr>
        <p:blipFill rotWithShape="1">
          <a:blip r:embed="rId6">
            <a:alphaModFix/>
          </a:blip>
          <a:srcRect l="-8" r="-8"/>
          <a:stretch/>
        </p:blipFill>
        <p:spPr>
          <a:xfrm>
            <a:off x="609905" y="2848356"/>
            <a:ext cx="4381805" cy="1695298"/>
          </a:xfrm>
          <a:prstGeom prst="rect">
            <a:avLst/>
          </a:prstGeom>
          <a:noFill/>
          <a:ln>
            <a:noFill/>
          </a:ln>
        </p:spPr>
      </p:pic>
      <p:sp>
        <p:nvSpPr>
          <p:cNvPr id="3524" name="Google Shape;3524;p121"/>
          <p:cNvSpPr txBox="1"/>
          <p:nvPr/>
        </p:nvSpPr>
        <p:spPr>
          <a:xfrm>
            <a:off x="914400" y="3076956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head() Method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5" name="Google Shape;3525;p121"/>
          <p:cNvSpPr txBox="1"/>
          <p:nvPr/>
        </p:nvSpPr>
        <p:spPr>
          <a:xfrm>
            <a:off x="914400" y="3571646"/>
            <a:ext cx="3934663" cy="74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This method returns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top 5 rows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DataFrame by default.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6" name="Google Shape;3526;p1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00085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7" name="Google Shape;3527;p121"/>
          <p:cNvSpPr txBox="1"/>
          <p:nvPr/>
        </p:nvSpPr>
        <p:spPr>
          <a:xfrm>
            <a:off x="952805" y="4848149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Useful for quickly inspecting the data structure and content.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8" name="Google Shape;3528;p121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2199132"/>
            <a:ext cx="6133795" cy="3831336"/>
          </a:xfrm>
          <a:prstGeom prst="rect">
            <a:avLst/>
          </a:prstGeom>
          <a:noFill/>
          <a:ln>
            <a:noFill/>
          </a:ln>
        </p:spPr>
      </p:pic>
      <p:sp>
        <p:nvSpPr>
          <p:cNvPr id="3529" name="Google Shape;3529;p121"/>
          <p:cNvSpPr/>
          <p:nvPr/>
        </p:nvSpPr>
        <p:spPr>
          <a:xfrm>
            <a:off x="5458054" y="2208276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0" name="Google Shape;3530;p121"/>
          <p:cNvSpPr/>
          <p:nvPr/>
        </p:nvSpPr>
        <p:spPr>
          <a:xfrm>
            <a:off x="5458054" y="2627986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1" name="Google Shape;3531;p121"/>
          <p:cNvSpPr/>
          <p:nvPr/>
        </p:nvSpPr>
        <p:spPr>
          <a:xfrm>
            <a:off x="5609844" y="2360981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2" name="Google Shape;3532;p121"/>
          <p:cNvSpPr/>
          <p:nvPr/>
        </p:nvSpPr>
        <p:spPr>
          <a:xfrm>
            <a:off x="5800954" y="2360981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3" name="Google Shape;3533;p121"/>
          <p:cNvSpPr/>
          <p:nvPr/>
        </p:nvSpPr>
        <p:spPr>
          <a:xfrm>
            <a:off x="5991149" y="2360981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4" name="Google Shape;3534;p121"/>
          <p:cNvSpPr txBox="1"/>
          <p:nvPr/>
        </p:nvSpPr>
        <p:spPr>
          <a:xfrm>
            <a:off x="6258154" y="2322576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5" name="Google Shape;3535;p121"/>
          <p:cNvSpPr txBox="1"/>
          <p:nvPr/>
        </p:nvSpPr>
        <p:spPr>
          <a:xfrm>
            <a:off x="5686654" y="2865730"/>
            <a:ext cx="5744261" cy="2934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housing = pd.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read_csv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800" b="0" i="0" u="none" strike="noStrike" cap="none">
                <a:solidFill>
                  <a:srgbClr val="A3E635"/>
                </a:solidFill>
                <a:latin typeface="Courier New"/>
                <a:ea typeface="Courier New"/>
                <a:cs typeface="Courier New"/>
                <a:sym typeface="Courier New"/>
              </a:rPr>
              <a:t>"dataset/housing.csv"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housing.</a:t>
            </a:r>
            <a:r>
              <a:rPr lang="en-US" sz="18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lang="en-US" sz="18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Returns the first 5 rows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longitude latitude ... median_house_value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0 -122.23 37.88 ... 452600.0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lang="en-US" sz="18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1 -122.22 37.86 ... 358500.0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6" name="Google Shape;3536;p121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Google Shape;3542;p1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3" name="Google Shape;3543;p12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44" name="Google Shape;3544;p122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45" name="Google Shape;3545;p122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46" name="Google Shape;3546;p122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Pandas - DataFrame Objects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7" name="Google Shape;3547;p122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8" name="Google Shape;3548;p122" descr="preencoded.png"/>
          <p:cNvPicPr preferRelativeResize="0"/>
          <p:nvPr/>
        </p:nvPicPr>
        <p:blipFill rotWithShape="1">
          <a:blip r:embed="rId6">
            <a:alphaModFix/>
          </a:blip>
          <a:srcRect t="-3" b="-3"/>
          <a:stretch/>
        </p:blipFill>
        <p:spPr>
          <a:xfrm>
            <a:off x="609905" y="2271370"/>
            <a:ext cx="4381805" cy="2848356"/>
          </a:xfrm>
          <a:prstGeom prst="rect">
            <a:avLst/>
          </a:prstGeom>
          <a:noFill/>
          <a:ln>
            <a:noFill/>
          </a:ln>
        </p:spPr>
      </p:pic>
      <p:sp>
        <p:nvSpPr>
          <p:cNvPr id="3549" name="Google Shape;3549;p122"/>
          <p:cNvSpPr txBox="1"/>
          <p:nvPr/>
        </p:nvSpPr>
        <p:spPr>
          <a:xfrm>
            <a:off x="914400" y="2499970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Overview - tail()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0" name="Google Shape;3550;p122"/>
          <p:cNvSpPr txBox="1"/>
          <p:nvPr/>
        </p:nvSpPr>
        <p:spPr>
          <a:xfrm>
            <a:off x="914400" y="2995574"/>
            <a:ext cx="3934663" cy="112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The </a:t>
            </a:r>
            <a:r>
              <a:rPr lang="en-US" sz="1800" b="1" i="0" u="none" strike="noStrike" cap="non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tail()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method returns the </a:t>
            </a:r>
            <a:r>
              <a:rPr lang="en-US" sz="1800" b="1" i="0" u="none" strike="noStrike" cap="none">
                <a:solidFill>
                  <a:srgbClr val="1F2937"/>
                </a:solidFill>
                <a:latin typeface="Roboto"/>
                <a:ea typeface="Roboto"/>
                <a:cs typeface="Roboto"/>
                <a:sym typeface="Roboto"/>
              </a:rPr>
              <a:t>bottom 5 rows</a:t>
            </a: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DataFrame by default.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1" name="Google Shape;3551;p122"/>
          <p:cNvSpPr txBox="1"/>
          <p:nvPr/>
        </p:nvSpPr>
        <p:spPr>
          <a:xfrm>
            <a:off x="914400" y="4272077"/>
            <a:ext cx="3924605" cy="6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You can also pass the number of rows you want to view as an argument.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2" name="Google Shape;3552;p1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905" y="557692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3" name="Google Shape;3553;p122"/>
          <p:cNvSpPr txBox="1"/>
          <p:nvPr/>
        </p:nvSpPr>
        <p:spPr>
          <a:xfrm>
            <a:off x="952805" y="5424221"/>
            <a:ext cx="4114800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helps verify the end of your dataset or appended data.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4" name="Google Shape;3554;p122" descr="preencoded.png"/>
          <p:cNvPicPr preferRelativeResize="0"/>
          <p:nvPr/>
        </p:nvPicPr>
        <p:blipFill rotWithShape="1">
          <a:blip r:embed="rId8">
            <a:alphaModFix/>
          </a:blip>
          <a:srcRect t="-3" b="-3"/>
          <a:stretch/>
        </p:blipFill>
        <p:spPr>
          <a:xfrm>
            <a:off x="5447995" y="2125980"/>
            <a:ext cx="6133795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5" name="Google Shape;3555;p122"/>
          <p:cNvSpPr/>
          <p:nvPr/>
        </p:nvSpPr>
        <p:spPr>
          <a:xfrm>
            <a:off x="5458054" y="2135124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6" name="Google Shape;3556;p122"/>
          <p:cNvSpPr/>
          <p:nvPr/>
        </p:nvSpPr>
        <p:spPr>
          <a:xfrm>
            <a:off x="5458054" y="2554834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7" name="Google Shape;3557;p122"/>
          <p:cNvSpPr/>
          <p:nvPr/>
        </p:nvSpPr>
        <p:spPr>
          <a:xfrm>
            <a:off x="5609844" y="2287829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8" name="Google Shape;3558;p122"/>
          <p:cNvSpPr/>
          <p:nvPr/>
        </p:nvSpPr>
        <p:spPr>
          <a:xfrm>
            <a:off x="5800954" y="2287829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9" name="Google Shape;3559;p122"/>
          <p:cNvSpPr/>
          <p:nvPr/>
        </p:nvSpPr>
        <p:spPr>
          <a:xfrm>
            <a:off x="5991149" y="2287829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0" name="Google Shape;3560;p122"/>
          <p:cNvSpPr txBox="1"/>
          <p:nvPr/>
        </p:nvSpPr>
        <p:spPr>
          <a:xfrm>
            <a:off x="6258154" y="2249424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1" name="Google Shape;3561;p122"/>
          <p:cNvSpPr txBox="1"/>
          <p:nvPr/>
        </p:nvSpPr>
        <p:spPr>
          <a:xfrm>
            <a:off x="5686654" y="2792578"/>
            <a:ext cx="5737860" cy="3076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The tail method returns the bottom 5 rows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1" u="none" strike="noStrike" cap="non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# We can also pass the number of rows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ourier New"/>
              <a:buNone/>
            </a:pPr>
            <a:r>
              <a:rPr lang="en-US" sz="16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housing.</a:t>
            </a:r>
            <a:r>
              <a:rPr lang="en-US" sz="16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tail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(n=</a:t>
            </a:r>
            <a:r>
              <a:rPr lang="en-US" sz="1600" b="0" i="0" u="none" strike="noStrike" cap="non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6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longitude latitude housing_median_age ...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20638 -121.32 39.43 18.0 ...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20639 -121.24 39.37 16.0 ...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1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[2 rows x 10 columns]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2" name="Google Shape;3562;p122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8" name="Google Shape;3568;p1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69" name="Google Shape;3569;p12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70" name="Google Shape;3570;p123"/>
          <p:cNvSpPr/>
          <p:nvPr/>
        </p:nvSpPr>
        <p:spPr>
          <a:xfrm>
            <a:off x="9618574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71" name="Google Shape;3571;p123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381305" y="5257800"/>
            <a:ext cx="1218895" cy="1218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72" name="Google Shape;3572;p123"/>
          <p:cNvSpPr txBox="1"/>
          <p:nvPr/>
        </p:nvSpPr>
        <p:spPr>
          <a:xfrm>
            <a:off x="609905" y="457200"/>
            <a:ext cx="1116391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DataFrame Overview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3" name="Google Shape;3573;p123" descr="preencoded.png"/>
          <p:cNvPicPr preferRelativeResize="0"/>
          <p:nvPr/>
        </p:nvPicPr>
        <p:blipFill rotWithShape="1">
          <a:blip r:embed="rId5">
            <a:alphaModFix/>
          </a:blip>
          <a:srcRect l="-200" r="-200"/>
          <a:stretch/>
        </p:blipFill>
        <p:spPr>
          <a:xfrm>
            <a:off x="609905" y="106710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4" name="Google Shape;3574;p123" descr="preencoded.png"/>
          <p:cNvPicPr preferRelativeResize="0"/>
          <p:nvPr/>
        </p:nvPicPr>
        <p:blipFill rotWithShape="1">
          <a:blip r:embed="rId6">
            <a:alphaModFix/>
          </a:blip>
          <a:srcRect l="-11" r="-11"/>
          <a:stretch/>
        </p:blipFill>
        <p:spPr>
          <a:xfrm>
            <a:off x="609905" y="2755087"/>
            <a:ext cx="4381805" cy="1880921"/>
          </a:xfrm>
          <a:prstGeom prst="rect">
            <a:avLst/>
          </a:prstGeom>
          <a:noFill/>
          <a:ln>
            <a:noFill/>
          </a:ln>
        </p:spPr>
      </p:pic>
      <p:sp>
        <p:nvSpPr>
          <p:cNvPr id="3575" name="Google Shape;3575;p123"/>
          <p:cNvSpPr txBox="1"/>
          <p:nvPr/>
        </p:nvSpPr>
        <p:spPr>
          <a:xfrm>
            <a:off x="914400" y="2983687"/>
            <a:ext cx="396301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Poppins"/>
              <a:buNone/>
            </a:pPr>
            <a:r>
              <a:rPr lang="en-US" sz="2200" b="1" i="0" u="none" strike="noStrike" cap="non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info() Method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123"/>
          <p:cNvSpPr txBox="1"/>
          <p:nvPr/>
        </p:nvSpPr>
        <p:spPr>
          <a:xfrm>
            <a:off x="914400" y="3479292"/>
            <a:ext cx="3924605" cy="93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Prints out a concise </a:t>
            </a:r>
            <a:r>
              <a:rPr lang="en-US" sz="1500" b="1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summary</a:t>
            </a: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 of the DataFrame, including the index dtype and columns, non-null values, and memory usage. 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7" name="Google Shape;3577;p123" descr="preencoded.png"/>
          <p:cNvPicPr preferRelativeResize="0"/>
          <p:nvPr/>
        </p:nvPicPr>
        <p:blipFill rotWithShape="1">
          <a:blip r:embed="rId7">
            <a:alphaModFix/>
          </a:blip>
          <a:srcRect l="-133" r="-133"/>
          <a:stretch/>
        </p:blipFill>
        <p:spPr>
          <a:xfrm>
            <a:off x="609905" y="4978908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8" name="Google Shape;3578;p123"/>
          <p:cNvSpPr txBox="1"/>
          <p:nvPr/>
        </p:nvSpPr>
        <p:spPr>
          <a:xfrm>
            <a:off x="933602" y="4941418"/>
            <a:ext cx="4134002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This is the go-to method for a quick check of data types and identifying missing values in your dataset.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9" name="Google Shape;3579;p123" descr="preencoded.png"/>
          <p:cNvPicPr preferRelativeResize="0"/>
          <p:nvPr/>
        </p:nvPicPr>
        <p:blipFill rotWithShape="1">
          <a:blip r:embed="rId8">
            <a:alphaModFix/>
          </a:blip>
          <a:srcRect t="-2" b="-2"/>
          <a:stretch/>
        </p:blipFill>
        <p:spPr>
          <a:xfrm>
            <a:off x="5447995" y="2115007"/>
            <a:ext cx="613379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0" name="Google Shape;3580;p123"/>
          <p:cNvSpPr/>
          <p:nvPr/>
        </p:nvSpPr>
        <p:spPr>
          <a:xfrm>
            <a:off x="5458054" y="2124151"/>
            <a:ext cx="6115507" cy="428854"/>
          </a:xfrm>
          <a:prstGeom prst="roundRect">
            <a:avLst>
              <a:gd name="adj" fmla="val 56859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1" name="Google Shape;3581;p123"/>
          <p:cNvSpPr/>
          <p:nvPr/>
        </p:nvSpPr>
        <p:spPr>
          <a:xfrm>
            <a:off x="5458054" y="2543861"/>
            <a:ext cx="6115507" cy="9144"/>
          </a:xfrm>
          <a:prstGeom prst="roundRect">
            <a:avLst>
              <a:gd name="adj" fmla="val 2666667"/>
            </a:avLst>
          </a:prstGeom>
          <a:solidFill>
            <a:srgbClr val="334155"/>
          </a:solidFill>
          <a:ln w="12700" cap="flat" cmpd="sng">
            <a:solidFill>
              <a:srgbClr val="334155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2" name="Google Shape;3582;p123"/>
          <p:cNvSpPr/>
          <p:nvPr/>
        </p:nvSpPr>
        <p:spPr>
          <a:xfrm>
            <a:off x="5609844" y="2276856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3" name="Google Shape;3583;p123"/>
          <p:cNvSpPr/>
          <p:nvPr/>
        </p:nvSpPr>
        <p:spPr>
          <a:xfrm>
            <a:off x="5800954" y="2276856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4" name="Google Shape;3584;p123"/>
          <p:cNvSpPr/>
          <p:nvPr/>
        </p:nvSpPr>
        <p:spPr>
          <a:xfrm>
            <a:off x="5991149" y="2276856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5" name="Google Shape;3585;p123"/>
          <p:cNvSpPr txBox="1"/>
          <p:nvPr/>
        </p:nvSpPr>
        <p:spPr>
          <a:xfrm>
            <a:off x="6258154" y="2238451"/>
            <a:ext cx="562356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6" name="Google Shape;3586;p123"/>
          <p:cNvSpPr txBox="1"/>
          <p:nvPr/>
        </p:nvSpPr>
        <p:spPr>
          <a:xfrm>
            <a:off x="5686654" y="2781605"/>
            <a:ext cx="5734202" cy="302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 housing.</a:t>
            </a:r>
            <a:r>
              <a:rPr lang="en-US" sz="1300" b="0" i="0" u="none" strike="noStrike" cap="non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info</a:t>
            </a:r>
            <a:r>
              <a:rPr lang="en-US" sz="1300" b="0" i="0" u="none" strike="noStrike" cap="none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&lt;class 'pandas.core.frame.DataFrame'&gt;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RangeIndex: 20640 entries, 0 to 20639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Data columns (total 3 columns):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# Column Non-Null Count Dtype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--- ------ -------------- -----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0 longitude 20640 non-null float64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1 latitude 20640 non-null float64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2 housing_age 20640 non-null float64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dtypes: float64(3)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ourier New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memory usage: 483.9 KB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7" name="Google Shape;3587;p123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1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94" name="Google Shape;3594;p12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5" name="Google Shape;3595;p1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12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7" name="Google Shape;3597;p124"/>
          <p:cNvSpPr txBox="1"/>
          <p:nvPr/>
        </p:nvSpPr>
        <p:spPr>
          <a:xfrm>
            <a:off x="609905" y="457200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Poppins"/>
              <a:buNone/>
            </a:pPr>
            <a:r>
              <a:rPr lang="en-US" sz="36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 Pandas - DataFrame Objects </a:t>
            </a:r>
            <a:r>
              <a:rPr lang="en-US" sz="36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8" name="Google Shape;3598;p124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18140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599" name="Google Shape;3599;p124"/>
          <p:cNvSpPr/>
          <p:nvPr/>
        </p:nvSpPr>
        <p:spPr>
          <a:xfrm>
            <a:off x="609905" y="1561795"/>
            <a:ext cx="1723644" cy="4572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0" name="Google Shape;3600;p124"/>
          <p:cNvSpPr/>
          <p:nvPr/>
        </p:nvSpPr>
        <p:spPr>
          <a:xfrm>
            <a:off x="609905" y="1561795"/>
            <a:ext cx="38405" cy="457200"/>
          </a:xfrm>
          <a:prstGeom prst="roundRect">
            <a:avLst>
              <a:gd name="adj" fmla="val 396823"/>
            </a:avLst>
          </a:prstGeom>
          <a:solidFill>
            <a:srgbClr val="2563EB"/>
          </a:solidFill>
          <a:ln w="12700" cap="flat" cmpd="sng">
            <a:solidFill>
              <a:srgbClr val="2563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1" name="Google Shape;3601;p124"/>
          <p:cNvSpPr txBox="1"/>
          <p:nvPr/>
        </p:nvSpPr>
        <p:spPr>
          <a:xfrm>
            <a:off x="801014" y="1561795"/>
            <a:ext cx="1602029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describe()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2" name="Google Shape;3602;p124"/>
          <p:cNvSpPr txBox="1"/>
          <p:nvPr/>
        </p:nvSpPr>
        <p:spPr>
          <a:xfrm>
            <a:off x="2477110" y="1657807"/>
            <a:ext cx="665866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Gives a nice overview of the main aggregated values over each column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3" name="Google Shape;3603;p12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4205" y="2400300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4" name="Google Shape;3604;p124" descr="preencoded.png"/>
          <p:cNvPicPr preferRelativeResize="0"/>
          <p:nvPr/>
        </p:nvPicPr>
        <p:blipFill rotWithShape="1">
          <a:blip r:embed="rId8">
            <a:alphaModFix/>
          </a:blip>
          <a:srcRect t="-100" b="-100"/>
          <a:stretch/>
        </p:blipFill>
        <p:spPr>
          <a:xfrm>
            <a:off x="857707" y="2514600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605" name="Google Shape;3605;p124"/>
          <p:cNvSpPr txBox="1"/>
          <p:nvPr/>
        </p:nvSpPr>
        <p:spPr>
          <a:xfrm>
            <a:off x="1257300" y="2361895"/>
            <a:ext cx="290322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6" name="Google Shape;3606;p124"/>
          <p:cNvSpPr txBox="1"/>
          <p:nvPr/>
        </p:nvSpPr>
        <p:spPr>
          <a:xfrm>
            <a:off x="1257300" y="2628900"/>
            <a:ext cx="332110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Number of non-null (not NaN)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7" name="Google Shape;3607;p12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4205" y="3353105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8" name="Google Shape;3608;p12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8505" y="346740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609" name="Google Shape;3609;p124"/>
          <p:cNvSpPr txBox="1"/>
          <p:nvPr/>
        </p:nvSpPr>
        <p:spPr>
          <a:xfrm>
            <a:off x="1257300" y="3314700"/>
            <a:ext cx="189555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mean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0" name="Google Shape;3610;p124"/>
          <p:cNvSpPr txBox="1"/>
          <p:nvPr/>
        </p:nvSpPr>
        <p:spPr>
          <a:xfrm>
            <a:off x="1257300" y="3581705"/>
            <a:ext cx="216529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Mean of non-null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1" name="Google Shape;3611;p12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4205" y="4304995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2" name="Google Shape;3612;p124" descr="preencoded.png"/>
          <p:cNvPicPr preferRelativeResize="0"/>
          <p:nvPr/>
        </p:nvPicPr>
        <p:blipFill rotWithShape="1">
          <a:blip r:embed="rId12">
            <a:alphaModFix/>
          </a:blip>
          <a:srcRect t="-180" b="-179"/>
          <a:stretch/>
        </p:blipFill>
        <p:spPr>
          <a:xfrm>
            <a:off x="819302" y="4419295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613" name="Google Shape;3613;p124"/>
          <p:cNvSpPr txBox="1"/>
          <p:nvPr/>
        </p:nvSpPr>
        <p:spPr>
          <a:xfrm>
            <a:off x="1257300" y="4267505"/>
            <a:ext cx="292242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4" name="Google Shape;3614;p124"/>
          <p:cNvSpPr txBox="1"/>
          <p:nvPr/>
        </p:nvSpPr>
        <p:spPr>
          <a:xfrm>
            <a:off x="1257300" y="4533595"/>
            <a:ext cx="3343961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Standard deviation of non-null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5" name="Google Shape;3615;p12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4205" y="5257800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6" name="Google Shape;3616;p124" descr="preencoded.png"/>
          <p:cNvPicPr preferRelativeResize="0"/>
          <p:nvPr/>
        </p:nvPicPr>
        <p:blipFill rotWithShape="1">
          <a:blip r:embed="rId14">
            <a:alphaModFix/>
          </a:blip>
          <a:srcRect t="-100" b="-100"/>
          <a:stretch/>
        </p:blipFill>
        <p:spPr>
          <a:xfrm>
            <a:off x="857707" y="5372100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617" name="Google Shape;3617;p124"/>
          <p:cNvSpPr txBox="1"/>
          <p:nvPr/>
        </p:nvSpPr>
        <p:spPr>
          <a:xfrm>
            <a:off x="1257300" y="5219395"/>
            <a:ext cx="219913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8" name="Google Shape;3618;p124"/>
          <p:cNvSpPr txBox="1"/>
          <p:nvPr/>
        </p:nvSpPr>
        <p:spPr>
          <a:xfrm>
            <a:off x="1257300" y="5486400"/>
            <a:ext cx="251642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Minimum of non-null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9" name="Google Shape;3619;p124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286500" y="2400300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0" name="Google Shape;3620;p124" descr="preencoded.png"/>
          <p:cNvPicPr preferRelativeResize="0"/>
          <p:nvPr/>
        </p:nvPicPr>
        <p:blipFill rotWithShape="1">
          <a:blip r:embed="rId16">
            <a:alphaModFix/>
          </a:blip>
          <a:srcRect t="-100" b="-100"/>
          <a:stretch/>
        </p:blipFill>
        <p:spPr>
          <a:xfrm>
            <a:off x="6420002" y="2514600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621" name="Google Shape;3621;p124"/>
          <p:cNvSpPr txBox="1"/>
          <p:nvPr/>
        </p:nvSpPr>
        <p:spPr>
          <a:xfrm>
            <a:off x="6819595" y="2361895"/>
            <a:ext cx="3771900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25%, 50%, 75%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2" name="Google Shape;3622;p124"/>
          <p:cNvSpPr txBox="1"/>
          <p:nvPr/>
        </p:nvSpPr>
        <p:spPr>
          <a:xfrm>
            <a:off x="6819595" y="2628900"/>
            <a:ext cx="4321454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25th, 50th and 75th percentile of non-null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3" name="Google Shape;3623;p12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86500" y="3353105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4" name="Google Shape;3624;p124" descr="preencoded.png"/>
          <p:cNvPicPr preferRelativeResize="0"/>
          <p:nvPr/>
        </p:nvPicPr>
        <p:blipFill rotWithShape="1">
          <a:blip r:embed="rId17">
            <a:alphaModFix/>
          </a:blip>
          <a:srcRect t="-100" b="-100"/>
          <a:stretch/>
        </p:blipFill>
        <p:spPr>
          <a:xfrm>
            <a:off x="6420002" y="3467405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625" name="Google Shape;3625;p124"/>
          <p:cNvSpPr txBox="1"/>
          <p:nvPr/>
        </p:nvSpPr>
        <p:spPr>
          <a:xfrm>
            <a:off x="6819595" y="3314700"/>
            <a:ext cx="223936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ourier New"/>
              <a:buNone/>
            </a:pPr>
            <a:r>
              <a:rPr lang="en-US" sz="1500" b="1" i="0" u="none" strike="noStrike" cap="non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6" name="Google Shape;3626;p124"/>
          <p:cNvSpPr txBox="1"/>
          <p:nvPr/>
        </p:nvSpPr>
        <p:spPr>
          <a:xfrm>
            <a:off x="6819595" y="3581705"/>
            <a:ext cx="2562149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Roboto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Maximum of non-null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7" name="Google Shape;3627;p124" descr="preencoded.png"/>
          <p:cNvPicPr preferRelativeResize="0"/>
          <p:nvPr/>
        </p:nvPicPr>
        <p:blipFill rotWithShape="1">
          <a:blip r:embed="rId18">
            <a:alphaModFix/>
          </a:blip>
          <a:srcRect t="-22" b="-21"/>
          <a:stretch/>
        </p:blipFill>
        <p:spPr>
          <a:xfrm>
            <a:off x="6172200" y="4153205"/>
            <a:ext cx="5105095" cy="1019556"/>
          </a:xfrm>
          <a:prstGeom prst="rect">
            <a:avLst/>
          </a:prstGeom>
          <a:noFill/>
          <a:ln>
            <a:noFill/>
          </a:ln>
        </p:spPr>
      </p:pic>
      <p:sp>
        <p:nvSpPr>
          <p:cNvPr id="3628" name="Google Shape;3628;p124"/>
          <p:cNvSpPr/>
          <p:nvPr/>
        </p:nvSpPr>
        <p:spPr>
          <a:xfrm>
            <a:off x="6334049" y="4543654"/>
            <a:ext cx="4781398" cy="9144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9" name="Google Shape;3629;p124"/>
          <p:cNvSpPr txBox="1"/>
          <p:nvPr/>
        </p:nvSpPr>
        <p:spPr>
          <a:xfrm>
            <a:off x="6334049" y="4315054"/>
            <a:ext cx="2249424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ourier New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DataFrame.describe() Output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0" name="Google Shape;3630;p124" descr="preencoded.png"/>
          <p:cNvPicPr preferRelativeResize="0"/>
          <p:nvPr/>
        </p:nvPicPr>
        <p:blipFill rotWithShape="1">
          <a:blip r:embed="rId19">
            <a:alphaModFix/>
          </a:blip>
          <a:srcRect l="-202" r="-201"/>
          <a:stretch/>
        </p:blipFill>
        <p:spPr>
          <a:xfrm>
            <a:off x="6334049" y="4629607"/>
            <a:ext cx="3586277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1" name="Google Shape;3631;p124" descr="preencoded.png"/>
          <p:cNvPicPr preferRelativeResize="0"/>
          <p:nvPr/>
        </p:nvPicPr>
        <p:blipFill rotWithShape="1">
          <a:blip r:embed="rId20">
            <a:alphaModFix/>
          </a:blip>
          <a:srcRect l="-200" r="-199"/>
          <a:stretch/>
        </p:blipFill>
        <p:spPr>
          <a:xfrm>
            <a:off x="6334049" y="4781398"/>
            <a:ext cx="4781398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2" name="Google Shape;3632;p124" descr="preencoded.png"/>
          <p:cNvPicPr preferRelativeResize="0"/>
          <p:nvPr/>
        </p:nvPicPr>
        <p:blipFill rotWithShape="1">
          <a:blip r:embed="rId21">
            <a:alphaModFix/>
          </a:blip>
          <a:srcRect l="-205" r="-206"/>
          <a:stretch/>
        </p:blipFill>
        <p:spPr>
          <a:xfrm>
            <a:off x="6334049" y="4934102"/>
            <a:ext cx="3984955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633" name="Google Shape;3633;p124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9" name="Google Shape;3639;p1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0" name="Google Shape;3640;p12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1" name="Google Shape;3641;p12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2" name="Google Shape;3642;p12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3" name="Google Shape;3643;p125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4" name="Google Shape;3644;p125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5" name="Google Shape;3645;p125" descr="preencoded.png"/>
          <p:cNvPicPr preferRelativeResize="0"/>
          <p:nvPr/>
        </p:nvPicPr>
        <p:blipFill rotWithShape="1">
          <a:blip r:embed="rId7">
            <a:alphaModFix amt="61000"/>
          </a:blip>
          <a:srcRect l="-27" r="-27"/>
          <a:stretch/>
        </p:blipFill>
        <p:spPr>
          <a:xfrm>
            <a:off x="10772546" y="3143707"/>
            <a:ext cx="428854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6" name="Google Shape;3646;p12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05495" y="452902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7" name="Google Shape;3647;p125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8" name="Google Shape;3648;p125" descr="preencoded.png"/>
          <p:cNvPicPr preferRelativeResize="0"/>
          <p:nvPr/>
        </p:nvPicPr>
        <p:blipFill rotWithShape="1">
          <a:blip r:embed="rId9">
            <a:alphaModFix/>
          </a:blip>
          <a:srcRect t="-14" b="-14"/>
          <a:stretch/>
        </p:blipFill>
        <p:spPr>
          <a:xfrm>
            <a:off x="609905" y="3290011"/>
            <a:ext cx="7010705" cy="850392"/>
          </a:xfrm>
          <a:prstGeom prst="rect">
            <a:avLst/>
          </a:prstGeom>
          <a:noFill/>
          <a:ln>
            <a:noFill/>
          </a:ln>
        </p:spPr>
      </p:pic>
      <p:sp>
        <p:nvSpPr>
          <p:cNvPr id="3649" name="Google Shape;3649;p125"/>
          <p:cNvSpPr txBox="1"/>
          <p:nvPr/>
        </p:nvSpPr>
        <p:spPr>
          <a:xfrm>
            <a:off x="914400" y="3518611"/>
            <a:ext cx="7144207" cy="4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Official resources for further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learning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0" name="Google Shape;3650;p12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5591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1" name="Google Shape;3651;p125" descr="preencoded.png"/>
          <p:cNvPicPr preferRelativeResize="0"/>
          <p:nvPr/>
        </p:nvPicPr>
        <p:blipFill rotWithShape="1">
          <a:blip r:embed="rId11">
            <a:alphaModFix/>
          </a:blip>
          <a:srcRect l="-1648" r="-1647"/>
          <a:stretch/>
        </p:blipFill>
        <p:spPr>
          <a:xfrm>
            <a:off x="752551" y="4692701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52" name="Google Shape;3652;p125"/>
          <p:cNvSpPr txBox="1"/>
          <p:nvPr/>
        </p:nvSpPr>
        <p:spPr>
          <a:xfrm>
            <a:off x="1295705" y="4520794"/>
            <a:ext cx="4058107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Roboto"/>
                <a:ea typeface="Roboto"/>
                <a:cs typeface="Roboto"/>
                <a:sym typeface="Roboto"/>
              </a:rPr>
              <a:t>Pandas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125"/>
          <p:cNvSpPr txBox="1"/>
          <p:nvPr/>
        </p:nvSpPr>
        <p:spPr>
          <a:xfrm>
            <a:off x="1295705" y="4863694"/>
            <a:ext cx="4629607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http://pandas.pydata.org/pandas-docs/stable/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4" name="Google Shape;3654;p125" descr="preencoded.png"/>
          <p:cNvPicPr preferRelativeResize="0"/>
          <p:nvPr/>
        </p:nvPicPr>
        <p:blipFill rotWithShape="1">
          <a:blip r:embed="rId12">
            <a:alphaModFix amt="10000"/>
          </a:blip>
          <a:srcRect/>
          <a:stretch/>
        </p:blipFill>
        <p:spPr>
          <a:xfrm>
            <a:off x="8953805" y="3143707"/>
            <a:ext cx="24003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5" name="Google Shape;3655;p125" descr="preencoded.png"/>
          <p:cNvPicPr preferRelativeResize="0"/>
          <p:nvPr/>
        </p:nvPicPr>
        <p:blipFill rotWithShape="1">
          <a:blip r:embed="rId13">
            <a:alphaModFix amt="90000"/>
          </a:blip>
          <a:srcRect l="-7" r="-6"/>
          <a:stretch/>
        </p:blipFill>
        <p:spPr>
          <a:xfrm>
            <a:off x="8953805" y="3143707"/>
            <a:ext cx="1600200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p1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62" name="Google Shape;3662;p12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3" name="Google Shape;3663;p1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4" name="Google Shape;3664;p12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5" name="Google Shape;3665;p126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6" name="Google Shape;3666;p126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7" name="Google Shape;3667;p126" descr="preencoded.png"/>
          <p:cNvPicPr preferRelativeResize="0"/>
          <p:nvPr/>
        </p:nvPicPr>
        <p:blipFill rotWithShape="1">
          <a:blip r:embed="rId7">
            <a:alphaModFix amt="57000"/>
          </a:blip>
          <a:srcRect t="-44" b="-45"/>
          <a:stretch/>
        </p:blipFill>
        <p:spPr>
          <a:xfrm>
            <a:off x="10944454" y="3143707"/>
            <a:ext cx="256946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8" name="Google Shape;3668;p12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91095" y="4529023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9" name="Google Shape;3669;p126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0" name="Google Shape;3670;p126" descr="preencoded.png"/>
          <p:cNvPicPr preferRelativeResize="0"/>
          <p:nvPr/>
        </p:nvPicPr>
        <p:blipFill rotWithShape="1">
          <a:blip r:embed="rId9">
            <a:alphaModFix/>
          </a:blip>
          <a:srcRect l="-4" r="-4"/>
          <a:stretch/>
        </p:blipFill>
        <p:spPr>
          <a:xfrm>
            <a:off x="609905" y="2668219"/>
            <a:ext cx="6096305" cy="1635862"/>
          </a:xfrm>
          <a:prstGeom prst="rect">
            <a:avLst/>
          </a:prstGeom>
          <a:noFill/>
          <a:ln>
            <a:noFill/>
          </a:ln>
        </p:spPr>
      </p:pic>
      <p:sp>
        <p:nvSpPr>
          <p:cNvPr id="3671" name="Google Shape;3671;p126"/>
          <p:cNvSpPr txBox="1"/>
          <p:nvPr/>
        </p:nvSpPr>
        <p:spPr>
          <a:xfrm>
            <a:off x="914400" y="2896819"/>
            <a:ext cx="5670194" cy="118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If you have any doubts or questions regarding the topics covered, please visit our discussion forum.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2" name="Google Shape;3672;p12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68538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3" name="Google Shape;3673;p12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8718" y="4818888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74" name="Google Shape;3674;p126"/>
          <p:cNvSpPr txBox="1"/>
          <p:nvPr/>
        </p:nvSpPr>
        <p:spPr>
          <a:xfrm>
            <a:off x="1295705" y="4761281"/>
            <a:ext cx="226771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Discussion Forum: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5" name="Google Shape;3675;p126"/>
          <p:cNvSpPr txBox="1"/>
          <p:nvPr/>
        </p:nvSpPr>
        <p:spPr>
          <a:xfrm>
            <a:off x="896112" y="5447081"/>
            <a:ext cx="5924398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Roboto"/>
                <a:ea typeface="Roboto"/>
                <a:cs typeface="Roboto"/>
                <a:sym typeface="Roboto"/>
              </a:rPr>
              <a:t> https://discuss.cloudxlab.com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6" name="Google Shape;3676;p126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9905" y="5513832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7" name="Google Shape;3677;p126" descr="preencoded.png"/>
          <p:cNvPicPr preferRelativeResize="0"/>
          <p:nvPr/>
        </p:nvPicPr>
        <p:blipFill rotWithShape="1">
          <a:blip r:embed="rId13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8" name="Google Shape;3678;p126" descr="preencoded.png"/>
          <p:cNvPicPr preferRelativeResize="0"/>
          <p:nvPr/>
        </p:nvPicPr>
        <p:blipFill rotWithShape="1">
          <a:blip r:embed="rId14">
            <a:alphaModFix amt="90000"/>
          </a:blip>
          <a:srcRect/>
          <a:stretch/>
        </p:blipFill>
        <p:spPr>
          <a:xfrm>
            <a:off x="8229600" y="3143707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4" name="Google Shape;3684;p1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5" name="Google Shape;3685;p127"/>
          <p:cNvSpPr/>
          <p:nvPr/>
        </p:nvSpPr>
        <p:spPr>
          <a:xfrm>
            <a:off x="8128102" y="0"/>
            <a:ext cx="4067251" cy="6858000"/>
          </a:xfrm>
          <a:prstGeom prst="rect">
            <a:avLst/>
          </a:prstGeom>
          <a:solidFill>
            <a:srgbClr val="EFF6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6" name="Google Shape;3686;p127" descr="preencoded.png"/>
          <p:cNvPicPr preferRelativeResize="0"/>
          <p:nvPr/>
        </p:nvPicPr>
        <p:blipFill rotWithShape="1">
          <a:blip r:embed="rId3">
            <a:alphaModFix/>
          </a:blip>
          <a:srcRect l="-94" r="-93"/>
          <a:stretch/>
        </p:blipFill>
        <p:spPr>
          <a:xfrm>
            <a:off x="0" y="2210105"/>
            <a:ext cx="152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7" name="Google Shape;3687;p127" descr="preencoded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0211105" y="761695"/>
            <a:ext cx="1218895" cy="1218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8" name="Google Shape;3688;p1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1695" y="5181905"/>
            <a:ext cx="10287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9" name="Google Shape;3689;p127" descr="preencoded.png"/>
          <p:cNvPicPr preferRelativeResize="0"/>
          <p:nvPr/>
        </p:nvPicPr>
        <p:blipFill rotWithShape="1">
          <a:blip r:embed="rId6">
            <a:alphaModFix/>
          </a:blip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0" name="Google Shape;3690;p12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8851" y="1776679"/>
            <a:ext cx="1314907" cy="13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1" name="Google Shape;3691;p12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53405" y="2090318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2" name="Google Shape;3692;p127"/>
          <p:cNvSpPr txBox="1"/>
          <p:nvPr/>
        </p:nvSpPr>
        <p:spPr>
          <a:xfrm>
            <a:off x="3156509" y="3319272"/>
            <a:ext cx="5882335" cy="119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0"/>
              <a:buFont typeface="Poppins"/>
              <a:buNone/>
            </a:pPr>
            <a:r>
              <a:rPr lang="en-US" sz="7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</a:t>
            </a:r>
            <a:endParaRPr sz="7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3" name="Google Shape;3693;p127" descr="preencoded.png"/>
          <p:cNvPicPr preferRelativeResize="0"/>
          <p:nvPr/>
        </p:nvPicPr>
        <p:blipFill rotWithShape="1">
          <a:blip r:embed="rId9">
            <a:alphaModFix/>
          </a:blip>
          <a:srcRect t="-13" b="-13"/>
          <a:stretch/>
        </p:blipFill>
        <p:spPr>
          <a:xfrm>
            <a:off x="5486400" y="4662526"/>
            <a:ext cx="1218895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1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00" name="Google Shape;3700;p128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1" name="Google Shape;3701;p12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2" name="Google Shape;3702;p12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3" name="Google Shape;3703;p128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 - Overview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4" name="Google Shape;3704;p128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5" name="Google Shape;3705;p128" descr="preencoded.png"/>
          <p:cNvPicPr preferRelativeResize="0"/>
          <p:nvPr/>
        </p:nvPicPr>
        <p:blipFill rotWithShape="1">
          <a:blip r:embed="rId7">
            <a:alphaModFix amt="63000"/>
          </a:blip>
          <a:srcRect/>
          <a:stretch/>
        </p:blipFill>
        <p:spPr>
          <a:xfrm>
            <a:off x="10858500" y="31437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6" name="Google Shape;3706;p128" descr="preencoded.png"/>
          <p:cNvPicPr preferRelativeResize="0"/>
          <p:nvPr/>
        </p:nvPicPr>
        <p:blipFill rotWithShape="1">
          <a:blip r:embed="rId8">
            <a:alphaModFix/>
          </a:blip>
          <a:srcRect l="-607" r="-607"/>
          <a:stretch/>
        </p:blipFill>
        <p:spPr>
          <a:xfrm>
            <a:off x="7391095" y="4529023"/>
            <a:ext cx="3904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7" name="Google Shape;3707;p128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8" name="Google Shape;3708;p128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609905" y="2407615"/>
            <a:ext cx="60963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3709" name="Google Shape;3709;p128"/>
          <p:cNvSpPr txBox="1"/>
          <p:nvPr/>
        </p:nvSpPr>
        <p:spPr>
          <a:xfrm>
            <a:off x="914400" y="2636215"/>
            <a:ext cx="56701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Matplotlib is the foundational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Python 2D plotting library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for data visualization.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0" name="Google Shape;3710;p12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0315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1" name="Google Shape;3711;p12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3407" y="416509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12" name="Google Shape;3712;p128"/>
          <p:cNvSpPr txBox="1"/>
          <p:nvPr/>
        </p:nvSpPr>
        <p:spPr>
          <a:xfrm>
            <a:off x="1295705" y="4107485"/>
            <a:ext cx="4288536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Produces publication quality figures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3" name="Google Shape;3713;p12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79328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4" name="Google Shape;3714;p128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3407" y="492678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15" name="Google Shape;3715;p128"/>
          <p:cNvSpPr txBox="1"/>
          <p:nvPr/>
        </p:nvSpPr>
        <p:spPr>
          <a:xfrm>
            <a:off x="1295705" y="4870094"/>
            <a:ext cx="3366821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Variety of hardcopy formats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6" name="Google Shape;3716;p12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5558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7" name="Google Shape;3717;p128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8718" y="5688482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18" name="Google Shape;3718;p128"/>
          <p:cNvSpPr txBox="1"/>
          <p:nvPr/>
        </p:nvSpPr>
        <p:spPr>
          <a:xfrm>
            <a:off x="1295705" y="5631790"/>
            <a:ext cx="2992831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Interactive environments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9" name="Google Shape;3719;p128" descr="preencoded.png"/>
          <p:cNvPicPr preferRelativeResize="0"/>
          <p:nvPr/>
        </p:nvPicPr>
        <p:blipFill rotWithShape="1">
          <a:blip r:embed="rId14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0" name="Google Shape;3720;p128" descr="preencoded.png"/>
          <p:cNvPicPr preferRelativeResize="0"/>
          <p:nvPr/>
        </p:nvPicPr>
        <p:blipFill rotWithShape="1">
          <a:blip r:embed="rId15">
            <a:alphaModFix amt="90000"/>
          </a:blip>
          <a:srcRect/>
          <a:stretch/>
        </p:blipFill>
        <p:spPr>
          <a:xfrm>
            <a:off x="8229600" y="3143707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6" name="Google Shape;3726;p1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27" name="Google Shape;3727;p129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8" name="Google Shape;3728;p12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9" name="Google Shape;3729;p12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0" name="Google Shape;3730;p129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1" name="Google Shape;3731;p129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2" name="Google Shape;3732;p129" descr="preencoded.png"/>
          <p:cNvPicPr preferRelativeResize="0"/>
          <p:nvPr/>
        </p:nvPicPr>
        <p:blipFill rotWithShape="1">
          <a:blip r:embed="rId7">
            <a:alphaModFix amt="66000"/>
          </a:blip>
          <a:srcRect/>
          <a:stretch/>
        </p:blipFill>
        <p:spPr>
          <a:xfrm>
            <a:off x="10858500" y="31437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3" name="Google Shape;3733;p129" descr="preencoded.png"/>
          <p:cNvPicPr preferRelativeResize="0"/>
          <p:nvPr/>
        </p:nvPicPr>
        <p:blipFill rotWithShape="1">
          <a:blip r:embed="rId8">
            <a:alphaModFix/>
          </a:blip>
          <a:srcRect l="-607" r="-607"/>
          <a:stretch/>
        </p:blipFill>
        <p:spPr>
          <a:xfrm>
            <a:off x="7391095" y="4529023"/>
            <a:ext cx="390449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4" name="Google Shape;3734;p129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129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5" name="Google Shape;3735;p129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609905" y="2254910"/>
            <a:ext cx="60963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3736" name="Google Shape;3736;p129"/>
          <p:cNvSpPr txBox="1"/>
          <p:nvPr/>
        </p:nvSpPr>
        <p:spPr>
          <a:xfrm>
            <a:off x="914400" y="2483510"/>
            <a:ext cx="56701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Matplotlib is the "grandfather" of python visualization packages.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7" name="Google Shape;3737;p12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387888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8" name="Google Shape;3738;p12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3407" y="401238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39" name="Google Shape;3739;p129"/>
          <p:cNvSpPr txBox="1"/>
          <p:nvPr/>
        </p:nvSpPr>
        <p:spPr>
          <a:xfrm>
            <a:off x="1295705" y="3955694"/>
            <a:ext cx="3805733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Created by John Hunter in 2002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0" name="Google Shape;3740;p12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717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1" name="Google Shape;3741;p129" descr="preencoded.png"/>
          <p:cNvPicPr preferRelativeResize="0"/>
          <p:nvPr/>
        </p:nvPicPr>
        <p:blipFill rotWithShape="1">
          <a:blip r:embed="rId12">
            <a:alphaModFix/>
          </a:blip>
          <a:srcRect l="-1282" r="-1282"/>
          <a:stretch/>
        </p:blipFill>
        <p:spPr>
          <a:xfrm>
            <a:off x="728777" y="485089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42" name="Google Shape;3742;p129"/>
          <p:cNvSpPr txBox="1"/>
          <p:nvPr/>
        </p:nvSpPr>
        <p:spPr>
          <a:xfrm>
            <a:off x="1295705" y="4641494"/>
            <a:ext cx="5496458" cy="6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Originally designed to emulate MATLAB's plotting commands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3" name="Google Shape;3743;p12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6317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4" name="Google Shape;3744;p129" descr="preencoded.png"/>
          <p:cNvPicPr preferRelativeResize="0"/>
          <p:nvPr/>
        </p:nvPicPr>
        <p:blipFill rotWithShape="1">
          <a:blip r:embed="rId13">
            <a:alphaModFix/>
          </a:blip>
          <a:srcRect l="-1282" r="-1282"/>
          <a:stretch/>
        </p:blipFill>
        <p:spPr>
          <a:xfrm>
            <a:off x="728777" y="5765292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45" name="Google Shape;3745;p129"/>
          <p:cNvSpPr txBox="1"/>
          <p:nvPr/>
        </p:nvSpPr>
        <p:spPr>
          <a:xfrm>
            <a:off x="1295705" y="5555894"/>
            <a:ext cx="5496458" cy="6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It is an excellent 2D and 3D graphics library for generating scientific figures.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6" name="Google Shape;3746;p129" descr="preencoded.png"/>
          <p:cNvPicPr preferRelativeResize="0"/>
          <p:nvPr/>
        </p:nvPicPr>
        <p:blipFill rotWithShape="1">
          <a:blip r:embed="rId14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7" name="Google Shape;3747;p129" descr="preencoded.png"/>
          <p:cNvPicPr preferRelativeResize="0"/>
          <p:nvPr/>
        </p:nvPicPr>
        <p:blipFill rotWithShape="1">
          <a:blip r:embed="rId15">
            <a:alphaModFix amt="90000"/>
          </a:blip>
          <a:srcRect/>
          <a:stretch/>
        </p:blipFill>
        <p:spPr>
          <a:xfrm>
            <a:off x="8229600" y="3143707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3" name="Google Shape;3753;p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4" name="Google Shape;3754;p130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5" name="Google Shape;3755;p1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6" name="Google Shape;3756;p1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7" name="Google Shape;3757;p130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 - pyplot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8" name="Google Shape;3758;p130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9" name="Google Shape;3759;p130" descr="preencoded.png"/>
          <p:cNvPicPr preferRelativeResize="0"/>
          <p:nvPr/>
        </p:nvPicPr>
        <p:blipFill rotWithShape="1">
          <a:blip r:embed="rId7">
            <a:alphaModFix amt="50000"/>
          </a:blip>
          <a:srcRect/>
          <a:stretch/>
        </p:blipFill>
        <p:spPr>
          <a:xfrm>
            <a:off x="11011205" y="260055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0" name="Google Shape;3760;p130" descr="preencoded.png"/>
          <p:cNvPicPr preferRelativeResize="0"/>
          <p:nvPr/>
        </p:nvPicPr>
        <p:blipFill rotWithShape="1">
          <a:blip r:embed="rId8">
            <a:alphaModFix amt="50000"/>
          </a:blip>
          <a:srcRect/>
          <a:stretch/>
        </p:blipFill>
        <p:spPr>
          <a:xfrm>
            <a:off x="7010705" y="497250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1" name="Google Shape;3761;p130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2" name="Google Shape;3762;p130" descr="preencoded.png"/>
          <p:cNvPicPr preferRelativeResize="0"/>
          <p:nvPr/>
        </p:nvPicPr>
        <p:blipFill rotWithShape="1">
          <a:blip r:embed="rId9">
            <a:alphaModFix/>
          </a:blip>
          <a:srcRect l="-4" r="-4"/>
          <a:stretch/>
        </p:blipFill>
        <p:spPr>
          <a:xfrm>
            <a:off x="609905" y="1982419"/>
            <a:ext cx="6096305" cy="1635862"/>
          </a:xfrm>
          <a:prstGeom prst="rect">
            <a:avLst/>
          </a:prstGeom>
          <a:noFill/>
          <a:ln>
            <a:noFill/>
          </a:ln>
        </p:spPr>
      </p:pic>
      <p:sp>
        <p:nvSpPr>
          <p:cNvPr id="3763" name="Google Shape;3763;p130"/>
          <p:cNvSpPr txBox="1"/>
          <p:nvPr/>
        </p:nvSpPr>
        <p:spPr>
          <a:xfrm>
            <a:off x="914400" y="2211019"/>
            <a:ext cx="5670194" cy="118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2200"/>
              <a:buFont typeface="Roboto"/>
              <a:buNone/>
            </a:pPr>
            <a:r>
              <a:rPr lang="en-US" sz="2200" b="1" i="0" u="none" strike="noStrike" cap="none">
                <a:solidFill>
                  <a:srgbClr val="991B1B"/>
                </a:solidFill>
                <a:latin typeface="Roboto"/>
                <a:ea typeface="Roboto"/>
                <a:cs typeface="Roboto"/>
                <a:sym typeface="Roboto"/>
              </a:rPr>
              <a:t>matplotlib.pyplot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is a collection of command style functions that make matplotlib work like MATLAB.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4" name="Google Shape;3764;p13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03707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5" name="Google Shape;3765;p130" descr="preencoded.png"/>
          <p:cNvPicPr preferRelativeResize="0"/>
          <p:nvPr/>
        </p:nvPicPr>
        <p:blipFill rotWithShape="1">
          <a:blip r:embed="rId11">
            <a:alphaModFix/>
          </a:blip>
          <a:srcRect l="-1282" r="-1282"/>
          <a:stretch/>
        </p:blipFill>
        <p:spPr>
          <a:xfrm>
            <a:off x="728777" y="4170578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66" name="Google Shape;3766;p130"/>
          <p:cNvSpPr txBox="1"/>
          <p:nvPr/>
        </p:nvSpPr>
        <p:spPr>
          <a:xfrm>
            <a:off x="1295705" y="3999586"/>
            <a:ext cx="5496458" cy="121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Each pyplot function makes some change to a figure: e.g., creates a figure, creates a plotting area in a figure, plots some lines in a plotting area, decorates the plot with labels, etc.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7" name="Google Shape;3767;p130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5613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8" name="Google Shape;3768;p130" descr="preencoded.png"/>
          <p:cNvPicPr preferRelativeResize="0"/>
          <p:nvPr/>
        </p:nvPicPr>
        <p:blipFill rotWithShape="1">
          <a:blip r:embed="rId12">
            <a:alphaModFix/>
          </a:blip>
          <a:srcRect l="-1282" r="-1282"/>
          <a:stretch/>
        </p:blipFill>
        <p:spPr>
          <a:xfrm>
            <a:off x="728777" y="5694883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69" name="Google Shape;3769;p130"/>
          <p:cNvSpPr txBox="1"/>
          <p:nvPr/>
        </p:nvSpPr>
        <p:spPr>
          <a:xfrm>
            <a:off x="1295705" y="5522976"/>
            <a:ext cx="549645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In matplotlib.pyplot various states are preserved across function calls, so that it keeps track of things like the current figure and plotting area.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0" name="Google Shape;3770;p130" descr="preencoded.png"/>
          <p:cNvPicPr preferRelativeResize="0"/>
          <p:nvPr/>
        </p:nvPicPr>
        <p:blipFill rotWithShape="1">
          <a:blip r:embed="rId13">
            <a:alphaModFix/>
          </a:blip>
          <a:srcRect t="-4" b="-4"/>
          <a:stretch/>
        </p:blipFill>
        <p:spPr>
          <a:xfrm>
            <a:off x="7234733" y="2600554"/>
            <a:ext cx="4123030" cy="3219602"/>
          </a:xfrm>
          <a:prstGeom prst="rect">
            <a:avLst/>
          </a:prstGeom>
          <a:noFill/>
          <a:ln>
            <a:noFill/>
          </a:ln>
        </p:spPr>
      </p:pic>
      <p:sp>
        <p:nvSpPr>
          <p:cNvPr id="3771" name="Google Shape;3771;p130"/>
          <p:cNvSpPr/>
          <p:nvPr/>
        </p:nvSpPr>
        <p:spPr>
          <a:xfrm>
            <a:off x="7549286" y="4058107"/>
            <a:ext cx="3495751" cy="1447495"/>
          </a:xfrm>
          <a:prstGeom prst="roundRect">
            <a:avLst>
              <a:gd name="adj" fmla="val 3325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2" name="Google Shape;3772;p130"/>
          <p:cNvSpPr txBox="1"/>
          <p:nvPr/>
        </p:nvSpPr>
        <p:spPr>
          <a:xfrm>
            <a:off x="7701991" y="4209898"/>
            <a:ext cx="330555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r>
              <a:rPr lang="en-US" sz="13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matplotlib.pyplot </a:t>
            </a:r>
            <a:r>
              <a:rPr lang="en-US" sz="13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en-US" sz="13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plt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3" name="Google Shape;3773;p130"/>
          <p:cNvSpPr txBox="1"/>
          <p:nvPr/>
        </p:nvSpPr>
        <p:spPr>
          <a:xfrm>
            <a:off x="7701991" y="4552798"/>
            <a:ext cx="330555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plt.plot([1, 2, 3, 4])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4" name="Google Shape;3774;p130"/>
          <p:cNvSpPr txBox="1"/>
          <p:nvPr/>
        </p:nvSpPr>
        <p:spPr>
          <a:xfrm>
            <a:off x="7701991" y="4819802"/>
            <a:ext cx="330555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plt.ylabel(</a:t>
            </a:r>
            <a:r>
              <a:rPr lang="en-US" sz="1300" b="0" i="0" u="none" strike="noStrike" cap="non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'some numbers'</a:t>
            </a:r>
            <a:r>
              <a:rPr lang="en-US" sz="13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5" name="Google Shape;3775;p130"/>
          <p:cNvSpPr txBox="1"/>
          <p:nvPr/>
        </p:nvSpPr>
        <p:spPr>
          <a:xfrm>
            <a:off x="7701991" y="5086807"/>
            <a:ext cx="3305556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plt.show()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6" name="Google Shape;3776;p130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839505" y="2915107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2" name="Google Shape;3782;p1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83" name="Google Shape;3783;p131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4" name="Google Shape;3784;p1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5" name="Google Shape;3785;p1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6" name="Google Shape;3786;p131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 - Pyplot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7" name="Google Shape;3787;p131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8" name="Google Shape;3788;p131" descr="preencoded.png"/>
          <p:cNvPicPr preferRelativeResize="0"/>
          <p:nvPr/>
        </p:nvPicPr>
        <p:blipFill rotWithShape="1">
          <a:blip r:embed="rId7">
            <a:alphaModFix/>
          </a:blip>
          <a:srcRect l="-7" r="-6"/>
          <a:stretch/>
        </p:blipFill>
        <p:spPr>
          <a:xfrm>
            <a:off x="6400800" y="1816913"/>
            <a:ext cx="5181905" cy="4785970"/>
          </a:xfrm>
          <a:prstGeom prst="rect">
            <a:avLst/>
          </a:prstGeom>
          <a:noFill/>
          <a:ln>
            <a:noFill/>
          </a:ln>
        </p:spPr>
      </p:pic>
      <p:sp>
        <p:nvSpPr>
          <p:cNvPr id="3789" name="Google Shape;3789;p131"/>
          <p:cNvSpPr/>
          <p:nvPr/>
        </p:nvSpPr>
        <p:spPr>
          <a:xfrm>
            <a:off x="6409944" y="1826057"/>
            <a:ext cx="5162702" cy="314554"/>
          </a:xfrm>
          <a:prstGeom prst="roundRect">
            <a:avLst>
              <a:gd name="adj" fmla="val 70472"/>
            </a:avLst>
          </a:prstGeom>
          <a:solidFill>
            <a:srgbClr val="1118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0" name="Google Shape;3790;p131"/>
          <p:cNvSpPr/>
          <p:nvPr/>
        </p:nvSpPr>
        <p:spPr>
          <a:xfrm>
            <a:off x="6409944" y="2131466"/>
            <a:ext cx="5162702" cy="9144"/>
          </a:xfrm>
          <a:prstGeom prst="roundRect">
            <a:avLst>
              <a:gd name="adj" fmla="val 2424242"/>
            </a:avLst>
          </a:prstGeom>
          <a:solidFill>
            <a:srgbClr val="374151"/>
          </a:solidFill>
          <a:ln w="12700" cap="flat" cmpd="sng">
            <a:solidFill>
              <a:srgbClr val="374151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1" name="Google Shape;3791;p131"/>
          <p:cNvSpPr/>
          <p:nvPr/>
        </p:nvSpPr>
        <p:spPr>
          <a:xfrm>
            <a:off x="6562649" y="1922069"/>
            <a:ext cx="114300" cy="114300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2" name="Google Shape;3792;p131"/>
          <p:cNvSpPr/>
          <p:nvPr/>
        </p:nvSpPr>
        <p:spPr>
          <a:xfrm>
            <a:off x="6752844" y="1922069"/>
            <a:ext cx="114300" cy="114300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3" name="Google Shape;3793;p131"/>
          <p:cNvSpPr/>
          <p:nvPr/>
        </p:nvSpPr>
        <p:spPr>
          <a:xfrm>
            <a:off x="6943954" y="1922069"/>
            <a:ext cx="114300" cy="114300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4" name="Google Shape;3794;p131"/>
          <p:cNvSpPr txBox="1"/>
          <p:nvPr/>
        </p:nvSpPr>
        <p:spPr>
          <a:xfrm>
            <a:off x="7134149" y="1902866"/>
            <a:ext cx="771754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example.py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5" name="Google Shape;3795;p131"/>
          <p:cNvSpPr txBox="1"/>
          <p:nvPr/>
        </p:nvSpPr>
        <p:spPr>
          <a:xfrm>
            <a:off x="6638544" y="2369210"/>
            <a:ext cx="481980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import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131"/>
          <p:cNvSpPr txBox="1"/>
          <p:nvPr/>
        </p:nvSpPr>
        <p:spPr>
          <a:xfrm>
            <a:off x="6638544" y="2614270"/>
            <a:ext cx="1438351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matplotlib.pyplot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7" name="Google Shape;3797;p131"/>
          <p:cNvSpPr txBox="1"/>
          <p:nvPr/>
        </p:nvSpPr>
        <p:spPr>
          <a:xfrm>
            <a:off x="7999171" y="2614270"/>
            <a:ext cx="238658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131"/>
          <p:cNvSpPr txBox="1"/>
          <p:nvPr/>
        </p:nvSpPr>
        <p:spPr>
          <a:xfrm>
            <a:off x="8159191" y="2614270"/>
            <a:ext cx="324612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plt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9" name="Google Shape;3799;p131"/>
          <p:cNvSpPr txBox="1"/>
          <p:nvPr/>
        </p:nvSpPr>
        <p:spPr>
          <a:xfrm>
            <a:off x="6638544" y="3019349"/>
            <a:ext cx="481980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# Simple plot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131"/>
          <p:cNvSpPr txBox="1"/>
          <p:nvPr/>
        </p:nvSpPr>
        <p:spPr>
          <a:xfrm>
            <a:off x="6638544" y="3236062"/>
            <a:ext cx="481980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plt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131"/>
          <p:cNvSpPr txBox="1"/>
          <p:nvPr/>
        </p:nvSpPr>
        <p:spPr>
          <a:xfrm>
            <a:off x="6638544" y="3481121"/>
            <a:ext cx="638251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.plot([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131"/>
          <p:cNvSpPr txBox="1"/>
          <p:nvPr/>
        </p:nvSpPr>
        <p:spPr>
          <a:xfrm>
            <a:off x="7199071" y="3481121"/>
            <a:ext cx="162763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131"/>
          <p:cNvSpPr txBox="1"/>
          <p:nvPr/>
        </p:nvSpPr>
        <p:spPr>
          <a:xfrm>
            <a:off x="7279538" y="3481121"/>
            <a:ext cx="238658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131"/>
          <p:cNvSpPr txBox="1"/>
          <p:nvPr/>
        </p:nvSpPr>
        <p:spPr>
          <a:xfrm>
            <a:off x="7439558" y="3481121"/>
            <a:ext cx="162763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131"/>
          <p:cNvSpPr txBox="1"/>
          <p:nvPr/>
        </p:nvSpPr>
        <p:spPr>
          <a:xfrm>
            <a:off x="7519111" y="3481121"/>
            <a:ext cx="238658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131"/>
          <p:cNvSpPr txBox="1"/>
          <p:nvPr/>
        </p:nvSpPr>
        <p:spPr>
          <a:xfrm>
            <a:off x="7679131" y="3481121"/>
            <a:ext cx="162763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7" name="Google Shape;3807;p131"/>
          <p:cNvSpPr txBox="1"/>
          <p:nvPr/>
        </p:nvSpPr>
        <p:spPr>
          <a:xfrm>
            <a:off x="7759598" y="3481121"/>
            <a:ext cx="238658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8" name="Google Shape;3808;p131"/>
          <p:cNvSpPr txBox="1"/>
          <p:nvPr/>
        </p:nvSpPr>
        <p:spPr>
          <a:xfrm>
            <a:off x="7919618" y="3481121"/>
            <a:ext cx="162763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9" name="Google Shape;3809;p131"/>
          <p:cNvSpPr txBox="1"/>
          <p:nvPr/>
        </p:nvSpPr>
        <p:spPr>
          <a:xfrm>
            <a:off x="8000086" y="3481121"/>
            <a:ext cx="238658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])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0" name="Google Shape;3810;p131"/>
          <p:cNvSpPr txBox="1"/>
          <p:nvPr/>
        </p:nvSpPr>
        <p:spPr>
          <a:xfrm>
            <a:off x="6638544" y="3669487"/>
            <a:ext cx="481980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plt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1" name="Google Shape;3811;p131"/>
          <p:cNvSpPr txBox="1"/>
          <p:nvPr/>
        </p:nvSpPr>
        <p:spPr>
          <a:xfrm>
            <a:off x="6638544" y="3914546"/>
            <a:ext cx="724205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.ylabel(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2" name="Google Shape;3812;p131"/>
          <p:cNvSpPr txBox="1"/>
          <p:nvPr/>
        </p:nvSpPr>
        <p:spPr>
          <a:xfrm>
            <a:off x="7279538" y="3914546"/>
            <a:ext cx="1200607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'some numbers'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3" name="Google Shape;3813;p131"/>
          <p:cNvSpPr txBox="1"/>
          <p:nvPr/>
        </p:nvSpPr>
        <p:spPr>
          <a:xfrm>
            <a:off x="8399678" y="3914546"/>
            <a:ext cx="162763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4" name="Google Shape;3814;p131"/>
          <p:cNvSpPr txBox="1"/>
          <p:nvPr/>
        </p:nvSpPr>
        <p:spPr>
          <a:xfrm>
            <a:off x="6638544" y="4102913"/>
            <a:ext cx="481980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plt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5" name="Google Shape;3815;p131"/>
          <p:cNvSpPr txBox="1"/>
          <p:nvPr/>
        </p:nvSpPr>
        <p:spPr>
          <a:xfrm>
            <a:off x="6638544" y="4347972"/>
            <a:ext cx="638251" cy="15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.show()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131"/>
          <p:cNvSpPr/>
          <p:nvPr/>
        </p:nvSpPr>
        <p:spPr>
          <a:xfrm>
            <a:off x="6409944" y="4764938"/>
            <a:ext cx="5162702" cy="18288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7" name="Google Shape;3817;p131"/>
          <p:cNvSpPr/>
          <p:nvPr/>
        </p:nvSpPr>
        <p:spPr>
          <a:xfrm>
            <a:off x="6409944" y="4764938"/>
            <a:ext cx="5162702" cy="9144"/>
          </a:xfrm>
          <a:prstGeom prst="roundRect">
            <a:avLst>
              <a:gd name="adj" fmla="val 416667"/>
            </a:avLst>
          </a:prstGeom>
          <a:solidFill>
            <a:srgbClr val="374151"/>
          </a:solidFill>
          <a:ln w="12700" cap="flat" cmpd="sng">
            <a:solidFill>
              <a:srgbClr val="374151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8" name="Google Shape;3818;p131" descr="preencoded.png"/>
          <p:cNvPicPr preferRelativeResize="0"/>
          <p:nvPr/>
        </p:nvPicPr>
        <p:blipFill rotWithShape="1">
          <a:blip r:embed="rId8">
            <a:alphaModFix/>
          </a:blip>
          <a:srcRect l="-30208" r="-30208"/>
          <a:stretch/>
        </p:blipFill>
        <p:spPr>
          <a:xfrm>
            <a:off x="6562649" y="4926787"/>
            <a:ext cx="4858207" cy="1514246"/>
          </a:xfrm>
          <a:prstGeom prst="rect">
            <a:avLst/>
          </a:prstGeom>
          <a:noFill/>
          <a:ln>
            <a:noFill/>
          </a:ln>
        </p:spPr>
      </p:pic>
      <p:sp>
        <p:nvSpPr>
          <p:cNvPr id="3819" name="Google Shape;3819;p131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0" name="Google Shape;3820;p131" descr="preencoded.png"/>
          <p:cNvPicPr preferRelativeResize="0"/>
          <p:nvPr/>
        </p:nvPicPr>
        <p:blipFill rotWithShape="1">
          <a:blip r:embed="rId9">
            <a:alphaModFix/>
          </a:blip>
          <a:srcRect l="-11" r="-11"/>
          <a:stretch/>
        </p:blipFill>
        <p:spPr>
          <a:xfrm>
            <a:off x="609905" y="2052828"/>
            <a:ext cx="5181905" cy="1399946"/>
          </a:xfrm>
          <a:prstGeom prst="rect">
            <a:avLst/>
          </a:prstGeom>
          <a:noFill/>
          <a:ln>
            <a:noFill/>
          </a:ln>
        </p:spPr>
      </p:pic>
      <p:sp>
        <p:nvSpPr>
          <p:cNvPr id="3821" name="Google Shape;3821;p131"/>
          <p:cNvSpPr txBox="1"/>
          <p:nvPr/>
        </p:nvSpPr>
        <p:spPr>
          <a:xfrm>
            <a:off x="914400" y="2281428"/>
            <a:ext cx="4734763" cy="943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matplotlib.pyplot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is a collection of command style functions that make matplotlib work like MATLAB.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2" name="Google Shape;3822;p1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3795674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3" name="Google Shape;3823;p131" descr="preencoded.png"/>
          <p:cNvPicPr preferRelativeResize="0"/>
          <p:nvPr/>
        </p:nvPicPr>
        <p:blipFill rotWithShape="1">
          <a:blip r:embed="rId11">
            <a:alphaModFix/>
          </a:blip>
          <a:srcRect t="-842" b="-841"/>
          <a:stretch/>
        </p:blipFill>
        <p:spPr>
          <a:xfrm>
            <a:off x="705002" y="3900830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24" name="Google Shape;3824;p131"/>
          <p:cNvSpPr txBox="1"/>
          <p:nvPr/>
        </p:nvSpPr>
        <p:spPr>
          <a:xfrm>
            <a:off x="1143000" y="3757270"/>
            <a:ext cx="472470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Each pyplot function makes some change to a figure (e.g., creates a figure, creates a plotting area, plots lines).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5" name="Google Shape;3825;p1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824374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6" name="Google Shape;3826;p131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4146" y="4929530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27" name="Google Shape;3827;p131"/>
          <p:cNvSpPr txBox="1"/>
          <p:nvPr/>
        </p:nvSpPr>
        <p:spPr>
          <a:xfrm>
            <a:off x="1143000" y="4785970"/>
            <a:ext cx="4724705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Various states are preserved across function calls, keeping track of things like the current figure and plotting area.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28" name="Google Shape;3828;p1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853074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9" name="Google Shape;3829;p131" descr="preencoded.png"/>
          <p:cNvPicPr preferRelativeResize="0"/>
          <p:nvPr/>
        </p:nvPicPr>
        <p:blipFill rotWithShape="1">
          <a:blip r:embed="rId13">
            <a:alphaModFix/>
          </a:blip>
          <a:srcRect l="-760" r="-759"/>
          <a:stretch/>
        </p:blipFill>
        <p:spPr>
          <a:xfrm>
            <a:off x="724205" y="5958230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30" name="Google Shape;3830;p131"/>
          <p:cNvSpPr txBox="1"/>
          <p:nvPr/>
        </p:nvSpPr>
        <p:spPr>
          <a:xfrm>
            <a:off x="1143000" y="5814670"/>
            <a:ext cx="3419856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Standard import convention: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import matplotlib.pyplot as plt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37" name="Google Shape;3837;p132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8" name="Google Shape;3838;p13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9" name="Google Shape;3839;p13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0" name="Google Shape;3840;p132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 - Pyplot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1" name="Google Shape;3841;p132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2" name="Google Shape;3842;p132" descr="preencoded.png"/>
          <p:cNvPicPr preferRelativeResize="0"/>
          <p:nvPr/>
        </p:nvPicPr>
        <p:blipFill rotWithShape="1">
          <a:blip r:embed="rId7">
            <a:alphaModFix/>
          </a:blip>
          <a:srcRect t="-17" b="-16"/>
          <a:stretch/>
        </p:blipFill>
        <p:spPr>
          <a:xfrm>
            <a:off x="6391656" y="3634740"/>
            <a:ext cx="5199278" cy="1150315"/>
          </a:xfrm>
          <a:prstGeom prst="rect">
            <a:avLst/>
          </a:prstGeom>
          <a:noFill/>
          <a:ln>
            <a:noFill/>
          </a:ln>
        </p:spPr>
      </p:pic>
      <p:sp>
        <p:nvSpPr>
          <p:cNvPr id="3843" name="Google Shape;3843;p132"/>
          <p:cNvSpPr/>
          <p:nvPr/>
        </p:nvSpPr>
        <p:spPr>
          <a:xfrm>
            <a:off x="6405372" y="3634740"/>
            <a:ext cx="5191049" cy="400507"/>
          </a:xfrm>
          <a:prstGeom prst="roundRect">
            <a:avLst>
              <a:gd name="adj" fmla="val 43488"/>
            </a:avLst>
          </a:prstGeom>
          <a:solidFill>
            <a:srgbClr val="1F2937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4" name="Google Shape;3844;p132"/>
          <p:cNvSpPr/>
          <p:nvPr/>
        </p:nvSpPr>
        <p:spPr>
          <a:xfrm>
            <a:off x="6558991" y="3732581"/>
            <a:ext cx="123444" cy="123444"/>
          </a:xfrm>
          <a:prstGeom prst="ellipse">
            <a:avLst/>
          </a:prstGeom>
          <a:solidFill>
            <a:srgbClr val="EF4444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5" name="Google Shape;3845;p132"/>
          <p:cNvSpPr/>
          <p:nvPr/>
        </p:nvSpPr>
        <p:spPr>
          <a:xfrm>
            <a:off x="6749186" y="3736238"/>
            <a:ext cx="123444" cy="123444"/>
          </a:xfrm>
          <a:prstGeom prst="ellipse">
            <a:avLst/>
          </a:prstGeom>
          <a:solidFill>
            <a:srgbClr val="F59E0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6" name="Google Shape;3846;p132"/>
          <p:cNvSpPr/>
          <p:nvPr/>
        </p:nvSpPr>
        <p:spPr>
          <a:xfrm>
            <a:off x="6940296" y="3739896"/>
            <a:ext cx="123444" cy="123444"/>
          </a:xfrm>
          <a:prstGeom prst="ellipse">
            <a:avLst/>
          </a:prstGeom>
          <a:solidFill>
            <a:srgbClr val="10B98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7" name="Google Shape;3847;p132"/>
          <p:cNvSpPr txBox="1"/>
          <p:nvPr/>
        </p:nvSpPr>
        <p:spPr>
          <a:xfrm>
            <a:off x="7130491" y="3724351"/>
            <a:ext cx="771754" cy="171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Courier New"/>
              <a:buNone/>
            </a:pPr>
            <a:r>
              <a:rPr lang="en-US" sz="900" b="0" i="0" u="none" strike="noStrike" cap="none">
                <a:solidFill>
                  <a:srgbClr val="9CA3AF"/>
                </a:solidFill>
                <a:latin typeface="Courier New"/>
                <a:ea typeface="Courier New"/>
                <a:cs typeface="Courier New"/>
                <a:sym typeface="Courier New"/>
              </a:rPr>
              <a:t>example.py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8" name="Google Shape;3848;p132" descr="preencoded.png"/>
          <p:cNvPicPr preferRelativeResize="0"/>
          <p:nvPr/>
        </p:nvPicPr>
        <p:blipFill rotWithShape="1">
          <a:blip r:embed="rId8">
            <a:alphaModFix/>
          </a:blip>
          <a:srcRect l="-51" r="-50"/>
          <a:stretch/>
        </p:blipFill>
        <p:spPr>
          <a:xfrm>
            <a:off x="11087100" y="4235501"/>
            <a:ext cx="761695" cy="76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9" name="Google Shape;3849;p132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198657" y="4347058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850" name="Google Shape;3850;p132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1" name="Google Shape;3851;p132" descr="preencoded.png"/>
          <p:cNvPicPr preferRelativeResize="0"/>
          <p:nvPr/>
        </p:nvPicPr>
        <p:blipFill rotWithShape="1">
          <a:blip r:embed="rId10">
            <a:alphaModFix/>
          </a:blip>
          <a:srcRect t="-8" b="-8"/>
          <a:stretch/>
        </p:blipFill>
        <p:spPr>
          <a:xfrm>
            <a:off x="609905" y="2115007"/>
            <a:ext cx="5181905" cy="1410005"/>
          </a:xfrm>
          <a:prstGeom prst="rect">
            <a:avLst/>
          </a:prstGeom>
          <a:noFill/>
          <a:ln>
            <a:noFill/>
          </a:ln>
        </p:spPr>
      </p:pic>
      <p:sp>
        <p:nvSpPr>
          <p:cNvPr id="3852" name="Google Shape;3852;p132"/>
          <p:cNvSpPr txBox="1"/>
          <p:nvPr/>
        </p:nvSpPr>
        <p:spPr>
          <a:xfrm>
            <a:off x="914400" y="2343607"/>
            <a:ext cx="4734763" cy="952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800"/>
              <a:buFont typeface="Courier New"/>
              <a:buNone/>
            </a:pPr>
            <a:r>
              <a:rPr lang="en-US" sz="1800" b="1" i="0" u="none" strike="noStrike" cap="none">
                <a:solidFill>
                  <a:srgbClr val="1E40AF"/>
                </a:solidFill>
                <a:latin typeface="Courier New"/>
                <a:ea typeface="Courier New"/>
                <a:cs typeface="Courier New"/>
                <a:sym typeface="Courier New"/>
              </a:rPr>
              <a:t>matplotlib.pyplot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is a collection of command style functions that make matplotlib work like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MATLAB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3" name="Google Shape;3853;p13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3866998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4" name="Google Shape;3854;p132" descr="preencoded.png"/>
          <p:cNvPicPr preferRelativeResize="0"/>
          <p:nvPr/>
        </p:nvPicPr>
        <p:blipFill rotWithShape="1">
          <a:blip r:embed="rId12">
            <a:alphaModFix/>
          </a:blip>
          <a:srcRect t="-842" b="-841"/>
          <a:stretch/>
        </p:blipFill>
        <p:spPr>
          <a:xfrm>
            <a:off x="705002" y="3972154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55" name="Google Shape;3855;p132"/>
          <p:cNvSpPr txBox="1"/>
          <p:nvPr/>
        </p:nvSpPr>
        <p:spPr>
          <a:xfrm>
            <a:off x="1181405" y="3829507"/>
            <a:ext cx="46863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State-based interface: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It keeps track of the current figure and plotting area, and plotting functions are directed to the current axes.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6" name="Google Shape;3856;p13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4895698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7" name="Google Shape;3857;p132" descr="preencoded.png"/>
          <p:cNvPicPr preferRelativeResize="0"/>
          <p:nvPr/>
        </p:nvPicPr>
        <p:blipFill rotWithShape="1">
          <a:blip r:embed="rId13">
            <a:alphaModFix/>
          </a:blip>
          <a:srcRect t="-842" b="-841"/>
          <a:stretch/>
        </p:blipFill>
        <p:spPr>
          <a:xfrm>
            <a:off x="705002" y="5000854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58" name="Google Shape;3858;p132"/>
          <p:cNvSpPr txBox="1"/>
          <p:nvPr/>
        </p:nvSpPr>
        <p:spPr>
          <a:xfrm>
            <a:off x="1181405" y="4858207"/>
            <a:ext cx="46863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Functionality: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Functions can create a figure, create a plotting area, plot lines, or decorate the plot with labels.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9" name="Google Shape;3859;p132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905" y="5924398"/>
            <a:ext cx="381305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0" name="Google Shape;3860;p132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14146" y="6029554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861" name="Google Shape;3861;p132"/>
          <p:cNvSpPr txBox="1"/>
          <p:nvPr/>
        </p:nvSpPr>
        <p:spPr>
          <a:xfrm>
            <a:off x="1181405" y="5886907"/>
            <a:ext cx="503925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Convention: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Typically imported with the alias </a:t>
            </a:r>
            <a:r>
              <a:rPr lang="en-US" sz="1300" b="0" i="0" u="none" strike="noStrike" cap="non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1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68" name="Google Shape;3868;p133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9" name="Google Shape;3869;p1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0" name="Google Shape;3870;p13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1" name="Google Shape;3871;p133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 - Bar Graphs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2" name="Google Shape;3872;p133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sp>
        <p:nvSpPr>
          <p:cNvPr id="3873" name="Google Shape;3873;p133"/>
          <p:cNvSpPr/>
          <p:nvPr/>
        </p:nvSpPr>
        <p:spPr>
          <a:xfrm>
            <a:off x="10972800" y="1410005"/>
            <a:ext cx="761695" cy="761695"/>
          </a:xfrm>
          <a:prstGeom prst="ellipse">
            <a:avLst/>
          </a:prstGeom>
          <a:solidFill>
            <a:srgbClr val="DBEAFE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4" name="Google Shape;3874;p133"/>
          <p:cNvSpPr/>
          <p:nvPr/>
        </p:nvSpPr>
        <p:spPr>
          <a:xfrm>
            <a:off x="5943600" y="5790895"/>
            <a:ext cx="1218895" cy="1218895"/>
          </a:xfrm>
          <a:prstGeom prst="ellipse">
            <a:avLst/>
          </a:prstGeom>
          <a:solidFill>
            <a:srgbClr val="F3F4F6">
              <a:alpha val="49803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5" name="Google Shape;3875;p133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6" name="Google Shape;3876;p133" descr="preencoded.png"/>
          <p:cNvPicPr preferRelativeResize="0"/>
          <p:nvPr/>
        </p:nvPicPr>
        <p:blipFill rotWithShape="1">
          <a:blip r:embed="rId7">
            <a:alphaModFix/>
          </a:blip>
          <a:srcRect t="-16" b="-15"/>
          <a:stretch/>
        </p:blipFill>
        <p:spPr>
          <a:xfrm>
            <a:off x="609905" y="2119579"/>
            <a:ext cx="5181905" cy="1019556"/>
          </a:xfrm>
          <a:prstGeom prst="rect">
            <a:avLst/>
          </a:prstGeom>
          <a:noFill/>
          <a:ln>
            <a:noFill/>
          </a:ln>
        </p:spPr>
      </p:pic>
      <p:sp>
        <p:nvSpPr>
          <p:cNvPr id="3877" name="Google Shape;3877;p133"/>
          <p:cNvSpPr txBox="1"/>
          <p:nvPr/>
        </p:nvSpPr>
        <p:spPr>
          <a:xfrm>
            <a:off x="875995" y="2309774"/>
            <a:ext cx="4810658" cy="638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Used to compare quantities across different categories. Use </a:t>
            </a:r>
            <a:r>
              <a:rPr lang="en-US" sz="1800" b="1" i="0" u="none" strike="noStrike" cap="non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plt.bar()</a:t>
            </a: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for vertical bars.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8" name="Google Shape;3878;p133" descr="preencoded.png"/>
          <p:cNvPicPr preferRelativeResize="0"/>
          <p:nvPr/>
        </p:nvPicPr>
        <p:blipFill rotWithShape="1">
          <a:blip r:embed="rId8">
            <a:alphaModFix/>
          </a:blip>
          <a:srcRect t="-1" b="-1"/>
          <a:stretch/>
        </p:blipFill>
        <p:spPr>
          <a:xfrm>
            <a:off x="609905" y="3443630"/>
            <a:ext cx="5181905" cy="184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879" name="Google Shape;3879;p133"/>
          <p:cNvSpPr txBox="1"/>
          <p:nvPr/>
        </p:nvSpPr>
        <p:spPr>
          <a:xfrm>
            <a:off x="809244" y="3642970"/>
            <a:ext cx="48966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import 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matplotlib.pyplot</a:t>
            </a:r>
            <a:r>
              <a:rPr lang="en-US" sz="1300" b="0" i="0" u="none" strike="noStrike" cap="non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0" name="Google Shape;3880;p133"/>
          <p:cNvSpPr txBox="1"/>
          <p:nvPr/>
        </p:nvSpPr>
        <p:spPr>
          <a:xfrm>
            <a:off x="809244" y="3948379"/>
            <a:ext cx="48966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langs = [</a:t>
            </a:r>
            <a:r>
              <a:rPr lang="en-US" sz="13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'C'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'C++'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'Java'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rgbClr val="FCD34D"/>
                </a:solidFill>
                <a:latin typeface="Arial"/>
                <a:ea typeface="Arial"/>
                <a:cs typeface="Arial"/>
                <a:sym typeface="Arial"/>
              </a:rPr>
              <a:t>'Python'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1" name="Google Shape;3881;p133"/>
          <p:cNvSpPr txBox="1"/>
          <p:nvPr/>
        </p:nvSpPr>
        <p:spPr>
          <a:xfrm>
            <a:off x="809244" y="4252874"/>
            <a:ext cx="48966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students = [</a:t>
            </a:r>
            <a:r>
              <a:rPr lang="en-US" sz="1300" b="0" i="0" u="none" strike="noStrike" cap="non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0" b="0" i="0" u="none" strike="noStrike" cap="none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2" name="Google Shape;3882;p133"/>
          <p:cNvSpPr txBox="1"/>
          <p:nvPr/>
        </p:nvSpPr>
        <p:spPr>
          <a:xfrm>
            <a:off x="809244" y="4557370"/>
            <a:ext cx="48966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plt.bar(langs, students)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3" name="Google Shape;3883;p133"/>
          <p:cNvSpPr txBox="1"/>
          <p:nvPr/>
        </p:nvSpPr>
        <p:spPr>
          <a:xfrm>
            <a:off x="809244" y="4824374"/>
            <a:ext cx="4896612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plt.show()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4" name="Google Shape;3884;p13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5633618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885" name="Google Shape;3885;p133"/>
          <p:cNvSpPr txBox="1"/>
          <p:nvPr/>
        </p:nvSpPr>
        <p:spPr>
          <a:xfrm>
            <a:off x="952805" y="5596128"/>
            <a:ext cx="3729838" cy="267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Best for categorical data comparison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6" name="Google Shape;3886;p13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9905" y="606247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887" name="Google Shape;3887;p133"/>
          <p:cNvSpPr txBox="1"/>
          <p:nvPr/>
        </p:nvSpPr>
        <p:spPr>
          <a:xfrm>
            <a:off x="952805" y="6014923"/>
            <a:ext cx="4364431" cy="286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Roboto"/>
              <a:buNone/>
            </a:pP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-US" sz="1300" b="0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plt.barh()</a:t>
            </a:r>
            <a:r>
              <a:rPr lang="en-US" sz="15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for horizontal orientation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8" name="Google Shape;3888;p133" descr="preencoded.png"/>
          <p:cNvPicPr preferRelativeResize="0"/>
          <p:nvPr/>
        </p:nvPicPr>
        <p:blipFill rotWithShape="1">
          <a:blip r:embed="rId10">
            <a:alphaModFix/>
          </a:blip>
          <a:srcRect l="-3" r="-3"/>
          <a:stretch/>
        </p:blipFill>
        <p:spPr>
          <a:xfrm>
            <a:off x="6400800" y="2152498"/>
            <a:ext cx="5181905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9" name="Google Shape;3889;p133" descr="preencoded.png"/>
          <p:cNvPicPr preferRelativeResize="0"/>
          <p:nvPr/>
        </p:nvPicPr>
        <p:blipFill rotWithShape="1">
          <a:blip r:embed="rId11">
            <a:alphaModFix/>
          </a:blip>
          <a:srcRect l="-2" r="-2"/>
          <a:stretch/>
        </p:blipFill>
        <p:spPr>
          <a:xfrm>
            <a:off x="6562649" y="2314346"/>
            <a:ext cx="4858207" cy="3333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5" name="Google Shape;3895;p1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6" name="Google Shape;3896;p134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7" name="Google Shape;3897;p1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8" name="Google Shape;3898;p13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9" name="Google Shape;3899;p134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Matplotlib - Scatter Plots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0" name="Google Shape;3900;p134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1" name="Google Shape;3901;p13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72400" y="2686507"/>
            <a:ext cx="3047695" cy="3047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2" name="Google Shape;3902;p134" descr="preencoded.png"/>
          <p:cNvPicPr preferRelativeResize="0"/>
          <p:nvPr/>
        </p:nvPicPr>
        <p:blipFill rotWithShape="1">
          <a:blip r:embed="rId8">
            <a:alphaModFix/>
          </a:blip>
          <a:srcRect t="-80" b="-80"/>
          <a:stretch/>
        </p:blipFill>
        <p:spPr>
          <a:xfrm>
            <a:off x="7753198" y="2533802"/>
            <a:ext cx="142646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3" name="Google Shape;3903;p13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858500" y="5544007"/>
            <a:ext cx="1143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4" name="Google Shape;3904;p134"/>
          <p:cNvSpPr/>
          <p:nvPr/>
        </p:nvSpPr>
        <p:spPr>
          <a:xfrm>
            <a:off x="8187538" y="5158130"/>
            <a:ext cx="161849" cy="161849"/>
          </a:xfrm>
          <a:prstGeom prst="ellipse">
            <a:avLst/>
          </a:prstGeom>
          <a:solidFill>
            <a:srgbClr val="3B82F6">
              <a:alpha val="85882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5" name="Google Shape;3905;p134"/>
          <p:cNvSpPr/>
          <p:nvPr/>
        </p:nvSpPr>
        <p:spPr>
          <a:xfrm>
            <a:off x="8414309" y="4738421"/>
            <a:ext cx="209398" cy="209398"/>
          </a:xfrm>
          <a:prstGeom prst="ellipse">
            <a:avLst/>
          </a:prstGeom>
          <a:solidFill>
            <a:srgbClr val="3B82F6">
              <a:alpha val="85882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6" name="Google Shape;3906;p134"/>
          <p:cNvSpPr/>
          <p:nvPr/>
        </p:nvSpPr>
        <p:spPr>
          <a:xfrm>
            <a:off x="8720633" y="4319626"/>
            <a:ext cx="161849" cy="161849"/>
          </a:xfrm>
          <a:prstGeom prst="ellipse">
            <a:avLst/>
          </a:prstGeom>
          <a:solidFill>
            <a:srgbClr val="2563EB">
              <a:alpha val="85882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7" name="Google Shape;3907;p134"/>
          <p:cNvSpPr/>
          <p:nvPr/>
        </p:nvSpPr>
        <p:spPr>
          <a:xfrm>
            <a:off x="9023299" y="3936492"/>
            <a:ext cx="247802" cy="247802"/>
          </a:xfrm>
          <a:prstGeom prst="ellipse">
            <a:avLst/>
          </a:prstGeom>
          <a:solidFill>
            <a:srgbClr val="3B82F6">
              <a:alpha val="85882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134"/>
          <p:cNvSpPr/>
          <p:nvPr/>
        </p:nvSpPr>
        <p:spPr>
          <a:xfrm>
            <a:off x="9330538" y="3557930"/>
            <a:ext cx="161849" cy="161849"/>
          </a:xfrm>
          <a:prstGeom prst="ellipse">
            <a:avLst/>
          </a:prstGeom>
          <a:solidFill>
            <a:srgbClr val="60A5FA">
              <a:alpha val="85882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134"/>
          <p:cNvSpPr/>
          <p:nvPr/>
        </p:nvSpPr>
        <p:spPr>
          <a:xfrm>
            <a:off x="9634118" y="3061411"/>
            <a:ext cx="209398" cy="209398"/>
          </a:xfrm>
          <a:prstGeom prst="ellipse">
            <a:avLst/>
          </a:prstGeom>
          <a:solidFill>
            <a:srgbClr val="2563EB">
              <a:alpha val="85882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134"/>
          <p:cNvSpPr/>
          <p:nvPr/>
        </p:nvSpPr>
        <p:spPr>
          <a:xfrm>
            <a:off x="9939528" y="2796235"/>
            <a:ext cx="161849" cy="161849"/>
          </a:xfrm>
          <a:prstGeom prst="ellipse">
            <a:avLst/>
          </a:prstGeom>
          <a:solidFill>
            <a:srgbClr val="3B82F6">
              <a:alpha val="85882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1" name="Google Shape;3911;p134"/>
          <p:cNvSpPr/>
          <p:nvPr/>
        </p:nvSpPr>
        <p:spPr>
          <a:xfrm>
            <a:off x="10227564" y="3121762"/>
            <a:ext cx="314554" cy="314554"/>
          </a:xfrm>
          <a:prstGeom prst="ellipse">
            <a:avLst/>
          </a:prstGeom>
          <a:solidFill>
            <a:srgbClr val="1D4ED8">
              <a:alpha val="95686"/>
            </a:srgbClr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2" name="Google Shape;3912;p134"/>
          <p:cNvSpPr/>
          <p:nvPr/>
        </p:nvSpPr>
        <p:spPr>
          <a:xfrm>
            <a:off x="10348265" y="5071262"/>
            <a:ext cx="190195" cy="190195"/>
          </a:xfrm>
          <a:prstGeom prst="ellipse">
            <a:avLst/>
          </a:prstGeom>
          <a:solidFill>
            <a:srgbClr val="F8717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13" name="Google Shape;3913;p134" descr="preencoded.png"/>
          <p:cNvPicPr preferRelativeResize="0"/>
          <p:nvPr/>
        </p:nvPicPr>
        <p:blipFill rotWithShape="1">
          <a:blip r:embed="rId10">
            <a:alphaModFix amt="50000"/>
          </a:blip>
          <a:srcRect/>
          <a:stretch/>
        </p:blipFill>
        <p:spPr>
          <a:xfrm>
            <a:off x="10058400" y="1410005"/>
            <a:ext cx="1143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4" name="Google Shape;3914;p134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5" name="Google Shape;3915;p134" descr="preencoded.png"/>
          <p:cNvPicPr preferRelativeResize="0"/>
          <p:nvPr/>
        </p:nvPicPr>
        <p:blipFill rotWithShape="1">
          <a:blip r:embed="rId11">
            <a:alphaModFix/>
          </a:blip>
          <a:srcRect l="-16" r="-15"/>
          <a:stretch/>
        </p:blipFill>
        <p:spPr>
          <a:xfrm>
            <a:off x="609905" y="2407615"/>
            <a:ext cx="60963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3916" name="Google Shape;3916;p134"/>
          <p:cNvSpPr txBox="1"/>
          <p:nvPr/>
        </p:nvSpPr>
        <p:spPr>
          <a:xfrm>
            <a:off x="914400" y="2636215"/>
            <a:ext cx="56701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Visualize the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relationship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correlation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between two numerical variables.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7" name="Google Shape;3917;p134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9905" y="40315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8" name="Google Shape;3918;p134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8718" y="4165092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919" name="Google Shape;3919;p134"/>
          <p:cNvSpPr/>
          <p:nvPr/>
        </p:nvSpPr>
        <p:spPr>
          <a:xfrm>
            <a:off x="1295705" y="4069994"/>
            <a:ext cx="2486254" cy="381305"/>
          </a:xfrm>
          <a:prstGeom prst="roundRect">
            <a:avLst>
              <a:gd name="adj" fmla="val 23981"/>
            </a:avLst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0" name="Google Shape;3920;p134"/>
          <p:cNvSpPr txBox="1"/>
          <p:nvPr/>
        </p:nvSpPr>
        <p:spPr>
          <a:xfrm>
            <a:off x="1295705" y="4069994"/>
            <a:ext cx="2585923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plt.scatter(x, y)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1" name="Google Shape;3921;p134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9905" y="479328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2" name="Google Shape;3922;p134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43407" y="4926787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923" name="Google Shape;3923;p134"/>
          <p:cNvSpPr txBox="1"/>
          <p:nvPr/>
        </p:nvSpPr>
        <p:spPr>
          <a:xfrm>
            <a:off x="1295705" y="4870094"/>
            <a:ext cx="47631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Ideal for identifying outliers and clusters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4" name="Google Shape;3924;p134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9905" y="55558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5" name="Google Shape;3925;p134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43407" y="56884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926" name="Google Shape;3926;p134"/>
          <p:cNvSpPr txBox="1"/>
          <p:nvPr/>
        </p:nvSpPr>
        <p:spPr>
          <a:xfrm>
            <a:off x="1295705" y="5631790"/>
            <a:ext cx="470550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Supports variable marker size and color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" name="Google Shape;3932;p13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33" name="Google Shape;3933;p135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4" name="Google Shape;3934;p13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5" name="Google Shape;3935;p13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6" name="Google Shape;3936;p135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7" name="Google Shape;3937;p135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8" name="Google Shape;3938;p135" descr="preencoded.png"/>
          <p:cNvPicPr preferRelativeResize="0"/>
          <p:nvPr/>
        </p:nvPicPr>
        <p:blipFill rotWithShape="1">
          <a:blip r:embed="rId7">
            <a:alphaModFix amt="69000"/>
          </a:blip>
          <a:srcRect/>
          <a:stretch/>
        </p:blipFill>
        <p:spPr>
          <a:xfrm>
            <a:off x="10858500" y="31437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9" name="Google Shape;3939;p135" descr="preencoded.png"/>
          <p:cNvPicPr preferRelativeResize="0"/>
          <p:nvPr/>
        </p:nvPicPr>
        <p:blipFill rotWithShape="1">
          <a:blip r:embed="rId8">
            <a:alphaModFix/>
          </a:blip>
          <a:srcRect t="-44" b="-45"/>
          <a:stretch/>
        </p:blipFill>
        <p:spPr>
          <a:xfrm>
            <a:off x="7391095" y="4529023"/>
            <a:ext cx="256946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0" name="Google Shape;3940;p135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1" name="Google Shape;3941;p135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609905" y="2788006"/>
            <a:ext cx="60963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3942" name="Google Shape;3942;p135"/>
          <p:cNvSpPr txBox="1"/>
          <p:nvPr/>
        </p:nvSpPr>
        <p:spPr>
          <a:xfrm>
            <a:off x="914400" y="3016606"/>
            <a:ext cx="56701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Official resources for </a:t>
            </a:r>
            <a:r>
              <a:rPr lang="en-US" sz="2200" b="1" i="0" u="none" strike="noStrike" cap="none">
                <a:solidFill>
                  <a:srgbClr val="1E40AF"/>
                </a:solidFill>
                <a:latin typeface="Roboto"/>
                <a:ea typeface="Roboto"/>
                <a:cs typeface="Roboto"/>
                <a:sym typeface="Roboto"/>
              </a:rPr>
              <a:t>further learning</a:t>
            </a: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 and detailed documentation.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3" name="Google Shape;3943;p13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41289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4" name="Google Shape;3944;p135" descr="preencoded.png"/>
          <p:cNvPicPr preferRelativeResize="0"/>
          <p:nvPr/>
        </p:nvPicPr>
        <p:blipFill rotWithShape="1">
          <a:blip r:embed="rId11">
            <a:alphaModFix/>
          </a:blip>
          <a:srcRect l="-1648" r="-1647"/>
          <a:stretch/>
        </p:blipFill>
        <p:spPr>
          <a:xfrm>
            <a:off x="752551" y="454548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945" name="Google Shape;3945;p135"/>
          <p:cNvSpPr txBox="1"/>
          <p:nvPr/>
        </p:nvSpPr>
        <p:spPr>
          <a:xfrm>
            <a:off x="1295705" y="4488790"/>
            <a:ext cx="1247242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Roboto"/>
              <a:buNone/>
            </a:pPr>
            <a:r>
              <a:rPr lang="en-US" sz="1800" b="1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Matplotlib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6" name="Google Shape;3946;p13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51745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7" name="Google Shape;3947;p13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8718" y="5308092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948" name="Google Shape;3948;p135"/>
          <p:cNvSpPr txBox="1"/>
          <p:nvPr/>
        </p:nvSpPr>
        <p:spPr>
          <a:xfrm>
            <a:off x="1295705" y="5250485"/>
            <a:ext cx="2698394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Roboto"/>
                <a:ea typeface="Roboto"/>
                <a:cs typeface="Roboto"/>
                <a:sym typeface="Roboto"/>
              </a:rPr>
              <a:t>https://matplotlib.org/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9" name="Google Shape;3949;p135" descr="preencoded.png"/>
          <p:cNvPicPr preferRelativeResize="0"/>
          <p:nvPr/>
        </p:nvPicPr>
        <p:blipFill rotWithShape="1">
          <a:blip r:embed="rId13">
            <a:alphaModFix amt="10000"/>
          </a:blip>
          <a:srcRect/>
          <a:stretch/>
        </p:blipFill>
        <p:spPr>
          <a:xfrm>
            <a:off x="7962595" y="3143707"/>
            <a:ext cx="40005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0" name="Google Shape;3950;p135" descr="preencoded.png"/>
          <p:cNvPicPr preferRelativeResize="0"/>
          <p:nvPr/>
        </p:nvPicPr>
        <p:blipFill rotWithShape="1">
          <a:blip r:embed="rId14">
            <a:alphaModFix amt="90000"/>
          </a:blip>
          <a:srcRect l="-13" r="-13"/>
          <a:stretch/>
        </p:blipFill>
        <p:spPr>
          <a:xfrm>
            <a:off x="7962595" y="3143707"/>
            <a:ext cx="266730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6" name="Google Shape;3956;p13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57" name="Google Shape;3957;p136" descr="preencoded.png"/>
          <p:cNvPicPr preferRelativeResize="0"/>
          <p:nvPr/>
        </p:nvPicPr>
        <p:blipFill rotWithShape="1">
          <a:blip r:embed="rId3">
            <a:alphaModFix/>
          </a:blip>
          <a:srcRect l="-200" r="-199"/>
          <a:stretch/>
        </p:blipFill>
        <p:spPr>
          <a:xfrm>
            <a:off x="0" y="0"/>
            <a:ext cx="12191695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8" name="Google Shape;3958;p13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9" name="Google Shape;3959;p13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20040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0" name="Google Shape;3960;p136"/>
          <p:cNvSpPr txBox="1"/>
          <p:nvPr/>
        </p:nvSpPr>
        <p:spPr>
          <a:xfrm>
            <a:off x="609905" y="533095"/>
            <a:ext cx="1116391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4500"/>
              <a:buFont typeface="Poppins"/>
              <a:buNone/>
            </a:pPr>
            <a:r>
              <a:rPr lang="en-US" sz="4500" b="1" i="0" u="none" strike="noStrike" cap="none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1" name="Google Shape;3961;p136" descr="preencoded.png"/>
          <p:cNvPicPr preferRelativeResize="0"/>
          <p:nvPr/>
        </p:nvPicPr>
        <p:blipFill rotWithShape="1">
          <a:blip r:embed="rId6">
            <a:alphaModFix/>
          </a:blip>
          <a:srcRect l="-200" r="-200"/>
          <a:stretch/>
        </p:blipFill>
        <p:spPr>
          <a:xfrm>
            <a:off x="609905" y="1333195"/>
            <a:ext cx="914400" cy="75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2" name="Google Shape;3962;p136" descr="preencoded.png"/>
          <p:cNvPicPr preferRelativeResize="0"/>
          <p:nvPr/>
        </p:nvPicPr>
        <p:blipFill rotWithShape="1">
          <a:blip r:embed="rId7">
            <a:alphaModFix amt="67000"/>
          </a:blip>
          <a:srcRect/>
          <a:stretch/>
        </p:blipFill>
        <p:spPr>
          <a:xfrm>
            <a:off x="10858500" y="314370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3" name="Google Shape;3963;p13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0705" y="44293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4" name="Google Shape;3964;p136"/>
          <p:cNvSpPr txBox="1"/>
          <p:nvPr/>
        </p:nvSpPr>
        <p:spPr>
          <a:xfrm>
            <a:off x="11630254" y="6400800"/>
            <a:ext cx="3337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136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5" name="Google Shape;3965;p136" descr="preencoded.png"/>
          <p:cNvPicPr preferRelativeResize="0"/>
          <p:nvPr/>
        </p:nvPicPr>
        <p:blipFill rotWithShape="1">
          <a:blip r:embed="rId9">
            <a:alphaModFix/>
          </a:blip>
          <a:srcRect l="-16" r="-15"/>
          <a:stretch/>
        </p:blipFill>
        <p:spPr>
          <a:xfrm>
            <a:off x="609905" y="2826410"/>
            <a:ext cx="6096305" cy="1242670"/>
          </a:xfrm>
          <a:prstGeom prst="rect">
            <a:avLst/>
          </a:prstGeom>
          <a:noFill/>
          <a:ln>
            <a:noFill/>
          </a:ln>
        </p:spPr>
      </p:pic>
      <p:sp>
        <p:nvSpPr>
          <p:cNvPr id="3966" name="Google Shape;3966;p136"/>
          <p:cNvSpPr txBox="1"/>
          <p:nvPr/>
        </p:nvSpPr>
        <p:spPr>
          <a:xfrm>
            <a:off x="914400" y="3055010"/>
            <a:ext cx="5670194" cy="79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Roboto"/>
              <a:buNone/>
            </a:pPr>
            <a:r>
              <a:rPr lang="en-US" sz="2200" b="0" i="0" u="none" strike="noStrike" cap="none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If you have any doubts or queries, feel free to ask.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7" name="Google Shape;3967;p136"/>
          <p:cNvSpPr txBox="1"/>
          <p:nvPr/>
        </p:nvSpPr>
        <p:spPr>
          <a:xfrm>
            <a:off x="609905" y="4450385"/>
            <a:ext cx="6210605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800"/>
              <a:buFont typeface="Roboto"/>
              <a:buNone/>
            </a:pPr>
            <a:r>
              <a:rPr lang="en-US" sz="1800" b="0" i="0" u="none" strike="noStrike" cap="none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Visit our discussion forum at: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8" name="Google Shape;3968;p13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905" y="4984394"/>
            <a:ext cx="609905" cy="60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9" name="Google Shape;3969;p136" descr="preencoded.png"/>
          <p:cNvPicPr preferRelativeResize="0"/>
          <p:nvPr/>
        </p:nvPicPr>
        <p:blipFill rotWithShape="1">
          <a:blip r:embed="rId11">
            <a:alphaModFix/>
          </a:blip>
          <a:srcRect l="-80" r="-80"/>
          <a:stretch/>
        </p:blipFill>
        <p:spPr>
          <a:xfrm>
            <a:off x="771754" y="5174590"/>
            <a:ext cx="28620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0" name="Google Shape;3970;p136" descr="preencoded.png"/>
          <p:cNvPicPr preferRelativeResize="0"/>
          <p:nvPr/>
        </p:nvPicPr>
        <p:blipFill rotWithShape="1">
          <a:blip r:embed="rId12">
            <a:alphaModFix amt="10000"/>
          </a:blip>
          <a:srcRect/>
          <a:stretch/>
        </p:blipFill>
        <p:spPr>
          <a:xfrm>
            <a:off x="8229600" y="3143707"/>
            <a:ext cx="320040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1" name="Google Shape;3971;p136" descr="preencoded.png"/>
          <p:cNvPicPr preferRelativeResize="0"/>
          <p:nvPr/>
        </p:nvPicPr>
        <p:blipFill rotWithShape="1">
          <a:blip r:embed="rId13">
            <a:alphaModFix amt="90000"/>
          </a:blip>
          <a:srcRect/>
          <a:stretch/>
        </p:blipFill>
        <p:spPr>
          <a:xfrm>
            <a:off x="8229600" y="3143707"/>
            <a:ext cx="2133295" cy="2133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9421</Words>
  <Application>Microsoft Office PowerPoint</Application>
  <PresentationFormat>Custom</PresentationFormat>
  <Paragraphs>2056</Paragraphs>
  <Slides>136</Slides>
  <Notes>136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43" baseType="lpstr">
      <vt:lpstr>Arial</vt:lpstr>
      <vt:lpstr>Roboto Mono</vt:lpstr>
      <vt:lpstr>Calibri</vt:lpstr>
      <vt:lpstr>Roboto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Visual Extract to PPTX Converter</dc:creator>
  <cp:lastModifiedBy>user</cp:lastModifiedBy>
  <cp:revision>4</cp:revision>
  <dcterms:created xsi:type="dcterms:W3CDTF">2026-02-01T04:12:35Z</dcterms:created>
  <dcterms:modified xsi:type="dcterms:W3CDTF">2026-06-23T11:16:23Z</dcterms:modified>
</cp:coreProperties>
</file>