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uni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regular.fntdata"/><Relationship Id="rId21" Type="http://schemas.openxmlformats.org/officeDocument/2006/relationships/slide" Target="slides/slide16.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e4f84867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e4f84867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e4f84867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e4f84867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e4f84867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e4f84867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e4f84867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e4f84867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e4f84867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e4f84867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be4f84867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be4f84867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e4f84867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e4f84867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e4f84867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e4f8486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e4f84867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e4f84867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e4f84867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be4f84867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e4f84867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e4f84867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e4f84867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e4f84867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e4f84867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e4f84867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e4f84867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e4f84867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e4f84867f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e4f84867f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geeksforgeeks.org/machine-learning/ml-one-hot-encoding/" TargetMode="External"/><Relationship Id="rId4" Type="http://schemas.openxmlformats.org/officeDocument/2006/relationships/hyperlink" Target="https://www.geeksforgeeks.org/machine-learning/ml-one-hot-encod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436250"/>
            <a:ext cx="8520600" cy="2052600"/>
          </a:xfrm>
          <a:prstGeom prst="rect">
            <a:avLst/>
          </a:prstGeom>
        </p:spPr>
        <p:txBody>
          <a:bodyPr anchorCtr="0" anchor="b" bIns="91425" lIns="91425" spcFirstLastPara="1" rIns="91425" wrap="square" tIns="91425">
            <a:noAutofit/>
          </a:bodyPr>
          <a:lstStyle/>
          <a:p>
            <a:pPr indent="457200" lvl="0" marL="1371600" rtl="0" algn="l">
              <a:lnSpc>
                <a:spcPct val="125000"/>
              </a:lnSpc>
              <a:spcBef>
                <a:spcPts val="1700"/>
              </a:spcBef>
              <a:spcAft>
                <a:spcPts val="0"/>
              </a:spcAft>
              <a:buNone/>
            </a:pPr>
            <a:r>
              <a:t/>
            </a:r>
            <a:endParaRPr b="1" sz="2700">
              <a:solidFill>
                <a:srgbClr val="273239"/>
              </a:solidFill>
              <a:highlight>
                <a:srgbClr val="FFFFFF"/>
              </a:highlight>
            </a:endParaRPr>
          </a:p>
          <a:p>
            <a:pPr indent="0" lvl="0" marL="1371600" rtl="0" algn="l">
              <a:lnSpc>
                <a:spcPct val="125000"/>
              </a:lnSpc>
              <a:spcBef>
                <a:spcPts val="1700"/>
              </a:spcBef>
              <a:spcAft>
                <a:spcPts val="0"/>
              </a:spcAft>
              <a:buClr>
                <a:schemeClr val="dk1"/>
              </a:buClr>
              <a:buSzPts val="1100"/>
              <a:buFont typeface="Arial"/>
              <a:buNone/>
            </a:pPr>
            <a:r>
              <a:rPr b="1" lang="en" sz="3200">
                <a:solidFill>
                  <a:srgbClr val="273239"/>
                </a:solidFill>
                <a:highlight>
                  <a:srgbClr val="FFFFFF"/>
                </a:highlight>
              </a:rPr>
              <a:t>What is Feature Engineering?</a:t>
            </a:r>
            <a:endParaRPr b="1" sz="3200">
              <a:solidFill>
                <a:srgbClr val="273239"/>
              </a:solidFill>
              <a:highlight>
                <a:srgbClr val="FFFFFF"/>
              </a:highlight>
            </a:endParaRPr>
          </a:p>
          <a:p>
            <a:pPr indent="0" lvl="0" marL="0" rtl="0" algn="l">
              <a:lnSpc>
                <a:spcPct val="125000"/>
              </a:lnSpc>
              <a:spcBef>
                <a:spcPts val="1700"/>
              </a:spcBef>
              <a:spcAft>
                <a:spcPts val="0"/>
              </a:spcAft>
              <a:buClr>
                <a:schemeClr val="dk1"/>
              </a:buClr>
              <a:buSzPts val="1100"/>
              <a:buFont typeface="Arial"/>
              <a:buNone/>
            </a:pPr>
            <a:r>
              <a:t/>
            </a:r>
            <a:endParaRPr sz="1800">
              <a:solidFill>
                <a:srgbClr val="273239"/>
              </a:solidFill>
              <a:highlight>
                <a:srgbClr val="FFFFFF"/>
              </a:highlight>
            </a:endParaRPr>
          </a:p>
          <a:p>
            <a:pPr indent="0" lvl="0" marL="0" rtl="0" algn="ctr">
              <a:spcBef>
                <a:spcPts val="0"/>
              </a:spcBef>
              <a:spcAft>
                <a:spcPts val="0"/>
              </a:spcAft>
              <a:buNone/>
            </a:pPr>
            <a:r>
              <a:t/>
            </a:r>
            <a:endParaRPr sz="5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0" y="880325"/>
            <a:ext cx="9144000" cy="36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600"/>
              <a:t>Feature Engineering is the process of choosing, creating, or modifying input variables (features) so that machine learning models can better understand patterns in the data.</a:t>
            </a:r>
            <a:endParaRPr sz="2600"/>
          </a:p>
          <a:p>
            <a:pPr indent="0" lvl="0" marL="0" rtl="0" algn="l">
              <a:lnSpc>
                <a:spcPct val="115000"/>
              </a:lnSpc>
              <a:spcBef>
                <a:spcPts val="1200"/>
              </a:spcBef>
              <a:spcAft>
                <a:spcPts val="0"/>
              </a:spcAft>
              <a:buNone/>
            </a:pPr>
            <a:r>
              <a:t/>
            </a:r>
            <a:endParaRPr sz="2600"/>
          </a:p>
          <a:p>
            <a:pPr indent="0" lvl="0" marL="0" rtl="0" algn="l">
              <a:lnSpc>
                <a:spcPct val="115000"/>
              </a:lnSpc>
              <a:spcBef>
                <a:spcPts val="1200"/>
              </a:spcBef>
              <a:spcAft>
                <a:spcPts val="1200"/>
              </a:spcAft>
              <a:buNone/>
            </a:pPr>
            <a:r>
              <a:rPr lang="en" sz="2600"/>
              <a:t> It means converting raw data into useful and meaningful information that helps improve the model’s accuracy and overall performance.</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5" name="Google Shape;65;p15" title="ChatGPT Image Feb 11, 2026, 04_59_03 PM.png"/>
          <p:cNvPicPr preferRelativeResize="0"/>
          <p:nvPr/>
        </p:nvPicPr>
        <p:blipFill>
          <a:blip r:embed="rId3">
            <a:alphaModFix/>
          </a:blip>
          <a:stretch>
            <a:fillRect/>
          </a:stretch>
        </p:blipFill>
        <p:spPr>
          <a:xfrm>
            <a:off x="311700" y="0"/>
            <a:ext cx="8621299"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nvSpPr>
        <p:spPr>
          <a:xfrm>
            <a:off x="0" y="0"/>
            <a:ext cx="9144000" cy="12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600"/>
              <a:t>This step can involve filling or removing missing values, converting categorical data into numerical form, scaling or normalizing numbers, creating new features, or combining existing ones. It helps transform raw, unorganized real-world data into a clean and structured format that machine learning models can easily understand and use to make more accurate predictions.</a:t>
            </a:r>
            <a:endParaRPr sz="1600"/>
          </a:p>
        </p:txBody>
      </p:sp>
      <p:sp>
        <p:nvSpPr>
          <p:cNvPr id="71" name="Google Shape;71;p16"/>
          <p:cNvSpPr txBox="1"/>
          <p:nvPr/>
        </p:nvSpPr>
        <p:spPr>
          <a:xfrm>
            <a:off x="0" y="1280700"/>
            <a:ext cx="9144000" cy="416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600">
                <a:solidFill>
                  <a:schemeClr val="dk1"/>
                </a:solidFill>
              </a:rPr>
              <a:t>Importance of Feature Engineering</a:t>
            </a:r>
            <a:endParaRPr b="1" sz="1600">
              <a:solidFill>
                <a:schemeClr val="dk1"/>
              </a:solidFill>
            </a:endParaRPr>
          </a:p>
          <a:p>
            <a:pPr indent="0" lvl="0" marL="0" rtl="0" algn="l">
              <a:lnSpc>
                <a:spcPct val="115000"/>
              </a:lnSpc>
              <a:spcBef>
                <a:spcPts val="1200"/>
              </a:spcBef>
              <a:spcAft>
                <a:spcPts val="0"/>
              </a:spcAft>
              <a:buNone/>
            </a:pPr>
            <a:r>
              <a:rPr lang="en">
                <a:solidFill>
                  <a:schemeClr val="dk1"/>
                </a:solidFill>
              </a:rPr>
              <a:t>Feature engineering plays a major role in improving the performance of machine learning models. By carefully selecting and refining features, we can:</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Improve accuracy:</a:t>
            </a:r>
            <a:r>
              <a:rPr lang="en">
                <a:solidFill>
                  <a:schemeClr val="dk1"/>
                </a:solidFill>
              </a:rPr>
              <a:t> Choosing meaningful and relevant features helps the model understand patterns better, resulting in more accurate predictions.</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Reduce overfitting:</a:t>
            </a:r>
            <a:r>
              <a:rPr lang="en">
                <a:solidFill>
                  <a:schemeClr val="dk1"/>
                </a:solidFill>
              </a:rPr>
              <a:t> Using only important features prevents the model from memorizing noise in the data, allowing it to perform well on unseen data.</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Increase interpretability:</a:t>
            </a:r>
            <a:r>
              <a:rPr lang="en">
                <a:solidFill>
                  <a:schemeClr val="dk1"/>
                </a:solidFill>
              </a:rPr>
              <a:t> Well-designed features make it easier to understand how the model arrives at its predictions.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Enhance efficiency:</a:t>
            </a:r>
            <a:r>
              <a:rPr lang="en">
                <a:solidFill>
                  <a:schemeClr val="dk1"/>
                </a:solidFill>
              </a:rPr>
              <a:t> Working with fewer, high-quality features reduces training time and improves prediction speed, saving both time and computational resources.</a:t>
            </a:r>
            <a:br>
              <a:rPr lang="en" sz="1100">
                <a:solidFill>
                  <a:schemeClr val="dk1"/>
                </a:solidFill>
              </a:rPr>
            </a:b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7" title="ChatGPT Image Feb 11, 2026, 05_03_37 PM.png"/>
          <p:cNvPicPr preferRelativeResize="0"/>
          <p:nvPr/>
        </p:nvPicPr>
        <p:blipFill>
          <a:blip r:embed="rId3">
            <a:alphaModFix/>
          </a:blip>
          <a:stretch>
            <a:fillRect/>
          </a:stretch>
        </p:blipFill>
        <p:spPr>
          <a:xfrm>
            <a:off x="942975" y="114677"/>
            <a:ext cx="7258049"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nvSpPr>
        <p:spPr>
          <a:xfrm>
            <a:off x="0" y="0"/>
            <a:ext cx="9071400" cy="22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1. Feature Creation:</a:t>
            </a:r>
            <a:br>
              <a:rPr b="1" lang="en">
                <a:solidFill>
                  <a:schemeClr val="dk1"/>
                </a:solidFill>
              </a:rPr>
            </a:br>
            <a:r>
              <a:rPr lang="en">
                <a:solidFill>
                  <a:schemeClr val="dk1"/>
                </a:solidFill>
              </a:rPr>
              <a:t> Feature creation is the process of generating new features using domain knowledge or by identifying patterns within the data. It can be:</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Domain-specific:</a:t>
            </a:r>
            <a:r>
              <a:rPr lang="en">
                <a:solidFill>
                  <a:schemeClr val="dk1"/>
                </a:solidFill>
              </a:rPr>
              <a:t> Features created based on industry expertise or business rules.</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Data-driven:</a:t>
            </a:r>
            <a:r>
              <a:rPr lang="en">
                <a:solidFill>
                  <a:schemeClr val="dk1"/>
                </a:solidFill>
              </a:rPr>
              <a:t> Features developed by analyzing patterns and relationships in the data.</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Synthetic:</a:t>
            </a:r>
            <a:r>
              <a:rPr lang="en">
                <a:solidFill>
                  <a:schemeClr val="dk1"/>
                </a:solidFill>
              </a:rPr>
              <a:t> Features formed by combining or transforming existing features.</a:t>
            </a:r>
            <a:endParaRPr>
              <a:solidFill>
                <a:schemeClr val="dk1"/>
              </a:solidFill>
            </a:endParaRPr>
          </a:p>
        </p:txBody>
      </p:sp>
      <p:sp>
        <p:nvSpPr>
          <p:cNvPr id="82" name="Google Shape;82;p18"/>
          <p:cNvSpPr txBox="1"/>
          <p:nvPr/>
        </p:nvSpPr>
        <p:spPr>
          <a:xfrm>
            <a:off x="113200" y="2358900"/>
            <a:ext cx="9144000" cy="27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2. Feature Transformation:</a:t>
            </a:r>
            <a:br>
              <a:rPr b="1" lang="en">
                <a:solidFill>
                  <a:schemeClr val="dk1"/>
                </a:solidFill>
              </a:rPr>
            </a:br>
            <a:r>
              <a:rPr lang="en">
                <a:solidFill>
                  <a:schemeClr val="dk1"/>
                </a:solidFill>
              </a:rPr>
              <a:t> Feature transformation modifies existing features to help the model learn more effectively. It includes: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Normalization &amp; Scaling:</a:t>
            </a:r>
            <a:r>
              <a:rPr lang="en">
                <a:solidFill>
                  <a:schemeClr val="dk1"/>
                </a:solidFill>
              </a:rPr>
              <a:t> Adjusting the range of numerical features so they are consistent and comparable.</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Encoding:</a:t>
            </a:r>
            <a:r>
              <a:rPr lang="en">
                <a:solidFill>
                  <a:schemeClr val="dk1"/>
                </a:solidFill>
              </a:rPr>
              <a:t> Converting categorical variables into numerical format (for example, one-hot encoding).</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Mathematical Transformations:</a:t>
            </a:r>
            <a:r>
              <a:rPr lang="en">
                <a:solidFill>
                  <a:schemeClr val="dk1"/>
                </a:solidFill>
              </a:rPr>
              <a:t> Applying operations like logarithmic transformation to handle skewed data and improve distribution.</a:t>
            </a:r>
            <a:br>
              <a:rPr lang="en">
                <a:solidFill>
                  <a:schemeClr val="dk1"/>
                </a:solidFill>
              </a:rPr>
            </a:b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nvSpPr>
        <p:spPr>
          <a:xfrm>
            <a:off x="0" y="0"/>
            <a:ext cx="9144000" cy="25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3. Feature Extraction:</a:t>
            </a:r>
            <a:br>
              <a:rPr b="1" lang="en">
                <a:solidFill>
                  <a:schemeClr val="dk1"/>
                </a:solidFill>
              </a:rPr>
            </a:br>
            <a:r>
              <a:rPr lang="en">
                <a:solidFill>
                  <a:schemeClr val="dk1"/>
                </a:solidFill>
              </a:rPr>
              <a:t> Feature extraction focuses on deriving the most meaningful information from data, often reducing the number of features while improving model performance. It includes: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Dimensionality Reduction:</a:t>
            </a:r>
            <a:r>
              <a:rPr lang="en">
                <a:solidFill>
                  <a:schemeClr val="dk1"/>
                </a:solidFill>
              </a:rPr>
              <a:t> Methods like Principal Component Analysis (PCA) reduce the number of features while retaining the most important information.</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Aggregation &amp; Combination:</a:t>
            </a:r>
            <a:r>
              <a:rPr lang="en">
                <a:solidFill>
                  <a:schemeClr val="dk1"/>
                </a:solidFill>
              </a:rPr>
              <a:t> Combining features by summing, averaging, or grouping them to simplify the data and make the model more efficient.</a:t>
            </a:r>
            <a:br>
              <a:rPr lang="en">
                <a:solidFill>
                  <a:schemeClr val="dk1"/>
                </a:solidFill>
              </a:rPr>
            </a:br>
            <a:endParaRPr>
              <a:solidFill>
                <a:schemeClr val="dk1"/>
              </a:solidFill>
            </a:endParaRPr>
          </a:p>
        </p:txBody>
      </p:sp>
      <p:sp>
        <p:nvSpPr>
          <p:cNvPr id="88" name="Google Shape;88;p19"/>
          <p:cNvSpPr txBox="1"/>
          <p:nvPr/>
        </p:nvSpPr>
        <p:spPr>
          <a:xfrm>
            <a:off x="0" y="2358900"/>
            <a:ext cx="9144000" cy="27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4. Feature Selection:</a:t>
            </a:r>
            <a:br>
              <a:rPr b="1" lang="en">
                <a:solidFill>
                  <a:schemeClr val="dk1"/>
                </a:solidFill>
              </a:rPr>
            </a:br>
            <a:r>
              <a:rPr lang="en">
                <a:solidFill>
                  <a:schemeClr val="dk1"/>
                </a:solidFill>
              </a:rPr>
              <a:t> Feature selection is the process of choosing the most relevant features from the dataset to improve model performance and reduce complexity. It includes: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Filter Methods:</a:t>
            </a:r>
            <a:r>
              <a:rPr lang="en">
                <a:solidFill>
                  <a:schemeClr val="dk1"/>
                </a:solidFill>
              </a:rPr>
              <a:t> Select features based on statistical techniques such as correlation, chi-square test, or variance threshold.</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Wrapper Methods:</a:t>
            </a:r>
            <a:r>
              <a:rPr lang="en">
                <a:solidFill>
                  <a:schemeClr val="dk1"/>
                </a:solidFill>
              </a:rPr>
              <a:t> Choose features by evaluating different combinations based on model performance.</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Embedded Methods:</a:t>
            </a:r>
            <a:r>
              <a:rPr lang="en">
                <a:solidFill>
                  <a:schemeClr val="dk1"/>
                </a:solidFill>
              </a:rPr>
              <a:t> Perform feature selection as part of the model training process (for example, Lasso regression).</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nvSpPr>
        <p:spPr>
          <a:xfrm>
            <a:off x="0" y="1006075"/>
            <a:ext cx="9144000" cy="242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500">
                <a:solidFill>
                  <a:schemeClr val="dk1"/>
                </a:solidFill>
              </a:rPr>
              <a:t>5. Feature Scaling:</a:t>
            </a:r>
            <a:br>
              <a:rPr b="1" lang="en" sz="1500">
                <a:solidFill>
                  <a:schemeClr val="dk1"/>
                </a:solidFill>
              </a:rPr>
            </a:br>
            <a:r>
              <a:rPr lang="en" sz="1500">
                <a:solidFill>
                  <a:schemeClr val="dk1"/>
                </a:solidFill>
              </a:rPr>
              <a:t> Feature scaling adjusts the range of numerical features so that all variables contribute equally to the model and no single feature dominates due to its larger scale. It includes:</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Min-Max Scaling:</a:t>
            </a:r>
            <a:r>
              <a:rPr lang="en" sz="1500">
                <a:solidFill>
                  <a:schemeClr val="dk1"/>
                </a:solidFill>
              </a:rPr>
              <a:t> Rescales feature values to a fixed range, usually between 0 and 1.</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Standard Scaling (Standardization):</a:t>
            </a:r>
            <a:r>
              <a:rPr lang="en" sz="1500">
                <a:solidFill>
                  <a:schemeClr val="dk1"/>
                </a:solidFill>
              </a:rPr>
              <a:t> Transforms features so they have a mean of 0 and a standard deviation of 1.</a:t>
            </a:r>
            <a:br>
              <a:rPr lang="en" sz="1500">
                <a:solidFill>
                  <a:schemeClr val="dk1"/>
                </a:solidFill>
              </a:rPr>
            </a:b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1" title="ChatGPT Image Feb 11, 2026, 05_11_05 PM.png"/>
          <p:cNvPicPr preferRelativeResize="0"/>
          <p:nvPr/>
        </p:nvPicPr>
        <p:blipFill>
          <a:blip r:embed="rId3">
            <a:alphaModFix/>
          </a:blip>
          <a:stretch>
            <a:fillRect/>
          </a:stretch>
        </p:blipFill>
        <p:spPr>
          <a:xfrm>
            <a:off x="909650" y="0"/>
            <a:ext cx="6891525" cy="51435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2"/>
          <p:cNvSpPr txBox="1"/>
          <p:nvPr/>
        </p:nvSpPr>
        <p:spPr>
          <a:xfrm>
            <a:off x="0" y="0"/>
            <a:ext cx="9144000" cy="500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chemeClr val="dk1"/>
                </a:solidFill>
              </a:rPr>
              <a:t>Steps in Feature Engineering</a:t>
            </a:r>
            <a:endParaRPr b="1" sz="1700">
              <a:solidFill>
                <a:schemeClr val="dk1"/>
              </a:solidFill>
            </a:endParaRPr>
          </a:p>
          <a:p>
            <a:pPr indent="0" lvl="0" marL="0" rtl="0" algn="l">
              <a:lnSpc>
                <a:spcPct val="115000"/>
              </a:lnSpc>
              <a:spcBef>
                <a:spcPts val="1200"/>
              </a:spcBef>
              <a:spcAft>
                <a:spcPts val="0"/>
              </a:spcAft>
              <a:buNone/>
            </a:pPr>
            <a:r>
              <a:rPr lang="en" sz="1500">
                <a:solidFill>
                  <a:schemeClr val="dk1"/>
                </a:solidFill>
              </a:rPr>
              <a:t>Feature engineering may differ based on the problem, but the overall process usually includes the following steps:</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Data Cleaning:</a:t>
            </a:r>
            <a:r>
              <a:rPr lang="en" sz="1500">
                <a:solidFill>
                  <a:schemeClr val="dk1"/>
                </a:solidFill>
              </a:rPr>
              <a:t> Detect and fix errors, missing values, or inconsistencies in the dataset to maintain accuracy and reliability.</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Data Transformation:</a:t>
            </a:r>
            <a:r>
              <a:rPr lang="en" sz="1500">
                <a:solidFill>
                  <a:schemeClr val="dk1"/>
                </a:solidFill>
              </a:rPr>
              <a:t> Convert raw data into a model-ready format using techniques such as scaling, normalization, and encoding.</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Feature Extraction:</a:t>
            </a:r>
            <a:r>
              <a:rPr lang="en" sz="1500">
                <a:solidFill>
                  <a:schemeClr val="dk1"/>
                </a:solidFill>
              </a:rPr>
              <a:t> Generate new features by combining or deriving information from existing variables to make the data more meaningful for the model.</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Feature Selection:</a:t>
            </a:r>
            <a:r>
              <a:rPr lang="en" sz="1500">
                <a:solidFill>
                  <a:schemeClr val="dk1"/>
                </a:solidFill>
              </a:rPr>
              <a:t> Identify and select the most important features using methods like correlation analysis, mutual information, or stepwise regression.</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Feature Iteration:</a:t>
            </a:r>
            <a:r>
              <a:rPr lang="en" sz="1500">
                <a:solidFill>
                  <a:schemeClr val="dk1"/>
                </a:solidFill>
              </a:rPr>
              <a:t> Continuously improve features based on model performance by adding, removing, or adjusting them to achieve better results.</a:t>
            </a:r>
            <a:endParaRPr sz="15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nvSpPr>
        <p:spPr>
          <a:xfrm>
            <a:off x="0" y="0"/>
            <a:ext cx="9144000" cy="1120500"/>
          </a:xfrm>
          <a:prstGeom prst="rect">
            <a:avLst/>
          </a:prstGeom>
          <a:noFill/>
          <a:ln>
            <a:noFill/>
          </a:ln>
        </p:spPr>
        <p:txBody>
          <a:bodyPr anchorCtr="0" anchor="t" bIns="91425" lIns="91425" spcFirstLastPara="1" rIns="91425" wrap="square" tIns="91425">
            <a:spAutoFit/>
          </a:bodyPr>
          <a:lstStyle/>
          <a:p>
            <a:pPr indent="0" lvl="0" marL="0" rtl="0" algn="l">
              <a:lnSpc>
                <a:spcPct val="116666"/>
              </a:lnSpc>
              <a:spcBef>
                <a:spcPts val="0"/>
              </a:spcBef>
              <a:spcAft>
                <a:spcPts val="0"/>
              </a:spcAft>
              <a:buNone/>
            </a:pPr>
            <a:r>
              <a:rPr b="1" lang="en" sz="2100">
                <a:solidFill>
                  <a:srgbClr val="273239"/>
                </a:solidFill>
                <a:highlight>
                  <a:srgbClr val="FFFFFF"/>
                </a:highlight>
                <a:latin typeface="Nunito"/>
                <a:ea typeface="Nunito"/>
                <a:cs typeface="Nunito"/>
                <a:sym typeface="Nunito"/>
              </a:rPr>
              <a:t>Common Techniques in Feature Engineering</a:t>
            </a:r>
            <a:endParaRPr b="1" sz="2100">
              <a:solidFill>
                <a:srgbClr val="273239"/>
              </a:solidFill>
              <a:highlight>
                <a:srgbClr val="FFFFFF"/>
              </a:highlight>
              <a:latin typeface="Nunito"/>
              <a:ea typeface="Nunito"/>
              <a:cs typeface="Nunito"/>
              <a:sym typeface="Nunito"/>
            </a:endParaRPr>
          </a:p>
          <a:p>
            <a:pPr indent="0" lvl="0" marL="0" rtl="0" algn="l">
              <a:lnSpc>
                <a:spcPct val="120000"/>
              </a:lnSpc>
              <a:spcBef>
                <a:spcPts val="0"/>
              </a:spcBef>
              <a:spcAft>
                <a:spcPts val="800"/>
              </a:spcAft>
              <a:buNone/>
            </a:pPr>
            <a:r>
              <a:rPr b="1" lang="en" sz="1650">
                <a:solidFill>
                  <a:srgbClr val="273239"/>
                </a:solidFill>
                <a:highlight>
                  <a:srgbClr val="FFFFFF"/>
                </a:highlight>
                <a:latin typeface="Nunito"/>
                <a:ea typeface="Nunito"/>
                <a:cs typeface="Nunito"/>
                <a:sym typeface="Nunito"/>
              </a:rPr>
              <a:t>1. One-Hot Encoding</a:t>
            </a:r>
            <a:r>
              <a:rPr lang="en" sz="1650">
                <a:solidFill>
                  <a:srgbClr val="273239"/>
                </a:solidFill>
                <a:highlight>
                  <a:srgbClr val="FFFFFF"/>
                </a:highlight>
                <a:latin typeface="Nunito"/>
                <a:ea typeface="Nunito"/>
                <a:cs typeface="Nunito"/>
                <a:sym typeface="Nunito"/>
              </a:rPr>
              <a:t>:</a:t>
            </a:r>
            <a:r>
              <a:rPr lang="en" sz="16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 </a:t>
            </a:r>
            <a:r>
              <a:rPr lang="en" sz="1650">
                <a:highlight>
                  <a:srgbClr val="FFFFFF"/>
                </a:highlight>
                <a:latin typeface="Nunito"/>
                <a:ea typeface="Nunito"/>
                <a:cs typeface="Nunito"/>
                <a:sym typeface="Nunito"/>
              </a:rPr>
              <a:t>One-Hot</a:t>
            </a:r>
            <a:r>
              <a:rPr lang="en" sz="1650" u="sng">
                <a:solidFill>
                  <a:srgbClr val="357960"/>
                </a:solidFill>
                <a:highlight>
                  <a:srgbClr val="FFFFFF"/>
                </a:highlight>
                <a:latin typeface="Nunito"/>
                <a:ea typeface="Nunito"/>
                <a:cs typeface="Nunito"/>
                <a:sym typeface="Nunito"/>
                <a:hlinkClick r:id="rId4">
                  <a:extLst>
                    <a:ext uri="{A12FA001-AC4F-418D-AE19-62706E023703}">
                      <ahyp:hlinkClr val="tx"/>
                    </a:ext>
                  </a:extLst>
                </a:hlinkClick>
              </a:rPr>
              <a:t> </a:t>
            </a:r>
            <a:r>
              <a:rPr lang="en" sz="1650">
                <a:highlight>
                  <a:srgbClr val="FFFFFF"/>
                </a:highlight>
                <a:latin typeface="Nunito"/>
                <a:ea typeface="Nunito"/>
                <a:cs typeface="Nunito"/>
                <a:sym typeface="Nunito"/>
              </a:rPr>
              <a:t>Encoding </a:t>
            </a:r>
            <a:r>
              <a:rPr lang="en" sz="1650">
                <a:solidFill>
                  <a:srgbClr val="273239"/>
                </a:solidFill>
                <a:highlight>
                  <a:srgbClr val="FFFFFF"/>
                </a:highlight>
                <a:latin typeface="Nunito"/>
                <a:ea typeface="Nunito"/>
                <a:cs typeface="Nunito"/>
                <a:sym typeface="Nunito"/>
              </a:rPr>
              <a:t>converts categorical variables into binary indicators, allowing them to be used by machine learning models</a:t>
            </a:r>
            <a:endParaRPr sz="1650">
              <a:solidFill>
                <a:srgbClr val="273239"/>
              </a:solidFill>
              <a:highlight>
                <a:srgbClr val="FFFFFF"/>
              </a:highlight>
              <a:latin typeface="Nunito"/>
              <a:ea typeface="Nunito"/>
              <a:cs typeface="Nunito"/>
              <a:sym typeface="Nunito"/>
            </a:endParaRPr>
          </a:p>
        </p:txBody>
      </p:sp>
      <p:sp>
        <p:nvSpPr>
          <p:cNvPr id="109" name="Google Shape;109;p23"/>
          <p:cNvSpPr txBox="1"/>
          <p:nvPr/>
        </p:nvSpPr>
        <p:spPr>
          <a:xfrm>
            <a:off x="88025" y="1052150"/>
            <a:ext cx="9144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import pandas as pd</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data = {'Color': ['Red', 'Blue', 'Green', 'Blue']}</a:t>
            </a:r>
            <a:endParaRPr>
              <a:solidFill>
                <a:srgbClr val="0000FF"/>
              </a:solidFill>
            </a:endParaRPr>
          </a:p>
          <a:p>
            <a:pPr indent="0" lvl="0" marL="0" rtl="0" algn="l">
              <a:spcBef>
                <a:spcPts val="0"/>
              </a:spcBef>
              <a:spcAft>
                <a:spcPts val="0"/>
              </a:spcAft>
              <a:buNone/>
            </a:pPr>
            <a:r>
              <a:rPr lang="en">
                <a:solidFill>
                  <a:srgbClr val="0000FF"/>
                </a:solidFill>
              </a:rPr>
              <a:t>df = pd.DataFrame(data)</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df_encoded = pd.get_dummies(df, columns=['Color'], prefix='Color')</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print(df_encoded)</a:t>
            </a:r>
            <a:endParaRPr>
              <a:solidFill>
                <a:srgbClr val="0000FF"/>
              </a:solidFill>
            </a:endParaRPr>
          </a:p>
        </p:txBody>
      </p:sp>
      <p:sp>
        <p:nvSpPr>
          <p:cNvPr id="110" name="Google Shape;110;p23"/>
          <p:cNvSpPr txBox="1"/>
          <p:nvPr/>
        </p:nvSpPr>
        <p:spPr>
          <a:xfrm>
            <a:off x="0" y="3439400"/>
            <a:ext cx="8807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chemeClr val="lt1"/>
                </a:highlight>
                <a:latin typeface="Courier New"/>
                <a:ea typeface="Courier New"/>
                <a:cs typeface="Courier New"/>
                <a:sym typeface="Courier New"/>
              </a:rPr>
              <a:t> </a:t>
            </a:r>
            <a:r>
              <a:rPr lang="en" sz="1600">
                <a:solidFill>
                  <a:schemeClr val="dk1"/>
                </a:solidFill>
                <a:highlight>
                  <a:schemeClr val="lt1"/>
                </a:highlight>
                <a:latin typeface="Courier New"/>
                <a:ea typeface="Courier New"/>
                <a:cs typeface="Courier New"/>
                <a:sym typeface="Courier New"/>
              </a:rPr>
              <a:t>    </a:t>
            </a:r>
            <a:r>
              <a:rPr lang="en" sz="1600">
                <a:solidFill>
                  <a:schemeClr val="dk1"/>
                </a:solidFill>
                <a:highlight>
                  <a:schemeClr val="lt1"/>
                </a:highlight>
                <a:latin typeface="Courier New"/>
                <a:ea typeface="Courier New"/>
                <a:cs typeface="Courier New"/>
                <a:sym typeface="Courier New"/>
              </a:rPr>
              <a:t>Color_Blue  Color_Green  Color_Red</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0       False        False       True</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1        True        False      False</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2       False         True      False</a:t>
            </a:r>
            <a:endParaRPr sz="1600">
              <a:solidFill>
                <a:schemeClr val="dk1"/>
              </a:solidFill>
              <a:highlight>
                <a:schemeClr val="lt1"/>
              </a:highlight>
              <a:latin typeface="Courier New"/>
              <a:ea typeface="Courier New"/>
              <a:cs typeface="Courier New"/>
              <a:sym typeface="Courier New"/>
            </a:endParaRPr>
          </a:p>
          <a:p>
            <a:pPr indent="0" lvl="0" marL="0" marR="190500" rtl="0" algn="l">
              <a:lnSpc>
                <a:spcPct val="120000"/>
              </a:lnSpc>
              <a:spcBef>
                <a:spcPts val="0"/>
              </a:spcBef>
              <a:spcAft>
                <a:spcPts val="800"/>
              </a:spcAft>
              <a:buNone/>
            </a:pPr>
            <a:r>
              <a:rPr lang="en" sz="1600">
                <a:solidFill>
                  <a:schemeClr val="dk1"/>
                </a:solidFill>
                <a:highlight>
                  <a:schemeClr val="lt1"/>
                </a:highlight>
                <a:latin typeface="Courier New"/>
                <a:ea typeface="Courier New"/>
                <a:cs typeface="Courier New"/>
                <a:sym typeface="Courier New"/>
              </a:rPr>
              <a:t>3        True        False      False</a:t>
            </a:r>
            <a:endParaRPr sz="1600">
              <a:solidFill>
                <a:schemeClr val="dk1"/>
              </a:solidFill>
              <a:highlight>
                <a:schemeClr val="lt1"/>
              </a:highlight>
              <a:latin typeface="Courier New"/>
              <a:ea typeface="Courier New"/>
              <a:cs typeface="Courier New"/>
              <a:sym typeface="Courier New"/>
            </a:endParaRPr>
          </a:p>
        </p:txBody>
      </p:sp>
      <p:sp>
        <p:nvSpPr>
          <p:cNvPr id="111" name="Google Shape;111;p23"/>
          <p:cNvSpPr txBox="1"/>
          <p:nvPr/>
        </p:nvSpPr>
        <p:spPr>
          <a:xfrm>
            <a:off x="88025" y="2960750"/>
            <a:ext cx="30000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50">
                <a:solidFill>
                  <a:srgbClr val="273239"/>
                </a:solidFill>
                <a:highlight>
                  <a:srgbClr val="FFFFFF"/>
                </a:highlight>
                <a:latin typeface="Nunito"/>
                <a:ea typeface="Nunito"/>
                <a:cs typeface="Nunito"/>
                <a:sym typeface="Nunito"/>
              </a:rPr>
              <a:t>Output</a:t>
            </a:r>
            <a:endParaRPr b="1" sz="1550">
              <a:solidFill>
                <a:srgbClr val="273239"/>
              </a:solidFill>
              <a:highlight>
                <a:srgbClr val="FFFFFF"/>
              </a:highlight>
              <a:latin typeface="Nunito"/>
              <a:ea typeface="Nunito"/>
              <a:cs typeface="Nunito"/>
              <a:sym typeface="Nunito"/>
            </a:endParaRPr>
          </a:p>
          <a:p>
            <a:pPr indent="0" lvl="0" marL="0" rtl="0" algn="l">
              <a:lnSpc>
                <a:spcPct val="12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4"/>
          <p:cNvSpPr txBox="1"/>
          <p:nvPr/>
        </p:nvSpPr>
        <p:spPr>
          <a:xfrm>
            <a:off x="54500" y="0"/>
            <a:ext cx="94068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50">
                <a:solidFill>
                  <a:srgbClr val="273239"/>
                </a:solidFill>
                <a:highlight>
                  <a:srgbClr val="FFFFFF"/>
                </a:highlight>
                <a:latin typeface="Nunito"/>
                <a:ea typeface="Nunito"/>
                <a:cs typeface="Nunito"/>
                <a:sym typeface="Nunito"/>
              </a:rPr>
              <a:t>2. Binning</a:t>
            </a:r>
            <a:r>
              <a:rPr lang="en" sz="1750">
                <a:solidFill>
                  <a:srgbClr val="273239"/>
                </a:solidFill>
                <a:highlight>
                  <a:srgbClr val="FFFFFF"/>
                </a:highlight>
                <a:latin typeface="Nunito"/>
                <a:ea typeface="Nunito"/>
                <a:cs typeface="Nunito"/>
                <a:sym typeface="Nunito"/>
              </a:rPr>
              <a:t>: Binning transforms continuous variables into discrete bins, making them categorical for easier analysis.</a:t>
            </a:r>
            <a:endParaRPr sz="1800"/>
          </a:p>
        </p:txBody>
      </p:sp>
      <p:sp>
        <p:nvSpPr>
          <p:cNvPr id="117" name="Google Shape;117;p24"/>
          <p:cNvSpPr txBox="1"/>
          <p:nvPr/>
        </p:nvSpPr>
        <p:spPr>
          <a:xfrm>
            <a:off x="205400" y="641375"/>
            <a:ext cx="88632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import pandas as pd</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data = {'Age': [23, 45, 18, 34, 67, 50, 21]}</a:t>
            </a:r>
            <a:endParaRPr>
              <a:solidFill>
                <a:srgbClr val="0000FF"/>
              </a:solidFill>
            </a:endParaRPr>
          </a:p>
          <a:p>
            <a:pPr indent="0" lvl="0" marL="0" rtl="0" algn="l">
              <a:spcBef>
                <a:spcPts val="0"/>
              </a:spcBef>
              <a:spcAft>
                <a:spcPts val="0"/>
              </a:spcAft>
              <a:buNone/>
            </a:pPr>
            <a:r>
              <a:rPr lang="en">
                <a:solidFill>
                  <a:srgbClr val="0000FF"/>
                </a:solidFill>
              </a:rPr>
              <a:t>df = pd.DataFrame(data)</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bins = [0, 20, 40, 60, 100]</a:t>
            </a:r>
            <a:endParaRPr>
              <a:solidFill>
                <a:srgbClr val="0000FF"/>
              </a:solidFill>
            </a:endParaRPr>
          </a:p>
          <a:p>
            <a:pPr indent="0" lvl="0" marL="0" rtl="0" algn="l">
              <a:spcBef>
                <a:spcPts val="0"/>
              </a:spcBef>
              <a:spcAft>
                <a:spcPts val="0"/>
              </a:spcAft>
              <a:buNone/>
            </a:pPr>
            <a:r>
              <a:rPr lang="en">
                <a:solidFill>
                  <a:srgbClr val="0000FF"/>
                </a:solidFill>
              </a:rPr>
              <a:t>labels = ['0-20', '21-40', '41-60', '61+']</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df['Age_Group'] = pd.cut(df['Age'], bins=bins, labels=labels, right=False)</a:t>
            </a:r>
            <a:endParaRPr>
              <a:solidFill>
                <a:srgbClr val="0000FF"/>
              </a:solidFill>
            </a:endParaRPr>
          </a:p>
          <a:p>
            <a:pPr indent="0" lvl="0" marL="0" rtl="0" algn="l">
              <a:spcBef>
                <a:spcPts val="0"/>
              </a:spcBef>
              <a:spcAft>
                <a:spcPts val="0"/>
              </a:spcAft>
              <a:buNone/>
            </a:pPr>
            <a:r>
              <a:t/>
            </a:r>
            <a:endParaRPr>
              <a:solidFill>
                <a:srgbClr val="0000FF"/>
              </a:solidFill>
            </a:endParaRPr>
          </a:p>
          <a:p>
            <a:pPr indent="0" lvl="0" marL="0" rtl="0" algn="l">
              <a:spcBef>
                <a:spcPts val="0"/>
              </a:spcBef>
              <a:spcAft>
                <a:spcPts val="0"/>
              </a:spcAft>
              <a:buNone/>
            </a:pPr>
            <a:r>
              <a:rPr lang="en">
                <a:solidFill>
                  <a:srgbClr val="0000FF"/>
                </a:solidFill>
              </a:rPr>
              <a:t>print(df)</a:t>
            </a:r>
            <a:endParaRPr>
              <a:solidFill>
                <a:srgbClr val="0000FF"/>
              </a:solidFill>
            </a:endParaRPr>
          </a:p>
        </p:txBody>
      </p:sp>
      <p:sp>
        <p:nvSpPr>
          <p:cNvPr id="118" name="Google Shape;118;p24"/>
          <p:cNvSpPr txBox="1"/>
          <p:nvPr/>
        </p:nvSpPr>
        <p:spPr>
          <a:xfrm>
            <a:off x="54500" y="3428050"/>
            <a:ext cx="9684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50">
                <a:solidFill>
                  <a:srgbClr val="273239"/>
                </a:solidFill>
                <a:highlight>
                  <a:srgbClr val="FFFFFF"/>
                </a:highlight>
                <a:latin typeface="Nunito"/>
                <a:ea typeface="Nunito"/>
                <a:cs typeface="Nunito"/>
                <a:sym typeface="Nunito"/>
              </a:rPr>
              <a:t>Output</a:t>
            </a:r>
            <a:endParaRPr b="1" sz="1750">
              <a:solidFill>
                <a:srgbClr val="273239"/>
              </a:solidFill>
              <a:highlight>
                <a:srgbClr val="FFFFFF"/>
              </a:highlight>
              <a:latin typeface="Nunito"/>
              <a:ea typeface="Nunito"/>
              <a:cs typeface="Nunito"/>
              <a:sym typeface="Nunito"/>
            </a:endParaRPr>
          </a:p>
          <a:p>
            <a:pPr indent="0" lvl="0" marL="0" rtl="0" algn="l">
              <a:lnSpc>
                <a:spcPct val="12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p:txBody>
      </p:sp>
      <p:sp>
        <p:nvSpPr>
          <p:cNvPr id="119" name="Google Shape;119;p24"/>
          <p:cNvSpPr/>
          <p:nvPr/>
        </p:nvSpPr>
        <p:spPr>
          <a:xfrm>
            <a:off x="1136025" y="3428050"/>
            <a:ext cx="754500" cy="39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4"/>
          <p:cNvSpPr txBox="1"/>
          <p:nvPr/>
        </p:nvSpPr>
        <p:spPr>
          <a:xfrm>
            <a:off x="2917575" y="2927800"/>
            <a:ext cx="30000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 Age Age_Group</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0   23     21-40</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1   45     41-60</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2   18      0-20</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3   34     21-40</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4   67       61+</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5   50     41-60</a:t>
            </a:r>
            <a:endParaRPr sz="1600">
              <a:solidFill>
                <a:schemeClr val="dk1"/>
              </a:solidFill>
              <a:highlight>
                <a:schemeClr val="lt1"/>
              </a:highlight>
              <a:latin typeface="Courier New"/>
              <a:ea typeface="Courier New"/>
              <a:cs typeface="Courier New"/>
              <a:sym typeface="Courier New"/>
            </a:endParaRPr>
          </a:p>
          <a:p>
            <a:pPr indent="0" lvl="0" marL="0" marR="190500" rtl="0" algn="l">
              <a:lnSpc>
                <a:spcPct val="120000"/>
              </a:lnSpc>
              <a:spcBef>
                <a:spcPts val="0"/>
              </a:spcBef>
              <a:spcAft>
                <a:spcPts val="800"/>
              </a:spcAft>
              <a:buNone/>
            </a:pPr>
            <a:r>
              <a:rPr lang="en" sz="1600">
                <a:solidFill>
                  <a:schemeClr val="dk1"/>
                </a:solidFill>
                <a:highlight>
                  <a:schemeClr val="lt1"/>
                </a:highlight>
                <a:latin typeface="Courier New"/>
                <a:ea typeface="Courier New"/>
                <a:cs typeface="Courier New"/>
                <a:sym typeface="Courier New"/>
              </a:rPr>
              <a:t>6   21     21-40</a:t>
            </a:r>
            <a:endParaRPr sz="1600">
              <a:solidFill>
                <a:schemeClr val="dk1"/>
              </a:solidFill>
              <a:highlight>
                <a:schemeClr val="lt1"/>
              </a:highlight>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nvSpPr>
        <p:spPr>
          <a:xfrm>
            <a:off x="0" y="0"/>
            <a:ext cx="91440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600"/>
              <a:t>3. Text Data Preprocessing: Involves removing stop-words, stemming and vectorizing text data to prepare it for machine learning models.</a:t>
            </a:r>
            <a:endParaRPr sz="1600"/>
          </a:p>
        </p:txBody>
      </p:sp>
      <p:sp>
        <p:nvSpPr>
          <p:cNvPr id="126" name="Google Shape;126;p25"/>
          <p:cNvSpPr txBox="1"/>
          <p:nvPr/>
        </p:nvSpPr>
        <p:spPr>
          <a:xfrm>
            <a:off x="0" y="714300"/>
            <a:ext cx="9144000" cy="471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import nltk</a:t>
            </a:r>
            <a:endParaRPr>
              <a:solidFill>
                <a:srgbClr val="0000FF"/>
              </a:solidFill>
            </a:endParaRPr>
          </a:p>
          <a:p>
            <a:pPr indent="0" lvl="0" marL="0" rtl="0" algn="l">
              <a:spcBef>
                <a:spcPts val="0"/>
              </a:spcBef>
              <a:spcAft>
                <a:spcPts val="0"/>
              </a:spcAft>
              <a:buNone/>
            </a:pPr>
            <a:r>
              <a:rPr lang="en">
                <a:solidFill>
                  <a:srgbClr val="0000FF"/>
                </a:solidFill>
              </a:rPr>
              <a:t>from nltk.corpus import stopwords</a:t>
            </a:r>
            <a:endParaRPr>
              <a:solidFill>
                <a:srgbClr val="0000FF"/>
              </a:solidFill>
            </a:endParaRPr>
          </a:p>
          <a:p>
            <a:pPr indent="0" lvl="0" marL="0" rtl="0" algn="l">
              <a:spcBef>
                <a:spcPts val="0"/>
              </a:spcBef>
              <a:spcAft>
                <a:spcPts val="0"/>
              </a:spcAft>
              <a:buNone/>
            </a:pPr>
            <a:r>
              <a:rPr lang="en">
                <a:solidFill>
                  <a:srgbClr val="0000FF"/>
                </a:solidFill>
              </a:rPr>
              <a:t>from nltk.stem import PorterStemmer</a:t>
            </a:r>
            <a:endParaRPr>
              <a:solidFill>
                <a:srgbClr val="0000FF"/>
              </a:solidFill>
            </a:endParaRPr>
          </a:p>
          <a:p>
            <a:pPr indent="0" lvl="0" marL="0" rtl="0" algn="l">
              <a:spcBef>
                <a:spcPts val="0"/>
              </a:spcBef>
              <a:spcAft>
                <a:spcPts val="0"/>
              </a:spcAft>
              <a:buNone/>
            </a:pPr>
            <a:r>
              <a:rPr lang="en">
                <a:solidFill>
                  <a:srgbClr val="0000FF"/>
                </a:solidFill>
              </a:rPr>
              <a:t>from sklearn.feature_extraction.text import CountVectorizer</a:t>
            </a:r>
            <a:br>
              <a:rPr lang="en">
                <a:solidFill>
                  <a:srgbClr val="0000FF"/>
                </a:solidFill>
              </a:rPr>
            </a:br>
            <a:r>
              <a:rPr lang="en">
                <a:solidFill>
                  <a:srgbClr val="0000FF"/>
                </a:solidFill>
              </a:rPr>
              <a:t># Download stopwords (run once)</a:t>
            </a:r>
            <a:endParaRPr>
              <a:solidFill>
                <a:srgbClr val="0000FF"/>
              </a:solidFill>
            </a:endParaRPr>
          </a:p>
          <a:p>
            <a:pPr indent="0" lvl="0" marL="0" rtl="0" algn="l">
              <a:spcBef>
                <a:spcPts val="0"/>
              </a:spcBef>
              <a:spcAft>
                <a:spcPts val="0"/>
              </a:spcAft>
              <a:buNone/>
            </a:pPr>
            <a:r>
              <a:rPr lang="en">
                <a:solidFill>
                  <a:srgbClr val="0000FF"/>
                </a:solidFill>
              </a:rPr>
              <a:t>#nltk.download('stopwords')</a:t>
            </a:r>
            <a:endParaRPr>
              <a:solidFill>
                <a:srgbClr val="0000FF"/>
              </a:solidFill>
            </a:endParaRPr>
          </a:p>
          <a:p>
            <a:pPr indent="0" lvl="0" marL="0" rtl="0" algn="l">
              <a:spcBef>
                <a:spcPts val="0"/>
              </a:spcBef>
              <a:spcAft>
                <a:spcPts val="0"/>
              </a:spcAft>
              <a:buNone/>
            </a:pPr>
            <a:r>
              <a:rPr lang="en">
                <a:solidFill>
                  <a:srgbClr val="0000FF"/>
                </a:solidFill>
              </a:rPr>
              <a:t>texts = ["This is a sample sentence.", "Text data preprocessing is important."]</a:t>
            </a:r>
            <a:endParaRPr>
              <a:solidFill>
                <a:srgbClr val="0000FF"/>
              </a:solidFill>
            </a:endParaRPr>
          </a:p>
          <a:p>
            <a:pPr indent="0" lvl="0" marL="0" rtl="0" algn="l">
              <a:spcBef>
                <a:spcPts val="0"/>
              </a:spcBef>
              <a:spcAft>
                <a:spcPts val="0"/>
              </a:spcAft>
              <a:buNone/>
            </a:pPr>
            <a:r>
              <a:rPr lang="en">
                <a:solidFill>
                  <a:srgbClr val="0000FF"/>
                </a:solidFill>
              </a:rPr>
              <a:t>stop_words = set(stopwords.words('english'))</a:t>
            </a:r>
            <a:endParaRPr>
              <a:solidFill>
                <a:srgbClr val="0000FF"/>
              </a:solidFill>
            </a:endParaRPr>
          </a:p>
          <a:p>
            <a:pPr indent="0" lvl="0" marL="0" rtl="0" algn="l">
              <a:spcBef>
                <a:spcPts val="0"/>
              </a:spcBef>
              <a:spcAft>
                <a:spcPts val="0"/>
              </a:spcAft>
              <a:buNone/>
            </a:pPr>
            <a:r>
              <a:rPr lang="en">
                <a:solidFill>
                  <a:srgbClr val="0000FF"/>
                </a:solidFill>
              </a:rPr>
              <a:t>stemmer = PorterStemmer()</a:t>
            </a:r>
            <a:endParaRPr>
              <a:solidFill>
                <a:srgbClr val="0000FF"/>
              </a:solidFill>
            </a:endParaRPr>
          </a:p>
          <a:p>
            <a:pPr indent="0" lvl="0" marL="0" rtl="0" algn="l">
              <a:spcBef>
                <a:spcPts val="0"/>
              </a:spcBef>
              <a:spcAft>
                <a:spcPts val="0"/>
              </a:spcAft>
              <a:buNone/>
            </a:pPr>
            <a:r>
              <a:rPr lang="en">
                <a:solidFill>
                  <a:srgbClr val="0000FF"/>
                </a:solidFill>
              </a:rPr>
              <a:t>vectorizer = CountVectorizer()</a:t>
            </a:r>
            <a:br>
              <a:rPr lang="en">
                <a:solidFill>
                  <a:srgbClr val="0000FF"/>
                </a:solidFill>
              </a:rPr>
            </a:br>
            <a:endParaRPr>
              <a:solidFill>
                <a:srgbClr val="0000FF"/>
              </a:solidFill>
            </a:endParaRPr>
          </a:p>
          <a:p>
            <a:pPr indent="0" lvl="0" marL="0" rtl="0" algn="l">
              <a:spcBef>
                <a:spcPts val="0"/>
              </a:spcBef>
              <a:spcAft>
                <a:spcPts val="0"/>
              </a:spcAft>
              <a:buNone/>
            </a:pPr>
            <a:r>
              <a:rPr lang="en">
                <a:solidFill>
                  <a:srgbClr val="0000FF"/>
                </a:solidFill>
              </a:rPr>
              <a:t>def preprocess_text(text):</a:t>
            </a:r>
            <a:endParaRPr>
              <a:solidFill>
                <a:srgbClr val="0000FF"/>
              </a:solidFill>
            </a:endParaRPr>
          </a:p>
          <a:p>
            <a:pPr indent="0" lvl="0" marL="0" rtl="0" algn="l">
              <a:spcBef>
                <a:spcPts val="0"/>
              </a:spcBef>
              <a:spcAft>
                <a:spcPts val="0"/>
              </a:spcAft>
              <a:buNone/>
            </a:pPr>
            <a:r>
              <a:rPr lang="en">
                <a:solidFill>
                  <a:srgbClr val="0000FF"/>
                </a:solidFill>
              </a:rPr>
              <a:t>    words = text.split()</a:t>
            </a:r>
            <a:endParaRPr>
              <a:solidFill>
                <a:srgbClr val="0000FF"/>
              </a:solidFill>
            </a:endParaRPr>
          </a:p>
          <a:p>
            <a:pPr indent="0" lvl="0" marL="0" rtl="0" algn="l">
              <a:spcBef>
                <a:spcPts val="0"/>
              </a:spcBef>
              <a:spcAft>
                <a:spcPts val="0"/>
              </a:spcAft>
              <a:buNone/>
            </a:pPr>
            <a:r>
              <a:rPr lang="en">
                <a:solidFill>
                  <a:srgbClr val="0000FF"/>
                </a:solidFill>
              </a:rPr>
              <a:t>    words = [stemmer.stem(word)</a:t>
            </a:r>
            <a:endParaRPr>
              <a:solidFill>
                <a:srgbClr val="0000FF"/>
              </a:solidFill>
            </a:endParaRPr>
          </a:p>
          <a:p>
            <a:pPr indent="0" lvl="0" marL="0" rtl="0" algn="l">
              <a:spcBef>
                <a:spcPts val="0"/>
              </a:spcBef>
              <a:spcAft>
                <a:spcPts val="0"/>
              </a:spcAft>
              <a:buNone/>
            </a:pPr>
            <a:r>
              <a:rPr lang="en">
                <a:solidFill>
                  <a:srgbClr val="0000FF"/>
                </a:solidFill>
              </a:rPr>
              <a:t>             for word in words if word.lower() not in stop_words]</a:t>
            </a:r>
            <a:endParaRPr>
              <a:solidFill>
                <a:srgbClr val="0000FF"/>
              </a:solidFill>
            </a:endParaRPr>
          </a:p>
          <a:p>
            <a:pPr indent="0" lvl="0" marL="0" rtl="0" algn="l">
              <a:spcBef>
                <a:spcPts val="0"/>
              </a:spcBef>
              <a:spcAft>
                <a:spcPts val="0"/>
              </a:spcAft>
              <a:buNone/>
            </a:pPr>
            <a:r>
              <a:rPr lang="en">
                <a:solidFill>
                  <a:srgbClr val="0000FF"/>
                </a:solidFill>
              </a:rPr>
              <a:t>    return " ".join(words)</a:t>
            </a:r>
            <a:br>
              <a:rPr lang="en">
                <a:solidFill>
                  <a:srgbClr val="0000FF"/>
                </a:solidFill>
              </a:rPr>
            </a:br>
            <a:endParaRPr>
              <a:solidFill>
                <a:srgbClr val="0000FF"/>
              </a:solidFill>
            </a:endParaRPr>
          </a:p>
          <a:p>
            <a:pPr indent="0" lvl="0" marL="0" rtl="0" algn="l">
              <a:spcBef>
                <a:spcPts val="0"/>
              </a:spcBef>
              <a:spcAft>
                <a:spcPts val="0"/>
              </a:spcAft>
              <a:buNone/>
            </a:pPr>
            <a:r>
              <a:rPr lang="en">
                <a:solidFill>
                  <a:srgbClr val="0000FF"/>
                </a:solidFill>
              </a:rPr>
              <a:t>cleaned_texts = [preprocess_text(text) for text in texts]</a:t>
            </a:r>
            <a:endParaRPr>
              <a:solidFill>
                <a:srgbClr val="0000FF"/>
              </a:solidFill>
            </a:endParaRPr>
          </a:p>
          <a:p>
            <a:pPr indent="0" lvl="0" marL="0" rtl="0" algn="l">
              <a:spcBef>
                <a:spcPts val="0"/>
              </a:spcBef>
              <a:spcAft>
                <a:spcPts val="0"/>
              </a:spcAft>
              <a:buNone/>
            </a:pPr>
            <a:r>
              <a:rPr lang="en">
                <a:solidFill>
                  <a:srgbClr val="0000FF"/>
                </a:solidFill>
              </a:rPr>
              <a:t>X = vectorizer.fit_transform(cleaned_texts)</a:t>
            </a:r>
            <a:endParaRPr>
              <a:solidFill>
                <a:srgbClr val="0000FF"/>
              </a:solidFill>
            </a:endParaRPr>
          </a:p>
          <a:p>
            <a:pPr indent="0" lvl="0" marL="0" rtl="0" algn="l">
              <a:spcBef>
                <a:spcPts val="0"/>
              </a:spcBef>
              <a:spcAft>
                <a:spcPts val="0"/>
              </a:spcAft>
              <a:buNone/>
            </a:pPr>
            <a:r>
              <a:rPr lang="en">
                <a:solidFill>
                  <a:srgbClr val="0000FF"/>
                </a:solidFill>
              </a:rPr>
              <a:t>print("Cleaned Texts:", cleaned_texts)</a:t>
            </a:r>
            <a:endParaRPr>
              <a:solidFill>
                <a:srgbClr val="0000FF"/>
              </a:solidFill>
            </a:endParaRPr>
          </a:p>
          <a:p>
            <a:pPr indent="0" lvl="0" marL="0" rtl="0" algn="l">
              <a:spcBef>
                <a:spcPts val="0"/>
              </a:spcBef>
              <a:spcAft>
                <a:spcPts val="0"/>
              </a:spcAft>
              <a:buNone/>
            </a:pPr>
            <a:r>
              <a:rPr lang="en">
                <a:solidFill>
                  <a:srgbClr val="0000FF"/>
                </a:solidFill>
              </a:rPr>
              <a:t>print("Vectorized Text:", X.toarray())</a:t>
            </a:r>
            <a:endParaRPr>
              <a:solidFill>
                <a:srgbClr val="00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nvSpPr>
        <p:spPr>
          <a:xfrm>
            <a:off x="0" y="453900"/>
            <a:ext cx="9144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Cleaned Texts: ['sampl sentence.', 'text data preprocess important.']</a:t>
            </a:r>
            <a:endParaRPr sz="1600"/>
          </a:p>
          <a:p>
            <a:pPr indent="0" lvl="0" marL="0" rtl="0" algn="l">
              <a:spcBef>
                <a:spcPts val="0"/>
              </a:spcBef>
              <a:spcAft>
                <a:spcPts val="0"/>
              </a:spcAft>
              <a:buNone/>
            </a:pPr>
            <a:r>
              <a:t/>
            </a:r>
            <a:endParaRPr sz="1600"/>
          </a:p>
        </p:txBody>
      </p:sp>
      <p:sp>
        <p:nvSpPr>
          <p:cNvPr id="132" name="Google Shape;132;p26"/>
          <p:cNvSpPr txBox="1"/>
          <p:nvPr/>
        </p:nvSpPr>
        <p:spPr>
          <a:xfrm>
            <a:off x="0" y="0"/>
            <a:ext cx="3000000" cy="45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50">
                <a:solidFill>
                  <a:srgbClr val="273239"/>
                </a:solidFill>
                <a:highlight>
                  <a:srgbClr val="FFFFFF"/>
                </a:highlight>
                <a:latin typeface="Nunito"/>
                <a:ea typeface="Nunito"/>
                <a:cs typeface="Nunito"/>
                <a:sym typeface="Nunito"/>
              </a:rPr>
              <a:t>Output</a:t>
            </a:r>
            <a:endParaRPr sz="1800"/>
          </a:p>
        </p:txBody>
      </p:sp>
      <p:sp>
        <p:nvSpPr>
          <p:cNvPr id="133" name="Google Shape;133;p26"/>
          <p:cNvSpPr txBox="1"/>
          <p:nvPr/>
        </p:nvSpPr>
        <p:spPr>
          <a:xfrm>
            <a:off x="0" y="855150"/>
            <a:ext cx="9144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Vectorized Text: [[0 0 0 1 1 0]</a:t>
            </a:r>
            <a:endParaRPr sz="1600"/>
          </a:p>
          <a:p>
            <a:pPr indent="0" lvl="0" marL="0" rtl="0" algn="l">
              <a:spcBef>
                <a:spcPts val="0"/>
              </a:spcBef>
              <a:spcAft>
                <a:spcPts val="0"/>
              </a:spcAft>
              <a:buNone/>
            </a:pPr>
            <a:r>
              <a:rPr lang="en" sz="1600"/>
              <a:t>                           [1 1 1 0 0 1]]</a:t>
            </a:r>
            <a:endParaRPr sz="1600"/>
          </a:p>
          <a:p>
            <a:pPr indent="0" lvl="0" marL="0" rtl="0" algn="l">
              <a:spcBef>
                <a:spcPts val="0"/>
              </a:spcBef>
              <a:spcAft>
                <a:spcPts val="0"/>
              </a:spcAft>
              <a:buNone/>
            </a:pPr>
            <a:r>
              <a:t/>
            </a:r>
            <a:endParaRPr sz="1600"/>
          </a:p>
        </p:txBody>
      </p:sp>
      <p:sp>
        <p:nvSpPr>
          <p:cNvPr id="134" name="Google Shape;134;p26"/>
          <p:cNvSpPr txBox="1"/>
          <p:nvPr/>
        </p:nvSpPr>
        <p:spPr>
          <a:xfrm>
            <a:off x="0" y="1839500"/>
            <a:ext cx="9144000" cy="11124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 sz="1650">
                <a:solidFill>
                  <a:schemeClr val="dk1"/>
                </a:solidFill>
                <a:latin typeface="Nunito"/>
                <a:ea typeface="Nunito"/>
                <a:cs typeface="Nunito"/>
                <a:sym typeface="Nunito"/>
              </a:rPr>
              <a:t>4. Feature Splitting</a:t>
            </a:r>
            <a:r>
              <a:rPr lang="en" sz="1650">
                <a:solidFill>
                  <a:schemeClr val="dk1"/>
                </a:solidFill>
                <a:latin typeface="Nunito"/>
                <a:ea typeface="Nunito"/>
                <a:cs typeface="Nunito"/>
                <a:sym typeface="Nunito"/>
              </a:rPr>
              <a:t>: Divides a single feature into multiple sub-features, uncovering valuable insights and improving model performance.</a:t>
            </a:r>
            <a:endParaRPr sz="1650">
              <a:solidFill>
                <a:schemeClr val="dk1"/>
              </a:solidFill>
              <a:latin typeface="Nunito"/>
              <a:ea typeface="Nunito"/>
              <a:cs typeface="Nunito"/>
              <a:sym typeface="Nunito"/>
            </a:endParaRPr>
          </a:p>
          <a:p>
            <a:pPr indent="0" lvl="0" marL="0" rtl="0" algn="l">
              <a:lnSpc>
                <a:spcPct val="160000"/>
              </a:lnSpc>
              <a:spcBef>
                <a:spcPts val="800"/>
              </a:spcBef>
              <a:spcAft>
                <a:spcPts val="0"/>
              </a:spcAft>
              <a:buNone/>
            </a:pPr>
            <a:r>
              <a:t/>
            </a:r>
            <a:endParaRPr>
              <a:solidFill>
                <a:schemeClr val="dk1"/>
              </a:solidFill>
            </a:endParaRPr>
          </a:p>
        </p:txBody>
      </p:sp>
      <p:sp>
        <p:nvSpPr>
          <p:cNvPr id="135" name="Google Shape;135;p26"/>
          <p:cNvSpPr txBox="1"/>
          <p:nvPr/>
        </p:nvSpPr>
        <p:spPr>
          <a:xfrm>
            <a:off x="0" y="2634075"/>
            <a:ext cx="91440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0000FF"/>
                </a:solidFill>
              </a:rPr>
              <a:t>import pandas as pd</a:t>
            </a:r>
            <a:endParaRPr sz="1500">
              <a:solidFill>
                <a:srgbClr val="0000FF"/>
              </a:solidFill>
            </a:endParaRPr>
          </a:p>
          <a:p>
            <a:pPr indent="0" lvl="0" marL="0" rtl="0" algn="l">
              <a:spcBef>
                <a:spcPts val="0"/>
              </a:spcBef>
              <a:spcAft>
                <a:spcPts val="0"/>
              </a:spcAft>
              <a:buNone/>
            </a:pPr>
            <a:r>
              <a:t/>
            </a:r>
            <a:endParaRPr sz="1500">
              <a:solidFill>
                <a:srgbClr val="0000FF"/>
              </a:solidFill>
            </a:endParaRPr>
          </a:p>
          <a:p>
            <a:pPr indent="0" lvl="0" marL="0" rtl="0" algn="l">
              <a:spcBef>
                <a:spcPts val="0"/>
              </a:spcBef>
              <a:spcAft>
                <a:spcPts val="0"/>
              </a:spcAft>
              <a:buNone/>
            </a:pPr>
            <a:r>
              <a:rPr lang="en" sz="1500">
                <a:solidFill>
                  <a:srgbClr val="0000FF"/>
                </a:solidFill>
              </a:rPr>
              <a:t>data = {'Full_Address': [</a:t>
            </a:r>
            <a:endParaRPr sz="1500">
              <a:solidFill>
                <a:srgbClr val="0000FF"/>
              </a:solidFill>
            </a:endParaRPr>
          </a:p>
          <a:p>
            <a:pPr indent="0" lvl="0" marL="0" rtl="0" algn="l">
              <a:spcBef>
                <a:spcPts val="0"/>
              </a:spcBef>
              <a:spcAft>
                <a:spcPts val="0"/>
              </a:spcAft>
              <a:buNone/>
            </a:pPr>
            <a:r>
              <a:rPr lang="en" sz="1500">
                <a:solidFill>
                  <a:srgbClr val="0000FF"/>
                </a:solidFill>
              </a:rPr>
              <a:t>    '123 Elm St, Springfield, 12345', '456 Oak Rd, Shelbyville, 67890']}</a:t>
            </a:r>
            <a:endParaRPr sz="1500">
              <a:solidFill>
                <a:srgbClr val="0000FF"/>
              </a:solidFill>
            </a:endParaRPr>
          </a:p>
          <a:p>
            <a:pPr indent="0" lvl="0" marL="0" rtl="0" algn="l">
              <a:spcBef>
                <a:spcPts val="0"/>
              </a:spcBef>
              <a:spcAft>
                <a:spcPts val="0"/>
              </a:spcAft>
              <a:buNone/>
            </a:pPr>
            <a:r>
              <a:rPr lang="en" sz="1500">
                <a:solidFill>
                  <a:srgbClr val="0000FF"/>
                </a:solidFill>
              </a:rPr>
              <a:t>df = pd.DataFrame(data)</a:t>
            </a:r>
            <a:endParaRPr sz="1500">
              <a:solidFill>
                <a:srgbClr val="0000FF"/>
              </a:solidFill>
            </a:endParaRPr>
          </a:p>
          <a:p>
            <a:pPr indent="0" lvl="0" marL="0" rtl="0" algn="l">
              <a:spcBef>
                <a:spcPts val="0"/>
              </a:spcBef>
              <a:spcAft>
                <a:spcPts val="0"/>
              </a:spcAft>
              <a:buNone/>
            </a:pPr>
            <a:r>
              <a:t/>
            </a:r>
            <a:endParaRPr sz="1500">
              <a:solidFill>
                <a:srgbClr val="0000FF"/>
              </a:solidFill>
            </a:endParaRPr>
          </a:p>
          <a:p>
            <a:pPr indent="0" lvl="0" marL="0" rtl="0" algn="l">
              <a:spcBef>
                <a:spcPts val="0"/>
              </a:spcBef>
              <a:spcAft>
                <a:spcPts val="0"/>
              </a:spcAft>
              <a:buNone/>
            </a:pPr>
            <a:r>
              <a:rPr lang="en" sz="1500">
                <a:solidFill>
                  <a:srgbClr val="0000FF"/>
                </a:solidFill>
              </a:rPr>
              <a:t>df[['Street', 'City', 'Zipcode']] = df['Full_Address'].str.extract(</a:t>
            </a:r>
            <a:endParaRPr sz="1500">
              <a:solidFill>
                <a:srgbClr val="0000FF"/>
              </a:solidFill>
            </a:endParaRPr>
          </a:p>
          <a:p>
            <a:pPr indent="0" lvl="0" marL="0" rtl="0" algn="l">
              <a:spcBef>
                <a:spcPts val="0"/>
              </a:spcBef>
              <a:spcAft>
                <a:spcPts val="0"/>
              </a:spcAft>
              <a:buNone/>
            </a:pPr>
            <a:r>
              <a:rPr lang="en" sz="1500">
                <a:solidFill>
                  <a:srgbClr val="0000FF"/>
                </a:solidFill>
              </a:rPr>
              <a:t>    r'([0-9]+\s[\w\s]+),\s([\w\s]+),\s(\d+)')</a:t>
            </a:r>
            <a:endParaRPr sz="1500">
              <a:solidFill>
                <a:srgbClr val="0000FF"/>
              </a:solidFill>
            </a:endParaRPr>
          </a:p>
          <a:p>
            <a:pPr indent="0" lvl="0" marL="0" rtl="0" algn="l">
              <a:spcBef>
                <a:spcPts val="0"/>
              </a:spcBef>
              <a:spcAft>
                <a:spcPts val="0"/>
              </a:spcAft>
              <a:buNone/>
            </a:pPr>
            <a:r>
              <a:t/>
            </a:r>
            <a:endParaRPr sz="1500">
              <a:solidFill>
                <a:srgbClr val="0000FF"/>
              </a:solidFill>
            </a:endParaRPr>
          </a:p>
          <a:p>
            <a:pPr indent="0" lvl="0" marL="0" rtl="0" algn="l">
              <a:spcBef>
                <a:spcPts val="0"/>
              </a:spcBef>
              <a:spcAft>
                <a:spcPts val="0"/>
              </a:spcAft>
              <a:buNone/>
            </a:pPr>
            <a:r>
              <a:rPr lang="en" sz="1500">
                <a:solidFill>
                  <a:srgbClr val="0000FF"/>
                </a:solidFill>
              </a:rPr>
              <a:t>print(df)</a:t>
            </a:r>
            <a:endParaRPr sz="1500">
              <a:solidFill>
                <a:srgbClr val="0000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nvSpPr>
        <p:spPr>
          <a:xfrm>
            <a:off x="0" y="1648350"/>
            <a:ext cx="9144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  Full_Address                     Street         City       Zipcode</a:t>
            </a:r>
            <a:endParaRPr sz="16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highlight>
                  <a:schemeClr val="lt1"/>
                </a:highlight>
                <a:latin typeface="Courier New"/>
                <a:ea typeface="Courier New"/>
                <a:cs typeface="Courier New"/>
                <a:sym typeface="Courier New"/>
              </a:rPr>
              <a:t>0  123 Elm St, Springfield, 12345  123 Elm St  Springfield   12345</a:t>
            </a:r>
            <a:endParaRPr sz="1600">
              <a:solidFill>
                <a:schemeClr val="dk1"/>
              </a:solidFill>
              <a:highlight>
                <a:schemeClr val="lt1"/>
              </a:highlight>
              <a:latin typeface="Courier New"/>
              <a:ea typeface="Courier New"/>
              <a:cs typeface="Courier New"/>
              <a:sym typeface="Courier New"/>
            </a:endParaRPr>
          </a:p>
          <a:p>
            <a:pPr indent="0" lvl="0" marL="0" marR="190500" rtl="0" algn="l">
              <a:lnSpc>
                <a:spcPct val="120000"/>
              </a:lnSpc>
              <a:spcBef>
                <a:spcPts val="0"/>
              </a:spcBef>
              <a:spcAft>
                <a:spcPts val="800"/>
              </a:spcAft>
              <a:buNone/>
            </a:pPr>
            <a:r>
              <a:rPr lang="en" sz="1600">
                <a:solidFill>
                  <a:schemeClr val="dk1"/>
                </a:solidFill>
                <a:highlight>
                  <a:schemeClr val="lt1"/>
                </a:highlight>
                <a:latin typeface="Courier New"/>
                <a:ea typeface="Courier New"/>
                <a:cs typeface="Courier New"/>
                <a:sym typeface="Courier New"/>
              </a:rPr>
              <a:t>1  456 Oak Rd, Shelbyville, 67890  456 Oak Rd  Shelbyville   67890...</a:t>
            </a:r>
            <a:endParaRPr sz="1600">
              <a:solidFill>
                <a:schemeClr val="dk1"/>
              </a:solidFill>
              <a:highlight>
                <a:schemeClr val="lt1"/>
              </a:highlight>
              <a:latin typeface="Courier New"/>
              <a:ea typeface="Courier New"/>
              <a:cs typeface="Courier New"/>
              <a:sym typeface="Courier New"/>
            </a:endParaRPr>
          </a:p>
        </p:txBody>
      </p:sp>
      <p:sp>
        <p:nvSpPr>
          <p:cNvPr id="141" name="Google Shape;141;p27"/>
          <p:cNvSpPr txBox="1"/>
          <p:nvPr/>
        </p:nvSpPr>
        <p:spPr>
          <a:xfrm>
            <a:off x="88025" y="980925"/>
            <a:ext cx="23181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50">
                <a:solidFill>
                  <a:srgbClr val="273239"/>
                </a:solidFill>
                <a:highlight>
                  <a:srgbClr val="FFFFFF"/>
                </a:highlight>
                <a:latin typeface="Nunito"/>
                <a:ea typeface="Nunito"/>
                <a:cs typeface="Nunito"/>
                <a:sym typeface="Nunito"/>
              </a:rPr>
              <a:t>Output</a:t>
            </a:r>
            <a:endParaRPr b="1" sz="2050">
              <a:solidFill>
                <a:srgbClr val="273239"/>
              </a:solidFill>
              <a:highlight>
                <a:srgbClr val="FFFFFF"/>
              </a:highlight>
              <a:latin typeface="Nunito"/>
              <a:ea typeface="Nunito"/>
              <a:cs typeface="Nunito"/>
              <a:sym typeface="Nunito"/>
            </a:endParaRPr>
          </a:p>
          <a:p>
            <a:pPr indent="0" lvl="0" marL="0" rtl="0" algn="l">
              <a:lnSpc>
                <a:spcPct val="120000"/>
              </a:lnSpc>
              <a:spcBef>
                <a:spcPts val="0"/>
              </a:spcBef>
              <a:spcAft>
                <a:spcPts val="0"/>
              </a:spcAft>
              <a:buNone/>
            </a:pPr>
            <a:r>
              <a:t/>
            </a:r>
            <a:endParaRPr b="1" sz="20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nvSpPr>
        <p:spPr>
          <a:xfrm>
            <a:off x="0" y="0"/>
            <a:ext cx="9144000" cy="520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600">
                <a:solidFill>
                  <a:schemeClr val="dk1"/>
                </a:solidFill>
              </a:rPr>
              <a:t>Tools for Feature Engineering</a:t>
            </a:r>
            <a:endParaRPr b="1" sz="1600">
              <a:solidFill>
                <a:schemeClr val="dk1"/>
              </a:solidFill>
            </a:endParaRPr>
          </a:p>
          <a:p>
            <a:pPr indent="0" lvl="0" marL="0" rtl="0" algn="l">
              <a:lnSpc>
                <a:spcPct val="115000"/>
              </a:lnSpc>
              <a:spcBef>
                <a:spcPts val="1200"/>
              </a:spcBef>
              <a:spcAft>
                <a:spcPts val="0"/>
              </a:spcAft>
              <a:buNone/>
            </a:pPr>
            <a:r>
              <a:rPr lang="en">
                <a:solidFill>
                  <a:schemeClr val="dk1"/>
                </a:solidFill>
              </a:rPr>
              <a:t>There are many tools available to make feature engineering easier and more efficient. Some of the widely used tools include:</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Featuretools:</a:t>
            </a:r>
            <a:r>
              <a:rPr lang="en">
                <a:solidFill>
                  <a:schemeClr val="dk1"/>
                </a:solidFill>
              </a:rPr>
              <a:t> Automatically creates and transforms features from structured data. It works smoothly with libraries like pandas and scikit-learn, allowing users to build complex features with minimal manual coding.</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TPOT:</a:t>
            </a:r>
            <a:r>
              <a:rPr lang="en">
                <a:solidFill>
                  <a:schemeClr val="dk1"/>
                </a:solidFill>
              </a:rPr>
              <a:t> Uses genetic algorithms to automatically optimize machine learning pipelines. It handles feature selection and model tuning, and helps identify the best combination of features and algorithms.</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DataRobot:</a:t>
            </a:r>
            <a:r>
              <a:rPr lang="en">
                <a:solidFill>
                  <a:schemeClr val="dk1"/>
                </a:solidFill>
              </a:rPr>
              <a:t> An automated machine learning platform that manages feature engineering, model selection, and optimization. It supports time-series and text data and provides collaboration features for team-based projects.</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Alteryx:</a:t>
            </a:r>
            <a:r>
              <a:rPr lang="en">
                <a:solidFill>
                  <a:schemeClr val="dk1"/>
                </a:solidFill>
              </a:rPr>
              <a:t> Provides a visual, drag-and-drop interface for building data workflows. It simplifies feature cleaning, transformation, and extraction, and is user-friendly even for those without strong programming skills.</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H2O.ai:</a:t>
            </a:r>
            <a:r>
              <a:rPr lang="en">
                <a:solidFill>
                  <a:schemeClr val="dk1"/>
                </a:solidFill>
              </a:rPr>
              <a:t> Offers tools for both automated and manual feature engineering across different data types. It supports scaling, missing value handling, encoding, and provides visualizations to better interpret model performance.</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